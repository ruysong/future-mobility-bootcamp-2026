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347" r:id="rId2"/>
    <p:sldId id="344" r:id="rId3"/>
    <p:sldId id="264" r:id="rId4"/>
    <p:sldId id="267" r:id="rId5"/>
    <p:sldId id="262" r:id="rId6"/>
    <p:sldId id="266" r:id="rId7"/>
    <p:sldId id="346" r:id="rId8"/>
    <p:sldId id="345" r:id="rId9"/>
    <p:sldId id="270" r:id="rId10"/>
    <p:sldId id="339" r:id="rId11"/>
    <p:sldId id="340" r:id="rId12"/>
    <p:sldId id="341" r:id="rId13"/>
    <p:sldId id="342" r:id="rId14"/>
    <p:sldId id="343" r:id="rId15"/>
    <p:sldId id="260" r:id="rId16"/>
  </p:sldIdLst>
  <p:sldSz cx="10367963" cy="5832475"/>
  <p:notesSz cx="6858000" cy="9144000"/>
  <p:defaultTextStyle>
    <a:defPPr>
      <a:defRPr lang="ko-KR"/>
    </a:defPPr>
    <a:lvl1pPr marL="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EDEDED"/>
    <a:srgbClr val="FF26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1"/>
    <p:restoredTop sz="92185"/>
  </p:normalViewPr>
  <p:slideViewPr>
    <p:cSldViewPr snapToGrid="0">
      <p:cViewPr varScale="1">
        <p:scale>
          <a:sx n="110" d="100"/>
          <a:sy n="110" d="100"/>
        </p:scale>
        <p:origin x="1176" y="176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849FB-297F-7B42-8ED7-99C4FA76502A}" type="datetimeFigureOut">
              <a:rPr kumimoji="1" lang="ko-KR" altLang="en-US" smtClean="0"/>
              <a:t>2025. 8. 9.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49E4-ABA9-D647-BBC8-EAC091E4C2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2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159841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405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이슈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dimension </a:t>
            </a:r>
            <a:r>
              <a:rPr kumimoji="1" lang="ko-KR" altLang="en-US" dirty="0"/>
              <a:t>차이를 어떻게 맞출지</a:t>
            </a:r>
            <a:r>
              <a:rPr kumimoji="1" lang="en-US" altLang="ko-KR" dirty="0"/>
              <a:t>.</a:t>
            </a:r>
            <a:r>
              <a:rPr kumimoji="1" lang="ko-KR" altLang="en-US" dirty="0"/>
              <a:t> 어댑터 </a:t>
            </a:r>
            <a:r>
              <a:rPr kumimoji="1" lang="ko-KR" altLang="en-US" dirty="0" err="1"/>
              <a:t>같은거</a:t>
            </a:r>
            <a:r>
              <a:rPr kumimoji="1" lang="ko-KR" altLang="en-US" dirty="0"/>
              <a:t> 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1739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1" name="Text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5324" y="2982938"/>
            <a:ext cx="3195450" cy="36965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0" indent="0">
              <a:defRPr sz="1802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date here</a:t>
            </a:r>
          </a:p>
        </p:txBody>
      </p:sp>
      <p:sp>
        <p:nvSpPr>
          <p:cNvPr id="22" name="Google Shape;36;p7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50912" y="3470869"/>
            <a:ext cx="5660540" cy="1573796"/>
          </a:xfrm>
          <a:prstGeom prst="rect">
            <a:avLst/>
          </a:prstGeom>
        </p:spPr>
        <p:txBody>
          <a:bodyPr>
            <a:spAutoFit/>
          </a:bodyPr>
          <a:lstStyle>
            <a:lvl1pPr marL="7150" indent="0">
              <a:tabLst/>
              <a:defRPr sz="2027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HK" dirty="0"/>
              <a:t>Name here</a:t>
            </a:r>
          </a:p>
          <a:p>
            <a:pPr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1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2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3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Email or contact here</a:t>
            </a:r>
          </a:p>
        </p:txBody>
      </p:sp>
      <p:sp>
        <p:nvSpPr>
          <p:cNvPr id="23" name="Google Shape;58;p11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50914" y="2278337"/>
            <a:ext cx="9015842" cy="731399"/>
          </a:xfrm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24" name="Google Shape;58;p11"/>
          <p:cNvSpPr txBox="1">
            <a:spLocks noGrp="1"/>
          </p:cNvSpPr>
          <p:nvPr>
            <p:ph type="body" sz="quarter" idx="24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meeting type (if any) here: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99538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7896026" y="5568220"/>
            <a:ext cx="2289593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</a:t>
            </a:r>
            <a:r>
              <a:rPr lang="zh-CN" altLang="en-US" sz="902" dirty="0"/>
              <a:t> </a:t>
            </a:r>
            <a:r>
              <a:rPr lang="en-US" altLang="zh-CN" sz="902" dirty="0"/>
              <a:t>Hwan Ko </a:t>
            </a:r>
            <a:r>
              <a:rPr lang="de-DE" altLang="ko-KR" sz="902" dirty="0"/>
              <a:t>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45766"/>
            <a:ext cx="9993443" cy="580992"/>
          </a:xfrm>
          <a:prstGeom prst="rect">
            <a:avLst/>
          </a:prstGeom>
        </p:spPr>
        <p:txBody>
          <a:bodyPr tIns="36000" bIns="36000">
            <a:noAutofit/>
          </a:bodyPr>
          <a:lstStyle>
            <a:lvl1pPr>
              <a:defRPr sz="3604" b="1" baseline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Google Shape;7;p1"/>
          <p:cNvSpPr/>
          <p:nvPr/>
        </p:nvSpPr>
        <p:spPr>
          <a:xfrm>
            <a:off x="-4376" y="62083"/>
            <a:ext cx="191638" cy="57705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664678"/>
            <a:ext cx="9993443" cy="4876895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27886674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8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/>
              <a:t>IRIS Lab., SKKU</a:t>
            </a:r>
          </a:p>
        </p:txBody>
      </p:sp>
      <p:sp>
        <p:nvSpPr>
          <p:cNvPr id="59" name="TextBox 10"/>
          <p:cNvSpPr txBox="1"/>
          <p:nvPr/>
        </p:nvSpPr>
        <p:spPr>
          <a:xfrm>
            <a:off x="8547564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altLang="ko-KR" sz="902" dirty="0"/>
              <a:t>Jong Hwan Ko (</a:t>
            </a:r>
            <a:r>
              <a:rPr lang="en-US" altLang="ko-KR" sz="902" dirty="0" err="1"/>
              <a:t>jhko@skku.edu</a:t>
            </a:r>
            <a:r>
              <a:rPr lang="en-US" altLang="ko-KR" sz="902" dirty="0"/>
              <a:t>)</a:t>
            </a:r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91323" y="1944159"/>
            <a:ext cx="9438713" cy="890946"/>
          </a:xfrm>
          <a:prstGeom prst="rect">
            <a:avLst/>
          </a:prstGeom>
        </p:spPr>
        <p:txBody>
          <a:bodyPr anchor="b"/>
          <a:lstStyle/>
          <a:p>
            <a:r>
              <a:rPr dirty="0"/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97486" y="2782040"/>
            <a:ext cx="8984312" cy="1275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indent="257425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indent="514848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indent="772272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indent="1029697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10901222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6" y="99196"/>
            <a:ext cx="10396439" cy="5926711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9BE719-23BF-4495-8D44-9981DA1F1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655" y="650354"/>
            <a:ext cx="7775972" cy="734881"/>
          </a:xfrm>
          <a:noFill/>
        </p:spPr>
        <p:txBody>
          <a:bodyPr lIns="0" anchor="t">
            <a:normAutofit/>
          </a:bodyPr>
          <a:lstStyle>
            <a:lvl1pPr algn="l">
              <a:defRPr sz="3717" spc="-127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1EE34957-E293-4918-8179-72C68BC00C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657" y="1407418"/>
            <a:ext cx="7775972" cy="406500"/>
          </a:xfrm>
          <a:noFill/>
        </p:spPr>
        <p:txBody>
          <a:bodyPr vert="horz" lIns="0" tIns="45720" rIns="91440" bIns="45720" rtlCol="0" anchor="t">
            <a:noAutofit/>
          </a:bodyPr>
          <a:lstStyle>
            <a:lvl1pPr>
              <a:defRPr lang="ko-KR" altLang="en-US" sz="2365" spc="-127" dirty="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부제목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13B20-0EE5-4E1D-A03C-C27B4133B720}"/>
              </a:ext>
            </a:extLst>
          </p:cNvPr>
          <p:cNvSpPr/>
          <p:nvPr userDrawn="1"/>
        </p:nvSpPr>
        <p:spPr>
          <a:xfrm>
            <a:off x="-20984" y="3651119"/>
            <a:ext cx="10409938" cy="1959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184E8E-3C75-4ADE-ACBD-89F4587307E0}"/>
              </a:ext>
            </a:extLst>
          </p:cNvPr>
          <p:cNvSpPr/>
          <p:nvPr userDrawn="1"/>
        </p:nvSpPr>
        <p:spPr>
          <a:xfrm>
            <a:off x="552654" y="475347"/>
            <a:ext cx="1837048" cy="61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769FE32-1A3F-4FFD-B89C-AF2BE5656617}"/>
              </a:ext>
            </a:extLst>
          </p:cNvPr>
          <p:cNvGrpSpPr/>
          <p:nvPr userDrawn="1"/>
        </p:nvGrpSpPr>
        <p:grpSpPr>
          <a:xfrm>
            <a:off x="434594" y="4508485"/>
            <a:ext cx="1060202" cy="921557"/>
            <a:chOff x="340544" y="4873328"/>
            <a:chExt cx="1651000" cy="1434976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C952422-EBE4-44F4-AE85-08C27CAA8C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0544" y="4873328"/>
              <a:ext cx="1434975" cy="1434976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57C52E-0175-4E94-948E-DC90B7B534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91544" y="5087076"/>
              <a:ext cx="0" cy="1007478"/>
            </a:xfrm>
            <a:prstGeom prst="line">
              <a:avLst/>
            </a:prstGeom>
            <a:ln w="25400">
              <a:solidFill>
                <a:srgbClr val="072A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텍스트 개체 틀 17">
            <a:extLst>
              <a:ext uri="{FF2B5EF4-FFF2-40B4-BE49-F238E27FC236}">
                <a16:creationId xmlns:a16="http://schemas.microsoft.com/office/drawing/2014/main" id="{6FC04201-605D-4D50-A123-F5E27B635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8303" y="3993847"/>
            <a:ext cx="4170234" cy="406500"/>
          </a:xfrm>
        </p:spPr>
        <p:txBody>
          <a:bodyPr vert="horz" lIns="0" tIns="45720" rIns="91440" bIns="45720" rtlCol="0" anchor="t">
            <a:normAutofit/>
          </a:bodyPr>
          <a:lstStyle>
            <a:lvl1pPr algn="r">
              <a:defRPr lang="ko-KR" altLang="en-US" dirty="0"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pPr marL="0" lvl="0" algn="r">
              <a:spcBef>
                <a:spcPct val="0"/>
              </a:spcBef>
              <a:buNone/>
            </a:pPr>
            <a:r>
              <a:rPr lang="ko-KR" altLang="en-US" dirty="0" err="1"/>
              <a:t>정문찬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4668" y="4618389"/>
            <a:ext cx="2183379" cy="74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9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-14238" y="-145767"/>
            <a:ext cx="10396439" cy="597824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 userDrawn="1"/>
        </p:nvSpPr>
        <p:spPr>
          <a:xfrm>
            <a:off x="-20984" y="160434"/>
            <a:ext cx="10165000" cy="5681752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63" y="263953"/>
            <a:ext cx="9382878" cy="543473"/>
          </a:xfrm>
        </p:spPr>
        <p:txBody>
          <a:bodyPr>
            <a:normAutofit/>
          </a:bodyPr>
          <a:lstStyle>
            <a:lvl1pPr>
              <a:defRPr sz="3041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363" y="899579"/>
            <a:ext cx="9382878" cy="4132361"/>
          </a:xfrm>
        </p:spPr>
        <p:txBody>
          <a:bodyPr>
            <a:normAutofit/>
          </a:bodyPr>
          <a:lstStyle>
            <a:lvl1pPr>
              <a:spcBef>
                <a:spcPts val="675"/>
              </a:spcBef>
              <a:defRPr sz="1689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spcBef>
                <a:spcPts val="675"/>
              </a:spcBef>
              <a:defRPr sz="1521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spcBef>
                <a:spcPts val="675"/>
              </a:spcBef>
              <a:defRPr sz="135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1EA8FD-4B4B-42DD-946F-9665BA4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09673" y="5273109"/>
            <a:ext cx="241411" cy="265457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7529C-9835-4872-B8DD-A36FFB4CA1A4}"/>
              </a:ext>
            </a:extLst>
          </p:cNvPr>
          <p:cNvCxnSpPr/>
          <p:nvPr userDrawn="1"/>
        </p:nvCxnSpPr>
        <p:spPr>
          <a:xfrm flipH="1">
            <a:off x="484725" y="5285214"/>
            <a:ext cx="9398518" cy="0"/>
          </a:xfrm>
          <a:prstGeom prst="line">
            <a:avLst/>
          </a:prstGeom>
          <a:ln w="25400">
            <a:solidFill>
              <a:srgbClr val="072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75A7024-1CE0-4F1E-8179-17E55D45C3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62" y="5338142"/>
            <a:ext cx="436379" cy="436416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 userDrawn="1"/>
        </p:nvCxnSpPr>
        <p:spPr>
          <a:xfrm flipH="1">
            <a:off x="484725" y="803364"/>
            <a:ext cx="9398518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844" y="5378294"/>
            <a:ext cx="1086398" cy="3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49" y="161337"/>
            <a:ext cx="7440307" cy="555537"/>
          </a:xfrm>
        </p:spPr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248" y="1987521"/>
            <a:ext cx="4409168" cy="261931"/>
          </a:xfr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30749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 Hwan Ko 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28812"/>
            <a:ext cx="9993443" cy="49875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>
              <a:defRPr sz="3154" b="1" baseline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9" name="Google Shape;7;p1"/>
          <p:cNvSpPr/>
          <p:nvPr/>
        </p:nvSpPr>
        <p:spPr>
          <a:xfrm>
            <a:off x="-4376" y="62257"/>
            <a:ext cx="191638" cy="831610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0" name="Google Shape;58;p1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80955" y="535478"/>
            <a:ext cx="10006053" cy="39501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 marL="0" indent="0">
              <a:defRPr sz="2253" b="1" i="1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946501"/>
            <a:ext cx="9993443" cy="4595072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733221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8398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39501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415613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5161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3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sz="902" dirty="0"/>
              <a:t>Jong Hwan Ko (</a:t>
            </a:r>
            <a:r>
              <a:rPr lang="en-US" sz="902" dirty="0" err="1"/>
              <a:t>jhko@skku.edu</a:t>
            </a:r>
            <a:r>
              <a:rPr lang="en-US" sz="902" dirty="0"/>
              <a:t>)</a:t>
            </a:r>
            <a:endParaRPr sz="902" dirty="0"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550914" y="826873"/>
            <a:ext cx="9015842" cy="158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grpSp>
        <p:nvGrpSpPr>
          <p:cNvPr id="10" name="Group 4"/>
          <p:cNvGrpSpPr/>
          <p:nvPr/>
        </p:nvGrpSpPr>
        <p:grpSpPr>
          <a:xfrm>
            <a:off x="7517258" y="4537003"/>
            <a:ext cx="2623411" cy="781279"/>
            <a:chOff x="0" y="0"/>
            <a:chExt cx="2313709" cy="688988"/>
          </a:xfrm>
        </p:grpSpPr>
        <p:grpSp>
          <p:nvGrpSpPr>
            <p:cNvPr id="8" name="Google Shape;33;p7"/>
            <p:cNvGrpSpPr/>
            <p:nvPr/>
          </p:nvGrpSpPr>
          <p:grpSpPr>
            <a:xfrm>
              <a:off x="-1" y="-1"/>
              <a:ext cx="2313711" cy="688990"/>
              <a:chOff x="0" y="0"/>
              <a:chExt cx="2313709" cy="688988"/>
            </a:xfrm>
          </p:grpSpPr>
          <p:pic>
            <p:nvPicPr>
              <p:cNvPr id="6" name="Google Shape;34;p7" descr="Google Shape;34;p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-1"/>
                <a:ext cx="688988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Google Shape;35;p7" descr="Google Shape;35;p7"/>
              <p:cNvPicPr>
                <a:picLocks noChangeAspect="1"/>
              </p:cNvPicPr>
              <p:nvPr/>
            </p:nvPicPr>
            <p:blipFill>
              <a:blip r:embed="rId12"/>
              <a:srcRect t="24172" b="23380"/>
              <a:stretch>
                <a:fillRect/>
              </a:stretch>
            </p:blipFill>
            <p:spPr>
              <a:xfrm>
                <a:off x="1000012" y="-1"/>
                <a:ext cx="1313699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9" name="Straight Connector 3"/>
            <p:cNvSpPr/>
            <p:nvPr/>
          </p:nvSpPr>
          <p:spPr>
            <a:xfrm flipH="1">
              <a:off x="853095" y="0"/>
              <a:ext cx="1" cy="688988"/>
            </a:xfrm>
            <a:prstGeom prst="line">
              <a:avLst/>
            </a:prstGeom>
            <a:noFill/>
            <a:ln w="12700" cap="flat">
              <a:solidFill>
                <a:srgbClr val="1143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027"/>
            </a:p>
          </p:txBody>
        </p:sp>
      </p:grpSp>
      <p:sp>
        <p:nvSpPr>
          <p:cNvPr id="11" name="Google Shape;7;p1"/>
          <p:cNvSpPr/>
          <p:nvPr/>
        </p:nvSpPr>
        <p:spPr>
          <a:xfrm>
            <a:off x="-1" y="802336"/>
            <a:ext cx="191638" cy="222739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xfrm>
            <a:off x="550914" y="461174"/>
            <a:ext cx="9015842" cy="73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09673" y="5273109"/>
            <a:ext cx="241411" cy="26545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125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21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/>
  <p:txStyles>
    <p:titleStyle>
      <a:lvl1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1pPr>
      <a:lvl2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2pPr>
      <a:lvl3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3pPr>
      <a:lvl4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4pPr>
      <a:lvl5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5pPr>
      <a:lvl6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6pPr>
      <a:lvl7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7pPr>
      <a:lvl8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8pPr>
      <a:lvl9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9pPr>
    </p:titleStyle>
    <p:bodyStyle>
      <a:lvl1pPr marL="357534" marR="0" indent="-20021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1pPr>
      <a:lvl2pPr marL="357534" marR="0" indent="328932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2pPr>
      <a:lvl3pPr marL="357534" marR="0" indent="85808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3pPr>
      <a:lvl4pPr marL="357534" marR="0" indent="137292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4pPr>
      <a:lvl5pPr marL="357534" marR="0" indent="1887778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5pPr>
      <a:lvl6pPr marL="357534" marR="0" indent="2402626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6pPr>
      <a:lvl7pPr marL="357534" marR="0" indent="291747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7pPr>
      <a:lvl8pPr marL="357534" marR="0" indent="343232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8pPr>
      <a:lvl9pPr marL="357534" marR="0" indent="394717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9pPr>
    </p:bodyStyle>
    <p:otherStyle>
      <a:lvl1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2"/>
          <p:cNvSpPr txBox="1"/>
          <p:nvPr/>
        </p:nvSpPr>
        <p:spPr>
          <a:xfrm>
            <a:off x="405261" y="-3756"/>
            <a:ext cx="3395510" cy="26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1839" rIns="5183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36838" latinLnBrk="0" hangingPunct="0">
              <a:defRPr/>
            </a:pPr>
            <a:r>
              <a:rPr sz="1134" kern="0"/>
              <a:t>Lecture 6: Polling and Interrupt</a:t>
            </a:r>
          </a:p>
        </p:txBody>
      </p:sp>
      <p:sp>
        <p:nvSpPr>
          <p:cNvPr id="72" name="Google Shape;56;p11"/>
          <p:cNvSpPr txBox="1">
            <a:spLocks noGrp="1"/>
          </p:cNvSpPr>
          <p:nvPr>
            <p:ph type="title"/>
          </p:nvPr>
        </p:nvSpPr>
        <p:spPr>
          <a:xfrm>
            <a:off x="293174" y="769691"/>
            <a:ext cx="9962700" cy="1589551"/>
          </a:xfrm>
          <a:prstGeom prst="rect">
            <a:avLst/>
          </a:prstGeom>
        </p:spPr>
        <p:txBody>
          <a:bodyPr>
            <a:noAutofit/>
          </a:bodyPr>
          <a:lstStyle/>
          <a:p>
            <a:br>
              <a:rPr lang="en-US" altLang="ko-KR" sz="2400" dirty="0"/>
            </a:br>
            <a:r>
              <a:rPr lang="ko-KR" altLang="en-US" sz="3600" dirty="0" err="1">
                <a:latin typeface="NanumGothic" panose="020D0604000000000000" pitchFamily="34" charset="-127"/>
              </a:rPr>
              <a:t>미래차</a:t>
            </a:r>
            <a:r>
              <a:rPr lang="ko-KR" altLang="en-US" sz="3600" dirty="0">
                <a:latin typeface="NanumGothic" panose="020D0604000000000000" pitchFamily="34" charset="-127"/>
              </a:rPr>
              <a:t> 부트캠프</a:t>
            </a:r>
            <a:br>
              <a:rPr lang="en-US" altLang="ko-KR" sz="3600" dirty="0">
                <a:latin typeface="NanumGothic" panose="020D0604000000000000" pitchFamily="34" charset="-127"/>
              </a:rPr>
            </a:br>
            <a:r>
              <a:rPr lang="en-US" altLang="ko-KR" sz="4800" dirty="0">
                <a:latin typeface="NanumGothic" panose="020D0604000000000000" pitchFamily="34" charset="-127"/>
              </a:rPr>
              <a:t>On-device</a:t>
            </a:r>
            <a:r>
              <a:rPr lang="ko-KR" altLang="en-US" sz="4800" dirty="0">
                <a:latin typeface="NanumGothic" panose="020D0604000000000000" pitchFamily="34" charset="-127"/>
              </a:rPr>
              <a:t> </a:t>
            </a:r>
            <a:r>
              <a:rPr lang="en-US" altLang="ko-KR" sz="4800" dirty="0">
                <a:latin typeface="NanumGothic" panose="020D0604000000000000" pitchFamily="34" charset="-127"/>
              </a:rPr>
              <a:t>AI</a:t>
            </a:r>
            <a:endParaRPr lang="en-US" sz="4000" dirty="0"/>
          </a:p>
        </p:txBody>
      </p:sp>
      <p:sp>
        <p:nvSpPr>
          <p:cNvPr id="74" name="Google Shape;36;p7"/>
          <p:cNvSpPr txBox="1">
            <a:spLocks noGrp="1"/>
          </p:cNvSpPr>
          <p:nvPr>
            <p:ph type="body" sz="quarter" idx="22"/>
          </p:nvPr>
        </p:nvSpPr>
        <p:spPr>
          <a:xfrm>
            <a:off x="550911" y="3470817"/>
            <a:ext cx="5660540" cy="1477295"/>
          </a:xfrm>
          <a:prstGeom prst="rect">
            <a:avLst/>
          </a:prstGeom>
        </p:spPr>
        <p:txBody>
          <a:bodyPr/>
          <a:lstStyle/>
          <a:p>
            <a:pPr marL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dirty="0"/>
              <a:t>Jong Hwan Ko</a:t>
            </a:r>
            <a:endParaRPr dirty="0"/>
          </a:p>
          <a:p>
            <a:pPr marL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Associate Professor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SungKyunKwan</a:t>
            </a:r>
            <a:r>
              <a:rPr lang="en-US" dirty="0"/>
              <a:t> University, Korea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Department of Electrical and Computer Engineering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jhko@skku.edu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4ACA3-DEB3-D845-02CD-077D8A6E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Contents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7B3B1-CFE4-BC04-8241-D6C2AF4D6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/>
              <a:t>Intuition </a:t>
            </a:r>
          </a:p>
          <a:p>
            <a:r>
              <a:rPr kumimoji="1" lang="en-US" altLang="ko-KR" sz="2400" dirty="0"/>
              <a:t>Procedure</a:t>
            </a:r>
          </a:p>
          <a:p>
            <a:r>
              <a:rPr kumimoji="1" lang="en-US" altLang="ko-KR" sz="2400" dirty="0"/>
              <a:t>Concept of temperature</a:t>
            </a:r>
          </a:p>
          <a:p>
            <a:r>
              <a:rPr kumimoji="1" lang="en-US" altLang="ko-KR" sz="2400" dirty="0"/>
              <a:t>What to match?</a:t>
            </a:r>
            <a:endParaRPr kumimoji="1" lang="ko-KR" altLang="en-US" sz="24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92C6B1A-9D8D-5F28-5A77-41264BADBDD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</a:t>
            </a:fld>
            <a:endParaRPr kern="0"/>
          </a:p>
        </p:txBody>
      </p:sp>
      <p:pic>
        <p:nvPicPr>
          <p:cNvPr id="1026" name="Picture 2" descr="How Should The Distill In The Large Model Be Operated - Genspark">
            <a:extLst>
              <a:ext uri="{FF2B5EF4-FFF2-40B4-BE49-F238E27FC236}">
                <a16:creationId xmlns:a16="http://schemas.microsoft.com/office/drawing/2014/main" id="{FDEB82EA-2102-534F-BE9B-1ED54D0B69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78" t="16485" r="17641"/>
          <a:stretch/>
        </p:blipFill>
        <p:spPr bwMode="auto">
          <a:xfrm>
            <a:off x="4242062" y="1635871"/>
            <a:ext cx="5590095" cy="353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3874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7C39826-070A-A46A-7BAB-61509F84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AE29D20-FD67-A42A-0FC7-9342017E6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Tiny models are hard to train</a:t>
            </a:r>
          </a:p>
          <a:p>
            <a:pPr lvl="1"/>
            <a:r>
              <a:rPr lang="en" altLang="ko-KR" dirty="0"/>
              <a:t>Tiny models underfit large datasets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B68862-B6C8-F16F-E56D-E0DB137E3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82"/>
          <a:stretch/>
        </p:blipFill>
        <p:spPr>
          <a:xfrm>
            <a:off x="304918" y="2132542"/>
            <a:ext cx="5285178" cy="222298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F04DBF8-5F49-D3CA-6504-B102FD0A4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80" t="19128" r="16757" b="8417"/>
          <a:stretch/>
        </p:blipFill>
        <p:spPr>
          <a:xfrm>
            <a:off x="5886677" y="1990097"/>
            <a:ext cx="4392891" cy="2507877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1AACB9E-40FE-8602-EFCE-B7267C9CE75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3</a:t>
            </a:fld>
            <a:endParaRPr kern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59D9F-AF2B-0BAF-C712-89D6FF14A679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28891361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9FC55D7-E49E-2146-8F9E-60EFE1F6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4A17AE2-9AA5-C85F-E8B8-9637810B63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Intuition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CC51733-1DB3-761A-16C6-4107AB302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Matching prediction probabilities between teacher and student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81500F-036B-E888-2892-E6B69284F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56" b="6892"/>
          <a:stretch/>
        </p:blipFill>
        <p:spPr>
          <a:xfrm>
            <a:off x="809105" y="1890419"/>
            <a:ext cx="8361742" cy="325574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5337CA-9020-F21E-31B7-1DCA3C31FC1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4</a:t>
            </a:fld>
            <a:endParaRPr kern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90113-272A-C2CE-8FC4-DD5CF8A96066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349149713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ctr" anchorCtr="0">
            <a:normAutofit fontScale="90000"/>
          </a:bodyPr>
          <a:lstStyle/>
          <a:p>
            <a:pPr rtl="0">
              <a:lnSpc>
                <a:spcPct val="90000"/>
              </a:lnSpc>
              <a:buClr>
                <a:srgbClr val="2E75B5"/>
              </a:buClr>
              <a:buSzPts val="4400"/>
            </a:pPr>
            <a:r>
              <a:rPr kumimoji="1" lang="en-US" altLang="ko-KR" dirty="0"/>
              <a:t>4. Knowledge Distillation</a:t>
            </a:r>
            <a:endParaRPr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1016AF-A2E5-91D7-6A33-407935B04F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Matching Prediction Probabilities</a:t>
            </a:r>
            <a:endParaRPr lang="ko-KR" altLang="en-US" dirty="0"/>
          </a:p>
        </p:txBody>
      </p:sp>
      <p:pic>
        <p:nvPicPr>
          <p:cNvPr id="129" name="Google Shape;129;p12" descr="https://lh3.googleusercontent.com/qmYvXZM8kQ4cRcMXMTmUMoP5SMgJt6AhOzeY0k8qrQgK84o3uD33VMAj5Bc0bNWelQhCuSgzCfmfF3_JLDIl1J-zA4QqDLBRf3lKCALZZSajLUtPfwBZkbHvyzKpLjB7LUCQu4g5y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19" y="2052009"/>
            <a:ext cx="1484272" cy="98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2172565" y="1942048"/>
            <a:ext cx="822308" cy="12893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119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(conv)</a:t>
            </a: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2994874" y="1942048"/>
            <a:ext cx="1741400" cy="12893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Hidden Layers </a:t>
            </a: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(conv + pool layers)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4736274" y="1942047"/>
            <a:ext cx="822308" cy="12893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 Layer </a:t>
            </a: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(FC)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663419" y="2367601"/>
            <a:ext cx="413038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12320" y="1707166"/>
            <a:ext cx="1484272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224 x 224 x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5557022" y="1460617"/>
            <a:ext cx="726717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5732574" y="1815359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5729940" y="2103262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5731625" y="2380096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5731625" y="2670428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5729940" y="2958502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5411760" y="1221162"/>
            <a:ext cx="1021212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Logits (z)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454760" y="1455698"/>
            <a:ext cx="79938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185501" y="2391165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6631131" y="1958409"/>
            <a:ext cx="846375" cy="12893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7857667" y="1460617"/>
            <a:ext cx="726717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7954676" y="1815359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7959895" y="2103262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7953727" y="2380096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7953727" y="2670428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7952041" y="2958502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7501068" y="1221162"/>
            <a:ext cx="1453081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Probabilities (q)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7580754" y="2414728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7951436" y="3918690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7953415" y="4206594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7953727" y="4483427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7953727" y="4765906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7952041" y="5053979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7510065" y="3569460"/>
            <a:ext cx="1349834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(Hard) Targets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7150066" y="3921047"/>
            <a:ext cx="79938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7121636" y="4198362"/>
            <a:ext cx="838258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7121636" y="4470340"/>
            <a:ext cx="82781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7160506" y="4760742"/>
            <a:ext cx="799388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150504" y="5043865"/>
            <a:ext cx="79938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boat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9281418" y="2814380"/>
            <a:ext cx="932636" cy="1289361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2"/>
          <p:cNvCxnSpPr>
            <a:stCxn id="155" idx="3"/>
          </p:cNvCxnSpPr>
          <p:nvPr/>
        </p:nvCxnSpPr>
        <p:spPr>
          <a:xfrm flipV="1">
            <a:off x="8507526" y="3793911"/>
            <a:ext cx="773769" cy="83346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66" name="Google Shape;166;p12"/>
          <p:cNvCxnSpPr>
            <a:stCxn id="148" idx="3"/>
          </p:cNvCxnSpPr>
          <p:nvPr/>
        </p:nvCxnSpPr>
        <p:spPr>
          <a:xfrm>
            <a:off x="8507526" y="2524047"/>
            <a:ext cx="773769" cy="64876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67" name="Google Shape;167;p12"/>
          <p:cNvSpPr txBox="1"/>
          <p:nvPr/>
        </p:nvSpPr>
        <p:spPr>
          <a:xfrm>
            <a:off x="2172565" y="1609126"/>
            <a:ext cx="3379236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7866810" y="2371343"/>
            <a:ext cx="708429" cy="306392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7882580" y="4477005"/>
            <a:ext cx="708429" cy="306392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7857667" y="2079893"/>
            <a:ext cx="708429" cy="306392"/>
          </a:xfrm>
          <a:prstGeom prst="ellipse">
            <a:avLst/>
          </a:prstGeom>
          <a:noFill/>
          <a:ln w="57150" cap="flat" cmpd="sng">
            <a:solidFill>
              <a:srgbClr val="649B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7881977" y="4177434"/>
            <a:ext cx="708429" cy="306392"/>
          </a:xfrm>
          <a:prstGeom prst="ellipse">
            <a:avLst/>
          </a:prstGeom>
          <a:noFill/>
          <a:ln w="57150" cap="flat" cmpd="sng">
            <a:solidFill>
              <a:srgbClr val="649B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18326" y="3642449"/>
            <a:ext cx="6882095" cy="1472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dk2"/>
              </a:buClr>
              <a:buSzPts val="2800"/>
              <a:buFont typeface="Wingdings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observation: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targets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no information 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wrong classes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lnSpc>
                <a:spcPct val="90000"/>
              </a:lnSpc>
              <a:spcBef>
                <a:spcPts val="850"/>
              </a:spcBef>
              <a:buClr>
                <a:schemeClr val="dk2"/>
              </a:buClr>
              <a:buSzPts val="2800"/>
              <a:buFont typeface="Wingdings" pitchFamily="2" charset="2"/>
              <a:buChar char="§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 targets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information about wrong classes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74553" lvl="1" indent="-285750">
              <a:lnSpc>
                <a:spcPct val="90000"/>
              </a:lnSpc>
              <a:spcBef>
                <a:spcPts val="425"/>
              </a:spcBef>
              <a:spcAft>
                <a:spcPts val="1361"/>
              </a:spcAft>
              <a:buClr>
                <a:schemeClr val="dk2"/>
              </a:buClr>
              <a:buSzPts val="2400"/>
              <a:buFont typeface="Wingdings" pitchFamily="2" charset="2"/>
              <a:buChar char="§"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do we get them from? 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EBAA6B-E6B7-9987-37FF-0738366AAC0B}"/>
              </a:ext>
            </a:extLst>
          </p:cNvPr>
          <p:cNvGrpSpPr/>
          <p:nvPr/>
        </p:nvGrpSpPr>
        <p:grpSpPr>
          <a:xfrm>
            <a:off x="6250154" y="3563148"/>
            <a:ext cx="1344147" cy="1778732"/>
            <a:chOff x="7374781" y="4215378"/>
            <a:chExt cx="1587310" cy="2100513"/>
          </a:xfrm>
        </p:grpSpPr>
        <p:sp>
          <p:nvSpPr>
            <p:cNvPr id="12" name="Google Shape;223;p13">
              <a:extLst>
                <a:ext uri="{FF2B5EF4-FFF2-40B4-BE49-F238E27FC236}">
                  <a16:creationId xmlns:a16="http://schemas.microsoft.com/office/drawing/2014/main" id="{D50B41F0-4428-E899-4D8A-D99436BEC5A5}"/>
                </a:ext>
              </a:extLst>
            </p:cNvPr>
            <p:cNvSpPr txBox="1"/>
            <p:nvPr/>
          </p:nvSpPr>
          <p:spPr>
            <a:xfrm>
              <a:off x="7875037" y="4617464"/>
              <a:ext cx="651229" cy="36340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0.03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4;p13">
              <a:extLst>
                <a:ext uri="{FF2B5EF4-FFF2-40B4-BE49-F238E27FC236}">
                  <a16:creationId xmlns:a16="http://schemas.microsoft.com/office/drawing/2014/main" id="{3BD31944-D8A2-1981-0892-239755543377}"/>
                </a:ext>
              </a:extLst>
            </p:cNvPr>
            <p:cNvSpPr txBox="1"/>
            <p:nvPr/>
          </p:nvSpPr>
          <p:spPr>
            <a:xfrm>
              <a:off x="7877365" y="4956018"/>
              <a:ext cx="651229" cy="36340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0.25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5;p13">
              <a:extLst>
                <a:ext uri="{FF2B5EF4-FFF2-40B4-BE49-F238E27FC236}">
                  <a16:creationId xmlns:a16="http://schemas.microsoft.com/office/drawing/2014/main" id="{E8026480-7836-BC57-44C1-1D26F7AE90D1}"/>
                </a:ext>
              </a:extLst>
            </p:cNvPr>
            <p:cNvSpPr txBox="1"/>
            <p:nvPr/>
          </p:nvSpPr>
          <p:spPr>
            <a:xfrm>
              <a:off x="7877731" y="5281554"/>
              <a:ext cx="651229" cy="36340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0.70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6;p13">
              <a:extLst>
                <a:ext uri="{FF2B5EF4-FFF2-40B4-BE49-F238E27FC236}">
                  <a16:creationId xmlns:a16="http://schemas.microsoft.com/office/drawing/2014/main" id="{39DEE906-0A90-B431-9D64-446C7A2B5924}"/>
                </a:ext>
              </a:extLst>
            </p:cNvPr>
            <p:cNvSpPr txBox="1"/>
            <p:nvPr/>
          </p:nvSpPr>
          <p:spPr>
            <a:xfrm>
              <a:off x="7877731" y="5613730"/>
              <a:ext cx="651229" cy="36340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0.02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27;p13">
              <a:extLst>
                <a:ext uri="{FF2B5EF4-FFF2-40B4-BE49-F238E27FC236}">
                  <a16:creationId xmlns:a16="http://schemas.microsoft.com/office/drawing/2014/main" id="{51B66C5D-6BB5-A18B-3A85-D763F7B13906}"/>
                </a:ext>
              </a:extLst>
            </p:cNvPr>
            <p:cNvSpPr txBox="1"/>
            <p:nvPr/>
          </p:nvSpPr>
          <p:spPr>
            <a:xfrm>
              <a:off x="7875749" y="5952484"/>
              <a:ext cx="651229" cy="36340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0.01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8;p13">
              <a:extLst>
                <a:ext uri="{FF2B5EF4-FFF2-40B4-BE49-F238E27FC236}">
                  <a16:creationId xmlns:a16="http://schemas.microsoft.com/office/drawing/2014/main" id="{E2FC3B3E-2EA2-61CE-D10C-67C8395523FB}"/>
                </a:ext>
              </a:extLst>
            </p:cNvPr>
            <p:cNvSpPr txBox="1"/>
            <p:nvPr/>
          </p:nvSpPr>
          <p:spPr>
            <a:xfrm>
              <a:off x="7374781" y="4215378"/>
              <a:ext cx="1587310" cy="399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(Soft) Targets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9;p13">
              <a:extLst>
                <a:ext uri="{FF2B5EF4-FFF2-40B4-BE49-F238E27FC236}">
                  <a16:creationId xmlns:a16="http://schemas.microsoft.com/office/drawing/2014/main" id="{77989287-D8EA-AD16-46F8-B5902C8771E4}"/>
                </a:ext>
              </a:extLst>
            </p:cNvPr>
            <p:cNvSpPr/>
            <p:nvPr/>
          </p:nvSpPr>
          <p:spPr>
            <a:xfrm>
              <a:off x="7791616" y="5290798"/>
              <a:ext cx="833063" cy="360296"/>
            </a:xfrm>
            <a:prstGeom prst="ellipse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30;p13">
              <a:extLst>
                <a:ext uri="{FF2B5EF4-FFF2-40B4-BE49-F238E27FC236}">
                  <a16:creationId xmlns:a16="http://schemas.microsoft.com/office/drawing/2014/main" id="{115470AA-2AC9-5D37-E952-C6524F478093}"/>
                </a:ext>
              </a:extLst>
            </p:cNvPr>
            <p:cNvSpPr/>
            <p:nvPr/>
          </p:nvSpPr>
          <p:spPr>
            <a:xfrm>
              <a:off x="7790908" y="4938523"/>
              <a:ext cx="833063" cy="360296"/>
            </a:xfrm>
            <a:prstGeom prst="ellipse">
              <a:avLst/>
            </a:prstGeom>
            <a:noFill/>
            <a:ln w="57150" cap="flat" cmpd="sng">
              <a:solidFill>
                <a:srgbClr val="649B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AE7B3-097E-90E1-D515-8B204153849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5</a:t>
            </a:fld>
            <a:endParaRPr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1FCD6-E058-2EC7-B536-B14AB1D11682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ctr" anchorCtr="0">
            <a:normAutofit fontScale="90000"/>
          </a:bodyPr>
          <a:lstStyle/>
          <a:p>
            <a:pPr rtl="0">
              <a:lnSpc>
                <a:spcPct val="90000"/>
              </a:lnSpc>
              <a:buClr>
                <a:srgbClr val="2E75B5"/>
              </a:buClr>
              <a:buSzPts val="4400"/>
            </a:pPr>
            <a:r>
              <a:rPr kumimoji="1" lang="en-US" altLang="ko-KR" dirty="0"/>
              <a:t>4. Knowledge Distillation</a:t>
            </a:r>
            <a:endParaRPr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429365-B2CB-B295-0163-8AF96652195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Matching Prediction Probabilities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255" name="Google Shape;255;p16" descr="https://lh3.googleusercontent.com/qmYvXZM8kQ4cRcMXMTmUMoP5SMgJt6AhOzeY0k8qrQgK84o3uD33VMAj5Bc0bNWelQhCuSgzCfmfF3_JLDIl1J-zA4QqDLBRf3lKCALZZSajLUtPfwBZkbHvyzKpLjB7LUCQu4g5y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41" y="2606838"/>
            <a:ext cx="1484272" cy="98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/>
          <p:nvPr/>
        </p:nvSpPr>
        <p:spPr>
          <a:xfrm rot="-1788348">
            <a:off x="1654272" y="2535297"/>
            <a:ext cx="413038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65936" y="2263730"/>
            <a:ext cx="1484272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224 x 224 x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5549167" y="1192780"/>
            <a:ext cx="726717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5724720" y="1547522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5722085" y="1835425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5723771" y="2112258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5723771" y="2402591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5722085" y="2690664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5403906" y="953324"/>
            <a:ext cx="1021212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Logits (z)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408375" y="2012261"/>
            <a:ext cx="79938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6177647" y="2123328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6623277" y="1690571"/>
            <a:ext cx="846375" cy="12893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849813" y="1192780"/>
            <a:ext cx="726717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946821" y="1547522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952041" y="1835425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945872" y="2112258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945872" y="2402591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944187" y="2690664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493214" y="953324"/>
            <a:ext cx="1453081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Probabilities (q)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7572899" y="2146890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9273564" y="2546542"/>
            <a:ext cx="932636" cy="1289361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Loss 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6"/>
          <p:cNvCxnSpPr/>
          <p:nvPr/>
        </p:nvCxnSpPr>
        <p:spPr>
          <a:xfrm rot="10800000" flipH="1">
            <a:off x="8499671" y="3526143"/>
            <a:ext cx="773892" cy="833399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78" name="Google Shape;278;p16"/>
          <p:cNvCxnSpPr>
            <a:stCxn id="271" idx="3"/>
          </p:cNvCxnSpPr>
          <p:nvPr/>
        </p:nvCxnSpPr>
        <p:spPr>
          <a:xfrm>
            <a:off x="8499671" y="2256209"/>
            <a:ext cx="773770" cy="64876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79" name="Google Shape;279;p16"/>
          <p:cNvSpPr txBox="1"/>
          <p:nvPr/>
        </p:nvSpPr>
        <p:spPr>
          <a:xfrm>
            <a:off x="2164711" y="1341289"/>
            <a:ext cx="3379236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7945721" y="3651208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7947701" y="3939111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7948012" y="4215944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7948012" y="4498423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7946327" y="4786496"/>
            <a:ext cx="553799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7520307" y="3309277"/>
            <a:ext cx="1349834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(Soft) Targets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16"/>
          <p:cNvGrpSpPr/>
          <p:nvPr/>
        </p:nvGrpSpPr>
        <p:grpSpPr>
          <a:xfrm>
            <a:off x="2142043" y="3667128"/>
            <a:ext cx="3433165" cy="1239755"/>
            <a:chOff x="941061" y="2706349"/>
            <a:chExt cx="4037162" cy="1457865"/>
          </a:xfrm>
        </p:grpSpPr>
        <p:sp>
          <p:nvSpPr>
            <p:cNvPr id="287" name="Google Shape;287;p16"/>
            <p:cNvSpPr/>
            <p:nvPr/>
          </p:nvSpPr>
          <p:spPr>
            <a:xfrm>
              <a:off x="941061" y="2706349"/>
              <a:ext cx="4037162" cy="1457864"/>
            </a:xfrm>
            <a:prstGeom prst="rect">
              <a:avLst/>
            </a:prstGeom>
            <a:solidFill>
              <a:srgbClr val="649B3F"/>
            </a:solidFill>
            <a:ln w="12700" cap="flat" cmpd="sng">
              <a:solidFill>
                <a:srgbClr val="517E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747" tIns="38863" rIns="77747" bIns="3886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1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Large Neural Network</a:t>
              </a:r>
              <a:endParaRPr sz="170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 rot="-5400000">
              <a:off x="399278" y="3248135"/>
              <a:ext cx="1457864" cy="374291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747" tIns="38863" rIns="77747" bIns="3886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1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Teacher</a:t>
              </a:r>
              <a:endParaRPr sz="170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2173262" y="1647339"/>
            <a:ext cx="3436110" cy="1239754"/>
            <a:chOff x="1341229" y="4578379"/>
            <a:chExt cx="4040625" cy="1457864"/>
          </a:xfrm>
        </p:grpSpPr>
        <p:sp>
          <p:nvSpPr>
            <p:cNvPr id="290" name="Google Shape;290;p16"/>
            <p:cNvSpPr/>
            <p:nvPr/>
          </p:nvSpPr>
          <p:spPr>
            <a:xfrm>
              <a:off x="1344692" y="4578379"/>
              <a:ext cx="4037162" cy="1457864"/>
            </a:xfrm>
            <a:prstGeom prst="rect">
              <a:avLst/>
            </a:prstGeom>
            <a:solidFill>
              <a:srgbClr val="428BCE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747" tIns="38863" rIns="77747" bIns="3886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1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Small Neural Network</a:t>
              </a:r>
              <a:endParaRPr sz="170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6"/>
            <p:cNvSpPr/>
            <p:nvPr/>
          </p:nvSpPr>
          <p:spPr>
            <a:xfrm rot="-5400000">
              <a:off x="809421" y="5130139"/>
              <a:ext cx="1437911" cy="374295"/>
            </a:xfrm>
            <a:prstGeom prst="rect">
              <a:avLst/>
            </a:prstGeom>
            <a:solidFill>
              <a:schemeClr val="accent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7747" tIns="38863" rIns="77747" bIns="3886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170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Student</a:t>
              </a:r>
              <a:endParaRPr sz="170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6"/>
          <p:cNvSpPr/>
          <p:nvPr/>
        </p:nvSpPr>
        <p:spPr>
          <a:xfrm>
            <a:off x="6182440" y="4118234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6623277" y="3642322"/>
            <a:ext cx="846375" cy="1289361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 rot="2229585">
            <a:off x="1637819" y="3367664"/>
            <a:ext cx="413038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7572899" y="4215726"/>
            <a:ext cx="340273" cy="3369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5693014" y="3584241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5690379" y="3872144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5692065" y="4148978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5692065" y="4439311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5690379" y="4727384"/>
            <a:ext cx="380881" cy="287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36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3453261" y="4482524"/>
            <a:ext cx="882145" cy="3038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251345" y="1951293"/>
            <a:ext cx="9496391" cy="1685007"/>
          </a:xfrm>
          <a:prstGeom prst="arc">
            <a:avLst>
              <a:gd name="adj1" fmla="val 11940225"/>
              <a:gd name="adj2" fmla="val 0"/>
            </a:avLst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 rot="1256987">
            <a:off x="8795169" y="2085908"/>
            <a:ext cx="922109" cy="31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38863" rIns="77747" bIns="3886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Backprop</a:t>
            </a:r>
            <a:endParaRPr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55950" y="3680892"/>
            <a:ext cx="1304227" cy="87179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7747" tIns="38863" rIns="77747" bIns="3886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set: subset of training 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DFCC364-5159-929D-9B8A-C2265AEF057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6</a:t>
            </a:fld>
            <a:endParaRPr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E3073-9D7F-C21F-E8A6-026EB667DF66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7F7A8-48E9-8E90-1A47-D13A90D2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344D29-FC34-8A7D-E2EB-5233AB0CA3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Concept of temperature</a:t>
            </a:r>
          </a:p>
          <a:p>
            <a:endParaRPr kumimoji="1" lang="ko-KR" altLang="en-US" dirty="0"/>
          </a:p>
        </p:txBody>
      </p:sp>
      <p:sp>
        <p:nvSpPr>
          <p:cNvPr id="5" name="Google Shape;312;p17">
            <a:extLst>
              <a:ext uri="{FF2B5EF4-FFF2-40B4-BE49-F238E27FC236}">
                <a16:creationId xmlns:a16="http://schemas.microsoft.com/office/drawing/2014/main" id="{D6E82C48-1B70-018B-8771-58C7F9169BB0}"/>
              </a:ext>
            </a:extLst>
          </p:cNvPr>
          <p:cNvSpPr txBox="1"/>
          <p:nvPr/>
        </p:nvSpPr>
        <p:spPr>
          <a:xfrm>
            <a:off x="3030387" y="1332662"/>
            <a:ext cx="1557615" cy="85477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3;p17">
            <a:extLst>
              <a:ext uri="{FF2B5EF4-FFF2-40B4-BE49-F238E27FC236}">
                <a16:creationId xmlns:a16="http://schemas.microsoft.com/office/drawing/2014/main" id="{C54B2575-91C3-68D8-C930-86FA8ACC27A4}"/>
              </a:ext>
            </a:extLst>
          </p:cNvPr>
          <p:cNvSpPr txBox="1"/>
          <p:nvPr/>
        </p:nvSpPr>
        <p:spPr>
          <a:xfrm>
            <a:off x="326053" y="2816743"/>
            <a:ext cx="42774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with temperature:</a:t>
            </a:r>
            <a:endParaRPr sz="2000" b="0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4;p17">
            <a:extLst>
              <a:ext uri="{FF2B5EF4-FFF2-40B4-BE49-F238E27FC236}">
                <a16:creationId xmlns:a16="http://schemas.microsoft.com/office/drawing/2014/main" id="{62360538-CE41-04B5-2EF5-A45F1602B377}"/>
              </a:ext>
            </a:extLst>
          </p:cNvPr>
          <p:cNvSpPr txBox="1"/>
          <p:nvPr/>
        </p:nvSpPr>
        <p:spPr>
          <a:xfrm>
            <a:off x="3287613" y="2462100"/>
            <a:ext cx="1647218" cy="10476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315;p17">
            <a:extLst>
              <a:ext uri="{FF2B5EF4-FFF2-40B4-BE49-F238E27FC236}">
                <a16:creationId xmlns:a16="http://schemas.microsoft.com/office/drawing/2014/main" id="{33F5A52C-7F98-C151-15B3-F439FD1B0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4465038"/>
              </p:ext>
            </p:extLst>
          </p:nvPr>
        </p:nvGraphicFramePr>
        <p:xfrm>
          <a:off x="6890080" y="661143"/>
          <a:ext cx="2509525" cy="2225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4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z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q [T=1]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q [T=10]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-1.1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0.007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0.171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1.4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0.087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0.219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3.7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0.880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0.276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0.024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0.193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-3.0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/>
                        <a:t>0.001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0.141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oogle Shape;316;p17">
            <a:extLst>
              <a:ext uri="{FF2B5EF4-FFF2-40B4-BE49-F238E27FC236}">
                <a16:creationId xmlns:a16="http://schemas.microsoft.com/office/drawing/2014/main" id="{C47ECB3A-5A2A-9BDF-929E-CDC416460766}"/>
              </a:ext>
            </a:extLst>
          </p:cNvPr>
          <p:cNvGrpSpPr/>
          <p:nvPr/>
        </p:nvGrpSpPr>
        <p:grpSpPr>
          <a:xfrm>
            <a:off x="5931468" y="3006144"/>
            <a:ext cx="3941269" cy="2290853"/>
            <a:chOff x="6747052" y="3651649"/>
            <a:chExt cx="3941269" cy="2290853"/>
          </a:xfrm>
        </p:grpSpPr>
        <p:sp>
          <p:nvSpPr>
            <p:cNvPr id="10" name="Google Shape;317;p17">
              <a:extLst>
                <a:ext uri="{FF2B5EF4-FFF2-40B4-BE49-F238E27FC236}">
                  <a16:creationId xmlns:a16="http://schemas.microsoft.com/office/drawing/2014/main" id="{B02BF5C4-FFC3-3128-6E06-04D1279BA103}"/>
                </a:ext>
              </a:extLst>
            </p:cNvPr>
            <p:cNvSpPr/>
            <p:nvPr/>
          </p:nvSpPr>
          <p:spPr>
            <a:xfrm>
              <a:off x="7772400" y="3824391"/>
              <a:ext cx="2235200" cy="1614106"/>
            </a:xfrm>
            <a:custGeom>
              <a:avLst/>
              <a:gdLst/>
              <a:ahLst/>
              <a:cxnLst/>
              <a:rect l="l" t="t" r="r" b="b"/>
              <a:pathLst>
                <a:path w="2255520" h="1432563" extrusionOk="0">
                  <a:moveTo>
                    <a:pt x="0" y="1422403"/>
                  </a:moveTo>
                  <a:cubicBezTo>
                    <a:pt x="381000" y="710356"/>
                    <a:pt x="762000" y="-1690"/>
                    <a:pt x="1137920" y="3"/>
                  </a:cubicBezTo>
                  <a:cubicBezTo>
                    <a:pt x="1513840" y="1696"/>
                    <a:pt x="2048933" y="1220896"/>
                    <a:pt x="2255520" y="1432563"/>
                  </a:cubicBezTo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18;p17">
              <a:extLst>
                <a:ext uri="{FF2B5EF4-FFF2-40B4-BE49-F238E27FC236}">
                  <a16:creationId xmlns:a16="http://schemas.microsoft.com/office/drawing/2014/main" id="{AA495D61-8D22-E1C0-5E9F-43F10B121998}"/>
                </a:ext>
              </a:extLst>
            </p:cNvPr>
            <p:cNvSpPr/>
            <p:nvPr/>
          </p:nvSpPr>
          <p:spPr>
            <a:xfrm>
              <a:off x="7772400" y="4185920"/>
              <a:ext cx="2235200" cy="881198"/>
            </a:xfrm>
            <a:custGeom>
              <a:avLst/>
              <a:gdLst/>
              <a:ahLst/>
              <a:cxnLst/>
              <a:rect l="l" t="t" r="r" b="b"/>
              <a:pathLst>
                <a:path w="2255520" h="1432563" extrusionOk="0">
                  <a:moveTo>
                    <a:pt x="0" y="1422403"/>
                  </a:moveTo>
                  <a:cubicBezTo>
                    <a:pt x="381000" y="710356"/>
                    <a:pt x="762000" y="-1690"/>
                    <a:pt x="1137920" y="3"/>
                  </a:cubicBezTo>
                  <a:cubicBezTo>
                    <a:pt x="1513840" y="1696"/>
                    <a:pt x="2048933" y="1220896"/>
                    <a:pt x="2255520" y="1432563"/>
                  </a:cubicBezTo>
                </a:path>
              </a:pathLst>
            </a:custGeom>
            <a:noFill/>
            <a:ln w="381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" name="Google Shape;319;p17">
              <a:extLst>
                <a:ext uri="{FF2B5EF4-FFF2-40B4-BE49-F238E27FC236}">
                  <a16:creationId xmlns:a16="http://schemas.microsoft.com/office/drawing/2014/main" id="{D2D4E7AE-7B0D-013B-8DFB-CA0D4BB0BF04}"/>
                </a:ext>
              </a:extLst>
            </p:cNvPr>
            <p:cNvCxnSpPr/>
            <p:nvPr/>
          </p:nvCxnSpPr>
          <p:spPr>
            <a:xfrm>
              <a:off x="7109644" y="5632147"/>
              <a:ext cx="3578676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320;p17">
              <a:extLst>
                <a:ext uri="{FF2B5EF4-FFF2-40B4-BE49-F238E27FC236}">
                  <a16:creationId xmlns:a16="http://schemas.microsoft.com/office/drawing/2014/main" id="{926BFE64-4663-FA47-22A7-E410287146EA}"/>
                </a:ext>
              </a:extLst>
            </p:cNvPr>
            <p:cNvCxnSpPr/>
            <p:nvPr/>
          </p:nvCxnSpPr>
          <p:spPr>
            <a:xfrm rot="10800000">
              <a:off x="7109644" y="3651649"/>
              <a:ext cx="0" cy="198049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" name="Google Shape;321;p17">
              <a:extLst>
                <a:ext uri="{FF2B5EF4-FFF2-40B4-BE49-F238E27FC236}">
                  <a16:creationId xmlns:a16="http://schemas.microsoft.com/office/drawing/2014/main" id="{F32309B1-1F48-43F2-3EB7-250B3C7A27FC}"/>
                </a:ext>
              </a:extLst>
            </p:cNvPr>
            <p:cNvSpPr txBox="1"/>
            <p:nvPr/>
          </p:nvSpPr>
          <p:spPr>
            <a:xfrm rot="-5400000">
              <a:off x="6374353" y="4374003"/>
              <a:ext cx="108395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1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Probability</a:t>
              </a:r>
              <a:endParaRPr sz="16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22;p17">
              <a:extLst>
                <a:ext uri="{FF2B5EF4-FFF2-40B4-BE49-F238E27FC236}">
                  <a16:creationId xmlns:a16="http://schemas.microsoft.com/office/drawing/2014/main" id="{D2837A4E-3369-E64F-AAD7-A1DA564CD89A}"/>
                </a:ext>
              </a:extLst>
            </p:cNvPr>
            <p:cNvSpPr txBox="1"/>
            <p:nvPr/>
          </p:nvSpPr>
          <p:spPr>
            <a:xfrm>
              <a:off x="8515030" y="5603948"/>
              <a:ext cx="782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1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Classes</a:t>
              </a:r>
              <a:endParaRPr sz="16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23;p17">
              <a:extLst>
                <a:ext uri="{FF2B5EF4-FFF2-40B4-BE49-F238E27FC236}">
                  <a16:creationId xmlns:a16="http://schemas.microsoft.com/office/drawing/2014/main" id="{12F626AB-F9EE-9559-8970-B705FD6A1126}"/>
                </a:ext>
              </a:extLst>
            </p:cNvPr>
            <p:cNvSpPr txBox="1"/>
            <p:nvPr/>
          </p:nvSpPr>
          <p:spPr>
            <a:xfrm>
              <a:off x="9926320" y="4905186"/>
              <a:ext cx="4924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1" u="none" strike="noStrike" cap="non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T=5</a:t>
              </a:r>
              <a:endParaRPr sz="1600" b="1" i="1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24;p17">
              <a:extLst>
                <a:ext uri="{FF2B5EF4-FFF2-40B4-BE49-F238E27FC236}">
                  <a16:creationId xmlns:a16="http://schemas.microsoft.com/office/drawing/2014/main" id="{DBE55215-11A3-014D-7246-07741A69D725}"/>
                </a:ext>
              </a:extLst>
            </p:cNvPr>
            <p:cNvSpPr txBox="1"/>
            <p:nvPr/>
          </p:nvSpPr>
          <p:spPr>
            <a:xfrm>
              <a:off x="9936480" y="5241459"/>
              <a:ext cx="4924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1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 sz="1600" b="1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25;p17">
              <a:extLst>
                <a:ext uri="{FF2B5EF4-FFF2-40B4-BE49-F238E27FC236}">
                  <a16:creationId xmlns:a16="http://schemas.microsoft.com/office/drawing/2014/main" id="{B87BE3EB-07A6-5202-9F86-FDEB0392EBD6}"/>
                </a:ext>
              </a:extLst>
            </p:cNvPr>
            <p:cNvSpPr/>
            <p:nvPr/>
          </p:nvSpPr>
          <p:spPr>
            <a:xfrm>
              <a:off x="7783777" y="4417336"/>
              <a:ext cx="2235200" cy="459127"/>
            </a:xfrm>
            <a:custGeom>
              <a:avLst/>
              <a:gdLst/>
              <a:ahLst/>
              <a:cxnLst/>
              <a:rect l="l" t="t" r="r" b="b"/>
              <a:pathLst>
                <a:path w="2255520" h="1432563" extrusionOk="0">
                  <a:moveTo>
                    <a:pt x="0" y="1422403"/>
                  </a:moveTo>
                  <a:cubicBezTo>
                    <a:pt x="381000" y="710356"/>
                    <a:pt x="762000" y="-1690"/>
                    <a:pt x="1137920" y="3"/>
                  </a:cubicBezTo>
                  <a:cubicBezTo>
                    <a:pt x="1513840" y="1696"/>
                    <a:pt x="2048933" y="1220896"/>
                    <a:pt x="2255520" y="1432563"/>
                  </a:cubicBezTo>
                </a:path>
              </a:pathLst>
            </a:custGeom>
            <a:noFill/>
            <a:ln w="381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26;p17">
              <a:extLst>
                <a:ext uri="{FF2B5EF4-FFF2-40B4-BE49-F238E27FC236}">
                  <a16:creationId xmlns:a16="http://schemas.microsoft.com/office/drawing/2014/main" id="{4A9BAC6E-C7E7-9C50-96AB-027A75B81799}"/>
                </a:ext>
              </a:extLst>
            </p:cNvPr>
            <p:cNvSpPr txBox="1"/>
            <p:nvPr/>
          </p:nvSpPr>
          <p:spPr>
            <a:xfrm>
              <a:off x="9966960" y="4662157"/>
              <a:ext cx="59663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1" u="none" strike="noStrike" cap="non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T=10</a:t>
              </a:r>
              <a:endParaRPr sz="1600" b="1" i="1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327;p17">
            <a:extLst>
              <a:ext uri="{FF2B5EF4-FFF2-40B4-BE49-F238E27FC236}">
                <a16:creationId xmlns:a16="http://schemas.microsoft.com/office/drawing/2014/main" id="{8552BDAB-3379-D17F-156F-AD6ABB8CD76A}"/>
              </a:ext>
            </a:extLst>
          </p:cNvPr>
          <p:cNvSpPr/>
          <p:nvPr/>
        </p:nvSpPr>
        <p:spPr>
          <a:xfrm>
            <a:off x="6397561" y="1810444"/>
            <a:ext cx="450600" cy="245700"/>
          </a:xfrm>
          <a:prstGeom prst="rightArrow">
            <a:avLst>
              <a:gd name="adj1" fmla="val 50000"/>
              <a:gd name="adj2" fmla="val 79447"/>
            </a:avLst>
          </a:prstGeom>
          <a:solidFill>
            <a:schemeClr val="accent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28;p17">
            <a:extLst>
              <a:ext uri="{FF2B5EF4-FFF2-40B4-BE49-F238E27FC236}">
                <a16:creationId xmlns:a16="http://schemas.microsoft.com/office/drawing/2014/main" id="{8AF745D2-AFF4-2DBB-B0DF-424300F33ADB}"/>
              </a:ext>
            </a:extLst>
          </p:cNvPr>
          <p:cNvSpPr/>
          <p:nvPr/>
        </p:nvSpPr>
        <p:spPr>
          <a:xfrm>
            <a:off x="6397561" y="2588862"/>
            <a:ext cx="450600" cy="245700"/>
          </a:xfrm>
          <a:prstGeom prst="rightArrow">
            <a:avLst>
              <a:gd name="adj1" fmla="val 50000"/>
              <a:gd name="adj2" fmla="val 79447"/>
            </a:avLst>
          </a:prstGeom>
          <a:solidFill>
            <a:srgbClr val="C0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29;p17">
            <a:extLst>
              <a:ext uri="{FF2B5EF4-FFF2-40B4-BE49-F238E27FC236}">
                <a16:creationId xmlns:a16="http://schemas.microsoft.com/office/drawing/2014/main" id="{1E12D365-4A9E-7C27-F589-B752A6DC005D}"/>
              </a:ext>
            </a:extLst>
          </p:cNvPr>
          <p:cNvSpPr/>
          <p:nvPr/>
        </p:nvSpPr>
        <p:spPr>
          <a:xfrm>
            <a:off x="251596" y="4067376"/>
            <a:ext cx="4835287" cy="799272"/>
          </a:xfrm>
          <a:prstGeom prst="roundRect">
            <a:avLst>
              <a:gd name="adj" fmla="val 18075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hyper-parameter: </a:t>
            </a:r>
            <a:r>
              <a:rPr lang="en-US" sz="24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exposes more “dark knowledge”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30;p17">
            <a:extLst>
              <a:ext uri="{FF2B5EF4-FFF2-40B4-BE49-F238E27FC236}">
                <a16:creationId xmlns:a16="http://schemas.microsoft.com/office/drawing/2014/main" id="{5D3991A3-14B1-E2C5-FA90-A2584566B339}"/>
              </a:ext>
            </a:extLst>
          </p:cNvPr>
          <p:cNvSpPr txBox="1"/>
          <p:nvPr/>
        </p:nvSpPr>
        <p:spPr>
          <a:xfrm>
            <a:off x="329940" y="1549910"/>
            <a:ext cx="5013600" cy="639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Recall: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function: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1FEDC17-1989-E449-E6FA-1AFC34FBF5D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7</a:t>
            </a:fld>
            <a:endParaRPr kern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BADC2B-6282-E60D-52A5-8F7FC1214E1C}"/>
              </a:ext>
            </a:extLst>
          </p:cNvPr>
          <p:cNvSpPr txBox="1"/>
          <p:nvPr/>
        </p:nvSpPr>
        <p:spPr>
          <a:xfrm>
            <a:off x="4821994" y="5342142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034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847AB-8D25-7EFE-BF3C-F5759FC4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A3701-22F2-0FC0-BD38-3CFA4B5E84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Concept of temperature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23F301-7925-5AAE-2214-7F028AE66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F9EB50-BBA4-3071-C08B-3F78E125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83" y="1502337"/>
            <a:ext cx="9216776" cy="3107370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BD7E397-9811-F395-26C0-254027DE7F8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8</a:t>
            </a:fld>
            <a:endParaRPr kern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BD8C3-14B7-A9EA-47A6-FB36C2556FDD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214710059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723831B-0528-9C52-E660-31CBDF49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- </a:t>
            </a:r>
            <a:r>
              <a:rPr lang="en" altLang="ko-KR" dirty="0"/>
              <a:t>What to match?</a:t>
            </a:r>
            <a:br>
              <a:rPr lang="en" altLang="ko-KR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40F83E-51B3-45C7-3631-17F09E12B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ko-KR" sz="2400" dirty="0"/>
              <a:t>Output logits</a:t>
            </a:r>
          </a:p>
          <a:p>
            <a:r>
              <a:rPr kumimoji="1" lang="en" altLang="ko-KR" sz="2400" dirty="0"/>
              <a:t>Intermediate weights</a:t>
            </a:r>
          </a:p>
          <a:p>
            <a:r>
              <a:rPr kumimoji="1" lang="en" altLang="ko-KR" sz="2400" dirty="0"/>
              <a:t>Intermediate features</a:t>
            </a:r>
          </a:p>
          <a:p>
            <a:r>
              <a:rPr kumimoji="1" lang="en" altLang="ko-KR" sz="2400" dirty="0"/>
              <a:t>Gradients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(Attention maps)</a:t>
            </a:r>
            <a:endParaRPr kumimoji="1" lang="en" altLang="ko-KR" sz="2400" dirty="0"/>
          </a:p>
          <a:p>
            <a:r>
              <a:rPr kumimoji="1" lang="en" altLang="ko-KR" sz="2400" dirty="0"/>
              <a:t>Sparsity patterns</a:t>
            </a:r>
          </a:p>
        </p:txBody>
      </p:sp>
    </p:spTree>
    <p:extLst>
      <p:ext uri="{BB962C8B-B14F-4D97-AF65-F5344CB8AC3E}">
        <p14:creationId xmlns:p14="http://schemas.microsoft.com/office/powerpoint/2010/main" val="38302085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3C6E9-56C8-A5AD-CD9C-2FC718AE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What to Match?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4D4E80-F736-E463-FA84-B06CC86EB2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Matching output logits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7612F1-3C05-BAE1-859D-855D4B9A6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217DB2-5997-63AA-A272-0783C9C02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57" y="1581289"/>
            <a:ext cx="7772400" cy="3480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D7547E-5051-5504-2998-BB5FF6AA8A6D}"/>
              </a:ext>
            </a:extLst>
          </p:cNvPr>
          <p:cNvSpPr txBox="1"/>
          <p:nvPr/>
        </p:nvSpPr>
        <p:spPr>
          <a:xfrm>
            <a:off x="5193411" y="5127720"/>
            <a:ext cx="5189456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Distilling the Knowledge in a Neural Network [Hinton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Workshops 2014]</a:t>
            </a:r>
          </a:p>
          <a:p>
            <a:pPr algn="r"/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Do Deep Nets Really Need to be Deep? [Ba and Caruana,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2014]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850AE7A-3CDD-A50F-5A4A-C0EE1C23FD2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10</a:t>
            </a:fld>
            <a:endParaRPr kern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2222D-CA72-7614-614F-EE526A107D2B}"/>
              </a:ext>
            </a:extLst>
          </p:cNvPr>
          <p:cNvSpPr txBox="1"/>
          <p:nvPr/>
        </p:nvSpPr>
        <p:spPr>
          <a:xfrm>
            <a:off x="5174552" y="5368126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62463726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9A0D8-95BC-80CC-7696-A93F6126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What to Match?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528348-FCF3-2946-5812-7EF5C3615A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Matching intermediate weights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DE5E45-BC7D-35D8-9B12-5684A9054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AC7F3F-82C5-D7F2-66AF-1927CE1C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785" y="1540774"/>
            <a:ext cx="5258038" cy="334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FEB371-5BFB-400B-B432-10CAB45944A4}"/>
              </a:ext>
            </a:extLst>
          </p:cNvPr>
          <p:cNvSpPr txBox="1"/>
          <p:nvPr/>
        </p:nvSpPr>
        <p:spPr>
          <a:xfrm>
            <a:off x="7585970" y="5189275"/>
            <a:ext cx="518945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Knowledge Distillation: A Survey [Gou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IJCV 2020]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95E4AEB-AABA-4628-318F-50BF3AA7DD9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11</a:t>
            </a:fld>
            <a:endParaRPr kern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D991E-F40C-AD2D-FFE8-B5E604A61047}"/>
              </a:ext>
            </a:extLst>
          </p:cNvPr>
          <p:cNvSpPr txBox="1"/>
          <p:nvPr/>
        </p:nvSpPr>
        <p:spPr>
          <a:xfrm>
            <a:off x="5111177" y="5335703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357395692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97959-1AC4-38BE-639C-123905F4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What to Match?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C8805E-228C-3D17-5CD0-4DA91F1D99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Matching intermediate features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EA9C7A-993B-B4FE-4B65-9CB6D2550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Minimizing maximum mean discrepancy between feature maps</a:t>
            </a:r>
          </a:p>
          <a:p>
            <a:pPr lvl="1"/>
            <a:r>
              <a:rPr kumimoji="1" lang="en" altLang="ko-KR" dirty="0"/>
              <a:t>Intuition: teacher and student networks should have similar feature distributions, not just output</a:t>
            </a:r>
            <a:r>
              <a:rPr kumimoji="1" lang="ko-KR" altLang="en-US" dirty="0"/>
              <a:t> </a:t>
            </a:r>
            <a:r>
              <a:rPr kumimoji="1" lang="en" altLang="ko-KR" dirty="0"/>
              <a:t>probability distributions.</a:t>
            </a: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260E3C-5A36-C5FE-432D-47C2F88B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30" y="2173136"/>
            <a:ext cx="5493082" cy="3123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FD886B-9078-AA68-6886-792AA86999D3}"/>
              </a:ext>
            </a:extLst>
          </p:cNvPr>
          <p:cNvSpPr txBox="1"/>
          <p:nvPr/>
        </p:nvSpPr>
        <p:spPr>
          <a:xfrm>
            <a:off x="5714998" y="5223194"/>
            <a:ext cx="695462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Like What You Like: Knowledge Distill via Neuron Selectivity Transfer [Huang and Wang,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arXiv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2017]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DA29E0B-097B-C1A1-17CB-9E63C1B3B0F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12</a:t>
            </a:fld>
            <a:endParaRPr kern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258C2-07F8-B391-86F7-30D22B15E749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305978568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D65FC-A520-CA19-8972-A45060C3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What to Match?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1F7BAE-254D-B10E-3478-828626A5B6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Matching intermediate attention maps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485714-F5DC-9645-A5B2-0C07DF8B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Gradients of feature maps are used to characterize “attention” of DNNs</a:t>
            </a: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E810E4-406C-06FB-AEB1-5403DEC42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18" y="2562654"/>
            <a:ext cx="5300982" cy="28506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2787B8-4C66-DEA3-CEF9-61E5F16A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3" y="3410246"/>
            <a:ext cx="3859597" cy="14757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DEC995-045E-1CF4-FA7A-0448F3009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89" y="1391311"/>
            <a:ext cx="7772400" cy="1340619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1DFA65A-40DD-1044-0F24-EF8E73B9180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13</a:t>
            </a:fld>
            <a:endParaRPr kern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EBEC-8A87-F474-D19A-3E367DA8E64D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21353332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51DAF-EF72-CD11-DBEC-5A7B5262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Knowledge Distillation – What to Match?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901E45-57B0-C34D-6088-079F1AF728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Matching sparsity patterns</a:t>
            </a:r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07DB21-E62B-A320-8E5E-14EB697C8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Intuition: the teacher and student networks should have similar sparsity patterns after the </a:t>
            </a:r>
            <a:r>
              <a:rPr kumimoji="1" lang="en" altLang="ko-KR" dirty="0" err="1"/>
              <a:t>ReLU</a:t>
            </a:r>
            <a:r>
              <a:rPr kumimoji="1" lang="ko-KR" altLang="en-US" dirty="0"/>
              <a:t> </a:t>
            </a:r>
            <a:r>
              <a:rPr kumimoji="1" lang="en" altLang="ko-KR" dirty="0"/>
              <a:t>activation</a:t>
            </a:r>
          </a:p>
          <a:p>
            <a:r>
              <a:rPr kumimoji="1" lang="en" altLang="ko-KR" dirty="0"/>
              <a:t>A neuron is activated after </a:t>
            </a:r>
            <a:r>
              <a:rPr kumimoji="1" lang="en" altLang="ko-KR" dirty="0" err="1"/>
              <a:t>ReLU</a:t>
            </a:r>
            <a:r>
              <a:rPr kumimoji="1" lang="en" altLang="ko-KR" dirty="0"/>
              <a:t> if its value is larger than 0, denoted by the indicator</a:t>
            </a:r>
            <a:r>
              <a:rPr kumimoji="1" lang="ko-KR" altLang="en-US" dirty="0"/>
              <a:t> </a:t>
            </a:r>
            <a:r>
              <a:rPr kumimoji="1" lang="en" altLang="ko-KR" dirty="0"/>
              <a:t>function</a:t>
            </a: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F3BF4D-6B47-8387-C302-9035DF97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55" y="2188016"/>
            <a:ext cx="1447072" cy="3100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0113AA-7278-FAE8-54E6-15AE70D5B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35" y="2514116"/>
            <a:ext cx="6271943" cy="2787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E3BC92-C97B-36E4-76DF-4929F7BC01ED}"/>
              </a:ext>
            </a:extLst>
          </p:cNvPr>
          <p:cNvSpPr txBox="1"/>
          <p:nvPr/>
        </p:nvSpPr>
        <p:spPr>
          <a:xfrm>
            <a:off x="5193411" y="5248996"/>
            <a:ext cx="656812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Knowledge Transfer via Distillation of Activation Boundaries Formed by Hidden Neurons [Heo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AAAI 2019]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751422A-EA1A-DACC-10C6-3C71BF7E9D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14</a:t>
            </a:fld>
            <a:endParaRPr kern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09F4B-4373-1D9A-9ACF-33D39AE722AB}"/>
              </a:ext>
            </a:extLst>
          </p:cNvPr>
          <p:cNvSpPr txBox="1"/>
          <p:nvPr/>
        </p:nvSpPr>
        <p:spPr>
          <a:xfrm>
            <a:off x="5231116" y="5364696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32410951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/>
          <p:cNvSpPr txBox="1"/>
          <p:nvPr/>
        </p:nvSpPr>
        <p:spPr>
          <a:xfrm>
            <a:off x="437711" y="15872"/>
            <a:ext cx="3372453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1487" rIns="51487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29697" latinLnBrk="0" hangingPunct="0"/>
            <a:r>
              <a:rPr sz="1125" kern="0"/>
              <a:t>Lecture 6: Polling and Interrupt</a:t>
            </a:r>
          </a:p>
        </p:txBody>
      </p:sp>
      <p:sp>
        <p:nvSpPr>
          <p:cNvPr id="99" name="Google Shape;15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 b="1" dirty="0"/>
              <a:t>Thank you!</a:t>
            </a:r>
          </a:p>
        </p:txBody>
      </p:sp>
      <p:sp>
        <p:nvSpPr>
          <p:cNvPr id="10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15</a:t>
            </a:fld>
            <a:endParaRPr kern="0"/>
          </a:p>
        </p:txBody>
      </p:sp>
      <p:sp>
        <p:nvSpPr>
          <p:cNvPr id="101" name="Questions or comments?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r>
              <a:rPr dirty="0"/>
              <a:t>Questions or comments? </a:t>
            </a:r>
          </a:p>
        </p:txBody>
      </p:sp>
      <p:sp>
        <p:nvSpPr>
          <p:cNvPr id="102" name="Google Shape;36;p7"/>
          <p:cNvSpPr txBox="1"/>
          <p:nvPr/>
        </p:nvSpPr>
        <p:spPr>
          <a:xfrm>
            <a:off x="389920" y="3467052"/>
            <a:ext cx="5814555" cy="145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2958" tIns="102958" rIns="102958" bIns="102958">
            <a:spAutoFit/>
          </a:bodyPr>
          <a:lstStyle/>
          <a:p>
            <a:pPr defTabSz="1029697" latinLnBrk="0" hangingPunct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altLang="ko-KR" sz="1577" kern="0" dirty="0">
                <a:solidFill>
                  <a:srgbClr val="666666"/>
                </a:solidFill>
                <a:latin typeface="Raleway Bold"/>
                <a:cs typeface="Raleway Bold"/>
                <a:sym typeface="Raleway Bold"/>
              </a:rPr>
              <a:t>Jong Hwan Ko</a:t>
            </a:r>
          </a:p>
          <a:p>
            <a:pPr defTabSz="1029697" latinLnBrk="0" hangingPunct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US" altLang="ko-KR" sz="1125" kern="0" dirty="0">
              <a:solidFill>
                <a:srgbClr val="666666"/>
              </a:solidFill>
              <a:latin typeface="Raleway Bold"/>
              <a:cs typeface="Raleway Bold"/>
              <a:sym typeface="Raleway Bold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SungKyunKwan</a:t>
            </a: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 University, Korea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Department of Information and Communication Engineering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jhko@skku.edu</a:t>
            </a: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KKU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10482</TotalTime>
  <Words>888</Words>
  <Application>Microsoft Macintosh PowerPoint</Application>
  <PresentationFormat>사용자 지정</PresentationFormat>
  <Paragraphs>203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9" baseType="lpstr">
      <vt:lpstr>NanumGothic</vt:lpstr>
      <vt:lpstr>맑은 고딕</vt:lpstr>
      <vt:lpstr>Noto Sans CJK KR Black</vt:lpstr>
      <vt:lpstr>Noto Sans CJK KR Regular</vt:lpstr>
      <vt:lpstr>Raleway Bold</vt:lpstr>
      <vt:lpstr>Raleway Regular</vt:lpstr>
      <vt:lpstr>Arial</vt:lpstr>
      <vt:lpstr>Calibri</vt:lpstr>
      <vt:lpstr>Helvetica Neue</vt:lpstr>
      <vt:lpstr>Raleway</vt:lpstr>
      <vt:lpstr>Source Sans Pro</vt:lpstr>
      <vt:lpstr>Trebuchet MS</vt:lpstr>
      <vt:lpstr>Wingdings</vt:lpstr>
      <vt:lpstr>SKKU</vt:lpstr>
      <vt:lpstr> 미래차 부트캠프 On-device AI</vt:lpstr>
      <vt:lpstr>4. Knowledge Distillation – Contents</vt:lpstr>
      <vt:lpstr>4. Knowledge Distillation</vt:lpstr>
      <vt:lpstr>4. Knowledge Distillation</vt:lpstr>
      <vt:lpstr>4. Knowledge Distillation</vt:lpstr>
      <vt:lpstr>4. Knowledge Distillation</vt:lpstr>
      <vt:lpstr>4. Knowledge Distillation</vt:lpstr>
      <vt:lpstr>4. Knowledge Distillation</vt:lpstr>
      <vt:lpstr>4. Knowledge Distillation - What to match? </vt:lpstr>
      <vt:lpstr>4. Knowledge Distillation – What to Match?</vt:lpstr>
      <vt:lpstr>4. Knowledge Distillation – What to Match?</vt:lpstr>
      <vt:lpstr>4. Knowledge Distillation – What to Match?</vt:lpstr>
      <vt:lpstr>4. Knowledge Distillation – What to Match?</vt:lpstr>
      <vt:lpstr>4. Knowledge Distillation – What to Match?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고종환</dc:creator>
  <cp:lastModifiedBy>고종환</cp:lastModifiedBy>
  <cp:revision>95</cp:revision>
  <dcterms:created xsi:type="dcterms:W3CDTF">2024-08-09T12:51:12Z</dcterms:created>
  <dcterms:modified xsi:type="dcterms:W3CDTF">2025-08-09T03:18:29Z</dcterms:modified>
</cp:coreProperties>
</file>