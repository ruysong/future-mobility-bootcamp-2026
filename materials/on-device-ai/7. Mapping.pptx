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2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1632" r:id="rId2"/>
    <p:sldId id="363" r:id="rId3"/>
    <p:sldId id="943" r:id="rId4"/>
    <p:sldId id="299" r:id="rId5"/>
    <p:sldId id="300" r:id="rId6"/>
    <p:sldId id="301" r:id="rId7"/>
    <p:sldId id="302" r:id="rId8"/>
    <p:sldId id="303" r:id="rId9"/>
    <p:sldId id="949" r:id="rId10"/>
    <p:sldId id="263" r:id="rId11"/>
    <p:sldId id="264" r:id="rId12"/>
    <p:sldId id="265" r:id="rId13"/>
    <p:sldId id="364" r:id="rId14"/>
    <p:sldId id="267" r:id="rId15"/>
    <p:sldId id="944" r:id="rId16"/>
    <p:sldId id="269" r:id="rId17"/>
    <p:sldId id="945" r:id="rId18"/>
    <p:sldId id="946" r:id="rId19"/>
    <p:sldId id="947" r:id="rId20"/>
    <p:sldId id="948" r:id="rId21"/>
    <p:sldId id="365" r:id="rId22"/>
    <p:sldId id="366" r:id="rId23"/>
    <p:sldId id="523" r:id="rId24"/>
    <p:sldId id="524" r:id="rId25"/>
    <p:sldId id="528" r:id="rId26"/>
    <p:sldId id="527" r:id="rId27"/>
    <p:sldId id="730" r:id="rId28"/>
    <p:sldId id="532" r:id="rId29"/>
    <p:sldId id="533" r:id="rId30"/>
    <p:sldId id="534" r:id="rId31"/>
    <p:sldId id="941" r:id="rId32"/>
    <p:sldId id="849" r:id="rId33"/>
    <p:sldId id="928" r:id="rId34"/>
    <p:sldId id="926" r:id="rId35"/>
    <p:sldId id="935" r:id="rId36"/>
    <p:sldId id="260" r:id="rId37"/>
  </p:sldIdLst>
  <p:sldSz cx="10367963" cy="5832475"/>
  <p:notesSz cx="6858000" cy="9144000"/>
  <p:defaultTextStyle>
    <a:defPPr>
      <a:defRPr lang="ko-KR"/>
    </a:defPPr>
    <a:lvl1pPr marL="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EDEDED"/>
    <a:srgbClr val="FF26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1"/>
    <p:restoredTop sz="84874"/>
  </p:normalViewPr>
  <p:slideViewPr>
    <p:cSldViewPr snapToGrid="0">
      <p:cViewPr varScale="1">
        <p:scale>
          <a:sx n="101" d="100"/>
          <a:sy n="101" d="100"/>
        </p:scale>
        <p:origin x="1232" y="1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Drive\Research\2.%20Neural%20Network\06.%20Danamic_config\Dynamic_config%20(2017_11_19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D:\Drive\Research\2.%20Neural%20Network\06.%20Danamic_config\Dynamic_config%20(2017_11_17)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D:\Drive\Research\2.%20Neural%20Network\06.%20Danamic_config\Dynamic_config%20(2017_11_19)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D:\Drive\Research\2.%20Neural%20Network\06.%20Danamic_config\Dynamic_config%20(2017_11_19)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ive\Research\2.%20Neural%20Network\06.%20Danamic_config\Dynamic_config%20(2017_11_19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mainc\Desktop\&#4358;&#4457;&#4355;&#4454;&#4527;&#4359;&#4462;&#4523;&#4361;&#4453;&#4520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1430949871697899"/>
          <c:y val="5.4189997083697899E-2"/>
          <c:w val="0.61113051244904204"/>
          <c:h val="0.69539661708953104"/>
        </c:manualLayout>
      </c:layout>
      <c:scatterChart>
        <c:scatterStyle val="lineMarker"/>
        <c:varyColors val="0"/>
        <c:ser>
          <c:idx val="0"/>
          <c:order val="0"/>
          <c:tx>
            <c:v>Computation (cumulative)</c:v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structure'!$B$8:$B$16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'AlexNet - structure'!$AD$8:$AD$16</c:f>
              <c:numCache>
                <c:formatCode>General</c:formatCode>
                <c:ptCount val="9"/>
                <c:pt idx="0">
                  <c:v>0</c:v>
                </c:pt>
                <c:pt idx="1">
                  <c:v>100.5317687988281</c:v>
                </c:pt>
                <c:pt idx="2">
                  <c:v>527.68020629882812</c:v>
                </c:pt>
                <c:pt idx="3">
                  <c:v>670.27395629882824</c:v>
                </c:pt>
                <c:pt idx="4">
                  <c:v>884.16458129882812</c:v>
                </c:pt>
                <c:pt idx="5">
                  <c:v>1026.7583312988279</c:v>
                </c:pt>
                <c:pt idx="6">
                  <c:v>1062.7583312988279</c:v>
                </c:pt>
                <c:pt idx="7">
                  <c:v>1078.7583312988279</c:v>
                </c:pt>
                <c:pt idx="8">
                  <c:v>1082.6645812988279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B1-4482-ACA3-D223EAC1B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7741680"/>
        <c:axId val="-2117735600"/>
      </c:scatterChart>
      <c:scatterChart>
        <c:scatterStyle val="lineMarker"/>
        <c:varyColors val="0"/>
        <c:ser>
          <c:idx val="1"/>
          <c:order val="1"/>
          <c:tx>
            <c:v>Memory access (cumulative)</c:v>
          </c:tx>
          <c:spPr>
            <a:ln w="22225" cap="rnd">
              <a:solidFill>
                <a:srgbClr val="4472C4">
                  <a:lumMod val="50000"/>
                </a:srgbClr>
              </a:solidFill>
              <a:prstDash val="sysDash"/>
              <a:round/>
            </a:ln>
            <a:effectLst/>
          </c:spPr>
          <c:marker>
            <c:symbol val="square"/>
            <c:size val="6"/>
            <c:spPr>
              <a:noFill/>
              <a:ln w="9525">
                <a:solidFill>
                  <a:srgbClr val="4472C4">
                    <a:lumMod val="50000"/>
                  </a:srgbClr>
                </a:solidFill>
              </a:ln>
              <a:effectLst/>
            </c:spPr>
          </c:marker>
          <c:xVal>
            <c:numRef>
              <c:f>'AlexNet - structure'!$B$8:$B$16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'AlexNet - structure'!$AI$8:$AI$16</c:f>
              <c:numCache>
                <c:formatCode>General</c:formatCode>
                <c:ptCount val="9"/>
                <c:pt idx="0">
                  <c:v>0</c:v>
                </c:pt>
                <c:pt idx="1">
                  <c:v>6.646728515625E-2</c:v>
                </c:pt>
                <c:pt idx="2">
                  <c:v>0.28348117404513901</c:v>
                </c:pt>
                <c:pt idx="3">
                  <c:v>0.827836012754816</c:v>
                </c:pt>
                <c:pt idx="4">
                  <c:v>1.1793985127548161</c:v>
                </c:pt>
                <c:pt idx="5">
                  <c:v>1.4275602774606979</c:v>
                </c:pt>
                <c:pt idx="6">
                  <c:v>6.3255194611341681</c:v>
                </c:pt>
                <c:pt idx="7">
                  <c:v>13.598246733861441</c:v>
                </c:pt>
                <c:pt idx="8">
                  <c:v>15.130109478959479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B1-4482-ACA3-D223EAC1B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7758528"/>
        <c:axId val="-2117749568"/>
      </c:scatterChart>
      <c:valAx>
        <c:axId val="-2117741680"/>
        <c:scaling>
          <c:orientation val="minMax"/>
          <c:max val="8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117735600"/>
        <c:crosses val="autoZero"/>
        <c:crossBetween val="midCat"/>
        <c:majorUnit val="1"/>
      </c:valAx>
      <c:valAx>
        <c:axId val="-2117735600"/>
        <c:scaling>
          <c:orientation val="minMax"/>
          <c:max val="1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dirty="0"/>
                  <a:t>Computation</a:t>
                </a:r>
                <a:br>
                  <a:rPr lang="en-US" altLang="ko-KR" dirty="0"/>
                </a:br>
                <a:r>
                  <a:rPr lang="en-US" altLang="ko-KR" dirty="0"/>
                  <a:t>(Mega ops)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741680"/>
        <c:crosses val="autoZero"/>
        <c:crossBetween val="midCat"/>
        <c:majorUnit val="500"/>
      </c:valAx>
      <c:valAx>
        <c:axId val="-211774956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Memory access (MB)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758528"/>
        <c:crosses val="max"/>
        <c:crossBetween val="midCat"/>
      </c:valAx>
      <c:valAx>
        <c:axId val="-2117758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11774956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1656437178611901"/>
          <c:y val="6.4355537214852002E-2"/>
          <c:w val="0.46233724882750299"/>
          <c:h val="0.167400258353984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091643224831099"/>
          <c:y val="5.4189997083697899E-2"/>
          <c:w val="0.71535426078102105"/>
          <c:h val="0.61496765066518178"/>
        </c:manualLayout>
      </c:layout>
      <c:scatterChart>
        <c:scatterStyle val="lineMarker"/>
        <c:varyColors val="0"/>
        <c:ser>
          <c:idx val="0"/>
          <c:order val="0"/>
          <c:tx>
            <c:strRef>
              <c:f>'AlexNet - structure'!$AP$4:$AQ$4</c:f>
              <c:strCache>
                <c:ptCount val="1"/>
                <c:pt idx="0">
                  <c:v>Transmission</c:v>
                </c:pt>
              </c:strCache>
            </c:strRef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structure'!$B$8:$B$16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xVal>
          <c:yVal>
            <c:numRef>
              <c:f>'AlexNet - structure'!$P$8:$P$16</c:f>
              <c:numCache>
                <c:formatCode>General</c:formatCode>
                <c:ptCount val="9"/>
                <c:pt idx="0">
                  <c:v>0.287109375</c:v>
                </c:pt>
                <c:pt idx="1">
                  <c:v>0.13348388671875</c:v>
                </c:pt>
                <c:pt idx="2">
                  <c:v>8.251953125E-2</c:v>
                </c:pt>
                <c:pt idx="3">
                  <c:v>0.123779296875</c:v>
                </c:pt>
                <c:pt idx="4">
                  <c:v>0.123779296875</c:v>
                </c:pt>
                <c:pt idx="5">
                  <c:v>1.7578125E-2</c:v>
                </c:pt>
                <c:pt idx="6">
                  <c:v>7.8125E-3</c:v>
                </c:pt>
                <c:pt idx="7">
                  <c:v>7.8125E-3</c:v>
                </c:pt>
                <c:pt idx="8">
                  <c:v>1.9073486328125E-3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76A-4D7D-A952-FD73F8162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7795904"/>
        <c:axId val="-2117809632"/>
      </c:scatterChart>
      <c:valAx>
        <c:axId val="-2117795904"/>
        <c:scaling>
          <c:orientation val="minMax"/>
          <c:max val="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 b="0" i="0" baseline="0">
                    <a:effectLst/>
                  </a:rPr>
                  <a:t>Layer #</a:t>
                </a:r>
                <a:endParaRPr lang="ko-KR" altLang="ko-KR" sz="16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809632"/>
        <c:crosses val="autoZero"/>
        <c:crossBetween val="midCat"/>
        <c:majorUnit val="1"/>
      </c:valAx>
      <c:valAx>
        <c:axId val="-21178096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Output feature</a:t>
                </a:r>
                <a:r>
                  <a:rPr lang="en-US" altLang="ko-KR" baseline="0"/>
                  <a:t> size (MB)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795904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8670695063055301"/>
          <c:y val="5.4189997083697899E-2"/>
          <c:w val="0.75956380020354197"/>
          <c:h val="0.695396617089531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'Alexnet - encoding'!$AC$26</c:f>
              <c:strCache>
                <c:ptCount val="1"/>
                <c:pt idx="0">
                  <c:v>Fine-tuned</c:v>
                </c:pt>
              </c:strCache>
            </c:strRef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encoding'!$AC$27:$AC$32</c:f>
              <c:numCache>
                <c:formatCode>General</c:formatCode>
                <c:ptCount val="6"/>
                <c:pt idx="0">
                  <c:v>67.5</c:v>
                </c:pt>
                <c:pt idx="1">
                  <c:v>33</c:v>
                </c:pt>
                <c:pt idx="2">
                  <c:v>23</c:v>
                </c:pt>
                <c:pt idx="3">
                  <c:v>19.149999999999999</c:v>
                </c:pt>
                <c:pt idx="4">
                  <c:v>17.5</c:v>
                </c:pt>
                <c:pt idx="5">
                  <c:v>14</c:v>
                </c:pt>
              </c:numCache>
            </c:numRef>
          </c:xVal>
          <c:yVal>
            <c:numRef>
              <c:f>'Alexnet - encoding'!$AE$27:$AE$32</c:f>
              <c:numCache>
                <c:formatCode>General</c:formatCode>
                <c:ptCount val="6"/>
                <c:pt idx="0">
                  <c:v>5.89999999999999E-2</c:v>
                </c:pt>
                <c:pt idx="1">
                  <c:v>2.1000000000000001E-2</c:v>
                </c:pt>
                <c:pt idx="2">
                  <c:v>0.01</c:v>
                </c:pt>
                <c:pt idx="3">
                  <c:v>1E-3</c:v>
                </c:pt>
                <c:pt idx="4">
                  <c:v>2E-3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4C-495E-9872-333A6DED54AF}"/>
            </c:ext>
          </c:extLst>
        </c:ser>
        <c:ser>
          <c:idx val="1"/>
          <c:order val="1"/>
          <c:tx>
            <c:strRef>
              <c:f>'Alexnet - encoding'!$Z$26</c:f>
              <c:strCache>
                <c:ptCount val="1"/>
                <c:pt idx="0">
                  <c:v>Original</c:v>
                </c:pt>
              </c:strCache>
            </c:strRef>
          </c:tx>
          <c:spPr>
            <a:ln w="22225" cap="rnd">
              <a:solidFill>
                <a:srgbClr val="4472C4">
                  <a:lumMod val="50000"/>
                </a:srgbClr>
              </a:solidFill>
              <a:prstDash val="sysDash"/>
              <a:round/>
            </a:ln>
            <a:effectLst/>
          </c:spPr>
          <c:marker>
            <c:symbol val="square"/>
            <c:size val="6"/>
            <c:spPr>
              <a:noFill/>
              <a:ln w="9525">
                <a:solidFill>
                  <a:srgbClr val="4472C4">
                    <a:lumMod val="50000"/>
                  </a:srgbClr>
                </a:solidFill>
              </a:ln>
              <a:effectLst/>
            </c:spPr>
          </c:marker>
          <c:xVal>
            <c:numRef>
              <c:f>'Alexnet - encoding'!$Y$27:$Y$32</c:f>
              <c:numCache>
                <c:formatCode>General</c:formatCode>
                <c:ptCount val="6"/>
                <c:pt idx="0">
                  <c:v>68.046326854454989</c:v>
                </c:pt>
                <c:pt idx="1">
                  <c:v>33.005396351655449</c:v>
                </c:pt>
                <c:pt idx="2">
                  <c:v>22.085000000000001</c:v>
                </c:pt>
                <c:pt idx="3">
                  <c:v>19.149999999999999</c:v>
                </c:pt>
                <c:pt idx="4">
                  <c:v>17.5</c:v>
                </c:pt>
                <c:pt idx="5">
                  <c:v>14.131280462321749</c:v>
                </c:pt>
              </c:numCache>
            </c:numRef>
          </c:xVal>
          <c:yVal>
            <c:numRef>
              <c:f>'Alexnet - encoding'!$AA$27:$AA$32</c:f>
              <c:numCache>
                <c:formatCode>General</c:formatCode>
                <c:ptCount val="6"/>
                <c:pt idx="0">
                  <c:v>5.3999999999999902E-2</c:v>
                </c:pt>
                <c:pt idx="1">
                  <c:v>2.1999999999999999E-2</c:v>
                </c:pt>
                <c:pt idx="2">
                  <c:v>1.4E-2</c:v>
                </c:pt>
                <c:pt idx="3">
                  <c:v>5.0000000000000001E-3</c:v>
                </c:pt>
                <c:pt idx="4">
                  <c:v>4.0000000000000001E-3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F4C-495E-9872-333A6DED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5676224"/>
        <c:axId val="2110040784"/>
      </c:scatterChart>
      <c:valAx>
        <c:axId val="2105676224"/>
        <c:scaling>
          <c:orientation val="minMax"/>
          <c:max val="25"/>
          <c:min val="1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Compression</a:t>
                </a:r>
                <a:r>
                  <a:rPr lang="en-US" altLang="ko-KR" baseline="0"/>
                  <a:t> ratio</a:t>
                </a:r>
                <a:endParaRPr lang="ko-KR" altLang="en-US"/>
              </a:p>
            </c:rich>
          </c:tx>
          <c:layout>
            <c:manualLayout>
              <c:xMode val="edge"/>
              <c:yMode val="edge"/>
              <c:x val="0.42248453934381208"/>
              <c:y val="0.856680024371953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2110040784"/>
        <c:crosses val="autoZero"/>
        <c:crossBetween val="midCat"/>
        <c:majorUnit val="5"/>
      </c:valAx>
      <c:valAx>
        <c:axId val="2110040784"/>
        <c:scaling>
          <c:orientation val="minMax"/>
          <c:max val="0.0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Accuracy</a:t>
                </a:r>
                <a:r>
                  <a:rPr lang="en-US" altLang="ko-KR" baseline="0"/>
                  <a:t> loss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2105676224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192818175200654"/>
          <c:y val="8.3565926604127996E-2"/>
          <c:w val="0.44369725587445102"/>
          <c:h val="0.16221256294563399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210928287909701"/>
          <c:y val="5.4189997083697899E-2"/>
          <c:w val="0.65115807596974296"/>
          <c:h val="0.695396617089531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'AlexNet - structure'!$BC$4:$BD$4</c:f>
              <c:strCache>
                <c:ptCount val="1"/>
                <c:pt idx="0">
                  <c:v>Inference</c:v>
                </c:pt>
              </c:strCache>
            </c:strRef>
          </c:tx>
          <c:spPr>
            <a:solidFill>
              <a:sysClr val="window" lastClr="FFFFFF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'AlexNet - structure'!$B$19:$B$27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'AlexNet - structure'!$BE$47:$BE$55</c:f>
              <c:numCache>
                <c:formatCode>General</c:formatCode>
                <c:ptCount val="9"/>
                <c:pt idx="1">
                  <c:v>716.19151697288453</c:v>
                </c:pt>
                <c:pt idx="2">
                  <c:v>136.44627776548819</c:v>
                </c:pt>
                <c:pt idx="3">
                  <c:v>107.4187641088956</c:v>
                </c:pt>
                <c:pt idx="4">
                  <c:v>81.432802809441625</c:v>
                </c:pt>
                <c:pt idx="5">
                  <c:v>70.12360923229275</c:v>
                </c:pt>
                <c:pt idx="6">
                  <c:v>45.52830948489045</c:v>
                </c:pt>
                <c:pt idx="7">
                  <c:v>29.93710188395891</c:v>
                </c:pt>
                <c:pt idx="8">
                  <c:v>27.922993846394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F4-484A-BEEA-54F20066FC0A}"/>
            </c:ext>
          </c:extLst>
        </c:ser>
        <c:ser>
          <c:idx val="1"/>
          <c:order val="1"/>
          <c:tx>
            <c:strRef>
              <c:f>'AlexNet - structure'!$BJ$4:$BK$4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rgbClr val="4472C4">
                <a:lumMod val="40000"/>
                <a:lumOff val="60000"/>
              </a:srgbClr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numRef>
              <c:f>'AlexNet - structure'!$B$19:$B$27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'AlexNet - structure'!$BL$19:$BL$27</c:f>
              <c:numCache>
                <c:formatCode>General</c:formatCode>
                <c:ptCount val="9"/>
                <c:pt idx="0">
                  <c:v>4.2383106256047638</c:v>
                </c:pt>
                <c:pt idx="1">
                  <c:v>14.66120161671315</c:v>
                </c:pt>
                <c:pt idx="2">
                  <c:v>35.195961803054509</c:v>
                </c:pt>
                <c:pt idx="3">
                  <c:v>29.09804287291087</c:v>
                </c:pt>
                <c:pt idx="4">
                  <c:v>34.643708011916097</c:v>
                </c:pt>
                <c:pt idx="5">
                  <c:v>369.80597601174293</c:v>
                </c:pt>
                <c:pt idx="6">
                  <c:v>1357.2173425232029</c:v>
                </c:pt>
                <c:pt idx="7">
                  <c:v>1281.715333872603</c:v>
                </c:pt>
                <c:pt idx="8">
                  <c:v>4510.3753005023636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F4-484A-BEEA-54F20066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117829392"/>
        <c:axId val="-2117826096"/>
      </c:barChart>
      <c:lineChart>
        <c:grouping val="standard"/>
        <c:varyColors val="0"/>
        <c:ser>
          <c:idx val="3"/>
          <c:order val="2"/>
          <c:tx>
            <c:v>System</c:v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val>
            <c:numRef>
              <c:f>'AlexNet - structure'!$BO$19:$BO$27</c:f>
              <c:numCache>
                <c:formatCode>General</c:formatCode>
                <c:ptCount val="9"/>
                <c:pt idx="0">
                  <c:v>4.2383106256047638</c:v>
                </c:pt>
                <c:pt idx="1">
                  <c:v>14.66120161671315</c:v>
                </c:pt>
                <c:pt idx="2">
                  <c:v>35.195961803054509</c:v>
                </c:pt>
                <c:pt idx="3">
                  <c:v>29.09804287291087</c:v>
                </c:pt>
                <c:pt idx="4">
                  <c:v>34.643708011916097</c:v>
                </c:pt>
                <c:pt idx="5">
                  <c:v>70.12360923229275</c:v>
                </c:pt>
                <c:pt idx="6">
                  <c:v>45.52830948489045</c:v>
                </c:pt>
                <c:pt idx="7">
                  <c:v>29.93710188395891</c:v>
                </c:pt>
                <c:pt idx="8">
                  <c:v>27.922993846394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F4-484A-BEEA-54F20066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17829392"/>
        <c:axId val="-2117826096"/>
      </c:lineChart>
      <c:catAx>
        <c:axId val="-211782939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117826096"/>
        <c:crossesAt val="0.1"/>
        <c:auto val="1"/>
        <c:lblAlgn val="ctr"/>
        <c:lblOffset val="100"/>
        <c:noMultiLvlLbl val="0"/>
      </c:catAx>
      <c:valAx>
        <c:axId val="-2117826096"/>
        <c:scaling>
          <c:logBase val="10"/>
          <c:orientation val="minMax"/>
          <c:max val="100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Throughput (frames/s)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829392"/>
        <c:crosses val="autoZero"/>
        <c:crossBetween val="between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2558511687723301"/>
          <c:y val="6.1605201886104299E-2"/>
          <c:w val="0.26854926620003"/>
          <c:h val="0.192751267027443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560347114070201"/>
          <c:y val="5.4189997083697899E-2"/>
          <c:w val="0.78066737244109496"/>
          <c:h val="0.69539661708953104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'AlexNet - structure'!$AC$4:$AF$4</c:f>
              <c:strCache>
                <c:ptCount val="1"/>
                <c:pt idx="0">
                  <c:v>Computation</c:v>
                </c:pt>
              </c:strCache>
            </c:strRef>
          </c:tx>
          <c:spPr>
            <a:pattFill prst="ltUpDiag">
              <a:fgClr>
                <a:srgbClr val="C00000"/>
              </a:fgClr>
              <a:bgClr>
                <a:sysClr val="window" lastClr="FFFFFF"/>
              </a:bgClr>
            </a:pattFill>
            <a:ln>
              <a:solidFill>
                <a:sysClr val="windowText" lastClr="000000"/>
              </a:solidFill>
              <a:prstDash val="solid"/>
            </a:ln>
            <a:effectLst/>
          </c:spPr>
          <c:invertIfNegative val="0"/>
          <c:cat>
            <c:multiLvlStrRef>
              <c:f>'AlexNet - structure'!#REF!</c:f>
            </c:multiLvlStrRef>
          </c:cat>
          <c:val>
            <c:numRef>
              <c:f>'AlexNet - structure'!$AF$19:$AF$27</c:f>
              <c:numCache>
                <c:formatCode>General</c:formatCode>
                <c:ptCount val="9"/>
                <c:pt idx="1">
                  <c:v>0.100531768798828</c:v>
                </c:pt>
                <c:pt idx="2">
                  <c:v>0.52768020629882795</c:v>
                </c:pt>
                <c:pt idx="3">
                  <c:v>0.67027395629882802</c:v>
                </c:pt>
                <c:pt idx="4">
                  <c:v>0.88416458129882802</c:v>
                </c:pt>
                <c:pt idx="5">
                  <c:v>1.026758331298828</c:v>
                </c:pt>
                <c:pt idx="6">
                  <c:v>1.062758331298828</c:v>
                </c:pt>
                <c:pt idx="7">
                  <c:v>1.078758331298828</c:v>
                </c:pt>
                <c:pt idx="8">
                  <c:v>1.082664581298828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E7-2041-ACC9-045AA30A3BF0}"/>
            </c:ext>
          </c:extLst>
        </c:ser>
        <c:ser>
          <c:idx val="1"/>
          <c:order val="1"/>
          <c:tx>
            <c:strRef>
              <c:f>'AlexNet - structure'!$AH$4:$AK$4</c:f>
              <c:strCache>
                <c:ptCount val="1"/>
                <c:pt idx="0">
                  <c:v>Memory</c:v>
                </c:pt>
              </c:strCache>
            </c:strRef>
          </c:tx>
          <c:spPr>
            <a:pattFill prst="ltHorz">
              <a:fgClr>
                <a:srgbClr val="FFC000">
                  <a:lumMod val="75000"/>
                </a:srgbClr>
              </a:fgClr>
              <a:bgClr>
                <a:sysClr val="window" lastClr="FFFFFF"/>
              </a:bgClr>
            </a:pattFill>
            <a:ln w="12700">
              <a:solidFill>
                <a:sysClr val="windowText" lastClr="000000"/>
              </a:solidFill>
              <a:prstDash val="solid"/>
            </a:ln>
            <a:effectLst/>
          </c:spPr>
          <c:invertIfNegative val="0"/>
          <c:cat>
            <c:numRef>
              <c:f>'AlexNet - structure'!$B$8:$B$16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'AlexNet - structure'!$AK$19:$AK$27</c:f>
              <c:numCache>
                <c:formatCode>General</c:formatCode>
                <c:ptCount val="9"/>
                <c:pt idx="1">
                  <c:v>1.0634765625000001E-2</c:v>
                </c:pt>
                <c:pt idx="2">
                  <c:v>4.5356987847222197E-2</c:v>
                </c:pt>
                <c:pt idx="3">
                  <c:v>0.132453762040771</c:v>
                </c:pt>
                <c:pt idx="4">
                  <c:v>0.18870376204077099</c:v>
                </c:pt>
                <c:pt idx="5">
                  <c:v>0.228409644393712</c:v>
                </c:pt>
                <c:pt idx="6">
                  <c:v>1.012083113781467</c:v>
                </c:pt>
                <c:pt idx="7">
                  <c:v>2.175719477417831</c:v>
                </c:pt>
                <c:pt idx="8">
                  <c:v>2.4208175166335169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E7-2041-ACC9-045AA30A3BF0}"/>
            </c:ext>
          </c:extLst>
        </c:ser>
        <c:ser>
          <c:idx val="0"/>
          <c:order val="2"/>
          <c:tx>
            <c:strRef>
              <c:f>'AlexNet - structure'!$AM$4</c:f>
              <c:strCache>
                <c:ptCount val="1"/>
                <c:pt idx="0">
                  <c:v>Encoding</c:v>
                </c:pt>
              </c:strCache>
            </c:strRef>
          </c:tx>
          <c:spPr>
            <a:solidFill>
              <a:sysClr val="window" lastClr="FFFFFF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val>
            <c:numRef>
              <c:f>'AlexNet - structure'!$AN$31:$AN$39</c:f>
              <c:numCache>
                <c:formatCode>General</c:formatCode>
                <c:ptCount val="9"/>
                <c:pt idx="0">
                  <c:v>0.12700800000000001</c:v>
                </c:pt>
                <c:pt idx="1">
                  <c:v>5.9048999999999997E-2</c:v>
                </c:pt>
                <c:pt idx="2">
                  <c:v>3.6504000000000002E-2</c:v>
                </c:pt>
                <c:pt idx="3">
                  <c:v>5.4755999999999999E-2</c:v>
                </c:pt>
                <c:pt idx="4">
                  <c:v>5.4755999999999999E-2</c:v>
                </c:pt>
                <c:pt idx="5">
                  <c:v>7.7759999999999999E-3</c:v>
                </c:pt>
                <c:pt idx="6">
                  <c:v>3.4559999999999999E-3</c:v>
                </c:pt>
                <c:pt idx="7">
                  <c:v>3.4559999999999999E-3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E7-2041-ACC9-045AA30A3BF0}"/>
            </c:ext>
          </c:extLst>
        </c:ser>
        <c:ser>
          <c:idx val="3"/>
          <c:order val="3"/>
          <c:tx>
            <c:strRef>
              <c:f>'AlexNet - structure'!$AP$4:$AQ$4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rgbClr val="4472C4">
                <a:lumMod val="40000"/>
                <a:lumOff val="60000"/>
              </a:srgbClr>
            </a:solidFill>
            <a:ln>
              <a:solidFill>
                <a:sysClr val="windowText" lastClr="000000">
                  <a:alpha val="96000"/>
                </a:sysClr>
              </a:solidFill>
            </a:ln>
            <a:effectLst/>
          </c:spPr>
          <c:invertIfNegative val="0"/>
          <c:cat>
            <c:multiLvlStrRef>
              <c:f>'AlexNet - structure'!#REF!</c:f>
            </c:multiLvlStrRef>
          </c:cat>
          <c:val>
            <c:numRef>
              <c:f>'AlexNet - structure'!$AQ$19:$AQ$27</c:f>
              <c:numCache>
                <c:formatCode>General</c:formatCode>
                <c:ptCount val="9"/>
                <c:pt idx="0">
                  <c:v>22.94534918918918</c:v>
                </c:pt>
                <c:pt idx="1">
                  <c:v>6.5784960000000003</c:v>
                </c:pt>
                <c:pt idx="2">
                  <c:v>2.7112106666666671</c:v>
                </c:pt>
                <c:pt idx="3">
                  <c:v>3.2534527999999998</c:v>
                </c:pt>
                <c:pt idx="4">
                  <c:v>2.7112106666666671</c:v>
                </c:pt>
                <c:pt idx="5">
                  <c:v>0.247515428571429</c:v>
                </c:pt>
                <c:pt idx="6">
                  <c:v>6.4170666666666695E-2</c:v>
                </c:pt>
                <c:pt idx="7">
                  <c:v>6.8448711111111102E-2</c:v>
                </c:pt>
                <c:pt idx="8">
                  <c:v>1.9789473684210499E-2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E7-2041-ACC9-045AA30A3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117884976"/>
        <c:axId val="2115335856"/>
      </c:barChart>
      <c:catAx>
        <c:axId val="-2117884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Layers processed at edge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2115335856"/>
        <c:crosses val="autoZero"/>
        <c:auto val="1"/>
        <c:lblAlgn val="ctr"/>
        <c:lblOffset val="100"/>
        <c:tickMarkSkip val="1"/>
        <c:noMultiLvlLbl val="0"/>
      </c:catAx>
      <c:valAx>
        <c:axId val="2115335856"/>
        <c:scaling>
          <c:orientation val="minMax"/>
          <c:max val="2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Energy per input (mJ)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884976"/>
        <c:crosses val="autoZero"/>
        <c:crossBetween val="between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62730481823285866"/>
          <c:y val="6.9500302846759496E-2"/>
          <c:w val="0.30791733069159094"/>
          <c:h val="0.30029362590633013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10952485589924"/>
          <c:y val="5.6899484492676199E-2"/>
          <c:w val="0.8422510585738735"/>
          <c:h val="0.67791050351913795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>
                  <a:lumMod val="75000"/>
                </a:srgbClr>
              </a:solidFill>
              <a:ln w="9525">
                <a:solidFill>
                  <a:srgbClr val="FFC000">
                    <a:lumMod val="75000"/>
                  </a:srgbClr>
                </a:solidFill>
              </a:ln>
              <a:effectLst/>
            </c:spPr>
          </c:marker>
          <c:xVal>
            <c:numRef>
              <c:f>'AlexNet - structure'!$AT$16</c:f>
              <c:numCache>
                <c:formatCode>General</c:formatCode>
                <c:ptCount val="1"/>
                <c:pt idx="0">
                  <c:v>234.9444181971603</c:v>
                </c:pt>
              </c:numCache>
            </c:numRef>
          </c:xVal>
          <c:yVal>
            <c:numRef>
              <c:f>'AlexNet - structure'!$BO$16</c:f>
              <c:numCache>
                <c:formatCode>General</c:formatCode>
                <c:ptCount val="1"/>
                <c:pt idx="0">
                  <c:v>27.922993846394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C6-4609-9462-5AF5E4E6A75E}"/>
            </c:ext>
          </c:extLst>
        </c:ser>
        <c:ser>
          <c:idx val="1"/>
          <c:order val="1"/>
          <c:tx>
            <c:v>Inference at host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5B9BD5">
                  <a:lumMod val="50000"/>
                </a:srgbClr>
              </a:solidFill>
              <a:ln w="9525">
                <a:solidFill>
                  <a:srgbClr val="5B9BD5">
                    <a:lumMod val="50000"/>
                  </a:srgbClr>
                </a:solidFill>
              </a:ln>
              <a:effectLst/>
            </c:spPr>
          </c:marker>
          <c:xVal>
            <c:numRef>
              <c:f>'AlexNet - structure'!$AT$8</c:f>
              <c:numCache>
                <c:formatCode>General</c:formatCode>
                <c:ptCount val="1"/>
                <c:pt idx="0">
                  <c:v>43.341908752546573</c:v>
                </c:pt>
              </c:numCache>
            </c:numRef>
          </c:xVal>
          <c:yVal>
            <c:numRef>
              <c:f>'AlexNet - structure'!$BO$8</c:f>
              <c:numCache>
                <c:formatCode>General</c:formatCode>
                <c:ptCount val="1"/>
                <c:pt idx="0">
                  <c:v>4.2956916099773261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0C6-4609-9462-5AF5E4E6A75E}"/>
            </c:ext>
          </c:extLst>
        </c:ser>
        <c:ser>
          <c:idx val="3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structure'!$AT$24</c:f>
              <c:numCache>
                <c:formatCode>General</c:formatCode>
                <c:ptCount val="1"/>
                <c:pt idx="0">
                  <c:v>662.05023264911244</c:v>
                </c:pt>
              </c:numCache>
            </c:numRef>
          </c:xVal>
          <c:yVal>
            <c:numRef>
              <c:f>'AlexNet - structure'!$BO$24</c:f>
              <c:numCache>
                <c:formatCode>General</c:formatCode>
                <c:ptCount val="1"/>
                <c:pt idx="0">
                  <c:v>70.12360923229275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0C6-4609-9462-5AF5E4E6A7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7949216"/>
        <c:axId val="-2117960384"/>
      </c:scatterChart>
      <c:valAx>
        <c:axId val="-2117949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2000"/>
                  <a:t>Energy efficiency</a:t>
                </a:r>
                <a:r>
                  <a:rPr lang="en-US" altLang="ko-KR" sz="2000" baseline="0"/>
                  <a:t> (Frame/J)</a:t>
                </a:r>
                <a:endParaRPr lang="ko-KR" alt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960384"/>
        <c:crosses val="autoZero"/>
        <c:crossBetween val="midCat"/>
      </c:valAx>
      <c:valAx>
        <c:axId val="-2117960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2000"/>
                  <a:t>Throughput (Frame/s)</a:t>
                </a:r>
                <a:endParaRPr lang="ko-KR" alt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7949216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21233758456249299"/>
          <c:y val="8.4376725636568201E-2"/>
          <c:w val="0.66342922627629297"/>
          <c:h val="0.67791050351913795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>
                  <a:lumMod val="75000"/>
                </a:srgbClr>
              </a:solidFill>
              <a:ln w="9525">
                <a:solidFill>
                  <a:srgbClr val="FFC000">
                    <a:lumMod val="75000"/>
                  </a:srgbClr>
                </a:solidFill>
              </a:ln>
              <a:effectLst/>
            </c:spPr>
          </c:marker>
          <c:xVal>
            <c:numRef>
              <c:f>'ResNet - structure'!$AT$217</c:f>
              <c:numCache>
                <c:formatCode>General</c:formatCode>
                <c:ptCount val="1"/>
                <c:pt idx="0">
                  <c:v>117.5875198699796</c:v>
                </c:pt>
              </c:numCache>
            </c:numRef>
          </c:xVal>
          <c:yVal>
            <c:numRef>
              <c:f>'ResNet - structure'!$BO$217</c:f>
              <c:numCache>
                <c:formatCode>General</c:formatCode>
                <c:ptCount val="1"/>
                <c:pt idx="0">
                  <c:v>24.025450832779779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46-4780-A772-41AD26E6D37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'ResNet - structure'!$AT$216</c:f>
              <c:numCache>
                <c:formatCode>General</c:formatCode>
                <c:ptCount val="1"/>
                <c:pt idx="0">
                  <c:v>142.93850616047121</c:v>
                </c:pt>
              </c:numCache>
            </c:numRef>
          </c:xVal>
          <c:yVal>
            <c:numRef>
              <c:f>'ResNet - structure'!$BO$216</c:f>
              <c:numCache>
                <c:formatCode>General</c:formatCode>
                <c:ptCount val="1"/>
                <c:pt idx="0">
                  <c:v>24.946036733338431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46-4780-A772-41AD26E6D377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'ResNet - structure'!$AT$167</c:f>
              <c:numCache>
                <c:formatCode>General</c:formatCode>
                <c:ptCount val="1"/>
                <c:pt idx="0">
                  <c:v>44.170760059342882</c:v>
                </c:pt>
              </c:numCache>
            </c:numRef>
          </c:xVal>
          <c:yVal>
            <c:numRef>
              <c:f>'ResNet - structure'!$BO$167</c:f>
              <c:numCache>
                <c:formatCode>General</c:formatCode>
                <c:ptCount val="1"/>
                <c:pt idx="0">
                  <c:v>4.3537414965986398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C46-4780-A772-41AD26E6D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57516832"/>
        <c:axId val="-2057527952"/>
      </c:scatterChart>
      <c:valAx>
        <c:axId val="-205751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Energy efficiency (Frames/J)</a:t>
                </a:r>
                <a:endParaRPr lang="ko-KR" altLang="en-US"/>
              </a:p>
            </c:rich>
          </c:tx>
          <c:layout>
            <c:manualLayout>
              <c:xMode val="edge"/>
              <c:yMode val="edge"/>
              <c:x val="0.14848781930427701"/>
              <c:y val="0.8495313085864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527952"/>
        <c:crosses val="autoZero"/>
        <c:crossBetween val="midCat"/>
      </c:valAx>
      <c:valAx>
        <c:axId val="-205752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Throughput</a:t>
                </a:r>
                <a:r>
                  <a:rPr lang="en-US" altLang="ko-KR" baseline="0"/>
                  <a:t> (Frames/s)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516832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92309550263272E-2"/>
          <c:y val="8.8599042766713001E-2"/>
          <c:w val="0.34816723829766699"/>
          <c:h val="0.573743711723535"/>
        </c:manualLayout>
      </c:layout>
      <c:scatterChart>
        <c:scatterStyle val="lineMarker"/>
        <c:varyColors val="0"/>
        <c:ser>
          <c:idx val="0"/>
          <c:order val="0"/>
          <c:tx>
            <c:v>Inference at edge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>
                  <a:lumMod val="75000"/>
                </a:srgbClr>
              </a:solidFill>
              <a:ln w="9525">
                <a:solidFill>
                  <a:srgbClr val="FFC000">
                    <a:lumMod val="75000"/>
                  </a:srgbClr>
                </a:solidFill>
              </a:ln>
              <a:effectLst/>
            </c:spPr>
          </c:marker>
          <c:xVal>
            <c:numRef>
              <c:f>'VGG - structure '!$AT$84</c:f>
              <c:numCache>
                <c:formatCode>General</c:formatCode>
                <c:ptCount val="1"/>
                <c:pt idx="0">
                  <c:v>50.921497726842091</c:v>
                </c:pt>
              </c:numCache>
            </c:numRef>
          </c:xVal>
          <c:yVal>
            <c:numRef>
              <c:f>'VGG - structure '!$BO$84</c:f>
              <c:numCache>
                <c:formatCode>General</c:formatCode>
                <c:ptCount val="1"/>
                <c:pt idx="0">
                  <c:v>2.063626241207277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89-450E-AD44-FF78785C04CB}"/>
            </c:ext>
          </c:extLst>
        </c:ser>
        <c:ser>
          <c:idx val="1"/>
          <c:order val="1"/>
          <c:tx>
            <c:v>Partitioned inference with feature encoding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'VGG - structure '!$AT$81</c:f>
              <c:numCache>
                <c:formatCode>General</c:formatCode>
                <c:ptCount val="1"/>
                <c:pt idx="0">
                  <c:v>58.352431614871072</c:v>
                </c:pt>
              </c:numCache>
            </c:numRef>
          </c:xVal>
          <c:yVal>
            <c:numRef>
              <c:f>'VGG - structure '!$BO$81</c:f>
              <c:numCache>
                <c:formatCode>General</c:formatCode>
                <c:ptCount val="1"/>
                <c:pt idx="0">
                  <c:v>8.7963990339609861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89-450E-AD44-FF78785C04CB}"/>
            </c:ext>
          </c:extLst>
        </c:ser>
        <c:ser>
          <c:idx val="2"/>
          <c:order val="2"/>
          <c:tx>
            <c:v>Inference at host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'VGG - structure '!$AT$68</c:f>
              <c:numCache>
                <c:formatCode>General</c:formatCode>
                <c:ptCount val="1"/>
                <c:pt idx="0">
                  <c:v>52.772624201195633</c:v>
                </c:pt>
              </c:numCache>
            </c:numRef>
          </c:xVal>
          <c:yVal>
            <c:numRef>
              <c:f>'VGG - structure '!$BO$68</c:f>
              <c:numCache>
                <c:formatCode>General</c:formatCode>
                <c:ptCount val="1"/>
                <c:pt idx="0">
                  <c:v>5.2244897959183669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389-450E-AD44-FF78785C0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8050944"/>
        <c:axId val="-2118057504"/>
      </c:scatterChart>
      <c:valAx>
        <c:axId val="-2118050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Energy efficiency</a:t>
                </a:r>
                <a:r>
                  <a:rPr lang="en-US" altLang="ko-KR" baseline="0"/>
                  <a:t> (Frames/J)</a:t>
                </a:r>
                <a:endParaRPr lang="ko-KR" altLang="en-US"/>
              </a:p>
            </c:rich>
          </c:tx>
          <c:layout>
            <c:manualLayout>
              <c:xMode val="edge"/>
              <c:yMode val="edge"/>
              <c:x val="3.2564449382477503E-2"/>
              <c:y val="0.741375765529308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8057504"/>
        <c:crosses val="autoZero"/>
        <c:crossBetween val="midCat"/>
        <c:majorUnit val="10"/>
      </c:valAx>
      <c:valAx>
        <c:axId val="-211805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/>
                  <a:t>Throughput (Frames/s)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118050944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1439563304933"/>
          <c:y val="6.0678774642220802E-2"/>
          <c:w val="0.34090222064013997"/>
          <c:h val="0.56872619968746696"/>
        </c:manualLayout>
      </c:layout>
      <c:scatterChart>
        <c:scatterStyle val="lineMarker"/>
        <c:varyColors val="0"/>
        <c:ser>
          <c:idx val="0"/>
          <c:order val="0"/>
          <c:tx>
            <c:v>Inference at edge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>
                  <a:lumMod val="75000"/>
                </a:srgbClr>
              </a:solidFill>
              <a:ln w="9525">
                <a:solidFill>
                  <a:srgbClr val="FFC000">
                    <a:lumMod val="75000"/>
                  </a:srgbClr>
                </a:solidFill>
              </a:ln>
              <a:effectLst/>
            </c:spPr>
          </c:marker>
          <c:xVal>
            <c:numRef>
              <c:f>'AlexNet - structure'!$AT$65</c:f>
              <c:numCache>
                <c:formatCode>General</c:formatCode>
                <c:ptCount val="1"/>
                <c:pt idx="0">
                  <c:v>282.86089439447102</c:v>
                </c:pt>
              </c:numCache>
            </c:numRef>
          </c:xVal>
          <c:yVal>
            <c:numRef>
              <c:f>'AlexNet - structure'!$BO$65</c:f>
              <c:numCache>
                <c:formatCode>General</c:formatCode>
                <c:ptCount val="1"/>
                <c:pt idx="0">
                  <c:v>27.922993846394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B3-44D1-9DAE-699D5C831C79}"/>
            </c:ext>
          </c:extLst>
        </c:ser>
        <c:ser>
          <c:idx val="1"/>
          <c:order val="1"/>
          <c:tx>
            <c:v>Inference at host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5B9BD5">
                  <a:lumMod val="50000"/>
                </a:srgbClr>
              </a:solidFill>
              <a:ln w="9525">
                <a:solidFill>
                  <a:srgbClr val="5B9BD5">
                    <a:lumMod val="50000"/>
                  </a:srgbClr>
                </a:solidFill>
              </a:ln>
              <a:effectLst/>
            </c:spPr>
          </c:marker>
          <c:xVal>
            <c:numRef>
              <c:f>'AlexNet - structure'!$AT$57</c:f>
              <c:numCache>
                <c:formatCode>General</c:formatCode>
                <c:ptCount val="1"/>
                <c:pt idx="0">
                  <c:v>34.858215352403548</c:v>
                </c:pt>
              </c:numCache>
            </c:numRef>
          </c:xVal>
          <c:yVal>
            <c:numRef>
              <c:f>'AlexNet - structure'!$BO$57</c:f>
              <c:numCache>
                <c:formatCode>General</c:formatCode>
                <c:ptCount val="1"/>
                <c:pt idx="0">
                  <c:v>2.1620374418184918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AB3-44D1-9DAE-699D5C831C79}"/>
            </c:ext>
          </c:extLst>
        </c:ser>
        <c:ser>
          <c:idx val="3"/>
          <c:order val="2"/>
          <c:tx>
            <c:v>Partitioned inference with feature encoding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structure'!$AT$62</c:f>
              <c:numCache>
                <c:formatCode>General</c:formatCode>
                <c:ptCount val="1"/>
                <c:pt idx="0">
                  <c:v>554.16890927946895</c:v>
                </c:pt>
              </c:numCache>
            </c:numRef>
          </c:xVal>
          <c:yVal>
            <c:numRef>
              <c:f>'AlexNet - structure'!$BO$62</c:f>
              <c:numCache>
                <c:formatCode>General</c:formatCode>
                <c:ptCount val="1"/>
                <c:pt idx="0">
                  <c:v>70.12360923229275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AB3-44D1-9DAE-699D5C831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57628272"/>
        <c:axId val="-2057630144"/>
      </c:scatterChart>
      <c:valAx>
        <c:axId val="-2057628272"/>
        <c:scaling>
          <c:orientation val="minMax"/>
          <c:max val="8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Energy efficiency</a:t>
                </a:r>
                <a:r>
                  <a:rPr lang="en-US" altLang="ko-KR" sz="1600" baseline="0"/>
                  <a:t> (Frame/J)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630144"/>
        <c:crosses val="autoZero"/>
        <c:crossBetween val="midCat"/>
        <c:majorUnit val="200"/>
      </c:valAx>
      <c:valAx>
        <c:axId val="-2057630144"/>
        <c:scaling>
          <c:orientation val="minMax"/>
          <c:max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Throughput (Frame/s)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628272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9059281977061401"/>
          <c:y val="5.6899391526397801E-2"/>
          <c:w val="0.68264701321525201"/>
          <c:h val="0.67791050351913795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>
                  <a:lumMod val="75000"/>
                </a:srgbClr>
              </a:solidFill>
              <a:ln w="9525">
                <a:solidFill>
                  <a:srgbClr val="FFC000">
                    <a:lumMod val="75000"/>
                  </a:srgbClr>
                </a:solidFill>
              </a:ln>
              <a:effectLst/>
            </c:spPr>
          </c:marker>
          <c:xVal>
            <c:numRef>
              <c:f>'AlexNet - structure'!$AT$55</c:f>
              <c:numCache>
                <c:formatCode>General</c:formatCode>
                <c:ptCount val="1"/>
                <c:pt idx="0">
                  <c:v>284.19203506231202</c:v>
                </c:pt>
              </c:numCache>
            </c:numRef>
          </c:xVal>
          <c:yVal>
            <c:numRef>
              <c:f>'AlexNet - structure'!$BO$55</c:f>
              <c:numCache>
                <c:formatCode>General</c:formatCode>
                <c:ptCount val="1"/>
                <c:pt idx="0">
                  <c:v>27.922993846394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76-40BE-8EE7-DA9D54740949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rgbClr val="5B9BD5">
                  <a:lumMod val="50000"/>
                </a:srgbClr>
              </a:solidFill>
              <a:ln w="9525">
                <a:solidFill>
                  <a:srgbClr val="5B9BD5">
                    <a:lumMod val="50000"/>
                  </a:srgbClr>
                </a:solidFill>
              </a:ln>
              <a:effectLst/>
            </c:spPr>
          </c:marker>
          <c:xVal>
            <c:numRef>
              <c:f>'AlexNet - structure'!$AT$47</c:f>
              <c:numCache>
                <c:formatCode>General</c:formatCode>
                <c:ptCount val="1"/>
                <c:pt idx="0">
                  <c:v>72.823083156895763</c:v>
                </c:pt>
              </c:numCache>
            </c:numRef>
          </c:xVal>
          <c:yVal>
            <c:numRef>
              <c:f>'AlexNet - structure'!$BO$47</c:f>
              <c:numCache>
                <c:formatCode>General</c:formatCode>
                <c:ptCount val="1"/>
                <c:pt idx="0">
                  <c:v>41.610558611157572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A76-40BE-8EE7-DA9D54740949}"/>
            </c:ext>
          </c:extLst>
        </c:ser>
        <c:ser>
          <c:idx val="3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'AlexNet - structure'!$AT$52</c:f>
              <c:numCache>
                <c:formatCode>General</c:formatCode>
                <c:ptCount val="1"/>
                <c:pt idx="0">
                  <c:v>658.60484314159123</c:v>
                </c:pt>
              </c:numCache>
            </c:numRef>
          </c:xVal>
          <c:yVal>
            <c:numRef>
              <c:f>'AlexNet - structure'!$BO$52</c:f>
              <c:numCache>
                <c:formatCode>General</c:formatCode>
                <c:ptCount val="1"/>
                <c:pt idx="0">
                  <c:v>70.12360923229275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A76-40BE-8EE7-DA9D54740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7134256"/>
        <c:axId val="2097076352"/>
      </c:scatterChart>
      <c:valAx>
        <c:axId val="2097134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Energy efficiency</a:t>
                </a:r>
                <a:r>
                  <a:rPr lang="en-US" altLang="ko-KR" sz="1600" baseline="0"/>
                  <a:t> (Frame/J)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2097076352"/>
        <c:crosses val="autoZero"/>
        <c:crossBetween val="midCat"/>
        <c:majorUnit val="200"/>
      </c:valAx>
      <c:valAx>
        <c:axId val="2097076352"/>
        <c:scaling>
          <c:orientation val="minMax"/>
          <c:max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Throughput (Frame/s)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2097134256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'AlexNet - structure'!$AQ$118:$AQ$126</c:f>
              <c:numCache>
                <c:formatCode>General</c:formatCode>
                <c:ptCount val="9"/>
                <c:pt idx="0">
                  <c:v>0</c:v>
                </c:pt>
                <c:pt idx="1">
                  <c:v>0.3</c:v>
                </c:pt>
                <c:pt idx="2">
                  <c:v>5.8</c:v>
                </c:pt>
                <c:pt idx="5">
                  <c:v>13</c:v>
                </c:pt>
                <c:pt idx="6">
                  <c:v>210</c:v>
                </c:pt>
                <c:pt idx="8">
                  <c:v>1520</c:v>
                </c:pt>
              </c:numCache>
            </c:numRef>
          </c:xVal>
          <c:yVal>
            <c:numRef>
              <c:f>'AlexNet - structure'!$AR$118:$AR$126</c:f>
              <c:numCache>
                <c:formatCode>General</c:formatCode>
                <c:ptCount val="9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DF5-48DA-90D9-84D7D9DD9239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'AlexNet - structure'!$BM$116:$BM$121</c:f>
              <c:numCache>
                <c:formatCode>General</c:formatCode>
                <c:ptCount val="6"/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</c:numCache>
            </c:numRef>
          </c:xVal>
          <c:yVal>
            <c:numRef>
              <c:f>'AlexNet - structure'!$BL$116:$BL$121</c:f>
              <c:numCache>
                <c:formatCode>General</c:formatCode>
                <c:ptCount val="6"/>
                <c:pt idx="2">
                  <c:v>22</c:v>
                </c:pt>
                <c:pt idx="3">
                  <c:v>5</c:v>
                </c:pt>
                <c:pt idx="4">
                  <c:v>0.22</c:v>
                </c:pt>
                <c:pt idx="5">
                  <c:v>3.5000000000000003E-2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DF5-48DA-90D9-84D7D9DD9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57718768"/>
        <c:axId val="-2057732704"/>
      </c:scatterChart>
      <c:valAx>
        <c:axId val="-2057718768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TX energy</a:t>
                </a:r>
                <a:r>
                  <a:rPr lang="en-US" altLang="ko-KR" sz="1600" baseline="0"/>
                  <a:t> (nJ/bit)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732704"/>
        <c:crossesAt val="0.01"/>
        <c:crossBetween val="midCat"/>
      </c:valAx>
      <c:valAx>
        <c:axId val="-2057732704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altLang="ko-KR" sz="1600"/>
                  <a:t>TX BW (Mbps)</a:t>
                </a:r>
                <a:endParaRPr lang="ko-KR" alt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-2057718768"/>
        <c:crossesAt val="0.1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[모델분석.xlsx]Sheet25!피벗 테이블12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Sheet25!$B$3:$B$4</c:f>
              <c:strCache>
                <c:ptCount val="1"/>
                <c:pt idx="0">
                  <c:v>Edge Inference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multiLvlStrRef>
              <c:f>Sheet25!$A$5:$A$20</c:f>
              <c:multiLvlStrCache>
                <c:ptCount val="12"/>
                <c:lvl>
                  <c:pt idx="0">
                    <c:v>Edge only</c:v>
                  </c:pt>
                  <c:pt idx="1">
                    <c:v>Cloud only</c:v>
                  </c:pt>
                  <c:pt idx="2">
                    <c:v>Partition-base</c:v>
                  </c:pt>
                  <c:pt idx="3">
                    <c:v>Ours-performance</c:v>
                  </c:pt>
                  <c:pt idx="4">
                    <c:v>Edge only</c:v>
                  </c:pt>
                  <c:pt idx="5">
                    <c:v>Cloud only</c:v>
                  </c:pt>
                  <c:pt idx="6">
                    <c:v>Partition-base</c:v>
                  </c:pt>
                  <c:pt idx="7">
                    <c:v>Ours-performance</c:v>
                  </c:pt>
                  <c:pt idx="8">
                    <c:v>Edge only</c:v>
                  </c:pt>
                  <c:pt idx="9">
                    <c:v>Cloud only</c:v>
                  </c:pt>
                  <c:pt idx="10">
                    <c:v>Partition-base</c:v>
                  </c:pt>
                  <c:pt idx="11">
                    <c:v>Ours-performance</c:v>
                  </c:pt>
                </c:lvl>
                <c:lvl>
                  <c:pt idx="0">
                    <c:v>5</c:v>
                  </c:pt>
                  <c:pt idx="4">
                    <c:v>10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Sheet25!$B$5:$B$20</c:f>
              <c:numCache>
                <c:formatCode>General</c:formatCode>
                <c:ptCount val="12"/>
                <c:pt idx="0">
                  <c:v>86.2</c:v>
                </c:pt>
                <c:pt idx="1">
                  <c:v>0</c:v>
                </c:pt>
                <c:pt idx="2">
                  <c:v>48.5</c:v>
                </c:pt>
                <c:pt idx="3">
                  <c:v>34.6</c:v>
                </c:pt>
                <c:pt idx="4">
                  <c:v>86.2</c:v>
                </c:pt>
                <c:pt idx="5">
                  <c:v>0</c:v>
                </c:pt>
                <c:pt idx="6">
                  <c:v>48.5</c:v>
                </c:pt>
                <c:pt idx="7">
                  <c:v>34.6</c:v>
                </c:pt>
                <c:pt idx="8">
                  <c:v>86.2</c:v>
                </c:pt>
                <c:pt idx="9">
                  <c:v>0</c:v>
                </c:pt>
                <c:pt idx="10">
                  <c:v>48.5</c:v>
                </c:pt>
                <c:pt idx="11">
                  <c:v>34.6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E3-6348-813A-18F8C384FA4F}"/>
            </c:ext>
          </c:extLst>
        </c:ser>
        <c:ser>
          <c:idx val="1"/>
          <c:order val="1"/>
          <c:tx>
            <c:strRef>
              <c:f>Sheet25!$C$3:$C$4</c:f>
              <c:strCache>
                <c:ptCount val="1"/>
                <c:pt idx="0">
                  <c:v>Edge Compression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multiLvlStrRef>
              <c:f>Sheet25!$A$5:$A$20</c:f>
              <c:multiLvlStrCache>
                <c:ptCount val="12"/>
                <c:lvl>
                  <c:pt idx="0">
                    <c:v>Edge only</c:v>
                  </c:pt>
                  <c:pt idx="1">
                    <c:v>Cloud only</c:v>
                  </c:pt>
                  <c:pt idx="2">
                    <c:v>Partition-base</c:v>
                  </c:pt>
                  <c:pt idx="3">
                    <c:v>Ours-performance</c:v>
                  </c:pt>
                  <c:pt idx="4">
                    <c:v>Edge only</c:v>
                  </c:pt>
                  <c:pt idx="5">
                    <c:v>Cloud only</c:v>
                  </c:pt>
                  <c:pt idx="6">
                    <c:v>Partition-base</c:v>
                  </c:pt>
                  <c:pt idx="7">
                    <c:v>Ours-performance</c:v>
                  </c:pt>
                  <c:pt idx="8">
                    <c:v>Edge only</c:v>
                  </c:pt>
                  <c:pt idx="9">
                    <c:v>Cloud only</c:v>
                  </c:pt>
                  <c:pt idx="10">
                    <c:v>Partition-base</c:v>
                  </c:pt>
                  <c:pt idx="11">
                    <c:v>Ours-performance</c:v>
                  </c:pt>
                </c:lvl>
                <c:lvl>
                  <c:pt idx="0">
                    <c:v>5</c:v>
                  </c:pt>
                  <c:pt idx="4">
                    <c:v>10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Sheet25!$C$5:$C$20</c:f>
              <c:numCache>
                <c:formatCode>General</c:formatCode>
                <c:ptCount val="12"/>
                <c:pt idx="0">
                  <c:v>0</c:v>
                </c:pt>
                <c:pt idx="1">
                  <c:v>17.170000000000002</c:v>
                </c:pt>
                <c:pt idx="2">
                  <c:v>17.170000000000002</c:v>
                </c:pt>
                <c:pt idx="3">
                  <c:v>2.17</c:v>
                </c:pt>
                <c:pt idx="4">
                  <c:v>0</c:v>
                </c:pt>
                <c:pt idx="5">
                  <c:v>17.170000000000002</c:v>
                </c:pt>
                <c:pt idx="6">
                  <c:v>17.170000000000002</c:v>
                </c:pt>
                <c:pt idx="7">
                  <c:v>2.17</c:v>
                </c:pt>
                <c:pt idx="8">
                  <c:v>0</c:v>
                </c:pt>
                <c:pt idx="9">
                  <c:v>17.170000000000002</c:v>
                </c:pt>
                <c:pt idx="10">
                  <c:v>17.170000000000002</c:v>
                </c:pt>
                <c:pt idx="11">
                  <c:v>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E3-6348-813A-18F8C384FA4F}"/>
            </c:ext>
          </c:extLst>
        </c:ser>
        <c:ser>
          <c:idx val="2"/>
          <c:order val="2"/>
          <c:tx>
            <c:strRef>
              <c:f>Sheet25!$D$3:$D$4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multiLvlStrRef>
              <c:f>Sheet25!$A$5:$A$20</c:f>
              <c:multiLvlStrCache>
                <c:ptCount val="12"/>
                <c:lvl>
                  <c:pt idx="0">
                    <c:v>Edge only</c:v>
                  </c:pt>
                  <c:pt idx="1">
                    <c:v>Cloud only</c:v>
                  </c:pt>
                  <c:pt idx="2">
                    <c:v>Partition-base</c:v>
                  </c:pt>
                  <c:pt idx="3">
                    <c:v>Ours-performance</c:v>
                  </c:pt>
                  <c:pt idx="4">
                    <c:v>Edge only</c:v>
                  </c:pt>
                  <c:pt idx="5">
                    <c:v>Cloud only</c:v>
                  </c:pt>
                  <c:pt idx="6">
                    <c:v>Partition-base</c:v>
                  </c:pt>
                  <c:pt idx="7">
                    <c:v>Ours-performance</c:v>
                  </c:pt>
                  <c:pt idx="8">
                    <c:v>Edge only</c:v>
                  </c:pt>
                  <c:pt idx="9">
                    <c:v>Cloud only</c:v>
                  </c:pt>
                  <c:pt idx="10">
                    <c:v>Partition-base</c:v>
                  </c:pt>
                  <c:pt idx="11">
                    <c:v>Ours-performance</c:v>
                  </c:pt>
                </c:lvl>
                <c:lvl>
                  <c:pt idx="0">
                    <c:v>5</c:v>
                  </c:pt>
                  <c:pt idx="4">
                    <c:v>10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Sheet25!$D$5:$D$20</c:f>
              <c:numCache>
                <c:formatCode>General</c:formatCode>
                <c:ptCount val="12"/>
                <c:pt idx="0">
                  <c:v>0</c:v>
                </c:pt>
                <c:pt idx="1">
                  <c:v>144</c:v>
                </c:pt>
                <c:pt idx="2">
                  <c:v>156</c:v>
                </c:pt>
                <c:pt idx="3">
                  <c:v>7.16</c:v>
                </c:pt>
                <c:pt idx="4">
                  <c:v>0</c:v>
                </c:pt>
                <c:pt idx="5">
                  <c:v>72</c:v>
                </c:pt>
                <c:pt idx="6">
                  <c:v>78</c:v>
                </c:pt>
                <c:pt idx="7">
                  <c:v>3.58</c:v>
                </c:pt>
                <c:pt idx="8">
                  <c:v>0</c:v>
                </c:pt>
                <c:pt idx="9">
                  <c:v>36</c:v>
                </c:pt>
                <c:pt idx="10">
                  <c:v>39</c:v>
                </c:pt>
                <c:pt idx="11">
                  <c:v>1.79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E3-6348-813A-18F8C384FA4F}"/>
            </c:ext>
          </c:extLst>
        </c:ser>
        <c:ser>
          <c:idx val="3"/>
          <c:order val="3"/>
          <c:tx>
            <c:strRef>
              <c:f>Sheet25!$E$3:$E$4</c:f>
              <c:strCache>
                <c:ptCount val="1"/>
                <c:pt idx="0">
                  <c:v>Cloud Processing</c:v>
                </c:pt>
              </c:strCache>
            </c:strRef>
          </c:tx>
          <c:spPr>
            <a:noFill/>
            <a:ln>
              <a:solidFill>
                <a:schemeClr val="tx1"/>
              </a:solidFill>
              <a:prstDash val="dash"/>
            </a:ln>
            <a:effectLst/>
          </c:spPr>
          <c:invertIfNegative val="0"/>
          <c:cat>
            <c:multiLvlStrRef>
              <c:f>Sheet25!$A$5:$A$20</c:f>
              <c:multiLvlStrCache>
                <c:ptCount val="12"/>
                <c:lvl>
                  <c:pt idx="0">
                    <c:v>Edge only</c:v>
                  </c:pt>
                  <c:pt idx="1">
                    <c:v>Cloud only</c:v>
                  </c:pt>
                  <c:pt idx="2">
                    <c:v>Partition-base</c:v>
                  </c:pt>
                  <c:pt idx="3">
                    <c:v>Ours-performance</c:v>
                  </c:pt>
                  <c:pt idx="4">
                    <c:v>Edge only</c:v>
                  </c:pt>
                  <c:pt idx="5">
                    <c:v>Cloud only</c:v>
                  </c:pt>
                  <c:pt idx="6">
                    <c:v>Partition-base</c:v>
                  </c:pt>
                  <c:pt idx="7">
                    <c:v>Ours-performance</c:v>
                  </c:pt>
                  <c:pt idx="8">
                    <c:v>Edge only</c:v>
                  </c:pt>
                  <c:pt idx="9">
                    <c:v>Cloud only</c:v>
                  </c:pt>
                  <c:pt idx="10">
                    <c:v>Partition-base</c:v>
                  </c:pt>
                  <c:pt idx="11">
                    <c:v>Ours-performance</c:v>
                  </c:pt>
                </c:lvl>
                <c:lvl>
                  <c:pt idx="0">
                    <c:v>5</c:v>
                  </c:pt>
                  <c:pt idx="4">
                    <c:v>10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Sheet25!$E$5:$E$20</c:f>
              <c:numCache>
                <c:formatCode>General</c:formatCode>
                <c:ptCount val="12"/>
                <c:pt idx="0">
                  <c:v>0</c:v>
                </c:pt>
                <c:pt idx="1">
                  <c:v>16.22</c:v>
                </c:pt>
                <c:pt idx="2">
                  <c:v>7</c:v>
                </c:pt>
                <c:pt idx="3">
                  <c:v>13.51</c:v>
                </c:pt>
                <c:pt idx="4">
                  <c:v>0</c:v>
                </c:pt>
                <c:pt idx="5">
                  <c:v>16.22</c:v>
                </c:pt>
                <c:pt idx="6">
                  <c:v>7</c:v>
                </c:pt>
                <c:pt idx="7">
                  <c:v>13.51</c:v>
                </c:pt>
                <c:pt idx="8">
                  <c:v>0</c:v>
                </c:pt>
                <c:pt idx="9">
                  <c:v>16.22</c:v>
                </c:pt>
                <c:pt idx="10">
                  <c:v>7</c:v>
                </c:pt>
                <c:pt idx="11">
                  <c:v>13.51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E3-6348-813A-18F8C384F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77748672"/>
        <c:axId val="1444176064"/>
      </c:barChart>
      <c:catAx>
        <c:axId val="147774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444176064"/>
        <c:crosses val="autoZero"/>
        <c:auto val="1"/>
        <c:lblAlgn val="ctr"/>
        <c:lblOffset val="100"/>
        <c:noMultiLvlLbl val="0"/>
      </c:catAx>
      <c:valAx>
        <c:axId val="144417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ko-KR"/>
          </a:p>
        </c:txPr>
        <c:crossAx val="1477748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849FB-297F-7B42-8ED7-99C4FA76502A}" type="datetimeFigureOut">
              <a:rPr kumimoji="1" lang="ko-KR" altLang="en-US" smtClean="0"/>
              <a:t>2025. 8. 9.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49E4-ABA9-D647-BBC8-EAC091E4C2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2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159841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A986D3D-D2F3-D89C-5907-DDA5500A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>
            <a:extLst>
              <a:ext uri="{FF2B5EF4-FFF2-40B4-BE49-F238E27FC236}">
                <a16:creationId xmlns:a16="http://schemas.microsoft.com/office/drawing/2014/main" id="{7DB47688-20DE-3922-505A-355DB9CFB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46452EDC-1D87-7080-9D64-E6F16B2CD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B5313B0B-4BF8-3F6A-082E-2169171D05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9236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022f64c7c2_1_4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g2022f64c7c2_1_4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022f64c7c2_1_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8" name="Google Shape;758;g2022f64c7c2_1_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022f64c7c2_1_4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g2022f64c7c2_1_4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022f64c7c2_1_4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4" name="Google Shape;794;g2022f64c7c2_1_4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022f64c7c2_1_4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2022f64c7c2_1_4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A713E5BD-8F52-468A-F9E7-048D5F2A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022f64c7c2_1_4735:notes">
            <a:extLst>
              <a:ext uri="{FF2B5EF4-FFF2-40B4-BE49-F238E27FC236}">
                <a16:creationId xmlns:a16="http://schemas.microsoft.com/office/drawing/2014/main" id="{181392FB-07E7-C50F-9B71-11A4081A6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2022f64c7c2_1_4735:notes">
            <a:extLst>
              <a:ext uri="{FF2B5EF4-FFF2-40B4-BE49-F238E27FC236}">
                <a16:creationId xmlns:a16="http://schemas.microsoft.com/office/drawing/2014/main" id="{4B7CF502-10DB-4460-F60A-9B7E91D7A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724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Input 12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Weight 4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Output </a:t>
            </a:r>
            <a:r>
              <a:rPr lang="en-US" altLang="ko-KR" dirty="0"/>
              <a:t>9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Input (w)  : 0 1 2 3 4 5 6 7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Weight (s) : 0 0 0 0 0 0 0 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Output (q) : 0 1 2 3 4 5 6 7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Input (w)  : 0 1 2 3 4 5 6 7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Weight (s) : 0 0 0 0 0 0 0 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Output (q) : 0 1 2 3 4 5 6 7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Input (w)  : 0 1 2 3  1 2 3 4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Weight (s) : 0 1 2 3  0 1 2 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Output (q) : 0 0 0 0  1 1 1 1</a:t>
            </a:r>
          </a:p>
        </p:txBody>
      </p:sp>
      <p:sp>
        <p:nvSpPr>
          <p:cNvPr id="289" name="Google Shape;28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02D72B8B-D48A-3EA0-6841-8CC2FB2F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>
            <a:extLst>
              <a:ext uri="{FF2B5EF4-FFF2-40B4-BE49-F238E27FC236}">
                <a16:creationId xmlns:a16="http://schemas.microsoft.com/office/drawing/2014/main" id="{36E21077-CEAD-25B9-959B-173950E9F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2:notes">
            <a:extLst>
              <a:ext uri="{FF2B5EF4-FFF2-40B4-BE49-F238E27FC236}">
                <a16:creationId xmlns:a16="http://schemas.microsoft.com/office/drawing/2014/main" id="{C4A92D8E-AD4E-FAE1-CBFA-3B59FF41C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C00 = a00*b00 + a01*b10 + a02*b20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C01 = a00*b01 + a01*b11 + a02*b21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…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ko-KR" dirty="0"/>
              <a:t>C00 += a00*b00, C01 += a00*b01, C02 += a00*b02</a:t>
            </a:r>
          </a:p>
          <a:p>
            <a:pPr marL="0" marR="0" lvl="0" indent="0" algn="l" defTabSz="77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en-US" altLang="ko-KR" dirty="0"/>
              <a:t>C00 += a01*b10, C01 += a01*b11, C02 += a01*b12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289" name="Google Shape;289;p12:notes">
            <a:extLst>
              <a:ext uri="{FF2B5EF4-FFF2-40B4-BE49-F238E27FC236}">
                <a16:creationId xmlns:a16="http://schemas.microsoft.com/office/drawing/2014/main" id="{A4EE6B6A-41A7-450A-503A-5CB8627634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4581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Q: output 8</a:t>
            </a:r>
            <a:r>
              <a:rPr lang="ko-KR" altLang="en-US" dirty="0"/>
              <a:t>개</a:t>
            </a:r>
            <a:endParaRPr lang="en-US" altLang="ko-K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Q1: 2</a:t>
            </a:r>
            <a:r>
              <a:rPr lang="ko-KR" altLang="en-US" dirty="0"/>
              <a:t>개 </a:t>
            </a:r>
            <a:r>
              <a:rPr lang="en-US" altLang="ko-KR" dirty="0"/>
              <a:t>tile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Q0: 4</a:t>
            </a:r>
            <a:r>
              <a:rPr lang="ko-KR" altLang="en-US" dirty="0"/>
              <a:t>개</a:t>
            </a:r>
            <a:r>
              <a:rPr lang="en-US" altLang="ko-KR" dirty="0"/>
              <a:t>/tile</a:t>
            </a:r>
            <a:endParaRPr dirty="0"/>
          </a:p>
        </p:txBody>
      </p:sp>
      <p:sp>
        <p:nvSpPr>
          <p:cNvPr id="317" name="Google Shape;31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4B794550-1D22-E85D-0F85-FB3184C3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>
            <a:extLst>
              <a:ext uri="{FF2B5EF4-FFF2-40B4-BE49-F238E27FC236}">
                <a16:creationId xmlns:a16="http://schemas.microsoft.com/office/drawing/2014/main" id="{E3CDA2DB-EFC2-395B-644E-21CDD54E4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>
            <a:extLst>
              <a:ext uri="{FF2B5EF4-FFF2-40B4-BE49-F238E27FC236}">
                <a16:creationId xmlns:a16="http://schemas.microsoft.com/office/drawing/2014/main" id="{B70191D7-0256-C364-9357-1D582B019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4:notes">
            <a:extLst>
              <a:ext uri="{FF2B5EF4-FFF2-40B4-BE49-F238E27FC236}">
                <a16:creationId xmlns:a16="http://schemas.microsoft.com/office/drawing/2014/main" id="{C0C603F9-3921-1122-6DA1-94F68B26B5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1946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9F645BEB-CD91-67DA-A362-ED9378EF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>
            <a:extLst>
              <a:ext uri="{FF2B5EF4-FFF2-40B4-BE49-F238E27FC236}">
                <a16:creationId xmlns:a16="http://schemas.microsoft.com/office/drawing/2014/main" id="{DB38334B-D16A-150F-7BD3-E10C99579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>
            <a:extLst>
              <a:ext uri="{FF2B5EF4-FFF2-40B4-BE49-F238E27FC236}">
                <a16:creationId xmlns:a16="http://schemas.microsoft.com/office/drawing/2014/main" id="{C44C036F-C75E-0A6C-37A7-92919BFD00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4:notes">
            <a:extLst>
              <a:ext uri="{FF2B5EF4-FFF2-40B4-BE49-F238E27FC236}">
                <a16:creationId xmlns:a16="http://schemas.microsoft.com/office/drawing/2014/main" id="{916D4A42-24F8-1036-C61D-E125E96598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2497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704DD837-BC99-2C0A-0DD1-4CB4973A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>
            <a:extLst>
              <a:ext uri="{FF2B5EF4-FFF2-40B4-BE49-F238E27FC236}">
                <a16:creationId xmlns:a16="http://schemas.microsoft.com/office/drawing/2014/main" id="{485D1B52-0FF5-B666-DF0F-CA85A870F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>
            <a:extLst>
              <a:ext uri="{FF2B5EF4-FFF2-40B4-BE49-F238E27FC236}">
                <a16:creationId xmlns:a16="http://schemas.microsoft.com/office/drawing/2014/main" id="{039FEFCA-8862-ACE8-B913-67D61C8F4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4:notes">
            <a:extLst>
              <a:ext uri="{FF2B5EF4-FFF2-40B4-BE49-F238E27FC236}">
                <a16:creationId xmlns:a16="http://schemas.microsoft.com/office/drawing/2014/main" id="{2CF0E489-88A8-DF85-6E19-F4909F4524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4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0F5DBD2B-269C-DD73-B764-0C79419A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>
            <a:extLst>
              <a:ext uri="{FF2B5EF4-FFF2-40B4-BE49-F238E27FC236}">
                <a16:creationId xmlns:a16="http://schemas.microsoft.com/office/drawing/2014/main" id="{78E23F81-EA01-106F-B73F-18A6558ED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4:notes">
            <a:extLst>
              <a:ext uri="{FF2B5EF4-FFF2-40B4-BE49-F238E27FC236}">
                <a16:creationId xmlns:a16="http://schemas.microsoft.com/office/drawing/2014/main" id="{8214B94D-F073-77F9-5A19-B21BC5A2C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4:notes">
            <a:extLst>
              <a:ext uri="{FF2B5EF4-FFF2-40B4-BE49-F238E27FC236}">
                <a16:creationId xmlns:a16="http://schemas.microsoft.com/office/drawing/2014/main" id="{2D74B993-8BAB-D1EE-7A07-ACF12D7ED4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151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원래 구조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innermost loop</a:t>
            </a:r>
            <a:r>
              <a:rPr lang="ko-KR" altLang="en-US" dirty="0"/>
              <a:t>가 </a:t>
            </a:r>
            <a:r>
              <a:rPr lang="en" altLang="ko-KR" dirty="0"/>
              <a:t>q0</a:t>
            </a:r>
            <a:r>
              <a:rPr lang="ko-KR" altLang="en-US" dirty="0" err="1"/>
              <a:t>에</a:t>
            </a:r>
            <a:r>
              <a:rPr lang="ko-KR" altLang="en-US" dirty="0"/>
              <a:t> 대해 돌면서 </a:t>
            </a:r>
            <a:r>
              <a:rPr lang="en" altLang="ko-KR" dirty="0"/>
              <a:t>s</a:t>
            </a:r>
            <a:r>
              <a:rPr lang="ko-KR" altLang="en-US" dirty="0"/>
              <a:t>는 고정</a:t>
            </a:r>
            <a:r>
              <a:rPr lang="en-US" altLang="ko-KR" dirty="0"/>
              <a:t>. </a:t>
            </a:r>
            <a:r>
              <a:rPr lang="ko-KR" altLang="en-US" dirty="0"/>
              <a:t>이 경우</a:t>
            </a:r>
            <a:r>
              <a:rPr lang="en-US" altLang="ko-KR" dirty="0"/>
              <a:t>, </a:t>
            </a:r>
            <a:r>
              <a:rPr lang="en" altLang="ko-KR" dirty="0" err="1"/>
              <a:t>i</a:t>
            </a:r>
            <a:r>
              <a:rPr lang="en" altLang="ko-KR" dirty="0"/>
              <a:t>[w]</a:t>
            </a:r>
            <a:r>
              <a:rPr lang="ko-KR" altLang="en-US" dirty="0"/>
              <a:t>는 </a:t>
            </a:r>
            <a:r>
              <a:rPr lang="en" altLang="ko-KR" dirty="0"/>
              <a:t>q0</a:t>
            </a:r>
            <a:r>
              <a:rPr lang="ko-KR" altLang="en-US" dirty="0" err="1"/>
              <a:t>에</a:t>
            </a:r>
            <a:r>
              <a:rPr lang="ko-KR" altLang="en-US" dirty="0"/>
              <a:t> 따라 연속적일 수 있지만</a:t>
            </a:r>
            <a:r>
              <a:rPr lang="en-US" altLang="ko-KR" dirty="0"/>
              <a:t>, </a:t>
            </a:r>
            <a:r>
              <a:rPr lang="en" altLang="ko-KR" dirty="0"/>
              <a:t>f[s]</a:t>
            </a:r>
            <a:r>
              <a:rPr lang="ko-KR" altLang="en-US" dirty="0"/>
              <a:t>는 </a:t>
            </a:r>
            <a:r>
              <a:rPr lang="ko-KR" altLang="en-US" dirty="0" err="1"/>
              <a:t>스칼라값으로</a:t>
            </a:r>
            <a:r>
              <a:rPr lang="ko-KR" altLang="en-US" dirty="0"/>
              <a:t> 남아있어 벡터화에서 모든 루프 변수가 연속적으로 변하는 장점을 충분히 활용하지 못할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• </a:t>
            </a:r>
            <a:r>
              <a:rPr lang="ko-KR" altLang="en-US" b="1" dirty="0"/>
              <a:t>변경된 구조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innermost loop</a:t>
            </a:r>
            <a:r>
              <a:rPr lang="ko-KR" altLang="en-US" dirty="0"/>
              <a:t>가 </a:t>
            </a:r>
            <a:r>
              <a:rPr lang="en" altLang="ko-KR" dirty="0"/>
              <a:t>s0</a:t>
            </a:r>
            <a:r>
              <a:rPr lang="ko-KR" altLang="en-US" dirty="0" err="1"/>
              <a:t>에</a:t>
            </a:r>
            <a:r>
              <a:rPr lang="ko-KR" altLang="en-US" dirty="0"/>
              <a:t> 대해 돌면서</a:t>
            </a:r>
            <a:r>
              <a:rPr lang="en-US" altLang="ko-KR" dirty="0"/>
              <a:t>, </a:t>
            </a:r>
            <a:r>
              <a:rPr lang="en" altLang="ko-KR" dirty="0"/>
              <a:t>s</a:t>
            </a:r>
            <a:r>
              <a:rPr lang="ko-KR" altLang="en-US" dirty="0"/>
              <a:t>가 </a:t>
            </a:r>
            <a:r>
              <a:rPr lang="en" altLang="ko-KR" dirty="0"/>
              <a:t>s1</a:t>
            </a:r>
            <a:r>
              <a:rPr lang="ko-KR" altLang="en-US" dirty="0"/>
              <a:t>와 </a:t>
            </a:r>
            <a:r>
              <a:rPr lang="en" altLang="ko-KR" dirty="0"/>
              <a:t>s0</a:t>
            </a:r>
            <a:r>
              <a:rPr lang="ko-KR" altLang="en-US" dirty="0" err="1"/>
              <a:t>에</a:t>
            </a:r>
            <a:r>
              <a:rPr lang="ko-KR" altLang="en-US" dirty="0"/>
              <a:t> 의해 </a:t>
            </a:r>
            <a:r>
              <a:rPr lang="ko-KR" altLang="en-US" b="1" dirty="0"/>
              <a:t>연속적으로 증가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이로 인해 </a:t>
            </a:r>
            <a:r>
              <a:rPr lang="en" altLang="ko-KR" dirty="0"/>
              <a:t>f[s]</a:t>
            </a:r>
            <a:r>
              <a:rPr lang="ko-KR" altLang="en-US" dirty="0"/>
              <a:t>와 </a:t>
            </a:r>
            <a:r>
              <a:rPr lang="en" altLang="ko-KR" dirty="0" err="1"/>
              <a:t>i</a:t>
            </a:r>
            <a:r>
              <a:rPr lang="en" altLang="ko-KR" dirty="0"/>
              <a:t>[</a:t>
            </a:r>
            <a:r>
              <a:rPr lang="en" altLang="ko-KR" dirty="0" err="1"/>
              <a:t>q+s</a:t>
            </a:r>
            <a:r>
              <a:rPr lang="en" altLang="ko-KR" dirty="0"/>
              <a:t>]</a:t>
            </a:r>
            <a:r>
              <a:rPr lang="ko-KR" altLang="en-US" dirty="0"/>
              <a:t>의 메모리 접근이 </a:t>
            </a:r>
            <a:r>
              <a:rPr lang="ko-KR" altLang="en-US" b="1" dirty="0"/>
              <a:t>연속적</a:t>
            </a:r>
            <a:r>
              <a:rPr lang="ko-KR" altLang="en-US" dirty="0"/>
              <a:t>이 되어</a:t>
            </a:r>
            <a:r>
              <a:rPr lang="en-US" altLang="ko-KR" dirty="0"/>
              <a:t>, </a:t>
            </a:r>
            <a:r>
              <a:rPr lang="en" altLang="ko-KR" dirty="0"/>
              <a:t>SIMD </a:t>
            </a:r>
            <a:r>
              <a:rPr lang="ko-KR" altLang="en-US" dirty="0"/>
              <a:t>벡터화의 이점을 극대화할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0" name="Google Shape;35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7420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6964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232239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2289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29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545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94BE6-29E5-42B9-8CD2-D24EFE89313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32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94BE6-29E5-42B9-8CD2-D24EFE89313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42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7896026" y="5568220"/>
            <a:ext cx="2289593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</a:t>
            </a:r>
            <a:r>
              <a:rPr lang="zh-CN" altLang="en-US" sz="902" dirty="0"/>
              <a:t> </a:t>
            </a:r>
            <a:r>
              <a:rPr lang="en-US" altLang="zh-CN" sz="902" dirty="0"/>
              <a:t>Hwan Ko </a:t>
            </a:r>
            <a:r>
              <a:rPr lang="de-DE" altLang="ko-KR" sz="902" dirty="0"/>
              <a:t>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45766"/>
            <a:ext cx="9993443" cy="580992"/>
          </a:xfrm>
          <a:prstGeom prst="rect">
            <a:avLst/>
          </a:prstGeom>
        </p:spPr>
        <p:txBody>
          <a:bodyPr tIns="36000" bIns="36000">
            <a:noAutofit/>
          </a:bodyPr>
          <a:lstStyle>
            <a:lvl1pPr>
              <a:defRPr sz="3604" b="1" baseline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Google Shape;7;p1"/>
          <p:cNvSpPr/>
          <p:nvPr/>
        </p:nvSpPr>
        <p:spPr>
          <a:xfrm>
            <a:off x="-4376" y="62083"/>
            <a:ext cx="191638" cy="57705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664678"/>
            <a:ext cx="9993443" cy="4876895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27886674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8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/>
              <a:t>IRIS Lab., SKKU</a:t>
            </a:r>
          </a:p>
        </p:txBody>
      </p:sp>
      <p:sp>
        <p:nvSpPr>
          <p:cNvPr id="59" name="TextBox 10"/>
          <p:cNvSpPr txBox="1"/>
          <p:nvPr/>
        </p:nvSpPr>
        <p:spPr>
          <a:xfrm>
            <a:off x="8547564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altLang="ko-KR" sz="902" dirty="0"/>
              <a:t>Jong Hwan Ko (</a:t>
            </a:r>
            <a:r>
              <a:rPr lang="en-US" altLang="ko-KR" sz="902" dirty="0" err="1"/>
              <a:t>jhko@skku.edu</a:t>
            </a:r>
            <a:r>
              <a:rPr lang="en-US" altLang="ko-KR" sz="902" dirty="0"/>
              <a:t>)</a:t>
            </a:r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91323" y="1944159"/>
            <a:ext cx="9438713" cy="890946"/>
          </a:xfrm>
          <a:prstGeom prst="rect">
            <a:avLst/>
          </a:prstGeom>
        </p:spPr>
        <p:txBody>
          <a:bodyPr anchor="b"/>
          <a:lstStyle/>
          <a:p>
            <a:r>
              <a:rPr dirty="0"/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97486" y="2782040"/>
            <a:ext cx="8984312" cy="1275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indent="257425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indent="514848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indent="772272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indent="1029697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10901222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6" y="99196"/>
            <a:ext cx="10396439" cy="5926711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9BE719-23BF-4495-8D44-9981DA1F1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655" y="650354"/>
            <a:ext cx="7775972" cy="734881"/>
          </a:xfrm>
          <a:noFill/>
        </p:spPr>
        <p:txBody>
          <a:bodyPr lIns="0" anchor="t">
            <a:normAutofit/>
          </a:bodyPr>
          <a:lstStyle>
            <a:lvl1pPr algn="l">
              <a:defRPr sz="3717" spc="-127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1EE34957-E293-4918-8179-72C68BC00C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657" y="1407418"/>
            <a:ext cx="7775972" cy="406500"/>
          </a:xfrm>
          <a:noFill/>
        </p:spPr>
        <p:txBody>
          <a:bodyPr vert="horz" lIns="0" tIns="45720" rIns="91440" bIns="45720" rtlCol="0" anchor="t">
            <a:noAutofit/>
          </a:bodyPr>
          <a:lstStyle>
            <a:lvl1pPr>
              <a:defRPr lang="ko-KR" altLang="en-US" sz="2365" spc="-127" dirty="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부제목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13B20-0EE5-4E1D-A03C-C27B4133B720}"/>
              </a:ext>
            </a:extLst>
          </p:cNvPr>
          <p:cNvSpPr/>
          <p:nvPr userDrawn="1"/>
        </p:nvSpPr>
        <p:spPr>
          <a:xfrm>
            <a:off x="-20984" y="3651119"/>
            <a:ext cx="10409938" cy="1959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184E8E-3C75-4ADE-ACBD-89F4587307E0}"/>
              </a:ext>
            </a:extLst>
          </p:cNvPr>
          <p:cNvSpPr/>
          <p:nvPr userDrawn="1"/>
        </p:nvSpPr>
        <p:spPr>
          <a:xfrm>
            <a:off x="552654" y="475347"/>
            <a:ext cx="1837048" cy="61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769FE32-1A3F-4FFD-B89C-AF2BE5656617}"/>
              </a:ext>
            </a:extLst>
          </p:cNvPr>
          <p:cNvGrpSpPr/>
          <p:nvPr userDrawn="1"/>
        </p:nvGrpSpPr>
        <p:grpSpPr>
          <a:xfrm>
            <a:off x="434594" y="4508485"/>
            <a:ext cx="1060202" cy="921557"/>
            <a:chOff x="340544" y="4873328"/>
            <a:chExt cx="1651000" cy="1434976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C952422-EBE4-44F4-AE85-08C27CAA8C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0544" y="4873328"/>
              <a:ext cx="1434975" cy="1434976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57C52E-0175-4E94-948E-DC90B7B534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91544" y="5087076"/>
              <a:ext cx="0" cy="1007478"/>
            </a:xfrm>
            <a:prstGeom prst="line">
              <a:avLst/>
            </a:prstGeom>
            <a:ln w="25400">
              <a:solidFill>
                <a:srgbClr val="072A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텍스트 개체 틀 17">
            <a:extLst>
              <a:ext uri="{FF2B5EF4-FFF2-40B4-BE49-F238E27FC236}">
                <a16:creationId xmlns:a16="http://schemas.microsoft.com/office/drawing/2014/main" id="{6FC04201-605D-4D50-A123-F5E27B635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8303" y="3993847"/>
            <a:ext cx="4170234" cy="406500"/>
          </a:xfrm>
        </p:spPr>
        <p:txBody>
          <a:bodyPr vert="horz" lIns="0" tIns="45720" rIns="91440" bIns="45720" rtlCol="0" anchor="t">
            <a:normAutofit/>
          </a:bodyPr>
          <a:lstStyle>
            <a:lvl1pPr algn="r">
              <a:defRPr lang="ko-KR" altLang="en-US" dirty="0"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pPr marL="0" lvl="0" algn="r">
              <a:spcBef>
                <a:spcPct val="0"/>
              </a:spcBef>
              <a:buNone/>
            </a:pPr>
            <a:r>
              <a:rPr lang="ko-KR" altLang="en-US" dirty="0" err="1"/>
              <a:t>정문찬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4668" y="4618389"/>
            <a:ext cx="2183379" cy="74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9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-14238" y="-145767"/>
            <a:ext cx="10396439" cy="597824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 userDrawn="1"/>
        </p:nvSpPr>
        <p:spPr>
          <a:xfrm>
            <a:off x="-20984" y="160434"/>
            <a:ext cx="10165000" cy="5681752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63" y="263953"/>
            <a:ext cx="9382878" cy="543473"/>
          </a:xfrm>
        </p:spPr>
        <p:txBody>
          <a:bodyPr>
            <a:normAutofit/>
          </a:bodyPr>
          <a:lstStyle>
            <a:lvl1pPr>
              <a:defRPr sz="3041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363" y="899579"/>
            <a:ext cx="9382878" cy="4132361"/>
          </a:xfrm>
        </p:spPr>
        <p:txBody>
          <a:bodyPr>
            <a:normAutofit/>
          </a:bodyPr>
          <a:lstStyle>
            <a:lvl1pPr>
              <a:spcBef>
                <a:spcPts val="675"/>
              </a:spcBef>
              <a:defRPr sz="1689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spcBef>
                <a:spcPts val="675"/>
              </a:spcBef>
              <a:defRPr sz="1521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spcBef>
                <a:spcPts val="675"/>
              </a:spcBef>
              <a:defRPr sz="135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1EA8FD-4B4B-42DD-946F-9665BA4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09673" y="5273109"/>
            <a:ext cx="241411" cy="265457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7529C-9835-4872-B8DD-A36FFB4CA1A4}"/>
              </a:ext>
            </a:extLst>
          </p:cNvPr>
          <p:cNvCxnSpPr/>
          <p:nvPr userDrawn="1"/>
        </p:nvCxnSpPr>
        <p:spPr>
          <a:xfrm flipH="1">
            <a:off x="484725" y="5285214"/>
            <a:ext cx="9398518" cy="0"/>
          </a:xfrm>
          <a:prstGeom prst="line">
            <a:avLst/>
          </a:prstGeom>
          <a:ln w="25400">
            <a:solidFill>
              <a:srgbClr val="072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75A7024-1CE0-4F1E-8179-17E55D45C3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62" y="5338142"/>
            <a:ext cx="436379" cy="436416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 userDrawn="1"/>
        </p:nvCxnSpPr>
        <p:spPr>
          <a:xfrm flipH="1">
            <a:off x="484725" y="803364"/>
            <a:ext cx="9398518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844" y="5378294"/>
            <a:ext cx="1086398" cy="3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49" y="161337"/>
            <a:ext cx="7440307" cy="555537"/>
          </a:xfrm>
        </p:spPr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248" y="1987521"/>
            <a:ext cx="4409168" cy="261931"/>
          </a:xfr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30749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 Hwan Ko 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28812"/>
            <a:ext cx="9993443" cy="49875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>
              <a:defRPr sz="3154" b="1" baseline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9" name="Google Shape;7;p1"/>
          <p:cNvSpPr/>
          <p:nvPr/>
        </p:nvSpPr>
        <p:spPr>
          <a:xfrm>
            <a:off x="-4376" y="62257"/>
            <a:ext cx="191638" cy="831610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0" name="Google Shape;58;p1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80955" y="535478"/>
            <a:ext cx="10006053" cy="39501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 marL="0" indent="0">
              <a:defRPr sz="2253" b="1" i="1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946501"/>
            <a:ext cx="9993443" cy="4595072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733221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8398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39501" y="1341469"/>
            <a:ext cx="4510064" cy="41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415613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b="1" spc="34">
                <a:latin typeface="Arial"/>
                <a:cs typeface="Arial"/>
              </a:rPr>
              <a:t>MIT</a:t>
            </a:r>
            <a:r>
              <a:rPr lang="en" b="1" spc="8">
                <a:latin typeface="Arial"/>
                <a:cs typeface="Arial"/>
              </a:rPr>
              <a:t> </a:t>
            </a:r>
            <a:r>
              <a:rPr lang="en" b="1" spc="-10">
                <a:latin typeface="Arial"/>
                <a:cs typeface="Arial"/>
              </a:rPr>
              <a:t>6.5940</a:t>
            </a:r>
            <a:r>
              <a:rPr lang="en" spc="-10"/>
              <a:t>:</a:t>
            </a:r>
            <a:r>
              <a:rPr lang="en" spc="-18"/>
              <a:t> </a:t>
            </a:r>
            <a:r>
              <a:rPr lang="en" spc="28"/>
              <a:t>TinyML</a:t>
            </a:r>
            <a:r>
              <a:rPr lang="en" spc="-21"/>
              <a:t> </a:t>
            </a:r>
            <a:r>
              <a:rPr lang="en"/>
              <a:t>and</a:t>
            </a:r>
            <a:r>
              <a:rPr lang="en" spc="-18"/>
              <a:t> </a:t>
            </a:r>
            <a:r>
              <a:rPr lang="en" spc="-34"/>
              <a:t>Efficient</a:t>
            </a:r>
            <a:r>
              <a:rPr lang="en" spc="-21"/>
              <a:t> </a:t>
            </a:r>
            <a:r>
              <a:rPr lang="en" spc="34"/>
              <a:t>Deep</a:t>
            </a:r>
            <a:r>
              <a:rPr lang="en" spc="-18"/>
              <a:t> </a:t>
            </a:r>
            <a:r>
              <a:rPr lang="en"/>
              <a:t>Learning</a:t>
            </a:r>
            <a:r>
              <a:rPr lang="en" spc="-21"/>
              <a:t> </a:t>
            </a:r>
            <a:r>
              <a:rPr lang="en" spc="-5"/>
              <a:t>Computing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3720059" y="2710513"/>
            <a:ext cx="223780" cy="154786"/>
          </a:xfrm>
        </p:spPr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51612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6"/>
          <p:cNvSpPr txBox="1">
            <a:spLocks noGrp="1"/>
          </p:cNvSpPr>
          <p:nvPr>
            <p:ph type="title"/>
          </p:nvPr>
        </p:nvSpPr>
        <p:spPr>
          <a:xfrm>
            <a:off x="353423" y="2438958"/>
            <a:ext cx="9661118" cy="95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82"/>
            </a:lvl9pPr>
          </a:lstStyle>
          <a:p>
            <a:endParaRPr/>
          </a:p>
        </p:txBody>
      </p:sp>
      <p:sp>
        <p:nvSpPr>
          <p:cNvPr id="29" name="Google Shape;29;p76"/>
          <p:cNvSpPr txBox="1">
            <a:spLocks noGrp="1"/>
          </p:cNvSpPr>
          <p:nvPr>
            <p:ph type="sldNum" idx="12"/>
          </p:nvPr>
        </p:nvSpPr>
        <p:spPr>
          <a:xfrm>
            <a:off x="9529346" y="5386097"/>
            <a:ext cx="622146" cy="44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568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5"/>
          <p:cNvSpPr txBox="1">
            <a:spLocks noGrp="1"/>
          </p:cNvSpPr>
          <p:nvPr>
            <p:ph type="sldNum" idx="12"/>
          </p:nvPr>
        </p:nvSpPr>
        <p:spPr>
          <a:xfrm>
            <a:off x="9529346" y="5386097"/>
            <a:ext cx="622146" cy="44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551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8" y="-145769"/>
            <a:ext cx="10409938" cy="598795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/>
        </p:nvSpPr>
        <p:spPr>
          <a:xfrm>
            <a:off x="-14239" y="-145770"/>
            <a:ext cx="10396440" cy="597824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9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/>
        </p:nvSpPr>
        <p:spPr>
          <a:xfrm>
            <a:off x="-20988" y="-23289"/>
            <a:ext cx="10287470" cy="5865472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9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65" y="24518"/>
            <a:ext cx="9382878" cy="382364"/>
          </a:xfrm>
        </p:spPr>
        <p:txBody>
          <a:bodyPr>
            <a:noAutofit/>
          </a:bodyPr>
          <a:lstStyle>
            <a:lvl1pPr>
              <a:defRPr sz="2211"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365" y="899578"/>
            <a:ext cx="9382878" cy="4399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10"/>
              </a:spcBef>
              <a:defRPr sz="1701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1pPr>
            <a:lvl2pPr>
              <a:lnSpc>
                <a:spcPct val="100000"/>
              </a:lnSpc>
              <a:spcBef>
                <a:spcPts val="510"/>
              </a:spcBef>
              <a:defRPr sz="1531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2pPr>
            <a:lvl3pPr>
              <a:lnSpc>
                <a:spcPct val="100000"/>
              </a:lnSpc>
              <a:spcBef>
                <a:spcPts val="510"/>
              </a:spcBef>
              <a:defRPr sz="1531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3pPr>
            <a:lvl4pPr>
              <a:lnSpc>
                <a:spcPct val="100000"/>
              </a:lnSpc>
              <a:spcBef>
                <a:spcPts val="510"/>
              </a:spcBef>
              <a:defRPr sz="1191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4pPr>
            <a:lvl5pPr>
              <a:lnSpc>
                <a:spcPct val="100000"/>
              </a:lnSpc>
              <a:spcBef>
                <a:spcPts val="510"/>
              </a:spcBef>
              <a:defRPr sz="1191"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/>
        </p:nvCxnSpPr>
        <p:spPr>
          <a:xfrm flipH="1">
            <a:off x="484723" y="772833"/>
            <a:ext cx="9398518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512AC9A-B993-4DE2-B197-055F64905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4828" y="401432"/>
            <a:ext cx="9309042" cy="353815"/>
          </a:xfrm>
        </p:spPr>
        <p:txBody>
          <a:bodyPr>
            <a:noAutofit/>
          </a:bodyPr>
          <a:lstStyle>
            <a:lvl1pPr marL="0" indent="0">
              <a:buNone/>
              <a:defRPr sz="1871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1DD0E5F-C698-404A-A438-05037ECD3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96784" y="5555921"/>
            <a:ext cx="300082" cy="2100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lumMod val="75000"/>
                    <a:lumOff val="25000"/>
                  </a:schemeClr>
                </a:solidFill>
                <a:latin typeface="Noto Sans KR Regular" panose="020B0500000000000000" pitchFamily="34" charset="-127"/>
                <a:ea typeface="Noto Sans KR Regular" panose="020B0500000000000000" pitchFamily="34" charset="-127"/>
              </a:defRPr>
            </a:lvl1pPr>
          </a:lstStyle>
          <a:p>
            <a:fld id="{52F43CC4-A25D-4598-A649-B48D77B2B4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992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1" name="Text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5324" y="2982938"/>
            <a:ext cx="3195450" cy="36965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0" indent="0">
              <a:defRPr sz="1802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date here</a:t>
            </a:r>
          </a:p>
        </p:txBody>
      </p:sp>
      <p:sp>
        <p:nvSpPr>
          <p:cNvPr id="22" name="Google Shape;36;p7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50912" y="3470869"/>
            <a:ext cx="5660540" cy="1573796"/>
          </a:xfrm>
          <a:prstGeom prst="rect">
            <a:avLst/>
          </a:prstGeom>
        </p:spPr>
        <p:txBody>
          <a:bodyPr>
            <a:spAutoFit/>
          </a:bodyPr>
          <a:lstStyle>
            <a:lvl1pPr marL="7150" indent="0">
              <a:tabLst/>
              <a:defRPr sz="2027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HK" dirty="0"/>
              <a:t>Name here</a:t>
            </a:r>
          </a:p>
          <a:p>
            <a:pPr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1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2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3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Email or contact here</a:t>
            </a:r>
          </a:p>
        </p:txBody>
      </p:sp>
      <p:sp>
        <p:nvSpPr>
          <p:cNvPr id="23" name="Google Shape;58;p11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50914" y="2278337"/>
            <a:ext cx="9015842" cy="731399"/>
          </a:xfrm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24" name="Google Shape;58;p11"/>
          <p:cNvSpPr txBox="1">
            <a:spLocks noGrp="1"/>
          </p:cNvSpPr>
          <p:nvPr>
            <p:ph type="body" sz="quarter" idx="24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meeting type (if any) here: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81811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3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sz="902" dirty="0"/>
              <a:t>Jong Hwan Ko (</a:t>
            </a:r>
            <a:r>
              <a:rPr lang="en-US" sz="902" dirty="0" err="1"/>
              <a:t>jhko@skku.edu</a:t>
            </a:r>
            <a:r>
              <a:rPr lang="en-US" sz="902" dirty="0"/>
              <a:t>)</a:t>
            </a:r>
            <a:endParaRPr sz="902" dirty="0"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550914" y="826873"/>
            <a:ext cx="9015842" cy="158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grpSp>
        <p:nvGrpSpPr>
          <p:cNvPr id="10" name="Group 4"/>
          <p:cNvGrpSpPr/>
          <p:nvPr/>
        </p:nvGrpSpPr>
        <p:grpSpPr>
          <a:xfrm>
            <a:off x="7517258" y="4537003"/>
            <a:ext cx="2623411" cy="781279"/>
            <a:chOff x="0" y="0"/>
            <a:chExt cx="2313709" cy="688988"/>
          </a:xfrm>
        </p:grpSpPr>
        <p:grpSp>
          <p:nvGrpSpPr>
            <p:cNvPr id="8" name="Google Shape;33;p7"/>
            <p:cNvGrpSpPr/>
            <p:nvPr/>
          </p:nvGrpSpPr>
          <p:grpSpPr>
            <a:xfrm>
              <a:off x="-1" y="-1"/>
              <a:ext cx="2313711" cy="688990"/>
              <a:chOff x="0" y="0"/>
              <a:chExt cx="2313709" cy="688988"/>
            </a:xfrm>
          </p:grpSpPr>
          <p:pic>
            <p:nvPicPr>
              <p:cNvPr id="6" name="Google Shape;34;p7" descr="Google Shape;34;p7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-1"/>
                <a:ext cx="688988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Google Shape;35;p7" descr="Google Shape;35;p7"/>
              <p:cNvPicPr>
                <a:picLocks noChangeAspect="1"/>
              </p:cNvPicPr>
              <p:nvPr/>
            </p:nvPicPr>
            <p:blipFill>
              <a:blip r:embed="rId15"/>
              <a:srcRect t="24172" b="23380"/>
              <a:stretch>
                <a:fillRect/>
              </a:stretch>
            </p:blipFill>
            <p:spPr>
              <a:xfrm>
                <a:off x="1000012" y="-1"/>
                <a:ext cx="1313699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9" name="Straight Connector 3"/>
            <p:cNvSpPr/>
            <p:nvPr/>
          </p:nvSpPr>
          <p:spPr>
            <a:xfrm flipH="1">
              <a:off x="853095" y="0"/>
              <a:ext cx="1" cy="688988"/>
            </a:xfrm>
            <a:prstGeom prst="line">
              <a:avLst/>
            </a:prstGeom>
            <a:noFill/>
            <a:ln w="12700" cap="flat">
              <a:solidFill>
                <a:srgbClr val="1143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027"/>
            </a:p>
          </p:txBody>
        </p:sp>
      </p:grpSp>
      <p:sp>
        <p:nvSpPr>
          <p:cNvPr id="11" name="Google Shape;7;p1"/>
          <p:cNvSpPr/>
          <p:nvPr/>
        </p:nvSpPr>
        <p:spPr>
          <a:xfrm>
            <a:off x="-1" y="802336"/>
            <a:ext cx="191638" cy="222739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xfrm>
            <a:off x="550914" y="461174"/>
            <a:ext cx="9015842" cy="73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09673" y="5273109"/>
            <a:ext cx="241411" cy="26545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125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21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/>
  <p:txStyles>
    <p:titleStyle>
      <a:lvl1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1pPr>
      <a:lvl2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2pPr>
      <a:lvl3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3pPr>
      <a:lvl4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4pPr>
      <a:lvl5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5pPr>
      <a:lvl6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6pPr>
      <a:lvl7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7pPr>
      <a:lvl8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8pPr>
      <a:lvl9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9pPr>
    </p:titleStyle>
    <p:bodyStyle>
      <a:lvl1pPr marL="357534" marR="0" indent="-20021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1pPr>
      <a:lvl2pPr marL="357534" marR="0" indent="328932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2pPr>
      <a:lvl3pPr marL="357534" marR="0" indent="85808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3pPr>
      <a:lvl4pPr marL="357534" marR="0" indent="137292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4pPr>
      <a:lvl5pPr marL="357534" marR="0" indent="1887778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5pPr>
      <a:lvl6pPr marL="357534" marR="0" indent="2402626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6pPr>
      <a:lvl7pPr marL="357534" marR="0" indent="291747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7pPr>
      <a:lvl8pPr marL="357534" marR="0" indent="343232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8pPr>
      <a:lvl9pPr marL="357534" marR="0" indent="394717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9pPr>
    </p:bodyStyle>
    <p:otherStyle>
      <a:lvl1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eg"/><Relationship Id="rId5" Type="http://schemas.microsoft.com/office/2007/relationships/hdphoto" Target="../media/hdphoto1.wdp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2"/>
          <p:cNvSpPr txBox="1"/>
          <p:nvPr/>
        </p:nvSpPr>
        <p:spPr>
          <a:xfrm>
            <a:off x="405261" y="-3756"/>
            <a:ext cx="3395510" cy="26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1839" rIns="5183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36838" latinLnBrk="0" hangingPunct="0">
              <a:defRPr/>
            </a:pPr>
            <a:r>
              <a:rPr sz="1134" kern="0"/>
              <a:t>Lecture 6: Polling and Interrupt</a:t>
            </a:r>
          </a:p>
        </p:txBody>
      </p:sp>
      <p:sp>
        <p:nvSpPr>
          <p:cNvPr id="72" name="Google Shape;56;p11"/>
          <p:cNvSpPr txBox="1">
            <a:spLocks noGrp="1"/>
          </p:cNvSpPr>
          <p:nvPr>
            <p:ph type="title"/>
          </p:nvPr>
        </p:nvSpPr>
        <p:spPr>
          <a:xfrm>
            <a:off x="293174" y="769691"/>
            <a:ext cx="9962700" cy="1589551"/>
          </a:xfrm>
          <a:prstGeom prst="rect">
            <a:avLst/>
          </a:prstGeom>
        </p:spPr>
        <p:txBody>
          <a:bodyPr>
            <a:noAutofit/>
          </a:bodyPr>
          <a:lstStyle/>
          <a:p>
            <a:br>
              <a:rPr lang="en-US" altLang="ko-KR" sz="2400" dirty="0"/>
            </a:br>
            <a:r>
              <a:rPr lang="ko-KR" altLang="en-US" sz="3600" dirty="0" err="1">
                <a:latin typeface="NanumGothic" panose="020D0604000000000000" pitchFamily="34" charset="-127"/>
              </a:rPr>
              <a:t>미래차</a:t>
            </a:r>
            <a:r>
              <a:rPr lang="ko-KR" altLang="en-US" sz="3600" dirty="0">
                <a:latin typeface="NanumGothic" panose="020D0604000000000000" pitchFamily="34" charset="-127"/>
              </a:rPr>
              <a:t> 부트캠프</a:t>
            </a:r>
            <a:br>
              <a:rPr lang="en-US" altLang="ko-KR" sz="3600" dirty="0">
                <a:latin typeface="NanumGothic" panose="020D0604000000000000" pitchFamily="34" charset="-127"/>
              </a:rPr>
            </a:br>
            <a:r>
              <a:rPr lang="en-US" altLang="ko-KR" sz="4800" dirty="0">
                <a:latin typeface="NanumGothic" panose="020D0604000000000000" pitchFamily="34" charset="-127"/>
              </a:rPr>
              <a:t>On-device</a:t>
            </a:r>
            <a:r>
              <a:rPr lang="ko-KR" altLang="en-US" sz="4800" dirty="0">
                <a:latin typeface="NanumGothic" panose="020D0604000000000000" pitchFamily="34" charset="-127"/>
              </a:rPr>
              <a:t> </a:t>
            </a:r>
            <a:r>
              <a:rPr lang="en-US" altLang="ko-KR" sz="4800" dirty="0">
                <a:latin typeface="NanumGothic" panose="020D0604000000000000" pitchFamily="34" charset="-127"/>
              </a:rPr>
              <a:t>AI</a:t>
            </a:r>
            <a:endParaRPr lang="en-US" sz="4000" dirty="0"/>
          </a:p>
        </p:txBody>
      </p:sp>
      <p:sp>
        <p:nvSpPr>
          <p:cNvPr id="74" name="Google Shape;36;p7"/>
          <p:cNvSpPr txBox="1">
            <a:spLocks noGrp="1"/>
          </p:cNvSpPr>
          <p:nvPr>
            <p:ph type="body" sz="quarter" idx="22"/>
          </p:nvPr>
        </p:nvSpPr>
        <p:spPr>
          <a:xfrm>
            <a:off x="550911" y="3470817"/>
            <a:ext cx="5660540" cy="1477295"/>
          </a:xfrm>
          <a:prstGeom prst="rect">
            <a:avLst/>
          </a:prstGeom>
        </p:spPr>
        <p:txBody>
          <a:bodyPr/>
          <a:lstStyle/>
          <a:p>
            <a:pPr marL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dirty="0"/>
              <a:t>Jong Hwan Ko</a:t>
            </a:r>
            <a:endParaRPr dirty="0"/>
          </a:p>
          <a:p>
            <a:pPr marL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Associate Professor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SungKyunKwan</a:t>
            </a:r>
            <a:r>
              <a:rPr lang="en-US" dirty="0"/>
              <a:t> University, Korea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Department of Electrical and Computer Engineering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jhko@skku.edu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B127AA-7D46-86C2-4CA4-C5E23E4C72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Mapping onto Hardware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032D6A-B430-5FEF-E127-F1356CCA5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8" name="Google Shape;98;p5" descr="Intel Inside | Logopedia | Fand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5409" y="1245671"/>
            <a:ext cx="1122276" cy="112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NVIDIA Launches The GeForce GTX 965M Mobility Chip - Features GM204 GPU  With Half The Cores Of A GTX 980 Graphics Car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8083" y="2591366"/>
            <a:ext cx="2116941" cy="1227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6938188" y="4057289"/>
            <a:ext cx="1122261" cy="1122261"/>
          </a:xfrm>
          <a:prstGeom prst="rect">
            <a:avLst/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 defTabSz="777606" latinLnBrk="0">
              <a:buClr>
                <a:srgbClr val="000000"/>
              </a:buClr>
              <a:buSzPts val="2100"/>
              <a:defRPr/>
            </a:pPr>
            <a:r>
              <a:rPr lang="en-US" sz="1786" b="1" kern="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DLA</a:t>
            </a:r>
            <a:endParaRPr sz="1786" b="1" kern="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777606" latinLnBrk="0">
              <a:buClr>
                <a:srgbClr val="000000"/>
              </a:buClr>
              <a:buSzPts val="1200"/>
              <a:defRPr/>
            </a:pPr>
            <a:r>
              <a:rPr lang="en-US" sz="1020" b="1" kern="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(Deep Learning Accelerator)</a:t>
            </a:r>
            <a:endParaRPr sz="1020" b="1" kern="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5">
            <a:alphaModFix/>
          </a:blip>
          <a:srcRect t="8346" b="16186"/>
          <a:stretch/>
        </p:blipFill>
        <p:spPr>
          <a:xfrm>
            <a:off x="2156123" y="1050000"/>
            <a:ext cx="1957769" cy="440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4447075" y="2019286"/>
            <a:ext cx="1346509" cy="4847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 defTabSz="777606" latinLnBrk="0">
              <a:buClr>
                <a:srgbClr val="000000"/>
              </a:buClr>
              <a:buSzPts val="1400"/>
              <a:defRPr/>
            </a:pPr>
            <a:r>
              <a:rPr lang="en-US" sz="1191" b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 sz="1191" b="1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108533" y="2580927"/>
            <a:ext cx="2642399" cy="133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 marL="388803" indent="-291602" defTabSz="777606" latinLnBrk="0">
              <a:buClr>
                <a:srgbClr val="000000"/>
              </a:buClr>
              <a:buSzPts val="1800"/>
              <a:buFont typeface="Arial"/>
              <a:buChar char="●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 reordering</a:t>
            </a:r>
            <a:endParaRPr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803" indent="-291602" defTabSz="777606" latinLnBrk="0">
              <a:buClr>
                <a:srgbClr val="000000"/>
              </a:buClr>
              <a:buSzPts val="1800"/>
              <a:buFont typeface="Arial"/>
              <a:buChar char="●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 tiling</a:t>
            </a:r>
          </a:p>
          <a:p>
            <a:pPr marL="388803" indent="-291602" defTabSz="777606" latinLnBrk="0">
              <a:buClr>
                <a:srgbClr val="000000"/>
              </a:buClr>
              <a:buSzPts val="1800"/>
              <a:buFont typeface="Arial"/>
              <a:buChar char="●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 unrolling</a:t>
            </a:r>
            <a:endParaRPr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803" indent="-291602" defTabSz="777606" latinLnBrk="0">
              <a:buClr>
                <a:srgbClr val="000000"/>
              </a:buClr>
              <a:buSzPts val="1800"/>
              <a:buFont typeface="Arial"/>
              <a:buChar char="●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8803" indent="-291602" defTabSz="777606" latinLnBrk="0">
              <a:buClr>
                <a:srgbClr val="000000"/>
              </a:buClr>
              <a:buSzPts val="1800"/>
              <a:buFont typeface="Arial"/>
              <a:buChar char="●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Edge-host partitioning</a:t>
            </a:r>
            <a:endParaRPr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511C0F-1E84-2DD0-EBDF-9FFFD81C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9412083-7FB9-8030-4F91-9F49318DD9A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</a:t>
            </a:fld>
            <a:endParaRPr kern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7489B-9354-3B4D-E0E5-82CE4126A8C6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6E07142-096F-C819-A312-49B90C95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C84F9B-8E7F-C842-EB98-3F2DA3342F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ML Compiler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8B7133-73E0-0DDF-B1A6-42A2F42E6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790577-E762-5669-C1A2-C5AC1006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66945B7-DF42-FEB5-FD70-FC257156B6D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3</a:t>
            </a:fld>
            <a:endParaRPr kern="0"/>
          </a:p>
        </p:txBody>
      </p:sp>
      <p:pic>
        <p:nvPicPr>
          <p:cNvPr id="6" name="Google Shape;88;p4">
            <a:extLst>
              <a:ext uri="{FF2B5EF4-FFF2-40B4-BE49-F238E27FC236}">
                <a16:creationId xmlns:a16="http://schemas.microsoft.com/office/drawing/2014/main" id="{1F66B800-B8DF-9AC4-CC27-21F7DB6643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40426"/>
          <a:stretch/>
        </p:blipFill>
        <p:spPr>
          <a:xfrm>
            <a:off x="2501051" y="936927"/>
            <a:ext cx="4821323" cy="44808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9;p4">
            <a:extLst>
              <a:ext uri="{FF2B5EF4-FFF2-40B4-BE49-F238E27FC236}">
                <a16:creationId xmlns:a16="http://schemas.microsoft.com/office/drawing/2014/main" id="{80F65D8D-FADD-6D32-CB98-F3844D822AD9}"/>
              </a:ext>
            </a:extLst>
          </p:cNvPr>
          <p:cNvSpPr txBox="1"/>
          <p:nvPr/>
        </p:nvSpPr>
        <p:spPr>
          <a:xfrm>
            <a:off x="5489663" y="5273740"/>
            <a:ext cx="48783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source: sampl.cs.washington.edu/projects/tvm.html</a:t>
            </a:r>
            <a:endParaRPr sz="900" b="0" i="0" u="none" strike="noStrike" cap="none">
              <a:solidFill>
                <a:schemeClr val="bg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57458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3A264-1B34-F691-3C79-3BAC89C5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D16329-FF5A-DD03-1232-14183E4D0E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Motivation: Memory Hierarchy</a:t>
            </a:r>
            <a:endParaRPr lang="ko-KR" altLang="en-US" dirty="0"/>
          </a:p>
        </p:txBody>
      </p:sp>
      <p:pic>
        <p:nvPicPr>
          <p:cNvPr id="747" name="Google Shape;747;g2022f64c7c2_1_4683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5470" y="883809"/>
            <a:ext cx="3605315" cy="46738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8" name="Google Shape;748;g2022f64c7c2_1_4683"/>
          <p:cNvGraphicFramePr/>
          <p:nvPr>
            <p:extLst>
              <p:ext uri="{D42A27DB-BD31-4B8C-83A1-F6EECF244321}">
                <p14:modId xmlns:p14="http://schemas.microsoft.com/office/powerpoint/2010/main" val="988984836"/>
              </p:ext>
            </p:extLst>
          </p:nvPr>
        </p:nvGraphicFramePr>
        <p:xfrm>
          <a:off x="1480588" y="1120880"/>
          <a:ext cx="3989694" cy="39422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Operation</a:t>
                      </a:r>
                      <a:endParaRPr sz="1400" b="1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Precision</a:t>
                      </a:r>
                      <a:endParaRPr sz="1400" b="1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Energy (pJ)</a:t>
                      </a:r>
                      <a:endParaRPr sz="1400" b="1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92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Addition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INT8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0.03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INT16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0.05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INT32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FP16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FP32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0.9</a:t>
                      </a:r>
                      <a:endParaRPr sz="1400" u="none" strike="noStrike" cap="none" dirty="0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92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Multiplication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INT8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INT32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3.1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FP16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1.1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FP32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3.7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19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(8 kB)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19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(32 kB)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9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(1 MB)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100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9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DRAM Read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640</a:t>
                      </a:r>
                      <a:endParaRPr sz="1400" u="none" strike="noStrike" cap="none" dirty="0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49" name="Google Shape;749;g2022f64c7c2_1_4683"/>
          <p:cNvSpPr txBox="1"/>
          <p:nvPr/>
        </p:nvSpPr>
        <p:spPr>
          <a:xfrm>
            <a:off x="5470282" y="5304582"/>
            <a:ext cx="7924280" cy="33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800" i="1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Adapted from Mark Horowitz “Computing’s Energy Problem (and What we can do about it)” ISSCC 2014</a:t>
            </a:r>
            <a:endParaRPr sz="800" i="1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2022f64c7c2_1_4683"/>
          <p:cNvSpPr txBox="1"/>
          <p:nvPr/>
        </p:nvSpPr>
        <p:spPr>
          <a:xfrm>
            <a:off x="5517553" y="1078733"/>
            <a:ext cx="3434558" cy="453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b="1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Relative Energy Cost (Log-scale)</a:t>
            </a:r>
            <a:endParaRPr sz="1588" b="1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2022f64c7c2_1_4683"/>
          <p:cNvSpPr/>
          <p:nvPr/>
        </p:nvSpPr>
        <p:spPr>
          <a:xfrm>
            <a:off x="8568904" y="3759702"/>
            <a:ext cx="454109" cy="1361986"/>
          </a:xfrm>
          <a:prstGeom prst="rightBrace">
            <a:avLst>
              <a:gd name="adj1" fmla="val 24995"/>
              <a:gd name="adj2" fmla="val 36622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2022f64c7c2_1_4683"/>
          <p:cNvSpPr txBox="1"/>
          <p:nvPr/>
        </p:nvSpPr>
        <p:spPr>
          <a:xfrm>
            <a:off x="9023012" y="3932389"/>
            <a:ext cx="1290893" cy="69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b="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Memory is the issue!</a:t>
            </a:r>
            <a:endParaRPr sz="1588" b="1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945F755-6283-3F46-3B78-E5F58BD291B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4</a:t>
            </a:fld>
            <a:endParaRPr ker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022f64c7c2_1_469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pPr marL="518391" indent="-388794">
              <a:buSzPts val="1800"/>
              <a:buAutoNum type="arabicPeriod"/>
            </a:pPr>
            <a:r>
              <a:rPr lang="en"/>
              <a:t>Get data close to the computation. (</a:t>
            </a:r>
            <a:r>
              <a:rPr lang="en">
                <a:solidFill>
                  <a:srgbClr val="0D5B63"/>
                </a:solidFill>
              </a:rPr>
              <a:t>LOCALITY</a:t>
            </a:r>
            <a:r>
              <a:rPr lang="en"/>
              <a:t>)</a:t>
            </a:r>
            <a:endParaRPr/>
          </a:p>
          <a:p>
            <a:pPr marL="518391" indent="-388794">
              <a:buSzPts val="1800"/>
              <a:buAutoNum type="arabicPeriod"/>
            </a:pPr>
            <a:r>
              <a:rPr lang="en"/>
              <a:t>Once data is close - perform all computations with this data. (</a:t>
            </a:r>
            <a:r>
              <a:rPr lang="en">
                <a:solidFill>
                  <a:srgbClr val="0D5B63"/>
                </a:solidFill>
              </a:rPr>
              <a:t>REUSE</a:t>
            </a:r>
            <a:r>
              <a:rPr lang="en"/>
              <a:t>)</a:t>
            </a:r>
            <a:endParaRPr/>
          </a:p>
        </p:txBody>
      </p:sp>
      <p:pic>
        <p:nvPicPr>
          <p:cNvPr id="763" name="Google Shape;763;g2022f64c7c2_1_4694" title="Chart"/>
          <p:cNvPicPr preferRelativeResize="0"/>
          <p:nvPr/>
        </p:nvPicPr>
        <p:blipFill rotWithShape="1">
          <a:blip r:embed="rId3">
            <a:alphaModFix/>
          </a:blip>
          <a:srcRect t="63590"/>
          <a:stretch/>
        </p:blipFill>
        <p:spPr>
          <a:xfrm>
            <a:off x="5281952" y="3805083"/>
            <a:ext cx="3605315" cy="15215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4" name="Google Shape;764;g2022f64c7c2_1_4694"/>
          <p:cNvGraphicFramePr/>
          <p:nvPr>
            <p:extLst>
              <p:ext uri="{D42A27DB-BD31-4B8C-83A1-F6EECF244321}">
                <p14:modId xmlns:p14="http://schemas.microsoft.com/office/powerpoint/2010/main" val="939716732"/>
              </p:ext>
            </p:extLst>
          </p:nvPr>
        </p:nvGraphicFramePr>
        <p:xfrm>
          <a:off x="1474309" y="3531038"/>
          <a:ext cx="3989694" cy="138564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57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Operation</a:t>
                      </a:r>
                      <a:endParaRPr sz="1400" b="1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b="1" u="none" strike="noStrike" cap="none" dirty="0"/>
                        <a:t>Energy (</a:t>
                      </a:r>
                      <a:r>
                        <a:rPr lang="en" sz="1400" b="1" u="none" strike="noStrike" cap="none" dirty="0" err="1"/>
                        <a:t>pJ</a:t>
                      </a:r>
                      <a:r>
                        <a:rPr lang="en" sz="1400" b="1" u="none" strike="noStrike" cap="none" dirty="0"/>
                        <a:t>)</a:t>
                      </a:r>
                      <a:endParaRPr sz="1400" b="1" u="none" strike="noStrike" cap="none" dirty="0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7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(8 kB)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57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(32 kB)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5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SRAM Read (1 MB)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100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95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/>
                        <a:t>32-bit DRAM Read</a:t>
                      </a:r>
                      <a:endParaRPr sz="1400" u="none" strike="noStrike" cap="none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640</a:t>
                      </a:r>
                      <a:endParaRPr sz="1400" u="none" strike="noStrike" cap="none" dirty="0"/>
                    </a:p>
                  </a:txBody>
                  <a:tcPr marL="32400" marR="32400" marT="21600" marB="216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5" name="Google Shape;765;g2022f64c7c2_1_4694"/>
          <p:cNvSpPr txBox="1"/>
          <p:nvPr/>
        </p:nvSpPr>
        <p:spPr>
          <a:xfrm>
            <a:off x="5511276" y="3279448"/>
            <a:ext cx="3434558" cy="453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b="1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Relative Energy Cost (Log-scale)</a:t>
            </a:r>
            <a:endParaRPr sz="1588" b="1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CC1180D-E7D6-ADFC-CCE8-7FEF82BF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C491958C-C7E2-1D2D-C51B-5333658B68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0955" y="535478"/>
            <a:ext cx="10006053" cy="395010"/>
          </a:xfrm>
        </p:spPr>
        <p:txBody>
          <a:bodyPr/>
          <a:lstStyle/>
          <a:p>
            <a:r>
              <a:rPr lang="en" altLang="ko-KR" dirty="0"/>
              <a:t>Motivation: Memory Hierarchy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3D032E-5863-CE76-6519-2EEA08D17CC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5</a:t>
            </a:fld>
            <a:endParaRPr kern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635EC-C481-2B93-5AD4-5FF3C27C8C0F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4ED0D1-C37F-6BBE-93EB-E2500916C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266" y="946501"/>
            <a:ext cx="5197716" cy="4595072"/>
          </a:xfrm>
        </p:spPr>
        <p:txBody>
          <a:bodyPr/>
          <a:lstStyle/>
          <a:p>
            <a:r>
              <a:rPr lang="en" altLang="ko-KR" dirty="0"/>
              <a:t>Why do we have a memory hierarchy?</a:t>
            </a:r>
          </a:p>
          <a:p>
            <a:pPr lvl="1"/>
            <a:r>
              <a:rPr lang="en" altLang="ko-KR" dirty="0"/>
              <a:t>The closer you get to compute, the more $$ and scarce the memory resource becomes</a:t>
            </a:r>
          </a:p>
          <a:p>
            <a:pPr lvl="1"/>
            <a:r>
              <a:rPr lang="en" altLang="ko-KR" dirty="0"/>
              <a:t>In most cases, the DNN parameters live off chip and are fetched layer-by-layer or tile-by-tile</a:t>
            </a:r>
          </a:p>
          <a:p>
            <a:pPr lvl="1"/>
            <a:r>
              <a:rPr lang="en" altLang="ko-KR" dirty="0"/>
              <a:t>Data locality: how to get data close to the PEs (to keep them fully utilized)</a:t>
            </a:r>
          </a:p>
          <a:p>
            <a:endParaRPr lang="ko-KR" altLang="en-US" dirty="0"/>
          </a:p>
        </p:txBody>
      </p:sp>
      <p:sp>
        <p:nvSpPr>
          <p:cNvPr id="772" name="Google Shape;772;g2022f64c7c2_1_4703"/>
          <p:cNvSpPr/>
          <p:nvPr/>
        </p:nvSpPr>
        <p:spPr>
          <a:xfrm>
            <a:off x="6025925" y="1252519"/>
            <a:ext cx="3680831" cy="22310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Accelerator Chip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2022f64c7c2_1_4703"/>
          <p:cNvSpPr/>
          <p:nvPr/>
        </p:nvSpPr>
        <p:spPr>
          <a:xfrm>
            <a:off x="6158138" y="1735258"/>
            <a:ext cx="649358" cy="64935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588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2022f64c7c2_1_4703"/>
          <p:cNvSpPr/>
          <p:nvPr/>
        </p:nvSpPr>
        <p:spPr>
          <a:xfrm>
            <a:off x="6996309" y="1735258"/>
            <a:ext cx="649358" cy="64935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2022f64c7c2_1_4703"/>
          <p:cNvSpPr/>
          <p:nvPr/>
        </p:nvSpPr>
        <p:spPr>
          <a:xfrm>
            <a:off x="6166982" y="2560533"/>
            <a:ext cx="649358" cy="64935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2022f64c7c2_1_4703"/>
          <p:cNvSpPr/>
          <p:nvPr/>
        </p:nvSpPr>
        <p:spPr>
          <a:xfrm>
            <a:off x="7005153" y="2560533"/>
            <a:ext cx="649358" cy="64935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2022f64c7c2_1_4703"/>
          <p:cNvSpPr/>
          <p:nvPr/>
        </p:nvSpPr>
        <p:spPr>
          <a:xfrm>
            <a:off x="6025925" y="3866095"/>
            <a:ext cx="3680831" cy="1418452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Memory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Memory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Off-Chip Memory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DRAM / HBM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" name="Google Shape;778;g2022f64c7c2_1_4703"/>
          <p:cNvCxnSpPr>
            <a:stCxn id="772" idx="2"/>
            <a:endCxn id="777" idx="0"/>
          </p:cNvCxnSpPr>
          <p:nvPr/>
        </p:nvCxnSpPr>
        <p:spPr>
          <a:xfrm>
            <a:off x="7866340" y="3483604"/>
            <a:ext cx="0" cy="38233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9" name="Google Shape;779;g2022f64c7c2_1_4703"/>
          <p:cNvSpPr/>
          <p:nvPr/>
        </p:nvSpPr>
        <p:spPr>
          <a:xfrm>
            <a:off x="7820504" y="1565875"/>
            <a:ext cx="1729695" cy="1643975"/>
          </a:xfrm>
          <a:prstGeom prst="roundRect">
            <a:avLst>
              <a:gd name="adj" fmla="val 6934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5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</a:t>
            </a:r>
            <a:endParaRPr sz="15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On-Chip Buffer</a:t>
            </a:r>
            <a:endParaRPr sz="15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300"/>
            </a:pPr>
            <a:r>
              <a:rPr lang="en" sz="147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On-Chip Memory</a:t>
            </a:r>
            <a:endParaRPr sz="147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300"/>
            </a:pPr>
            <a:r>
              <a:rPr lang="en" sz="147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SRAM</a:t>
            </a:r>
            <a:endParaRPr sz="147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2022f64c7c2_1_4703"/>
          <p:cNvSpPr/>
          <p:nvPr/>
        </p:nvSpPr>
        <p:spPr>
          <a:xfrm>
            <a:off x="6317855" y="2139936"/>
            <a:ext cx="348320" cy="169738"/>
          </a:xfrm>
          <a:prstGeom prst="roundRect">
            <a:avLst>
              <a:gd name="adj" fmla="val 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2022f64c7c2_1_4703"/>
          <p:cNvSpPr/>
          <p:nvPr/>
        </p:nvSpPr>
        <p:spPr>
          <a:xfrm>
            <a:off x="6328075" y="2942324"/>
            <a:ext cx="348320" cy="169738"/>
          </a:xfrm>
          <a:prstGeom prst="roundRect">
            <a:avLst>
              <a:gd name="adj" fmla="val 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2022f64c7c2_1_4703"/>
          <p:cNvSpPr/>
          <p:nvPr/>
        </p:nvSpPr>
        <p:spPr>
          <a:xfrm>
            <a:off x="7155675" y="2942324"/>
            <a:ext cx="348320" cy="169738"/>
          </a:xfrm>
          <a:prstGeom prst="roundRect">
            <a:avLst>
              <a:gd name="adj" fmla="val 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2022f64c7c2_1_4703"/>
          <p:cNvSpPr/>
          <p:nvPr/>
        </p:nvSpPr>
        <p:spPr>
          <a:xfrm>
            <a:off x="7139843" y="2139952"/>
            <a:ext cx="348320" cy="169738"/>
          </a:xfrm>
          <a:prstGeom prst="roundRect">
            <a:avLst>
              <a:gd name="adj" fmla="val 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4" name="Google Shape;784;g2022f64c7c2_1_4703"/>
          <p:cNvCxnSpPr>
            <a:stCxn id="783" idx="0"/>
          </p:cNvCxnSpPr>
          <p:nvPr/>
        </p:nvCxnSpPr>
        <p:spPr>
          <a:xfrm rot="10800000" flipH="1">
            <a:off x="7314003" y="835113"/>
            <a:ext cx="957880" cy="1304839"/>
          </a:xfrm>
          <a:prstGeom prst="straightConnector1">
            <a:avLst/>
          </a:prstGeom>
          <a:noFill/>
          <a:ln w="19050" cap="flat" cmpd="sng">
            <a:solidFill>
              <a:srgbClr val="0AA7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5" name="Google Shape;785;g2022f64c7c2_1_4703"/>
          <p:cNvSpPr txBox="1"/>
          <p:nvPr/>
        </p:nvSpPr>
        <p:spPr>
          <a:xfrm>
            <a:off x="8219507" y="283052"/>
            <a:ext cx="1672548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File</a:t>
            </a:r>
            <a:endParaRPr sz="15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2022f64c7c2_1_4703"/>
          <p:cNvSpPr txBox="1"/>
          <p:nvPr/>
        </p:nvSpPr>
        <p:spPr>
          <a:xfrm>
            <a:off x="8219507" y="539171"/>
            <a:ext cx="1672548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memory</a:t>
            </a:r>
            <a:endParaRPr sz="15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2022f64c7c2_1_4703"/>
          <p:cNvSpPr txBox="1"/>
          <p:nvPr/>
        </p:nvSpPr>
        <p:spPr>
          <a:xfrm>
            <a:off x="8695697" y="4247070"/>
            <a:ext cx="957880" cy="8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3400"/>
            </a:pPr>
            <a:r>
              <a:rPr lang="en" sz="385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GB</a:t>
            </a:r>
            <a:endParaRPr sz="3855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2022f64c7c2_1_4703"/>
          <p:cNvSpPr txBox="1"/>
          <p:nvPr/>
        </p:nvSpPr>
        <p:spPr>
          <a:xfrm>
            <a:off x="9297575" y="2137705"/>
            <a:ext cx="1070472" cy="8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3400"/>
            </a:pPr>
            <a:r>
              <a:rPr lang="en" sz="385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MB</a:t>
            </a:r>
            <a:endParaRPr sz="3855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2022f64c7c2_1_4703"/>
          <p:cNvSpPr txBox="1"/>
          <p:nvPr/>
        </p:nvSpPr>
        <p:spPr>
          <a:xfrm>
            <a:off x="5672823" y="2331671"/>
            <a:ext cx="957880" cy="80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3400"/>
            </a:pPr>
            <a:r>
              <a:rPr lang="en" sz="385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KB</a:t>
            </a:r>
            <a:endParaRPr sz="385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2022f64c7c2_1_4703"/>
          <p:cNvSpPr txBox="1"/>
          <p:nvPr/>
        </p:nvSpPr>
        <p:spPr>
          <a:xfrm>
            <a:off x="8219507" y="777205"/>
            <a:ext cx="1672548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Memory</a:t>
            </a:r>
            <a:endParaRPr sz="15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D927A0F-F528-7BA3-CF0E-D30B87DF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FF5FCA17-3CF6-3D17-91BC-FFF52607C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0955" y="535478"/>
            <a:ext cx="10006053" cy="395010"/>
          </a:xfrm>
        </p:spPr>
        <p:txBody>
          <a:bodyPr/>
          <a:lstStyle/>
          <a:p>
            <a:r>
              <a:rPr lang="en" altLang="ko-KR" dirty="0"/>
              <a:t>Motivation: Memory Hierarchy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6B250-9C78-68EE-722D-4A5C42C7D41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6</a:t>
            </a:fld>
            <a:endParaRPr kern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6BA7C-ADA0-76EA-FF83-0693785F7F26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516943-2BFE-A3FF-2F7D-20D9FE845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6948571-2283-80A2-27D4-E5DEBE618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67" y="1295632"/>
            <a:ext cx="9805828" cy="38968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EE90E8F-A8F0-6244-EFAF-AA969E21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830DF88-557F-CEB1-5E9F-F8C80EA332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0955" y="535478"/>
            <a:ext cx="10006053" cy="395010"/>
          </a:xfrm>
        </p:spPr>
        <p:txBody>
          <a:bodyPr/>
          <a:lstStyle/>
          <a:p>
            <a:r>
              <a:rPr lang="en" altLang="ko-KR" dirty="0"/>
              <a:t>Motivation: Memory Hierarchy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849666E-0D3D-C048-F544-1564B4FA19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7</a:t>
            </a:fld>
            <a:endParaRPr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32D5E-DEA2-8F5C-ADD6-7271A6218464}"/>
              </a:ext>
            </a:extLst>
          </p:cNvPr>
          <p:cNvSpPr txBox="1"/>
          <p:nvPr/>
        </p:nvSpPr>
        <p:spPr>
          <a:xfrm>
            <a:off x="5183981" y="532612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D24AA2-FBA1-6764-4336-DC4D9A53DC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Motivation: Data Reuse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23308E-2D12-CF43-3559-9D3D2AEB4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08" name="Google Shape;808;g2022f64c7c2_1_4735"/>
          <p:cNvSpPr txBox="1"/>
          <p:nvPr/>
        </p:nvSpPr>
        <p:spPr>
          <a:xfrm>
            <a:off x="1389358" y="1618416"/>
            <a:ext cx="1790583" cy="453713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Temporal Reuse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2022f64c7c2_1_4735"/>
          <p:cNvSpPr txBox="1"/>
          <p:nvPr/>
        </p:nvSpPr>
        <p:spPr>
          <a:xfrm>
            <a:off x="174320" y="2183205"/>
            <a:ext cx="4220659" cy="69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once from memory, use same data multiple times by same PE</a:t>
            </a:r>
            <a:endParaRPr sz="1588" b="1" i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g2022f64c7c2_1_4735"/>
          <p:cNvGrpSpPr/>
          <p:nvPr/>
        </p:nvGrpSpPr>
        <p:grpSpPr>
          <a:xfrm>
            <a:off x="1108368" y="3174398"/>
            <a:ext cx="2344051" cy="997678"/>
            <a:chOff x="1263681" y="2656356"/>
            <a:chExt cx="2067330" cy="879900"/>
          </a:xfrm>
        </p:grpSpPr>
        <p:sp>
          <p:nvSpPr>
            <p:cNvPr id="812" name="Google Shape;812;g2022f64c7c2_1_4735"/>
            <p:cNvSpPr/>
            <p:nvPr/>
          </p:nvSpPr>
          <p:spPr>
            <a:xfrm>
              <a:off x="1263681" y="2656356"/>
              <a:ext cx="879900" cy="879900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3663" tIns="103663" rIns="103663" bIns="10366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3" name="Google Shape;813;g2022f64c7c2_1_4735"/>
            <p:cNvGrpSpPr/>
            <p:nvPr/>
          </p:nvGrpSpPr>
          <p:grpSpPr>
            <a:xfrm>
              <a:off x="2625345" y="2762336"/>
              <a:ext cx="705666" cy="688951"/>
              <a:chOff x="2571704" y="2796175"/>
              <a:chExt cx="705666" cy="688951"/>
            </a:xfrm>
          </p:grpSpPr>
          <p:grpSp>
            <p:nvGrpSpPr>
              <p:cNvPr id="814" name="Google Shape;814;g2022f64c7c2_1_4735"/>
              <p:cNvGrpSpPr/>
              <p:nvPr/>
            </p:nvGrpSpPr>
            <p:grpSpPr>
              <a:xfrm>
                <a:off x="2571704" y="2796175"/>
                <a:ext cx="705666" cy="634112"/>
                <a:chOff x="2301069" y="2506801"/>
                <a:chExt cx="572734" cy="634112"/>
              </a:xfrm>
            </p:grpSpPr>
            <p:sp>
              <p:nvSpPr>
                <p:cNvPr id="815" name="Google Shape;815;g2022f64c7c2_1_4735"/>
                <p:cNvSpPr/>
                <p:nvPr/>
              </p:nvSpPr>
              <p:spPr>
                <a:xfrm>
                  <a:off x="2301103" y="2568213"/>
                  <a:ext cx="572700" cy="57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966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3663" tIns="103663" rIns="103663" bIns="103663" anchor="t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endParaRPr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algn="ctr">
                    <a:buClr>
                      <a:srgbClr val="000000"/>
                    </a:buClr>
                    <a:buSzPts val="1400"/>
                  </a:pPr>
                  <a:endParaRPr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g2022f64c7c2_1_4735"/>
                <p:cNvSpPr/>
                <p:nvPr/>
              </p:nvSpPr>
              <p:spPr>
                <a:xfrm>
                  <a:off x="2357657" y="2848101"/>
                  <a:ext cx="167700" cy="2403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00FFFF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3663" tIns="103663" rIns="103663" bIns="103663" anchor="t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endParaRPr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g2022f64c7c2_1_4735"/>
                <p:cNvSpPr txBox="1"/>
                <p:nvPr/>
              </p:nvSpPr>
              <p:spPr>
                <a:xfrm>
                  <a:off x="2301069" y="2506801"/>
                  <a:ext cx="572700" cy="4001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03663" tIns="103663" rIns="103663" bIns="103663" anchor="t" anchorCtr="0">
                  <a:sp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" sz="1588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PE</a:t>
                  </a:r>
                  <a:endParaRPr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g2022f64c7c2_1_4735"/>
                <p:cNvSpPr/>
                <p:nvPr/>
              </p:nvSpPr>
              <p:spPr>
                <a:xfrm>
                  <a:off x="2649640" y="2848101"/>
                  <a:ext cx="167700" cy="2403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00FFFF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3663" tIns="103663" rIns="103663" bIns="103663" anchor="t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endParaRPr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9" name="Google Shape;819;g2022f64c7c2_1_4735"/>
              <p:cNvSpPr txBox="1"/>
              <p:nvPr/>
            </p:nvSpPr>
            <p:spPr>
              <a:xfrm>
                <a:off x="2786388" y="3084975"/>
                <a:ext cx="2763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20" name="Google Shape;820;g2022f64c7c2_1_4735"/>
            <p:cNvCxnSpPr>
              <a:stCxn id="812" idx="3"/>
            </p:cNvCxnSpPr>
            <p:nvPr/>
          </p:nvCxnSpPr>
          <p:spPr>
            <a:xfrm>
              <a:off x="2143581" y="3096306"/>
              <a:ext cx="476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22" name="Google Shape;822;g2022f64c7c2_1_4735"/>
          <p:cNvSpPr txBox="1"/>
          <p:nvPr/>
        </p:nvSpPr>
        <p:spPr>
          <a:xfrm>
            <a:off x="6504487" y="1633170"/>
            <a:ext cx="1790582" cy="453713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Reuse</a:t>
            </a:r>
            <a:endParaRPr sz="15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2022f64c7c2_1_4735"/>
          <p:cNvSpPr txBox="1"/>
          <p:nvPr/>
        </p:nvSpPr>
        <p:spPr>
          <a:xfrm>
            <a:off x="5074640" y="2183207"/>
            <a:ext cx="465027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588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once from memory, use same data </a:t>
            </a:r>
            <a:br>
              <a:rPr lang="en" sz="1588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88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times by multiple PEs</a:t>
            </a:r>
            <a:endParaRPr sz="1588" b="1" i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2022f64c7c2_1_4735"/>
          <p:cNvSpPr/>
          <p:nvPr/>
        </p:nvSpPr>
        <p:spPr>
          <a:xfrm>
            <a:off x="6059172" y="3622983"/>
            <a:ext cx="997678" cy="997679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g2022f64c7c2_1_4735"/>
          <p:cNvGrpSpPr/>
          <p:nvPr/>
        </p:nvGrpSpPr>
        <p:grpSpPr>
          <a:xfrm>
            <a:off x="7737406" y="3010934"/>
            <a:ext cx="800122" cy="781171"/>
            <a:chOff x="2571704" y="2796175"/>
            <a:chExt cx="705666" cy="688951"/>
          </a:xfrm>
        </p:grpSpPr>
        <p:grpSp>
          <p:nvGrpSpPr>
            <p:cNvPr id="827" name="Google Shape;827;g2022f64c7c2_1_4735"/>
            <p:cNvGrpSpPr/>
            <p:nvPr/>
          </p:nvGrpSpPr>
          <p:grpSpPr>
            <a:xfrm>
              <a:off x="2571704" y="2796175"/>
              <a:ext cx="705666" cy="634112"/>
              <a:chOff x="2301069" y="2506801"/>
              <a:chExt cx="572734" cy="634112"/>
            </a:xfrm>
          </p:grpSpPr>
          <p:sp>
            <p:nvSpPr>
              <p:cNvPr id="828" name="Google Shape;828;g2022f64c7c2_1_4735"/>
              <p:cNvSpPr/>
              <p:nvPr/>
            </p:nvSpPr>
            <p:spPr>
              <a:xfrm>
                <a:off x="2301103" y="2568213"/>
                <a:ext cx="572700" cy="572700"/>
              </a:xfrm>
              <a:prstGeom prst="roundRect">
                <a:avLst>
                  <a:gd name="adj" fmla="val 16667"/>
                </a:avLst>
              </a:prstGeom>
              <a:solidFill>
                <a:srgbClr val="FFD96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g2022f64c7c2_1_4735"/>
              <p:cNvSpPr/>
              <p:nvPr/>
            </p:nvSpPr>
            <p:spPr>
              <a:xfrm>
                <a:off x="2357657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g2022f64c7c2_1_4735"/>
              <p:cNvSpPr txBox="1"/>
              <p:nvPr/>
            </p:nvSpPr>
            <p:spPr>
              <a:xfrm>
                <a:off x="2301069" y="2506801"/>
                <a:ext cx="5727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" sz="1588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PE</a:t>
                </a:r>
                <a:endParaRPr sz="1588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g2022f64c7c2_1_4735"/>
              <p:cNvSpPr/>
              <p:nvPr/>
            </p:nvSpPr>
            <p:spPr>
              <a:xfrm>
                <a:off x="2649640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2" name="Google Shape;832;g2022f64c7c2_1_4735"/>
            <p:cNvSpPr txBox="1"/>
            <p:nvPr/>
          </p:nvSpPr>
          <p:spPr>
            <a:xfrm>
              <a:off x="2786388" y="3084975"/>
              <a:ext cx="276300" cy="400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663" tIns="103663" rIns="103663" bIns="103663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33" name="Google Shape;833;g2022f64c7c2_1_4735"/>
          <p:cNvCxnSpPr>
            <a:stCxn id="825" idx="3"/>
          </p:cNvCxnSpPr>
          <p:nvPr/>
        </p:nvCxnSpPr>
        <p:spPr>
          <a:xfrm>
            <a:off x="7056851" y="4121823"/>
            <a:ext cx="69527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34" name="Google Shape;834;g2022f64c7c2_1_4735"/>
          <p:cNvGrpSpPr/>
          <p:nvPr/>
        </p:nvGrpSpPr>
        <p:grpSpPr>
          <a:xfrm>
            <a:off x="7737406" y="3728085"/>
            <a:ext cx="800122" cy="781171"/>
            <a:chOff x="2571704" y="2796175"/>
            <a:chExt cx="705666" cy="688951"/>
          </a:xfrm>
        </p:grpSpPr>
        <p:grpSp>
          <p:nvGrpSpPr>
            <p:cNvPr id="835" name="Google Shape;835;g2022f64c7c2_1_4735"/>
            <p:cNvGrpSpPr/>
            <p:nvPr/>
          </p:nvGrpSpPr>
          <p:grpSpPr>
            <a:xfrm>
              <a:off x="2571704" y="2796175"/>
              <a:ext cx="705666" cy="634112"/>
              <a:chOff x="2301069" y="2506801"/>
              <a:chExt cx="572734" cy="634112"/>
            </a:xfrm>
          </p:grpSpPr>
          <p:sp>
            <p:nvSpPr>
              <p:cNvPr id="836" name="Google Shape;836;g2022f64c7c2_1_4735"/>
              <p:cNvSpPr/>
              <p:nvPr/>
            </p:nvSpPr>
            <p:spPr>
              <a:xfrm>
                <a:off x="2301103" y="2568213"/>
                <a:ext cx="572700" cy="572700"/>
              </a:xfrm>
              <a:prstGeom prst="roundRect">
                <a:avLst>
                  <a:gd name="adj" fmla="val 16667"/>
                </a:avLst>
              </a:prstGeom>
              <a:solidFill>
                <a:srgbClr val="FFD96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g2022f64c7c2_1_4735"/>
              <p:cNvSpPr/>
              <p:nvPr/>
            </p:nvSpPr>
            <p:spPr>
              <a:xfrm>
                <a:off x="2357657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g2022f64c7c2_1_4735"/>
              <p:cNvSpPr txBox="1"/>
              <p:nvPr/>
            </p:nvSpPr>
            <p:spPr>
              <a:xfrm>
                <a:off x="2301069" y="2506801"/>
                <a:ext cx="5727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PE</a:t>
                </a: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g2022f64c7c2_1_4735"/>
              <p:cNvSpPr/>
              <p:nvPr/>
            </p:nvSpPr>
            <p:spPr>
              <a:xfrm>
                <a:off x="2649640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0" name="Google Shape;840;g2022f64c7c2_1_4735"/>
            <p:cNvSpPr txBox="1"/>
            <p:nvPr/>
          </p:nvSpPr>
          <p:spPr>
            <a:xfrm>
              <a:off x="2786388" y="3084975"/>
              <a:ext cx="276300" cy="400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663" tIns="103663" rIns="103663" bIns="103663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g2022f64c7c2_1_4735"/>
          <p:cNvGrpSpPr/>
          <p:nvPr/>
        </p:nvGrpSpPr>
        <p:grpSpPr>
          <a:xfrm>
            <a:off x="7737406" y="4460328"/>
            <a:ext cx="800122" cy="781171"/>
            <a:chOff x="2571704" y="2796175"/>
            <a:chExt cx="705666" cy="688951"/>
          </a:xfrm>
        </p:grpSpPr>
        <p:grpSp>
          <p:nvGrpSpPr>
            <p:cNvPr id="842" name="Google Shape;842;g2022f64c7c2_1_4735"/>
            <p:cNvGrpSpPr/>
            <p:nvPr/>
          </p:nvGrpSpPr>
          <p:grpSpPr>
            <a:xfrm>
              <a:off x="2571704" y="2796175"/>
              <a:ext cx="705666" cy="634112"/>
              <a:chOff x="2301069" y="2506801"/>
              <a:chExt cx="572734" cy="634112"/>
            </a:xfrm>
          </p:grpSpPr>
          <p:sp>
            <p:nvSpPr>
              <p:cNvPr id="843" name="Google Shape;843;g2022f64c7c2_1_4735"/>
              <p:cNvSpPr/>
              <p:nvPr/>
            </p:nvSpPr>
            <p:spPr>
              <a:xfrm>
                <a:off x="2301103" y="2568213"/>
                <a:ext cx="572700" cy="572700"/>
              </a:xfrm>
              <a:prstGeom prst="roundRect">
                <a:avLst>
                  <a:gd name="adj" fmla="val 16667"/>
                </a:avLst>
              </a:prstGeom>
              <a:solidFill>
                <a:srgbClr val="FFD96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g2022f64c7c2_1_4735"/>
              <p:cNvSpPr/>
              <p:nvPr/>
            </p:nvSpPr>
            <p:spPr>
              <a:xfrm>
                <a:off x="2357657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g2022f64c7c2_1_4735"/>
              <p:cNvSpPr txBox="1"/>
              <p:nvPr/>
            </p:nvSpPr>
            <p:spPr>
              <a:xfrm>
                <a:off x="2301069" y="2506801"/>
                <a:ext cx="5727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PE</a:t>
                </a: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g2022f64c7c2_1_4735"/>
              <p:cNvSpPr/>
              <p:nvPr/>
            </p:nvSpPr>
            <p:spPr>
              <a:xfrm>
                <a:off x="2649640" y="2848101"/>
                <a:ext cx="167700" cy="240300"/>
              </a:xfrm>
              <a:prstGeom prst="roundRect">
                <a:avLst>
                  <a:gd name="adj" fmla="val 0"/>
                </a:avLst>
              </a:prstGeom>
              <a:solidFill>
                <a:srgbClr val="00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7" name="Google Shape;847;g2022f64c7c2_1_4735"/>
            <p:cNvSpPr txBox="1"/>
            <p:nvPr/>
          </p:nvSpPr>
          <p:spPr>
            <a:xfrm>
              <a:off x="2786388" y="3084975"/>
              <a:ext cx="276300" cy="400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663" tIns="103663" rIns="103663" bIns="103663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48" name="Google Shape;848;g2022f64c7c2_1_4735"/>
          <p:cNvCxnSpPr/>
          <p:nvPr/>
        </p:nvCxnSpPr>
        <p:spPr>
          <a:xfrm>
            <a:off x="7592193" y="3401534"/>
            <a:ext cx="1452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9" name="Google Shape;849;g2022f64c7c2_1_4735"/>
          <p:cNvCxnSpPr/>
          <p:nvPr/>
        </p:nvCxnSpPr>
        <p:spPr>
          <a:xfrm>
            <a:off x="7592193" y="4850941"/>
            <a:ext cx="1452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0" name="Google Shape;850;g2022f64c7c2_1_4735"/>
          <p:cNvCxnSpPr/>
          <p:nvPr/>
        </p:nvCxnSpPr>
        <p:spPr>
          <a:xfrm>
            <a:off x="7598713" y="3411002"/>
            <a:ext cx="0" cy="14323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51" name="Google Shape;851;g2022f64c7c2_1_4735"/>
          <p:cNvGrpSpPr/>
          <p:nvPr/>
        </p:nvGrpSpPr>
        <p:grpSpPr>
          <a:xfrm>
            <a:off x="3094918" y="3587937"/>
            <a:ext cx="313284" cy="453713"/>
            <a:chOff x="2722450" y="3599078"/>
            <a:chExt cx="276300" cy="400151"/>
          </a:xfrm>
        </p:grpSpPr>
        <p:sp>
          <p:nvSpPr>
            <p:cNvPr id="852" name="Google Shape;852;g2022f64c7c2_1_4735"/>
            <p:cNvSpPr/>
            <p:nvPr/>
          </p:nvSpPr>
          <p:spPr>
            <a:xfrm>
              <a:off x="2757240" y="3679036"/>
              <a:ext cx="206700" cy="240300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3663" tIns="103663" rIns="103663" bIns="103663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g2022f64c7c2_1_4735"/>
            <p:cNvSpPr txBox="1"/>
            <p:nvPr/>
          </p:nvSpPr>
          <p:spPr>
            <a:xfrm>
              <a:off x="2722450" y="3599078"/>
              <a:ext cx="276300" cy="400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663" tIns="103663" rIns="103663" bIns="103663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>
                  <a:solidFill>
                    <a:srgbClr val="F3F3F3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588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4" name="Google Shape;854;g2022f64c7c2_1_4735"/>
          <p:cNvSpPr txBox="1"/>
          <p:nvPr/>
        </p:nvSpPr>
        <p:spPr>
          <a:xfrm>
            <a:off x="2693823" y="3587937"/>
            <a:ext cx="313284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2022f64c7c2_1_4735"/>
          <p:cNvSpPr txBox="1"/>
          <p:nvPr/>
        </p:nvSpPr>
        <p:spPr>
          <a:xfrm>
            <a:off x="2693823" y="3587937"/>
            <a:ext cx="313284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2022f64c7c2_1_4735"/>
          <p:cNvSpPr txBox="1"/>
          <p:nvPr/>
        </p:nvSpPr>
        <p:spPr>
          <a:xfrm>
            <a:off x="2693823" y="3587937"/>
            <a:ext cx="313284" cy="45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2022f64c7c2_1_4735"/>
          <p:cNvSpPr/>
          <p:nvPr/>
        </p:nvSpPr>
        <p:spPr>
          <a:xfrm>
            <a:off x="3420998" y="3772924"/>
            <a:ext cx="384479" cy="453751"/>
          </a:xfrm>
          <a:custGeom>
            <a:avLst/>
            <a:gdLst/>
            <a:ahLst/>
            <a:cxnLst/>
            <a:rect l="l" t="t" r="r" b="b"/>
            <a:pathLst>
              <a:path w="17793" h="19653" extrusionOk="0">
                <a:moveTo>
                  <a:pt x="3742" y="3731"/>
                </a:moveTo>
                <a:cubicBezTo>
                  <a:pt x="5496" y="3185"/>
                  <a:pt x="12005" y="-1375"/>
                  <a:pt x="14266" y="457"/>
                </a:cubicBezTo>
                <a:cubicBezTo>
                  <a:pt x="16527" y="2289"/>
                  <a:pt x="18787" y="11526"/>
                  <a:pt x="17306" y="14722"/>
                </a:cubicBezTo>
                <a:cubicBezTo>
                  <a:pt x="15825" y="17918"/>
                  <a:pt x="8263" y="19711"/>
                  <a:pt x="5379" y="19633"/>
                </a:cubicBezTo>
                <a:cubicBezTo>
                  <a:pt x="2495" y="19555"/>
                  <a:pt x="897" y="15151"/>
                  <a:pt x="0" y="1425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663" tIns="103663" rIns="103663" bIns="10366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2022f64c7c2_1_4735"/>
          <p:cNvSpPr txBox="1"/>
          <p:nvPr/>
        </p:nvSpPr>
        <p:spPr>
          <a:xfrm>
            <a:off x="3745847" y="3927810"/>
            <a:ext cx="1624246" cy="1186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5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 entry multiple times from a single memory read</a:t>
            </a:r>
            <a:endParaRPr sz="15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9" name="Google Shape;859;g2022f64c7c2_1_4735"/>
          <p:cNvGrpSpPr/>
          <p:nvPr/>
        </p:nvGrpSpPr>
        <p:grpSpPr>
          <a:xfrm>
            <a:off x="8182943" y="3312528"/>
            <a:ext cx="276020" cy="1892839"/>
            <a:chOff x="7503086" y="2778178"/>
            <a:chExt cx="243435" cy="1669384"/>
          </a:xfrm>
        </p:grpSpPr>
        <p:grpSp>
          <p:nvGrpSpPr>
            <p:cNvPr id="860" name="Google Shape;860;g2022f64c7c2_1_4735"/>
            <p:cNvGrpSpPr/>
            <p:nvPr/>
          </p:nvGrpSpPr>
          <p:grpSpPr>
            <a:xfrm>
              <a:off x="7503086" y="2778178"/>
              <a:ext cx="243435" cy="400151"/>
              <a:chOff x="6070857" y="2446425"/>
              <a:chExt cx="243435" cy="400151"/>
            </a:xfrm>
          </p:grpSpPr>
          <p:sp>
            <p:nvSpPr>
              <p:cNvPr id="861" name="Google Shape;861;g2022f64c7c2_1_4735"/>
              <p:cNvSpPr/>
              <p:nvPr/>
            </p:nvSpPr>
            <p:spPr>
              <a:xfrm>
                <a:off x="6107592" y="2526386"/>
                <a:ext cx="206700" cy="240300"/>
              </a:xfrm>
              <a:prstGeom prst="roundRect">
                <a:avLst>
                  <a:gd name="adj" fmla="val 0"/>
                </a:avLst>
              </a:prstGeom>
              <a:solidFill>
                <a:schemeClr val="accent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g2022f64c7c2_1_4735"/>
              <p:cNvSpPr txBox="1"/>
              <p:nvPr/>
            </p:nvSpPr>
            <p:spPr>
              <a:xfrm>
                <a:off x="6070857" y="2446425"/>
                <a:ext cx="2319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F3F3F3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588">
                  <a:solidFill>
                    <a:srgbClr val="F3F3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3" name="Google Shape;863;g2022f64c7c2_1_4735"/>
            <p:cNvGrpSpPr/>
            <p:nvPr/>
          </p:nvGrpSpPr>
          <p:grpSpPr>
            <a:xfrm>
              <a:off x="7503086" y="3404147"/>
              <a:ext cx="243435" cy="400151"/>
              <a:chOff x="6070857" y="2446425"/>
              <a:chExt cx="243435" cy="400151"/>
            </a:xfrm>
          </p:grpSpPr>
          <p:sp>
            <p:nvSpPr>
              <p:cNvPr id="864" name="Google Shape;864;g2022f64c7c2_1_4735"/>
              <p:cNvSpPr/>
              <p:nvPr/>
            </p:nvSpPr>
            <p:spPr>
              <a:xfrm>
                <a:off x="6107592" y="2526386"/>
                <a:ext cx="206700" cy="240300"/>
              </a:xfrm>
              <a:prstGeom prst="roundRect">
                <a:avLst>
                  <a:gd name="adj" fmla="val 0"/>
                </a:avLst>
              </a:prstGeom>
              <a:solidFill>
                <a:schemeClr val="accent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g2022f64c7c2_1_4735"/>
              <p:cNvSpPr txBox="1"/>
              <p:nvPr/>
            </p:nvSpPr>
            <p:spPr>
              <a:xfrm>
                <a:off x="6070857" y="2446425"/>
                <a:ext cx="2319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F3F3F3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588">
                  <a:solidFill>
                    <a:srgbClr val="F3F3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6" name="Google Shape;866;g2022f64c7c2_1_4735"/>
            <p:cNvGrpSpPr/>
            <p:nvPr/>
          </p:nvGrpSpPr>
          <p:grpSpPr>
            <a:xfrm>
              <a:off x="7503086" y="4047411"/>
              <a:ext cx="243435" cy="400151"/>
              <a:chOff x="6070857" y="2446425"/>
              <a:chExt cx="243435" cy="400151"/>
            </a:xfrm>
          </p:grpSpPr>
          <p:sp>
            <p:nvSpPr>
              <p:cNvPr id="867" name="Google Shape;867;g2022f64c7c2_1_4735"/>
              <p:cNvSpPr/>
              <p:nvPr/>
            </p:nvSpPr>
            <p:spPr>
              <a:xfrm>
                <a:off x="6107592" y="2526386"/>
                <a:ext cx="206700" cy="240300"/>
              </a:xfrm>
              <a:prstGeom prst="roundRect">
                <a:avLst>
                  <a:gd name="adj" fmla="val 0"/>
                </a:avLst>
              </a:prstGeom>
              <a:solidFill>
                <a:schemeClr val="accent5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3663" tIns="103663" rIns="103663" bIns="103663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58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g2022f64c7c2_1_4735"/>
              <p:cNvSpPr txBox="1"/>
              <p:nvPr/>
            </p:nvSpPr>
            <p:spPr>
              <a:xfrm>
                <a:off x="6070857" y="2446425"/>
                <a:ext cx="231900" cy="400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3663" tIns="103663" rIns="103663" bIns="10366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r>
                  <a:rPr lang="en" sz="1588">
                    <a:solidFill>
                      <a:srgbClr val="F3F3F3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588">
                  <a:solidFill>
                    <a:srgbClr val="F3F3F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69" name="Google Shape;869;g2022f64c7c2_1_4735"/>
          <p:cNvGrpSpPr/>
          <p:nvPr/>
        </p:nvGrpSpPr>
        <p:grpSpPr>
          <a:xfrm>
            <a:off x="8445888" y="3539387"/>
            <a:ext cx="1791128" cy="1645960"/>
            <a:chOff x="7448827" y="3121325"/>
            <a:chExt cx="1579682" cy="1451650"/>
          </a:xfrm>
        </p:grpSpPr>
        <p:sp>
          <p:nvSpPr>
            <p:cNvPr id="870" name="Google Shape;870;g2022f64c7c2_1_4735"/>
            <p:cNvSpPr txBox="1"/>
            <p:nvPr/>
          </p:nvSpPr>
          <p:spPr>
            <a:xfrm>
              <a:off x="7690809" y="3526281"/>
              <a:ext cx="1337700" cy="1046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3663" tIns="103663" rIns="103663" bIns="103663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" sz="1588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Reuse entry multiple times from a single memory read</a:t>
              </a:r>
              <a:endParaRPr sz="15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1" name="Google Shape;871;g2022f64c7c2_1_4735"/>
            <p:cNvCxnSpPr>
              <a:stCxn id="862" idx="3"/>
            </p:cNvCxnSpPr>
            <p:nvPr/>
          </p:nvCxnSpPr>
          <p:spPr>
            <a:xfrm>
              <a:off x="7448827" y="3121325"/>
              <a:ext cx="334499" cy="71672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2" name="Google Shape;872;g2022f64c7c2_1_4735"/>
            <p:cNvCxnSpPr>
              <a:stCxn id="865" idx="3"/>
            </p:cNvCxnSpPr>
            <p:nvPr/>
          </p:nvCxnSpPr>
          <p:spPr>
            <a:xfrm>
              <a:off x="7448827" y="3747294"/>
              <a:ext cx="258299" cy="18422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3" name="Google Shape;873;g2022f64c7c2_1_4735"/>
            <p:cNvCxnSpPr>
              <a:stCxn id="868" idx="3"/>
            </p:cNvCxnSpPr>
            <p:nvPr/>
          </p:nvCxnSpPr>
          <p:spPr>
            <a:xfrm flipV="1">
              <a:off x="7448827" y="4142180"/>
              <a:ext cx="234900" cy="24837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C584DC4-B06B-F87C-03C9-AED9045C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14C8817-A7BB-21D8-9B0E-D5821B66662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8</a:t>
            </a:fld>
            <a:endParaRPr kern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CBE51-2B5F-3DB4-9D72-E0FC154ED011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FDBF7BC9-4592-EF71-F85B-7E7C19EC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11DDEF-2362-5363-CB66-7CC1F088B5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Loop Optimization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990A48-6082-DC13-3708-682015E24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Reordering</a:t>
            </a:r>
          </a:p>
          <a:p>
            <a:r>
              <a:rPr lang="en-US" altLang="ko-KR" dirty="0"/>
              <a:t>Tiling</a:t>
            </a:r>
          </a:p>
          <a:p>
            <a:r>
              <a:rPr lang="en-US" altLang="ko-KR" dirty="0"/>
              <a:t>Unrolling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158134-184A-7FA9-69E1-B3B51F28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0E903C3-20D7-1E69-ED6D-90A64AC35EA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9</a:t>
            </a:fld>
            <a:endParaRPr kern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3007B2-5859-4D7D-99AD-09BF59023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821" y="1000121"/>
            <a:ext cx="6668906" cy="4296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EFF0CA-EEAB-15D5-F154-47890C591855}"/>
              </a:ext>
            </a:extLst>
          </p:cNvPr>
          <p:cNvSpPr txBox="1"/>
          <p:nvPr/>
        </p:nvSpPr>
        <p:spPr>
          <a:xfrm>
            <a:off x="5093675" y="5306684"/>
            <a:ext cx="5966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900" i="0" dirty="0">
                <a:solidFill>
                  <a:schemeClr val="bg1">
                    <a:lumMod val="50000"/>
                  </a:schemeClr>
                </a:solidFill>
                <a:effectLst/>
              </a:rPr>
              <a:t>Y. Ma et al., Optimizing the Convolution Operation to Accelerate Deep Neural Networks on FPGA</a:t>
            </a:r>
          </a:p>
        </p:txBody>
      </p:sp>
    </p:spTree>
    <p:extLst>
      <p:ext uri="{BB962C8B-B14F-4D97-AF65-F5344CB8AC3E}">
        <p14:creationId xmlns:p14="http://schemas.microsoft.com/office/powerpoint/2010/main" val="22010514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260390" y="1221174"/>
            <a:ext cx="3893088" cy="1161804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92E28C-D9CF-9E50-A3C6-2754BF8745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Example: 1D Convolution</a:t>
            </a:r>
            <a:endParaRPr lang="ko-KR" altLang="en-US" dirty="0"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l="2791" r="30263" b="89968"/>
          <a:stretch/>
        </p:blipFill>
        <p:spPr>
          <a:xfrm>
            <a:off x="338711" y="1383693"/>
            <a:ext cx="3693077" cy="48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960559" y="1905949"/>
            <a:ext cx="2108033" cy="36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361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 = F.conv1d(x)</a:t>
            </a:r>
            <a:endParaRPr sz="1361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r="65874" b="37268"/>
          <a:stretch/>
        </p:blipFill>
        <p:spPr>
          <a:xfrm>
            <a:off x="4354531" y="2618898"/>
            <a:ext cx="2931552" cy="2233806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6" name="Google Shape;136;p8"/>
          <p:cNvSpPr/>
          <p:nvPr/>
        </p:nvSpPr>
        <p:spPr>
          <a:xfrm rot="-10340973" flipH="1">
            <a:off x="3161671" y="2568259"/>
            <a:ext cx="1038643" cy="983549"/>
          </a:xfrm>
          <a:prstGeom prst="bentArrow">
            <a:avLst>
              <a:gd name="adj1" fmla="val 15626"/>
              <a:gd name="adj2" fmla="val 20313"/>
              <a:gd name="adj3" fmla="val 33586"/>
              <a:gd name="adj4" fmla="val 50004"/>
            </a:avLst>
          </a:prstGeom>
          <a:solidFill>
            <a:srgbClr val="0AA7B8">
              <a:alpha val="72549"/>
            </a:srgbClr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2444830" y="3255926"/>
            <a:ext cx="1278392" cy="34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91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Library Call</a:t>
            </a:r>
            <a:endParaRPr sz="1191"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8"/>
          <p:cNvGrpSpPr/>
          <p:nvPr/>
        </p:nvGrpSpPr>
        <p:grpSpPr>
          <a:xfrm>
            <a:off x="8620237" y="-41142"/>
            <a:ext cx="1760119" cy="5347280"/>
            <a:chOff x="10136798" y="-48672"/>
            <a:chExt cx="2069777" cy="6288028"/>
          </a:xfrm>
        </p:grpSpPr>
        <p:cxnSp>
          <p:nvCxnSpPr>
            <p:cNvPr id="139" name="Google Shape;139;p8"/>
            <p:cNvCxnSpPr/>
            <p:nvPr/>
          </p:nvCxnSpPr>
          <p:spPr>
            <a:xfrm>
              <a:off x="11619600" y="126675"/>
              <a:ext cx="0" cy="6079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0" name="Google Shape;140;p8"/>
            <p:cNvSpPr txBox="1"/>
            <p:nvPr/>
          </p:nvSpPr>
          <p:spPr>
            <a:xfrm>
              <a:off x="11633875" y="5839225"/>
              <a:ext cx="572700" cy="400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19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8"/>
            <p:cNvGrpSpPr/>
            <p:nvPr/>
          </p:nvGrpSpPr>
          <p:grpSpPr>
            <a:xfrm>
              <a:off x="10136798" y="-48672"/>
              <a:ext cx="1366284" cy="1080522"/>
              <a:chOff x="10136798" y="-48672"/>
              <a:chExt cx="1366284" cy="1080522"/>
            </a:xfrm>
          </p:grpSpPr>
          <p:sp>
            <p:nvSpPr>
              <p:cNvPr id="142" name="Google Shape;142;p8"/>
              <p:cNvSpPr/>
              <p:nvPr/>
            </p:nvSpPr>
            <p:spPr>
              <a:xfrm>
                <a:off x="10159038" y="697038"/>
                <a:ext cx="334800" cy="334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7747" tIns="77747" rIns="77747" bIns="77747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-US" sz="1191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11013800" y="697050"/>
                <a:ext cx="334800" cy="334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7747" tIns="77747" rIns="77747" bIns="77747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-US" sz="1191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10586425" y="697050"/>
                <a:ext cx="334800" cy="334800"/>
              </a:xfrm>
              <a:prstGeom prst="rect">
                <a:avLst/>
              </a:prstGeom>
              <a:solidFill>
                <a:srgbClr val="7E98C5">
                  <a:alpha val="69019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7747" tIns="77747" rIns="77747" bIns="77747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400"/>
                </a:pPr>
                <a:r>
                  <a:rPr lang="en-US" sz="1191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8"/>
              <p:cNvSpPr txBox="1"/>
              <p:nvPr/>
            </p:nvSpPr>
            <p:spPr>
              <a:xfrm rot="18000895">
                <a:off x="10009005" y="177691"/>
                <a:ext cx="671097" cy="415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747" tIns="77747" rIns="77747" bIns="7774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500"/>
                </a:pPr>
                <a:r>
                  <a:rPr lang="en-US" sz="1276" b="1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rPr>
                  <a:t>filter</a:t>
                </a:r>
                <a:endParaRPr sz="1276" b="1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8"/>
              <p:cNvSpPr txBox="1"/>
              <p:nvPr/>
            </p:nvSpPr>
            <p:spPr>
              <a:xfrm rot="18000895">
                <a:off x="10506005" y="177691"/>
                <a:ext cx="671097" cy="415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747" tIns="77747" rIns="77747" bIns="7774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500"/>
                </a:pPr>
                <a:r>
                  <a:rPr lang="en-US" sz="1276" b="1">
                    <a:solidFill>
                      <a:srgbClr val="4A86E8"/>
                    </a:solidFill>
                    <a:latin typeface="Arial"/>
                    <a:ea typeface="Arial"/>
                    <a:cs typeface="Arial"/>
                    <a:sym typeface="Arial"/>
                  </a:rPr>
                  <a:t>input</a:t>
                </a:r>
                <a:endParaRPr sz="1276" b="1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8"/>
              <p:cNvSpPr txBox="1"/>
              <p:nvPr/>
            </p:nvSpPr>
            <p:spPr>
              <a:xfrm rot="18000668">
                <a:off x="10906956" y="131941"/>
                <a:ext cx="776739" cy="415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7747" tIns="77747" rIns="77747" bIns="7774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500"/>
                </a:pPr>
                <a:r>
                  <a:rPr lang="en-US" sz="1276" b="1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sz="1276" b="1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8" name="Google Shape;148;p8"/>
          <p:cNvGrpSpPr/>
          <p:nvPr/>
        </p:nvGrpSpPr>
        <p:grpSpPr>
          <a:xfrm>
            <a:off x="8639151" y="967535"/>
            <a:ext cx="1011592" cy="284721"/>
            <a:chOff x="10159038" y="1137463"/>
            <a:chExt cx="1189562" cy="334812"/>
          </a:xfrm>
        </p:grpSpPr>
        <p:sp>
          <p:nvSpPr>
            <p:cNvPr id="149" name="Google Shape;149;p8"/>
            <p:cNvSpPr/>
            <p:nvPr/>
          </p:nvSpPr>
          <p:spPr>
            <a:xfrm>
              <a:off x="11013800" y="113747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10586425" y="113747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10159038" y="1137463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8"/>
          <p:cNvGrpSpPr/>
          <p:nvPr/>
        </p:nvGrpSpPr>
        <p:grpSpPr>
          <a:xfrm>
            <a:off x="8639151" y="1337966"/>
            <a:ext cx="1011592" cy="290142"/>
            <a:chOff x="10159038" y="1573063"/>
            <a:chExt cx="1189562" cy="341187"/>
          </a:xfrm>
        </p:grpSpPr>
        <p:sp>
          <p:nvSpPr>
            <p:cNvPr id="153" name="Google Shape;153;p8"/>
            <p:cNvSpPr/>
            <p:nvPr/>
          </p:nvSpPr>
          <p:spPr>
            <a:xfrm>
              <a:off x="11013800" y="1579450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0586425" y="1579450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10159038" y="1573063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8"/>
          <p:cNvGrpSpPr/>
          <p:nvPr/>
        </p:nvGrpSpPr>
        <p:grpSpPr>
          <a:xfrm>
            <a:off x="8639151" y="1712499"/>
            <a:ext cx="1011592" cy="291460"/>
            <a:chOff x="10159038" y="2013488"/>
            <a:chExt cx="1189562" cy="342737"/>
          </a:xfrm>
        </p:grpSpPr>
        <p:sp>
          <p:nvSpPr>
            <p:cNvPr id="157" name="Google Shape;157;p8"/>
            <p:cNvSpPr/>
            <p:nvPr/>
          </p:nvSpPr>
          <p:spPr>
            <a:xfrm>
              <a:off x="11013800" y="202142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10586425" y="202142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10159038" y="2013488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8478683" y="2039123"/>
            <a:ext cx="1356458" cy="1510039"/>
            <a:chOff x="9970340" y="2397575"/>
            <a:chExt cx="1595100" cy="1775700"/>
          </a:xfrm>
        </p:grpSpPr>
        <p:sp>
          <p:nvSpPr>
            <p:cNvPr id="161" name="Google Shape;161;p8"/>
            <p:cNvSpPr/>
            <p:nvPr/>
          </p:nvSpPr>
          <p:spPr>
            <a:xfrm>
              <a:off x="9970340" y="2397575"/>
              <a:ext cx="1595100" cy="177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0161432" y="2449098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11016195" y="2449110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0588820" y="2449110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11016195" y="288953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11016195" y="3331510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11016195" y="377348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10588820" y="288953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10588820" y="3331510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10588820" y="377348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0161457" y="2899035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10159045" y="3337048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10159070" y="3786985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8643247" y="3593147"/>
            <a:ext cx="1011592" cy="1802647"/>
            <a:chOff x="10163855" y="4224998"/>
            <a:chExt cx="1189562" cy="2119787"/>
          </a:xfrm>
        </p:grpSpPr>
        <p:sp>
          <p:nvSpPr>
            <p:cNvPr id="175" name="Google Shape;175;p8"/>
            <p:cNvSpPr/>
            <p:nvPr/>
          </p:nvSpPr>
          <p:spPr>
            <a:xfrm>
              <a:off x="10163855" y="4224998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11018617" y="4225010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10591242" y="4225010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11018617" y="466543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11018617" y="5107410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11018617" y="5549385"/>
              <a:ext cx="334800" cy="33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10591242" y="466543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10591242" y="5107410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10591242" y="5549385"/>
              <a:ext cx="334800" cy="334800"/>
            </a:xfrm>
            <a:prstGeom prst="rect">
              <a:avLst/>
            </a:prstGeom>
            <a:solidFill>
              <a:srgbClr val="7E98C5">
                <a:alpha val="6901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10730328" y="5980385"/>
              <a:ext cx="81300" cy="813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10730328" y="6121935"/>
              <a:ext cx="81300" cy="813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10730328" y="6263485"/>
              <a:ext cx="81300" cy="813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0163880" y="4674923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10163855" y="5088973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10163880" y="5538898"/>
              <a:ext cx="334800" cy="334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EBC3BD2-4B27-16BC-1391-099FE30A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67E77CF-4351-30CD-27C8-F4E6E2E0636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10</a:t>
            </a:fld>
            <a:endParaRPr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88A57-B0E2-FF69-995A-663991CEE7C3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471B8-EADE-5CC6-80A6-7B8753FC0582}"/>
              </a:ext>
            </a:extLst>
          </p:cNvPr>
          <p:cNvSpPr/>
          <p:nvPr/>
        </p:nvSpPr>
        <p:spPr>
          <a:xfrm>
            <a:off x="4654081" y="4501244"/>
            <a:ext cx="2278993" cy="351459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spc="0" normalizeH="0" baseline="0">
              <a:ln>
                <a:noFill/>
              </a:ln>
              <a:solidFill>
                <a:srgbClr val="11437A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F29711-9876-8FDD-67E9-A5F6ACFC60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Example: 1D Convolution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28874"/>
          <a:stretch/>
        </p:blipFill>
        <p:spPr>
          <a:xfrm>
            <a:off x="3313472" y="1712602"/>
            <a:ext cx="5939703" cy="28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 txBox="1"/>
          <p:nvPr/>
        </p:nvSpPr>
        <p:spPr>
          <a:xfrm>
            <a:off x="6883718" y="983158"/>
            <a:ext cx="3558366" cy="52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 algn="just">
              <a:buClr>
                <a:srgbClr val="000000"/>
              </a:buClr>
              <a:buSzPts val="1400"/>
            </a:pPr>
            <a:r>
              <a:rPr lang="en-US" sz="1191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Where should we map the weights?</a:t>
            </a:r>
          </a:p>
          <a:p>
            <a:pPr algn="just">
              <a:buClr>
                <a:srgbClr val="000000"/>
              </a:buClr>
              <a:buSzPts val="1400"/>
            </a:pPr>
            <a:r>
              <a:rPr lang="en-US" sz="1191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on-chip RAM, registers, or DRAM</a:t>
            </a:r>
            <a:endParaRPr sz="1191" b="1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9"/>
          <p:cNvCxnSpPr>
            <a:cxnSpLocks/>
            <a:stCxn id="251" idx="2"/>
          </p:cNvCxnSpPr>
          <p:nvPr/>
        </p:nvCxnSpPr>
        <p:spPr>
          <a:xfrm>
            <a:off x="8662901" y="1506681"/>
            <a:ext cx="195014" cy="4927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53" name="Google Shape;253;p9"/>
          <p:cNvSpPr txBox="1"/>
          <p:nvPr/>
        </p:nvSpPr>
        <p:spPr>
          <a:xfrm>
            <a:off x="2436272" y="906888"/>
            <a:ext cx="2060828" cy="52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200" b="1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What effect will this have on a cache size of 4?</a:t>
            </a:r>
            <a:endParaRPr sz="1200" b="1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3401997" y="1407575"/>
            <a:ext cx="677081" cy="7000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56" name="Google Shape;256;p9"/>
          <p:cNvSpPr txBox="1"/>
          <p:nvPr/>
        </p:nvSpPr>
        <p:spPr>
          <a:xfrm>
            <a:off x="4041938" y="1181539"/>
            <a:ext cx="3554548" cy="495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Cache eviction and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refetching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multiple times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D76E47-94A9-23C7-ABE2-E9960F90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5EF734E-CA74-3A78-3BAF-88D4EBCEBBA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11</a:t>
            </a:fld>
            <a:endParaRPr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9DC7B-FAFC-DADF-10BC-F9C076BF2355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7" name="Google Shape;267;p10">
            <a:extLst>
              <a:ext uri="{FF2B5EF4-FFF2-40B4-BE49-F238E27FC236}">
                <a16:creationId xmlns:a16="http://schemas.microsoft.com/office/drawing/2014/main" id="{650FE365-ADF0-C908-CDDD-0D428C6E0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5874" b="38487"/>
          <a:stretch/>
        </p:blipFill>
        <p:spPr>
          <a:xfrm>
            <a:off x="320125" y="2336798"/>
            <a:ext cx="2739166" cy="1869360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3AFC7C0-274E-F9B6-997E-B4245D225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98171"/>
              </p:ext>
            </p:extLst>
          </p:nvPr>
        </p:nvGraphicFramePr>
        <p:xfrm>
          <a:off x="1436144" y="4616254"/>
          <a:ext cx="7495673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901">
                  <a:extLst>
                    <a:ext uri="{9D8B030D-6E8A-4147-A177-3AD203B41FA5}">
                      <a16:colId xmlns:a16="http://schemas.microsoft.com/office/drawing/2014/main" val="33683478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35894398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6100586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208552320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42865010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77642245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73848104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99565289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171448844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80426544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1070892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459006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156239248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28377441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06199213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12339216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737571545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102809674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20265686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513907917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206988155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795262264"/>
                    </a:ext>
                  </a:extLst>
                </a:gridCol>
              </a:tblGrid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Output (q)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511187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Input (w)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318051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Weight (s)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1154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3" grpId="0"/>
      <p:bldP spid="2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F7BC1E-E659-3D26-0616-1FE8273B1D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Mapping: Dataflow Selection</a:t>
            </a:r>
            <a:endParaRPr lang="ko-KR" altLang="en-US" dirty="0"/>
          </a:p>
        </p:txBody>
      </p:sp>
      <p:pic>
        <p:nvPicPr>
          <p:cNvPr id="265" name="Google Shape;265;p10"/>
          <p:cNvPicPr preferRelativeResize="0"/>
          <p:nvPr/>
        </p:nvPicPr>
        <p:blipFill rotWithShape="1">
          <a:blip r:embed="rId3">
            <a:alphaModFix/>
          </a:blip>
          <a:srcRect l="66947" b="37335"/>
          <a:stretch/>
        </p:blipFill>
        <p:spPr>
          <a:xfrm>
            <a:off x="6601369" y="3178476"/>
            <a:ext cx="2385091" cy="1874091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3">
            <a:alphaModFix/>
          </a:blip>
          <a:srcRect l="33805" r="33141" b="37335"/>
          <a:stretch/>
        </p:blipFill>
        <p:spPr>
          <a:xfrm>
            <a:off x="6601369" y="1075099"/>
            <a:ext cx="2385091" cy="1874091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3">
            <a:alphaModFix/>
          </a:blip>
          <a:srcRect r="65874" b="38487"/>
          <a:stretch/>
        </p:blipFill>
        <p:spPr>
          <a:xfrm>
            <a:off x="1553961" y="1972601"/>
            <a:ext cx="2931552" cy="2189926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8" name="Google Shape;268;p10"/>
          <p:cNvSpPr/>
          <p:nvPr/>
        </p:nvSpPr>
        <p:spPr>
          <a:xfrm rot="-1799360">
            <a:off x="5131805" y="1993034"/>
            <a:ext cx="823273" cy="3740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 rot="1800282">
            <a:off x="5131747" y="3618401"/>
            <a:ext cx="823401" cy="3740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639829" y="1138942"/>
            <a:ext cx="2308300" cy="14771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678160" y="3253565"/>
            <a:ext cx="2270033" cy="14771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8961F5-D646-1C9A-162A-C6A34F56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B8B3A4D-21FA-B023-E13A-739EAA16537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12</a:t>
            </a:fld>
            <a:endParaRPr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9B71B-718C-24F5-C135-29131D7F8282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2335A0-142B-DCFD-E7E0-586679EDC3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Mapping: Dataflow Selection</a:t>
            </a:r>
            <a:endParaRPr lang="ko-KR" altLang="en-US" dirty="0"/>
          </a:p>
        </p:txBody>
      </p:sp>
      <p:pic>
        <p:nvPicPr>
          <p:cNvPr id="279" name="Google Shape;279;p11"/>
          <p:cNvPicPr preferRelativeResize="0"/>
          <p:nvPr/>
        </p:nvPicPr>
        <p:blipFill rotWithShape="1">
          <a:blip r:embed="rId3">
            <a:alphaModFix/>
          </a:blip>
          <a:srcRect l="66947" b="37335"/>
          <a:stretch/>
        </p:blipFill>
        <p:spPr>
          <a:xfrm>
            <a:off x="6601369" y="3178476"/>
            <a:ext cx="2385091" cy="1874091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0" name="Google Shape;280;p11"/>
          <p:cNvPicPr preferRelativeResize="0"/>
          <p:nvPr/>
        </p:nvPicPr>
        <p:blipFill rotWithShape="1">
          <a:blip r:embed="rId3">
            <a:alphaModFix/>
          </a:blip>
          <a:srcRect l="33805" r="33141" b="37335"/>
          <a:stretch/>
        </p:blipFill>
        <p:spPr>
          <a:xfrm>
            <a:off x="6601369" y="1075099"/>
            <a:ext cx="2385091" cy="1874091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 r="65874" b="38487"/>
          <a:stretch/>
        </p:blipFill>
        <p:spPr>
          <a:xfrm>
            <a:off x="1553961" y="1972601"/>
            <a:ext cx="2931552" cy="2189926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2" name="Google Shape;282;p11"/>
          <p:cNvSpPr/>
          <p:nvPr/>
        </p:nvSpPr>
        <p:spPr>
          <a:xfrm rot="-1799360">
            <a:off x="5131805" y="1993034"/>
            <a:ext cx="823273" cy="3740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 rot="1800282">
            <a:off x="5131747" y="3618401"/>
            <a:ext cx="823401" cy="3740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4464359" y="2442242"/>
            <a:ext cx="2158164" cy="89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900"/>
            </a:pPr>
            <a:r>
              <a:rPr lang="en-US" sz="1600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Compiler can re-order loops without </a:t>
            </a:r>
            <a:br>
              <a:rPr lang="en-US" sz="1600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changing functionality</a:t>
            </a:r>
            <a:endParaRPr sz="16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4377832" y="4296421"/>
            <a:ext cx="2033794" cy="99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361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heuristics can model the approximate effect on runtime and </a:t>
            </a:r>
            <a:br>
              <a:rPr lang="en-US" sz="1361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61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access</a:t>
            </a:r>
            <a:endParaRPr sz="119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3F1C29-6B0F-900A-CDBE-86CE7D31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8EFA93D-FDBE-4430-51F6-1ED460599A8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13</a:t>
            </a:fld>
            <a:endParaRPr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A13CA-259A-CA62-F612-07DD442E542C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61FF04E-F26C-FD6C-C243-5243B54BA5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Dataflow Choice</a:t>
            </a: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Loop reordering)</a:t>
            </a:r>
            <a:endParaRPr lang="en-US" altLang="ko-KR" sz="2400" b="1" dirty="0">
              <a:solidFill>
                <a:schemeClr val="accent5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04EB7C-FF75-0D94-D594-60C418BC3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55E71F8-01D2-0A42-B4F5-2567137446B6}"/>
              </a:ext>
            </a:extLst>
          </p:cNvPr>
          <p:cNvGrpSpPr/>
          <p:nvPr/>
        </p:nvGrpSpPr>
        <p:grpSpPr>
          <a:xfrm>
            <a:off x="2371302" y="1550020"/>
            <a:ext cx="5356895" cy="3442375"/>
            <a:chOff x="1382443" y="248"/>
            <a:chExt cx="8452374" cy="5431549"/>
          </a:xfrm>
        </p:grpSpPr>
        <p:pic>
          <p:nvPicPr>
            <p:cNvPr id="292" name="Google Shape;292;p12"/>
            <p:cNvPicPr preferRelativeResize="0"/>
            <p:nvPr/>
          </p:nvPicPr>
          <p:blipFill rotWithShape="1">
            <a:blip r:embed="rId3">
              <a:alphaModFix/>
            </a:blip>
            <a:srcRect b="28874"/>
            <a:stretch/>
          </p:blipFill>
          <p:spPr>
            <a:xfrm>
              <a:off x="4329409" y="248"/>
              <a:ext cx="5505408" cy="2661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2"/>
            <p:cNvPicPr preferRelativeResize="0"/>
            <p:nvPr/>
          </p:nvPicPr>
          <p:blipFill rotWithShape="1">
            <a:blip r:embed="rId4">
              <a:alphaModFix/>
            </a:blip>
            <a:srcRect r="65874" b="38487"/>
            <a:stretch/>
          </p:blipFill>
          <p:spPr>
            <a:xfrm>
              <a:off x="1382443" y="434882"/>
              <a:ext cx="2600665" cy="1942717"/>
            </a:xfrm>
            <a:prstGeom prst="roundRect">
              <a:avLst>
                <a:gd name="adj" fmla="val 7422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94" name="Google Shape;294;p12"/>
            <p:cNvPicPr preferRelativeResize="0"/>
            <p:nvPr/>
          </p:nvPicPr>
          <p:blipFill rotWithShape="1">
            <a:blip r:embed="rId4">
              <a:alphaModFix/>
            </a:blip>
            <a:srcRect l="33805" r="33141" b="37335"/>
            <a:stretch/>
          </p:blipFill>
          <p:spPr>
            <a:xfrm>
              <a:off x="1382443" y="3044752"/>
              <a:ext cx="2600665" cy="2043489"/>
            </a:xfrm>
            <a:prstGeom prst="roundRect">
              <a:avLst>
                <a:gd name="adj" fmla="val 7422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95" name="Google Shape;295;p12"/>
            <p:cNvPicPr preferRelativeResize="0"/>
            <p:nvPr/>
          </p:nvPicPr>
          <p:blipFill rotWithShape="1">
            <a:blip r:embed="rId5">
              <a:alphaModFix/>
            </a:blip>
            <a:srcRect l="5096" r="4058" b="58047"/>
            <a:stretch/>
          </p:blipFill>
          <p:spPr>
            <a:xfrm>
              <a:off x="4329409" y="2734233"/>
              <a:ext cx="5505408" cy="2697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2"/>
            <p:cNvSpPr/>
            <p:nvPr/>
          </p:nvSpPr>
          <p:spPr>
            <a:xfrm>
              <a:off x="2424980" y="2562326"/>
              <a:ext cx="515592" cy="374257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2993555" y="2571598"/>
              <a:ext cx="1966827" cy="514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1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Loop reordering</a:t>
              </a:r>
              <a:endParaRPr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037561D-CE51-0EC0-43FB-524C4CDD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C27BF32-1521-2F31-EC65-D9DA3FD896C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14</a:t>
            </a:fld>
            <a:endParaRPr kern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BB7C781-339D-3EE3-E4F5-84C2DB781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67413"/>
              </p:ext>
            </p:extLst>
          </p:nvPr>
        </p:nvGraphicFramePr>
        <p:xfrm>
          <a:off x="1708256" y="5030157"/>
          <a:ext cx="676123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5197">
                  <a:extLst>
                    <a:ext uri="{9D8B030D-6E8A-4147-A177-3AD203B41FA5}">
                      <a16:colId xmlns:a16="http://schemas.microsoft.com/office/drawing/2014/main" val="33683478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35894398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6100586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08552320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428650101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77642245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738481041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99565289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171448844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80426544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371070892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37459006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156239248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8377441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06199213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12339216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737571545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102809674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0265686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513907917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206988155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795262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Output (q)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17151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Input (w)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4931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Weight (s)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2111545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DB1F12F-9057-5420-324B-BD8171F82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27783"/>
              </p:ext>
            </p:extLst>
          </p:nvPr>
        </p:nvGraphicFramePr>
        <p:xfrm>
          <a:off x="1635916" y="950386"/>
          <a:ext cx="6761238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5197">
                  <a:extLst>
                    <a:ext uri="{9D8B030D-6E8A-4147-A177-3AD203B41FA5}">
                      <a16:colId xmlns:a16="http://schemas.microsoft.com/office/drawing/2014/main" val="33683478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35894398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6100586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08552320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428650101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77642245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738481041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99565289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171448844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80426544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371070892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37459006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156239248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8377441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061992134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312339216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737571545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102809674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4202656869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513907917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2206988155"/>
                    </a:ext>
                  </a:extLst>
                </a:gridCol>
                <a:gridCol w="283621">
                  <a:extLst>
                    <a:ext uri="{9D8B030D-6E8A-4147-A177-3AD203B41FA5}">
                      <a16:colId xmlns:a16="http://schemas.microsoft.com/office/drawing/2014/main" val="795262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Output (q)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extLst>
                  <a:ext uri="{0D108BD9-81ED-4DB2-BD59-A6C34878D82A}">
                    <a16:rowId xmlns:a16="http://schemas.microsoft.com/office/drawing/2014/main" val="117151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Input (w)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extLst>
                  <a:ext uri="{0D108BD9-81ED-4DB2-BD59-A6C34878D82A}">
                    <a16:rowId xmlns:a16="http://schemas.microsoft.com/office/drawing/2014/main" val="64931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Weight (s)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B="0" anchor="ctr"/>
                </a:tc>
                <a:extLst>
                  <a:ext uri="{0D108BD9-81ED-4DB2-BD59-A6C34878D82A}">
                    <a16:rowId xmlns:a16="http://schemas.microsoft.com/office/drawing/2014/main" val="13211154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59C5FF61-97DF-254E-30DA-2868F798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9555F37-5E95-1A75-DE1B-7CAE4B1BBD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Dataflow Choice</a:t>
            </a: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Loop reordering)</a:t>
            </a:r>
            <a:endParaRPr lang="en-US" altLang="ko-KR" sz="2400" b="1" dirty="0">
              <a:solidFill>
                <a:schemeClr val="accent5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D09EB17-A961-F53E-004E-F0E6510E6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Example: 2D Convolution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E7D658-11DE-991F-80BB-28E05B7F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A3036AB-7F48-8D20-0702-8A645E07CF2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15</a:t>
            </a:fld>
            <a:endParaRPr kern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734FF4-1C2E-D8DF-A748-AEE59F274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51" y="1731748"/>
            <a:ext cx="10005790" cy="31542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FB597C-0617-E767-F3B0-9D12351267A6}"/>
              </a:ext>
            </a:extLst>
          </p:cNvPr>
          <p:cNvSpPr txBox="1"/>
          <p:nvPr/>
        </p:nvSpPr>
        <p:spPr>
          <a:xfrm>
            <a:off x="7072460" y="5219032"/>
            <a:ext cx="5189456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MCUNet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: Tiny Deep Learning on IoT Devices [Lin et al.,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2020]</a:t>
            </a:r>
          </a:p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On-Device Training Under 256KB Memory [Lin et al.,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2022]</a:t>
            </a:r>
          </a:p>
        </p:txBody>
      </p:sp>
    </p:spTree>
    <p:extLst>
      <p:ext uri="{BB962C8B-B14F-4D97-AF65-F5344CB8AC3E}">
        <p14:creationId xmlns:p14="http://schemas.microsoft.com/office/powerpoint/2010/main" val="399818676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DA818A-16ED-B473-01AB-02C4A5BEF6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Loop Tiling</a:t>
            </a:r>
            <a:endParaRPr lang="ko-KR" altLang="en-US" dirty="0"/>
          </a:p>
        </p:txBody>
      </p:sp>
      <p:sp>
        <p:nvSpPr>
          <p:cNvPr id="320" name="Google Shape;32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pPr marL="388803" indent="-324002">
              <a:buSzPts val="2400"/>
              <a:buChar char="●"/>
            </a:pPr>
            <a:r>
              <a:rPr lang="en-US" dirty="0"/>
              <a:t>Choose a tile size on which to operate</a:t>
            </a:r>
            <a:endParaRPr dirty="0"/>
          </a:p>
          <a:p>
            <a:pPr marL="777606" lvl="1" indent="-302402">
              <a:buSzPts val="2000"/>
              <a:buChar char="○"/>
            </a:pPr>
            <a:r>
              <a:rPr lang="en-US" sz="1701" dirty="0"/>
              <a:t>Practically: Break a loop into 2 loop</a:t>
            </a:r>
            <a:endParaRPr sz="1701" dirty="0"/>
          </a:p>
          <a:p>
            <a:pPr marL="777606" lvl="1" indent="-302402">
              <a:buSzPts val="2000"/>
              <a:buChar char="○"/>
            </a:pPr>
            <a:r>
              <a:rPr lang="en-US" sz="1701" dirty="0"/>
              <a:t>Can break into multiple loops, each can be mapped hierarchically onto a memory system</a:t>
            </a:r>
            <a:endParaRPr sz="1701" dirty="0"/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3">
            <a:alphaModFix/>
          </a:blip>
          <a:srcRect r="65874" b="46524"/>
          <a:stretch/>
        </p:blipFill>
        <p:spPr>
          <a:xfrm>
            <a:off x="1186891" y="2076980"/>
            <a:ext cx="3141768" cy="2040172"/>
          </a:xfrm>
          <a:prstGeom prst="roundRect">
            <a:avLst>
              <a:gd name="adj" fmla="val 74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3" name="Google Shape;32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7036" y="2030613"/>
            <a:ext cx="2884610" cy="2086603"/>
          </a:xfrm>
          <a:prstGeom prst="roundRect">
            <a:avLst>
              <a:gd name="adj" fmla="val 1125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4" name="Google Shape;324;p14"/>
          <p:cNvSpPr/>
          <p:nvPr/>
        </p:nvSpPr>
        <p:spPr>
          <a:xfrm>
            <a:off x="4613752" y="2889273"/>
            <a:ext cx="900309" cy="47375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Tiling</a:t>
            </a:r>
            <a:endParaRPr sz="1191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8922342" y="3211083"/>
            <a:ext cx="1123281" cy="34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Size of a tile</a:t>
            </a:r>
            <a:endParaRPr sz="1191" b="1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14"/>
          <p:cNvCxnSpPr>
            <a:stCxn id="325" idx="1"/>
          </p:cNvCxnSpPr>
          <p:nvPr/>
        </p:nvCxnSpPr>
        <p:spPr>
          <a:xfrm flipH="1" flipV="1">
            <a:off x="7983765" y="3347825"/>
            <a:ext cx="938577" cy="33392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7" name="Google Shape;327;p14"/>
          <p:cNvSpPr txBox="1"/>
          <p:nvPr/>
        </p:nvSpPr>
        <p:spPr>
          <a:xfrm>
            <a:off x="8730834" y="2794413"/>
            <a:ext cx="1380694" cy="34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Number of tiles</a:t>
            </a:r>
            <a:endParaRPr sz="1191" b="1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14"/>
          <p:cNvCxnSpPr>
            <a:stCxn id="327" idx="1"/>
          </p:cNvCxnSpPr>
          <p:nvPr/>
        </p:nvCxnSpPr>
        <p:spPr>
          <a:xfrm flipH="1" flipV="1">
            <a:off x="7575918" y="2955391"/>
            <a:ext cx="1154916" cy="9156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9" name="Google Shape;329;p14"/>
          <p:cNvGrpSpPr/>
          <p:nvPr/>
        </p:nvGrpSpPr>
        <p:grpSpPr>
          <a:xfrm>
            <a:off x="6724485" y="246470"/>
            <a:ext cx="3001284" cy="1602205"/>
            <a:chOff x="7907525" y="0"/>
            <a:chExt cx="3529300" cy="1884081"/>
          </a:xfrm>
        </p:grpSpPr>
        <p:sp>
          <p:nvSpPr>
            <p:cNvPr id="330" name="Google Shape;330;p14"/>
            <p:cNvSpPr/>
            <p:nvPr/>
          </p:nvSpPr>
          <p:spPr>
            <a:xfrm>
              <a:off x="7907525" y="479550"/>
              <a:ext cx="1004400" cy="1004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9616225" y="479550"/>
              <a:ext cx="488700" cy="48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10809225" y="479550"/>
              <a:ext cx="250800" cy="250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7747" tIns="77747" rIns="77747" bIns="77747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 txBox="1"/>
            <p:nvPr/>
          </p:nvSpPr>
          <p:spPr>
            <a:xfrm>
              <a:off x="7907525" y="1483950"/>
              <a:ext cx="1004399" cy="400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DRAM</a:t>
              </a: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 txBox="1"/>
            <p:nvPr/>
          </p:nvSpPr>
          <p:spPr>
            <a:xfrm>
              <a:off x="9387200" y="1012075"/>
              <a:ext cx="1004399" cy="400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SRAM</a:t>
              </a: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10432426" y="730350"/>
              <a:ext cx="1004399" cy="400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registers</a:t>
              </a: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4"/>
            <p:cNvSpPr txBox="1"/>
            <p:nvPr/>
          </p:nvSpPr>
          <p:spPr>
            <a:xfrm>
              <a:off x="7907525" y="0"/>
              <a:ext cx="3392100" cy="400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747" tIns="77747" rIns="77747" bIns="77747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9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Example: hierarchical tiling</a:t>
              </a:r>
              <a:endParaRPr sz="1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9AEA88A-A1CC-7EFF-900A-A4BF7583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56B93F0-AE85-48CA-40A4-91386508E3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16</a:t>
            </a:fld>
            <a:endParaRPr kern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74F15-0C14-CEAD-0E36-3652D787E54F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49C81EC-4262-6690-8AFA-6416CCDE4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5681"/>
              </p:ext>
            </p:extLst>
          </p:nvPr>
        </p:nvGraphicFramePr>
        <p:xfrm>
          <a:off x="405459" y="4667608"/>
          <a:ext cx="4623485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901">
                  <a:extLst>
                    <a:ext uri="{9D8B030D-6E8A-4147-A177-3AD203B41FA5}">
                      <a16:colId xmlns:a16="http://schemas.microsoft.com/office/drawing/2014/main" val="33683478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35894398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6100586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208552320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42865010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77642245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73848104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99565289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171448844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80426544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1070892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459006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795262264"/>
                    </a:ext>
                  </a:extLst>
                </a:gridCol>
              </a:tblGrid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Output (q)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511187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Input (w)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318051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Weight (s)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11545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71F885-4B88-0FAA-33A9-02D9A9525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88447"/>
              </p:ext>
            </p:extLst>
          </p:nvPr>
        </p:nvGraphicFramePr>
        <p:xfrm>
          <a:off x="5247138" y="4205035"/>
          <a:ext cx="4623485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901">
                  <a:extLst>
                    <a:ext uri="{9D8B030D-6E8A-4147-A177-3AD203B41FA5}">
                      <a16:colId xmlns:a16="http://schemas.microsoft.com/office/drawing/2014/main" val="33683478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35894398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6100586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4208552320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42865010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77642245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738481041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99565289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171448844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2804265444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1070892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3374590069"/>
                    </a:ext>
                  </a:extLst>
                </a:gridCol>
                <a:gridCol w="319132">
                  <a:extLst>
                    <a:ext uri="{9D8B030D-6E8A-4147-A177-3AD203B41FA5}">
                      <a16:colId xmlns:a16="http://schemas.microsoft.com/office/drawing/2014/main" val="795262264"/>
                    </a:ext>
                  </a:extLst>
                </a:gridCol>
              </a:tblGrid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q1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2969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16628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q0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2969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869359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Output (q)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2969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511187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Input (w)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318051"/>
                  </a:ext>
                </a:extLst>
              </a:tr>
              <a:tr h="153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Weight (s)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1154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57924768-4245-58B8-D7E5-564415E8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958279-675A-F593-2183-D3A1D40EE1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Loop Tiling</a:t>
            </a:r>
            <a:endParaRPr lang="ko-KR" altLang="en-US" dirty="0"/>
          </a:p>
        </p:txBody>
      </p:sp>
      <p:sp>
        <p:nvSpPr>
          <p:cNvPr id="320" name="Google Shape;320;p14">
            <a:extLst>
              <a:ext uri="{FF2B5EF4-FFF2-40B4-BE49-F238E27FC236}">
                <a16:creationId xmlns:a16="http://schemas.microsoft.com/office/drawing/2014/main" id="{C9FF985B-BAF4-07C4-7098-6CED26C8C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pPr marL="388803" indent="-324002">
              <a:buSzPts val="2400"/>
            </a:pPr>
            <a:r>
              <a:rPr lang="en-US" altLang="ko-KR" sz="1800" dirty="0"/>
              <a:t>Example: 2D Convolution</a:t>
            </a:r>
            <a:endParaRPr lang="ko-KR" altLang="en-US" sz="1800" dirty="0"/>
          </a:p>
          <a:p>
            <a:pPr marL="388803" indent="-324002">
              <a:buSzPts val="2400"/>
              <a:buChar char="●"/>
            </a:pPr>
            <a:endParaRPr sz="170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1BBC9F-F6D6-8DD1-814D-9F95A002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2251181-7128-0BD3-DB6A-86384BDB951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17</a:t>
            </a:fld>
            <a:endParaRPr kern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254B8-0048-8DA5-3CFA-19B2D8D47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55" y="1817309"/>
            <a:ext cx="7687795" cy="30785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74E69F-A421-8457-050F-F3DF5F09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563" y="892799"/>
            <a:ext cx="3339755" cy="1957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5966D9-E1B7-5CBC-4CAD-118E2A6F5191}"/>
              </a:ext>
            </a:extLst>
          </p:cNvPr>
          <p:cNvSpPr txBox="1"/>
          <p:nvPr/>
        </p:nvSpPr>
        <p:spPr>
          <a:xfrm>
            <a:off x="5202269" y="5353561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4216790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B19860B7-36E7-34C5-CAB6-C5C515A9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2D900-A11E-0D14-C0D5-13B5CEA605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Loop Unrolling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F50A18-A33C-8895-766A-09557874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F5F70F9-E9FE-82F0-ED79-AC92696A898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18</a:t>
            </a:fld>
            <a:endParaRPr kern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3C2F791-9A23-51ED-E043-C76029073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Overheads of loop control</a:t>
            </a:r>
          </a:p>
          <a:p>
            <a:pPr lvl="1"/>
            <a:r>
              <a:rPr lang="en" altLang="ko-KR" dirty="0"/>
              <a:t>Arithmetic operations for pointers (e.g., </a:t>
            </a:r>
            <a:r>
              <a:rPr lang="en" altLang="ko-KR" dirty="0" err="1"/>
              <a:t>i</a:t>
            </a:r>
            <a:r>
              <a:rPr lang="en" altLang="ko-KR" dirty="0"/>
              <a:t>, j, k)</a:t>
            </a:r>
          </a:p>
          <a:p>
            <a:pPr lvl="1"/>
            <a:r>
              <a:rPr lang="en" altLang="ko-KR" dirty="0"/>
              <a:t>End of loop test (e.g., k &lt; N)</a:t>
            </a:r>
          </a:p>
          <a:p>
            <a:pPr lvl="1"/>
            <a:r>
              <a:rPr lang="en" altLang="ko-KR" dirty="0"/>
              <a:t>Branch prediction</a:t>
            </a:r>
          </a:p>
          <a:p>
            <a:endParaRPr lang="en-US" altLang="ko-KR" dirty="0"/>
          </a:p>
          <a:p>
            <a:r>
              <a:rPr lang="en" altLang="ko-KR" dirty="0"/>
              <a:t>Reducing the overheads by loop unrolling</a:t>
            </a:r>
          </a:p>
          <a:p>
            <a:pPr lvl="1"/>
            <a:r>
              <a:rPr lang="en" altLang="ko-KR" dirty="0"/>
              <a:t>Replicate the loop body a number of times</a:t>
            </a:r>
          </a:p>
          <a:p>
            <a:pPr lvl="1"/>
            <a:r>
              <a:rPr lang="en" altLang="ko-KR" dirty="0"/>
              <a:t>Tradeoﬀ between binary size and reduced overheads</a:t>
            </a:r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D2B51-98A0-8220-CE8E-B03CAB499FFA}"/>
              </a:ext>
            </a:extLst>
          </p:cNvPr>
          <p:cNvSpPr txBox="1"/>
          <p:nvPr/>
        </p:nvSpPr>
        <p:spPr>
          <a:xfrm>
            <a:off x="5202269" y="5353561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6E78E6-69C3-1AF8-F3BC-56BAAC6C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238" b="50790"/>
          <a:stretch/>
        </p:blipFill>
        <p:spPr>
          <a:xfrm>
            <a:off x="5845999" y="919069"/>
            <a:ext cx="3883056" cy="19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521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EDF90694-9197-31D0-6D13-F9787088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308DAA-69D6-4713-C6F7-8DF0DBD8A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Loop Unrolling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1026DE-9A2D-DF4A-A378-8EA50846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7160B35-B186-3989-1AFA-2F01D74F82F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19</a:t>
            </a:fld>
            <a:endParaRPr kern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445AE3-25E1-9EB0-878A-31EA11EF3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C45942-4461-768E-B888-3980689D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29" y="1116584"/>
            <a:ext cx="8773841" cy="34554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1D14DF-90E9-22FE-5276-D951A8A1C0E9}"/>
              </a:ext>
            </a:extLst>
          </p:cNvPr>
          <p:cNvSpPr txBox="1"/>
          <p:nvPr/>
        </p:nvSpPr>
        <p:spPr>
          <a:xfrm>
            <a:off x="5202269" y="5353561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8385904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3B0E5301-D2DF-2243-9704-F1CB4EEF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70D420-FB6B-6BFB-77E3-1254BCA8A2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Loop Unrolling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798E83-F542-C587-3F48-28A23BD1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282FB83-7287-3C4F-0516-2AE7B9C21A3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20</a:t>
            </a:fld>
            <a:endParaRPr kern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15AA61-9AC1-BE1D-0D04-60BF8348D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2E06E8-C526-4855-FC09-D0196BA2D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257"/>
            <a:ext cx="4042141" cy="26044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642C6D-6B5F-C12F-2DE8-54EC427904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0476"/>
          <a:stretch/>
        </p:blipFill>
        <p:spPr>
          <a:xfrm>
            <a:off x="4042141" y="1339556"/>
            <a:ext cx="2896208" cy="14458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423B05-5FA7-52E8-B85B-DDB37D8AC2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477"/>
          <a:stretch/>
        </p:blipFill>
        <p:spPr>
          <a:xfrm>
            <a:off x="7111424" y="1337261"/>
            <a:ext cx="2896208" cy="14458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24CE9A-8E0A-6B4E-9CEE-9AC3FFDF86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101" b="36056"/>
          <a:stretch/>
        </p:blipFill>
        <p:spPr>
          <a:xfrm>
            <a:off x="4042141" y="3346402"/>
            <a:ext cx="2896208" cy="136357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DC23274-E434-0A06-35EF-3EBED0C09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424" y="3297055"/>
            <a:ext cx="2788932" cy="14066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331AC4-729D-A334-516E-678504B24A73}"/>
              </a:ext>
            </a:extLst>
          </p:cNvPr>
          <p:cNvSpPr txBox="1"/>
          <p:nvPr/>
        </p:nvSpPr>
        <p:spPr>
          <a:xfrm>
            <a:off x="5093675" y="5306684"/>
            <a:ext cx="5966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900" i="0" dirty="0">
                <a:solidFill>
                  <a:schemeClr val="bg1">
                    <a:lumMod val="50000"/>
                  </a:schemeClr>
                </a:solidFill>
                <a:effectLst/>
              </a:rPr>
              <a:t>Y. Ma et al., Optimizing the Convolution Operation to Accelerate Deep Neural Networks on FPGA</a:t>
            </a:r>
          </a:p>
        </p:txBody>
      </p:sp>
    </p:spTree>
    <p:extLst>
      <p:ext uri="{BB962C8B-B14F-4D97-AF65-F5344CB8AC3E}">
        <p14:creationId xmlns:p14="http://schemas.microsoft.com/office/powerpoint/2010/main" val="2320751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10BD2A-3D02-962D-C3CF-A8F9CBA5DA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Vectorization</a:t>
            </a:r>
            <a:endParaRPr lang="ko-KR" altLang="en-US" dirty="0"/>
          </a:p>
        </p:txBody>
      </p:sp>
      <p:sp>
        <p:nvSpPr>
          <p:cNvPr id="353" name="Google Shape;35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t" anchorCtr="0">
            <a:normAutofit/>
          </a:bodyPr>
          <a:lstStyle/>
          <a:p>
            <a:pPr marL="388803" indent="-324002">
              <a:buSzPts val="2400"/>
              <a:buChar char="●"/>
            </a:pPr>
            <a:r>
              <a:rPr lang="en-US" dirty="0"/>
              <a:t>Parallelize operations within your </a:t>
            </a:r>
            <a:r>
              <a:rPr lang="en-US" i="1" dirty="0"/>
              <a:t>smallest</a:t>
            </a:r>
            <a:r>
              <a:rPr lang="en-US" dirty="0"/>
              <a:t> tile</a:t>
            </a:r>
            <a:endParaRPr dirty="0"/>
          </a:p>
          <a:p>
            <a:pPr marL="777606" lvl="1" indent="-297002">
              <a:buSzPts val="1900"/>
              <a:buChar char="○"/>
            </a:pPr>
            <a:r>
              <a:rPr lang="en-US" dirty="0"/>
              <a:t>Not possible without tiling!</a:t>
            </a:r>
          </a:p>
          <a:p>
            <a:pPr marL="388803" indent="-324002">
              <a:buSzPts val="2400"/>
              <a:buChar char="●"/>
            </a:pPr>
            <a:r>
              <a:rPr lang="en-US" altLang="ko-KR" dirty="0"/>
              <a:t>Tiling mainly done to fit the data in various parts of the memory hierarchy</a:t>
            </a:r>
          </a:p>
          <a:p>
            <a:pPr marL="388803" indent="-324002">
              <a:buSzPts val="2400"/>
              <a:buChar char="●"/>
            </a:pPr>
            <a:r>
              <a:rPr lang="en-US" altLang="ko-KR" dirty="0"/>
              <a:t>Vectorizing the smallest tile is done to leverage hardware parallelism</a:t>
            </a:r>
          </a:p>
          <a:p>
            <a:pPr marL="777606" lvl="1" indent="-297002">
              <a:buSzPts val="1900"/>
              <a:buChar char="○"/>
            </a:pPr>
            <a:endParaRPr dirty="0"/>
          </a:p>
        </p:txBody>
      </p:sp>
      <p:pic>
        <p:nvPicPr>
          <p:cNvPr id="355" name="Google Shape;3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733" y="2644922"/>
            <a:ext cx="2884610" cy="2086603"/>
          </a:xfrm>
          <a:prstGeom prst="roundRect">
            <a:avLst>
              <a:gd name="adj" fmla="val 1125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6" name="Google Shape;356;p16"/>
          <p:cNvSpPr/>
          <p:nvPr/>
        </p:nvSpPr>
        <p:spPr>
          <a:xfrm>
            <a:off x="4826477" y="3521802"/>
            <a:ext cx="1380694" cy="47375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47" tIns="77747" rIns="77747" bIns="77747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1191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3606039" y="3825392"/>
            <a:ext cx="1123281" cy="34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Size of a tile</a:t>
            </a:r>
            <a:endParaRPr sz="1191" b="1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6"/>
          <p:cNvCxnSpPr>
            <a:stCxn id="357" idx="1"/>
          </p:cNvCxnSpPr>
          <p:nvPr/>
        </p:nvCxnSpPr>
        <p:spPr>
          <a:xfrm flipH="1" flipV="1">
            <a:off x="2667463" y="3962134"/>
            <a:ext cx="938576" cy="33392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9" name="Google Shape;359;p16"/>
          <p:cNvSpPr txBox="1"/>
          <p:nvPr/>
        </p:nvSpPr>
        <p:spPr>
          <a:xfrm>
            <a:off x="3414531" y="3408722"/>
            <a:ext cx="1380694" cy="34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191" b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Number of tiles</a:t>
            </a:r>
            <a:endParaRPr sz="1191" b="1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16"/>
          <p:cNvCxnSpPr>
            <a:stCxn id="359" idx="1"/>
          </p:cNvCxnSpPr>
          <p:nvPr/>
        </p:nvCxnSpPr>
        <p:spPr>
          <a:xfrm flipH="1" flipV="1">
            <a:off x="2259615" y="3569700"/>
            <a:ext cx="1154916" cy="9156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61" name="Google Shape;36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6771" y="2629907"/>
            <a:ext cx="3642308" cy="2165435"/>
          </a:xfrm>
          <a:prstGeom prst="roundRect">
            <a:avLst>
              <a:gd name="adj" fmla="val 10909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2" name="Google Shape;362;p16"/>
          <p:cNvSpPr txBox="1"/>
          <p:nvPr/>
        </p:nvSpPr>
        <p:spPr>
          <a:xfrm>
            <a:off x="1489374" y="4846838"/>
            <a:ext cx="600036" cy="36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361" b="1">
                <a:solidFill>
                  <a:srgbClr val="920000"/>
                </a:solidFill>
                <a:latin typeface="Arial"/>
                <a:ea typeface="Arial"/>
                <a:cs typeface="Arial"/>
                <a:sym typeface="Arial"/>
              </a:rPr>
              <a:t>Tiled</a:t>
            </a:r>
            <a:endParaRPr sz="1361" b="1">
              <a:solidFill>
                <a:srgbClr val="92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7466323" y="4846838"/>
            <a:ext cx="1891949" cy="36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361" b="1">
                <a:solidFill>
                  <a:srgbClr val="920000"/>
                </a:solidFill>
                <a:latin typeface="Arial"/>
                <a:ea typeface="Arial"/>
                <a:cs typeface="Arial"/>
                <a:sym typeface="Arial"/>
              </a:rPr>
              <a:t>Tiled + Vectorized</a:t>
            </a:r>
            <a:endParaRPr sz="1361" b="1">
              <a:solidFill>
                <a:srgbClr val="92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139FF2-3690-2961-BFF9-D1387969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0B335D3-667B-4589-E0F6-3F4567F561F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21</a:t>
            </a:fld>
            <a:endParaRPr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F590E-CB5C-59AB-E6D8-FA1B0DF42146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0AC150-7704-3313-EBB2-2A7673C297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Tiled + Vectorized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2C4D2C-C8CC-8F12-63E2-6B1E54D60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72" name="Google Shape;3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4089" y="1559245"/>
            <a:ext cx="7282554" cy="352637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 txBox="1"/>
          <p:nvPr/>
        </p:nvSpPr>
        <p:spPr>
          <a:xfrm>
            <a:off x="8628664" y="1635228"/>
            <a:ext cx="1192418" cy="379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700"/>
            </a:pPr>
            <a:r>
              <a:rPr lang="en-US" sz="1446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Tile size?</a:t>
            </a:r>
            <a:endParaRPr sz="1446"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9010341" y="2236540"/>
            <a:ext cx="301293" cy="39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8482482" y="1895618"/>
            <a:ext cx="1442943" cy="379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47" tIns="77747" rIns="77747" bIns="77747" anchor="t" anchorCtr="0">
            <a:spAutoFit/>
          </a:bodyPr>
          <a:lstStyle/>
          <a:p>
            <a:pPr>
              <a:buClr>
                <a:srgbClr val="000000"/>
              </a:buClr>
              <a:buSzPts val="1700"/>
            </a:pPr>
            <a:r>
              <a:rPr lang="en-US" sz="1446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# PEs/Cores ?</a:t>
            </a:r>
            <a:endParaRPr sz="1446"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884EC1-8422-39AF-C389-EEC438FA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5460103-5D28-07CC-5F7A-CB2B662A75A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22</a:t>
            </a:fld>
            <a:endParaRPr kern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D9CA3-D94E-F597-0860-61996BD937E0}"/>
              </a:ext>
            </a:extLst>
          </p:cNvPr>
          <p:cNvSpPr txBox="1"/>
          <p:nvPr/>
        </p:nvSpPr>
        <p:spPr>
          <a:xfrm>
            <a:off x="4839999" y="5384170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그림 127">
            <a:extLst>
              <a:ext uri="{FF2B5EF4-FFF2-40B4-BE49-F238E27FC236}">
                <a16:creationId xmlns:a16="http://schemas.microsoft.com/office/drawing/2014/main" id="{651BB2D8-E632-4AA9-8394-E7F4A25F3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01" y="2527069"/>
            <a:ext cx="1403401" cy="123069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5F872E-34F4-4946-83B2-C1D56DFF87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8F7E10-1B67-5C32-E567-E56A0AB453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Edge-Cloud Collaborative Inference</a:t>
            </a:r>
            <a:endParaRPr lang="ko-KR" altLang="en-US" sz="2000" dirty="0"/>
          </a:p>
          <a:p>
            <a:endParaRPr lang="ko-KR" altLang="en-US" dirty="0"/>
          </a:p>
        </p:txBody>
      </p:sp>
      <p:pic>
        <p:nvPicPr>
          <p:cNvPr id="129" name="Picture 2" descr="raspberry pi sd card에 대한 이미지 검색결과">
            <a:extLst>
              <a:ext uri="{FF2B5EF4-FFF2-40B4-BE49-F238E27FC236}">
                <a16:creationId xmlns:a16="http://schemas.microsoft.com/office/drawing/2014/main" id="{4B383F6C-91CF-4E6A-BF79-30BBFC56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6471">
            <a:off x="2781321" y="2748138"/>
            <a:ext cx="1285089" cy="90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18" descr="Image result for high performance computing">
            <a:extLst>
              <a:ext uri="{FF2B5EF4-FFF2-40B4-BE49-F238E27FC236}">
                <a16:creationId xmlns:a16="http://schemas.microsoft.com/office/drawing/2014/main" id="{9B4B25E7-6137-480E-8C50-9ECB65FAF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246" y="2688369"/>
            <a:ext cx="1682798" cy="108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F41AB4FE-26AA-4123-B36B-8F08F86D6485}"/>
              </a:ext>
            </a:extLst>
          </p:cNvPr>
          <p:cNvSpPr txBox="1"/>
          <p:nvPr/>
        </p:nvSpPr>
        <p:spPr>
          <a:xfrm>
            <a:off x="1086097" y="4138846"/>
            <a:ext cx="2250937" cy="1034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04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Limited resources</a:t>
            </a:r>
          </a:p>
          <a:p>
            <a:pPr marL="324012" indent="-324012" defTabSz="1036838" fontAlgn="base" latinLnBrk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ko-KR" sz="204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Energy</a:t>
            </a:r>
          </a:p>
          <a:p>
            <a:pPr marL="324012" indent="-324012" defTabSz="1036838" fontAlgn="base" latinLnBrk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ko-KR" sz="204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TX bandwidth</a:t>
            </a:r>
            <a:endParaRPr lang="ko-KR" altLang="en-US" sz="2041" dirty="0">
              <a:solidFill>
                <a:prstClr val="black"/>
              </a:solidFill>
              <a:latin typeface="Arial" charset="0"/>
              <a:ea typeface="맑은 고딕" panose="020B0503020000020004" pitchFamily="50" charset="-127"/>
              <a:cs typeface="Arial" charset="0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3ACE50C4-C23D-412D-971A-84C15E79EECB}"/>
              </a:ext>
            </a:extLst>
          </p:cNvPr>
          <p:cNvGrpSpPr/>
          <p:nvPr/>
        </p:nvGrpSpPr>
        <p:grpSpPr>
          <a:xfrm>
            <a:off x="3412034" y="1035356"/>
            <a:ext cx="3257883" cy="812157"/>
            <a:chOff x="3583160" y="1796526"/>
            <a:chExt cx="2873282" cy="716280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6B502C52-61BC-4971-B2C5-AAD50124DAD2}"/>
                </a:ext>
              </a:extLst>
            </p:cNvPr>
            <p:cNvSpPr/>
            <p:nvPr/>
          </p:nvSpPr>
          <p:spPr bwMode="auto">
            <a:xfrm>
              <a:off x="3727940" y="1796526"/>
              <a:ext cx="548640" cy="54864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B040B943-F719-44EF-BCC7-B573E7179DE0}"/>
                </a:ext>
              </a:extLst>
            </p:cNvPr>
            <p:cNvSpPr/>
            <p:nvPr/>
          </p:nvSpPr>
          <p:spPr bwMode="auto">
            <a:xfrm>
              <a:off x="3682220" y="1849866"/>
              <a:ext cx="548640" cy="54864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90AF612-5A60-4C21-8B57-AFDEDEFA25E2}"/>
                </a:ext>
              </a:extLst>
            </p:cNvPr>
            <p:cNvSpPr/>
            <p:nvPr/>
          </p:nvSpPr>
          <p:spPr bwMode="auto">
            <a:xfrm>
              <a:off x="3628880" y="1910826"/>
              <a:ext cx="548640" cy="54864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36B9F10-2808-40F2-B91A-67EFD4B84D87}"/>
                </a:ext>
              </a:extLst>
            </p:cNvPr>
            <p:cNvSpPr/>
            <p:nvPr/>
          </p:nvSpPr>
          <p:spPr bwMode="auto">
            <a:xfrm>
              <a:off x="3583160" y="1964166"/>
              <a:ext cx="548640" cy="54864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BF2852B-65E0-4572-8B7B-CF1AB641524B}"/>
                </a:ext>
              </a:extLst>
            </p:cNvPr>
            <p:cNvSpPr/>
            <p:nvPr/>
          </p:nvSpPr>
          <p:spPr bwMode="auto">
            <a:xfrm>
              <a:off x="4600176" y="1831450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F34923A-1B77-4ECE-85C1-C3739B6547B8}"/>
                </a:ext>
              </a:extLst>
            </p:cNvPr>
            <p:cNvSpPr/>
            <p:nvPr/>
          </p:nvSpPr>
          <p:spPr bwMode="auto">
            <a:xfrm>
              <a:off x="4564616" y="1871138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4ACEDD32-C119-48C4-AFC3-6E36FF60175B}"/>
                </a:ext>
              </a:extLst>
            </p:cNvPr>
            <p:cNvSpPr/>
            <p:nvPr/>
          </p:nvSpPr>
          <p:spPr bwMode="auto">
            <a:xfrm>
              <a:off x="4529056" y="1910826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8588C187-04D9-4E2D-A2AB-72343BAB5A6B}"/>
                </a:ext>
              </a:extLst>
            </p:cNvPr>
            <p:cNvSpPr/>
            <p:nvPr/>
          </p:nvSpPr>
          <p:spPr bwMode="auto">
            <a:xfrm>
              <a:off x="4497306" y="1950514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29C5D6A7-D960-4CBA-AE91-EAF07B7701BC}"/>
                </a:ext>
              </a:extLst>
            </p:cNvPr>
            <p:cNvSpPr/>
            <p:nvPr/>
          </p:nvSpPr>
          <p:spPr bwMode="auto">
            <a:xfrm>
              <a:off x="4465556" y="1983532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4C8B8733-D8CD-4F3C-A653-1EC5C8000FAE}"/>
                </a:ext>
              </a:extLst>
            </p:cNvPr>
            <p:cNvSpPr/>
            <p:nvPr/>
          </p:nvSpPr>
          <p:spPr bwMode="auto">
            <a:xfrm>
              <a:off x="4429996" y="2019410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0ECDE91-BFB9-40EE-B705-D9ABEF464128}"/>
                </a:ext>
              </a:extLst>
            </p:cNvPr>
            <p:cNvSpPr/>
            <p:nvPr/>
          </p:nvSpPr>
          <p:spPr bwMode="auto">
            <a:xfrm>
              <a:off x="4394436" y="2059098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E2378F2E-9475-4026-B6A5-FCE1B51CFAB0}"/>
                </a:ext>
              </a:extLst>
            </p:cNvPr>
            <p:cNvSpPr/>
            <p:nvPr/>
          </p:nvSpPr>
          <p:spPr bwMode="auto">
            <a:xfrm>
              <a:off x="4351256" y="2098786"/>
              <a:ext cx="381000" cy="37592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61E08DDC-9213-4623-8612-CF4A4D60BDA2}"/>
                </a:ext>
              </a:extLst>
            </p:cNvPr>
            <p:cNvSpPr/>
            <p:nvPr/>
          </p:nvSpPr>
          <p:spPr bwMode="auto">
            <a:xfrm>
              <a:off x="5374876" y="1863280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E9984BF-48D3-4D23-8610-DB3F097ADFB0}"/>
                </a:ext>
              </a:extLst>
            </p:cNvPr>
            <p:cNvSpPr/>
            <p:nvPr/>
          </p:nvSpPr>
          <p:spPr bwMode="auto">
            <a:xfrm>
              <a:off x="5350746" y="1887568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628DAB09-457F-466C-94C3-488687035FD5}"/>
                </a:ext>
              </a:extLst>
            </p:cNvPr>
            <p:cNvSpPr/>
            <p:nvPr/>
          </p:nvSpPr>
          <p:spPr bwMode="auto">
            <a:xfrm>
              <a:off x="5326616" y="1913287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B84A43D2-8894-4905-B7AD-48B6B2535743}"/>
                </a:ext>
              </a:extLst>
            </p:cNvPr>
            <p:cNvSpPr/>
            <p:nvPr/>
          </p:nvSpPr>
          <p:spPr bwMode="auto">
            <a:xfrm>
              <a:off x="5302486" y="1937575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48DCB3E5-0079-4B8C-9A9A-CF7C666D7207}"/>
                </a:ext>
              </a:extLst>
            </p:cNvPr>
            <p:cNvSpPr/>
            <p:nvPr/>
          </p:nvSpPr>
          <p:spPr bwMode="auto">
            <a:xfrm>
              <a:off x="5277721" y="1963212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8A18ED59-FEB0-49C1-819D-F572A710427D}"/>
                </a:ext>
              </a:extLst>
            </p:cNvPr>
            <p:cNvSpPr/>
            <p:nvPr/>
          </p:nvSpPr>
          <p:spPr bwMode="auto">
            <a:xfrm>
              <a:off x="5253591" y="1987500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7A94F26F-4624-47D0-98DD-BFA5D589C165}"/>
                </a:ext>
              </a:extLst>
            </p:cNvPr>
            <p:cNvSpPr/>
            <p:nvPr/>
          </p:nvSpPr>
          <p:spPr bwMode="auto">
            <a:xfrm>
              <a:off x="5229461" y="2013219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714FECD6-67BF-42CD-9887-748987092E76}"/>
                </a:ext>
              </a:extLst>
            </p:cNvPr>
            <p:cNvSpPr/>
            <p:nvPr/>
          </p:nvSpPr>
          <p:spPr bwMode="auto">
            <a:xfrm>
              <a:off x="5205331" y="2037507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C9230E6-20FB-4000-947D-38E21A7B2B59}"/>
                </a:ext>
              </a:extLst>
            </p:cNvPr>
            <p:cNvSpPr/>
            <p:nvPr/>
          </p:nvSpPr>
          <p:spPr bwMode="auto">
            <a:xfrm>
              <a:off x="5182471" y="2061241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68B52999-93F9-47FE-A29F-6D67C84348F8}"/>
                </a:ext>
              </a:extLst>
            </p:cNvPr>
            <p:cNvSpPr/>
            <p:nvPr/>
          </p:nvSpPr>
          <p:spPr bwMode="auto">
            <a:xfrm>
              <a:off x="5158341" y="2085529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C1443E4E-2095-40A4-ACB8-C475295649BB}"/>
                </a:ext>
              </a:extLst>
            </p:cNvPr>
            <p:cNvSpPr/>
            <p:nvPr/>
          </p:nvSpPr>
          <p:spPr bwMode="auto">
            <a:xfrm>
              <a:off x="5134211" y="2111248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208C6F52-0F04-494F-B975-6D70C94FF2BF}"/>
                </a:ext>
              </a:extLst>
            </p:cNvPr>
            <p:cNvSpPr/>
            <p:nvPr/>
          </p:nvSpPr>
          <p:spPr bwMode="auto">
            <a:xfrm>
              <a:off x="5110081" y="2135536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341B8475-9951-491C-9D5D-B181B548FF86}"/>
                </a:ext>
              </a:extLst>
            </p:cNvPr>
            <p:cNvSpPr/>
            <p:nvPr/>
          </p:nvSpPr>
          <p:spPr bwMode="auto">
            <a:xfrm>
              <a:off x="5085316" y="2161173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9BA3D6C4-4E05-4737-899D-AFBC98B4CDC0}"/>
                </a:ext>
              </a:extLst>
            </p:cNvPr>
            <p:cNvSpPr/>
            <p:nvPr/>
          </p:nvSpPr>
          <p:spPr bwMode="auto">
            <a:xfrm>
              <a:off x="5061186" y="2185461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14C625E9-3D66-462B-AFE1-DA69485A5FC4}"/>
                </a:ext>
              </a:extLst>
            </p:cNvPr>
            <p:cNvSpPr/>
            <p:nvPr/>
          </p:nvSpPr>
          <p:spPr bwMode="auto">
            <a:xfrm>
              <a:off x="5037056" y="2211180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78DC708-B7ED-4112-8D7C-A2E761C51D38}"/>
                </a:ext>
              </a:extLst>
            </p:cNvPr>
            <p:cNvSpPr/>
            <p:nvPr/>
          </p:nvSpPr>
          <p:spPr bwMode="auto">
            <a:xfrm>
              <a:off x="5011340" y="2236817"/>
              <a:ext cx="262890" cy="24796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6CB47236-846E-4BAA-8143-CB28C626D893}"/>
                </a:ext>
              </a:extLst>
            </p:cNvPr>
            <p:cNvSpPr/>
            <p:nvPr/>
          </p:nvSpPr>
          <p:spPr bwMode="auto">
            <a:xfrm>
              <a:off x="3906852" y="2303491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5374D9A3-725D-4E71-BEE1-CA7D23A5EFD6}"/>
                </a:ext>
              </a:extLst>
            </p:cNvPr>
            <p:cNvCxnSpPr>
              <a:cxnSpLocks/>
              <a:stCxn id="163" idx="0"/>
              <a:endCxn id="165" idx="0"/>
            </p:cNvCxnSpPr>
            <p:nvPr/>
          </p:nvCxnSpPr>
          <p:spPr bwMode="auto">
            <a:xfrm>
              <a:off x="3970193" y="2303491"/>
              <a:ext cx="666020" cy="39946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9440D2C9-AB55-4B12-A632-DFE7FC9B6CE9}"/>
                </a:ext>
              </a:extLst>
            </p:cNvPr>
            <p:cNvSpPr/>
            <p:nvPr/>
          </p:nvSpPr>
          <p:spPr bwMode="auto">
            <a:xfrm>
              <a:off x="4600176" y="2343437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1942F157-44BB-4FC2-B2F6-92EA20EA0DDD}"/>
                </a:ext>
              </a:extLst>
            </p:cNvPr>
            <p:cNvCxnSpPr>
              <a:cxnSpLocks/>
              <a:stCxn id="163" idx="2"/>
              <a:endCxn id="165" idx="2"/>
            </p:cNvCxnSpPr>
            <p:nvPr/>
          </p:nvCxnSpPr>
          <p:spPr bwMode="auto">
            <a:xfrm>
              <a:off x="3970193" y="2422158"/>
              <a:ext cx="666020" cy="777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04D2860-E364-4CE7-BAE4-0C57DBF2F3BE}"/>
                </a:ext>
              </a:extLst>
            </p:cNvPr>
            <p:cNvSpPr/>
            <p:nvPr/>
          </p:nvSpPr>
          <p:spPr bwMode="auto">
            <a:xfrm>
              <a:off x="4512372" y="2141003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0A6AB394-A319-4E2C-BF03-3CDE14DC66D0}"/>
                </a:ext>
              </a:extLst>
            </p:cNvPr>
            <p:cNvCxnSpPr>
              <a:cxnSpLocks/>
              <a:stCxn id="167" idx="0"/>
              <a:endCxn id="169" idx="0"/>
            </p:cNvCxnSpPr>
            <p:nvPr/>
          </p:nvCxnSpPr>
          <p:spPr bwMode="auto">
            <a:xfrm>
              <a:off x="4575713" y="2141003"/>
              <a:ext cx="574531" cy="118517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A4950AB1-4CA3-4D54-8CA0-DC278A530A00}"/>
                </a:ext>
              </a:extLst>
            </p:cNvPr>
            <p:cNvSpPr/>
            <p:nvPr/>
          </p:nvSpPr>
          <p:spPr bwMode="auto">
            <a:xfrm>
              <a:off x="5114207" y="2259520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EC3908A-2018-43CA-8DE5-4A3FB13877EC}"/>
                </a:ext>
              </a:extLst>
            </p:cNvPr>
            <p:cNvCxnSpPr>
              <a:cxnSpLocks/>
              <a:stCxn id="167" idx="2"/>
              <a:endCxn id="169" idx="2"/>
            </p:cNvCxnSpPr>
            <p:nvPr/>
          </p:nvCxnSpPr>
          <p:spPr bwMode="auto">
            <a:xfrm>
              <a:off x="4575713" y="2259670"/>
              <a:ext cx="574531" cy="79348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53B0BC01-9C24-42CA-ACD6-217A37558184}"/>
                </a:ext>
              </a:extLst>
            </p:cNvPr>
            <p:cNvCxnSpPr>
              <a:cxnSpLocks/>
              <a:stCxn id="162" idx="2"/>
              <a:endCxn id="204" idx="2"/>
            </p:cNvCxnSpPr>
            <p:nvPr/>
          </p:nvCxnSpPr>
          <p:spPr bwMode="auto">
            <a:xfrm>
              <a:off x="5142785" y="2484785"/>
              <a:ext cx="396683" cy="6367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F107A06D-3532-4098-9621-4E455F4A7AA1}"/>
                </a:ext>
              </a:extLst>
            </p:cNvPr>
            <p:cNvCxnSpPr>
              <a:cxnSpLocks/>
              <a:stCxn id="147" idx="0"/>
              <a:endCxn id="173" idx="0"/>
            </p:cNvCxnSpPr>
            <p:nvPr/>
          </p:nvCxnSpPr>
          <p:spPr bwMode="auto">
            <a:xfrm>
              <a:off x="5506321" y="1863280"/>
              <a:ext cx="545434" cy="42243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0FF1EDA0-48A5-465D-8F9C-CFBA6F8AC0A3}"/>
                </a:ext>
              </a:extLst>
            </p:cNvPr>
            <p:cNvSpPr/>
            <p:nvPr/>
          </p:nvSpPr>
          <p:spPr bwMode="auto">
            <a:xfrm>
              <a:off x="6019751" y="190552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1447445D-619A-4EDE-AE8D-02CE10224521}"/>
                </a:ext>
              </a:extLst>
            </p:cNvPr>
            <p:cNvSpPr/>
            <p:nvPr/>
          </p:nvSpPr>
          <p:spPr bwMode="auto">
            <a:xfrm>
              <a:off x="6002606" y="192231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EE6735D1-C526-4EA7-BF0A-B0757E3B46A6}"/>
                </a:ext>
              </a:extLst>
            </p:cNvPr>
            <p:cNvSpPr/>
            <p:nvPr/>
          </p:nvSpPr>
          <p:spPr bwMode="auto">
            <a:xfrm>
              <a:off x="5985842" y="1939432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CBFB748-39E0-409E-B52E-686ED20135C0}"/>
                </a:ext>
              </a:extLst>
            </p:cNvPr>
            <p:cNvSpPr/>
            <p:nvPr/>
          </p:nvSpPr>
          <p:spPr bwMode="auto">
            <a:xfrm>
              <a:off x="5968697" y="195622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1D1DB58-1B46-4D47-BADE-B7627A8BA368}"/>
                </a:ext>
              </a:extLst>
            </p:cNvPr>
            <p:cNvSpPr/>
            <p:nvPr/>
          </p:nvSpPr>
          <p:spPr bwMode="auto">
            <a:xfrm>
              <a:off x="5953838" y="197334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80CF9FCA-F651-4315-85BB-8531297596BC}"/>
                </a:ext>
              </a:extLst>
            </p:cNvPr>
            <p:cNvSpPr/>
            <p:nvPr/>
          </p:nvSpPr>
          <p:spPr bwMode="auto">
            <a:xfrm>
              <a:off x="5936693" y="199013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E459D373-1B53-4964-8725-C0328C26679B}"/>
                </a:ext>
              </a:extLst>
            </p:cNvPr>
            <p:cNvSpPr/>
            <p:nvPr/>
          </p:nvSpPr>
          <p:spPr bwMode="auto">
            <a:xfrm>
              <a:off x="5919929" y="200725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D2FAE827-15AC-45F2-9970-76927EB00A67}"/>
                </a:ext>
              </a:extLst>
            </p:cNvPr>
            <p:cNvSpPr/>
            <p:nvPr/>
          </p:nvSpPr>
          <p:spPr bwMode="auto">
            <a:xfrm>
              <a:off x="5902784" y="202404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A3EB70BB-AD70-4FAD-8F34-5861C42CC166}"/>
                </a:ext>
              </a:extLst>
            </p:cNvPr>
            <p:cNvSpPr/>
            <p:nvPr/>
          </p:nvSpPr>
          <p:spPr bwMode="auto">
            <a:xfrm>
              <a:off x="5887925" y="203925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B9B77ACF-9598-4B9C-84BB-DA33538B16DD}"/>
                </a:ext>
              </a:extLst>
            </p:cNvPr>
            <p:cNvSpPr/>
            <p:nvPr/>
          </p:nvSpPr>
          <p:spPr bwMode="auto">
            <a:xfrm>
              <a:off x="5870780" y="205605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3BCAEFDE-1275-40C1-AAEA-2D5EBDD48E64}"/>
                </a:ext>
              </a:extLst>
            </p:cNvPr>
            <p:cNvSpPr/>
            <p:nvPr/>
          </p:nvSpPr>
          <p:spPr bwMode="auto">
            <a:xfrm>
              <a:off x="5854016" y="207316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5CABB784-A6B9-45A6-8050-6785714C3F13}"/>
                </a:ext>
              </a:extLst>
            </p:cNvPr>
            <p:cNvSpPr/>
            <p:nvPr/>
          </p:nvSpPr>
          <p:spPr bwMode="auto">
            <a:xfrm>
              <a:off x="5836871" y="208995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40D44F72-0BA3-4278-B854-A16A49EF03C6}"/>
                </a:ext>
              </a:extLst>
            </p:cNvPr>
            <p:cNvSpPr/>
            <p:nvPr/>
          </p:nvSpPr>
          <p:spPr bwMode="auto">
            <a:xfrm>
              <a:off x="5822012" y="2107072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E91EC5A-B619-4289-BBF9-C4203C9A342D}"/>
                </a:ext>
              </a:extLst>
            </p:cNvPr>
            <p:cNvSpPr/>
            <p:nvPr/>
          </p:nvSpPr>
          <p:spPr bwMode="auto">
            <a:xfrm>
              <a:off x="5804867" y="212386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6FC75D04-491F-451A-91BC-D377369ECE91}"/>
                </a:ext>
              </a:extLst>
            </p:cNvPr>
            <p:cNvSpPr/>
            <p:nvPr/>
          </p:nvSpPr>
          <p:spPr bwMode="auto">
            <a:xfrm>
              <a:off x="5788103" y="214098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4C2F4AE4-12A5-4791-ACF1-DB5A7173ABF2}"/>
                </a:ext>
              </a:extLst>
            </p:cNvPr>
            <p:cNvSpPr/>
            <p:nvPr/>
          </p:nvSpPr>
          <p:spPr bwMode="auto">
            <a:xfrm>
              <a:off x="5770958" y="215777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2AFC8BB0-A18F-49C0-A32E-81FF561C5D47}"/>
                </a:ext>
              </a:extLst>
            </p:cNvPr>
            <p:cNvSpPr/>
            <p:nvPr/>
          </p:nvSpPr>
          <p:spPr bwMode="auto">
            <a:xfrm>
              <a:off x="5756257" y="217489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0E651C25-6D1A-44EB-B877-D15689553E85}"/>
                </a:ext>
              </a:extLst>
            </p:cNvPr>
            <p:cNvSpPr/>
            <p:nvPr/>
          </p:nvSpPr>
          <p:spPr bwMode="auto">
            <a:xfrm>
              <a:off x="5739112" y="219168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8C4EC688-4CDC-4F22-A387-FB883AB6A983}"/>
                </a:ext>
              </a:extLst>
            </p:cNvPr>
            <p:cNvSpPr/>
            <p:nvPr/>
          </p:nvSpPr>
          <p:spPr bwMode="auto">
            <a:xfrm>
              <a:off x="5722348" y="220879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7F155F6D-0494-4691-84EC-C7C4FD098568}"/>
                </a:ext>
              </a:extLst>
            </p:cNvPr>
            <p:cNvSpPr/>
            <p:nvPr/>
          </p:nvSpPr>
          <p:spPr bwMode="auto">
            <a:xfrm>
              <a:off x="5705203" y="2225595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D8E15FC4-3E12-4CE3-AE77-4986562417EA}"/>
                </a:ext>
              </a:extLst>
            </p:cNvPr>
            <p:cNvSpPr/>
            <p:nvPr/>
          </p:nvSpPr>
          <p:spPr bwMode="auto">
            <a:xfrm>
              <a:off x="5690344" y="224270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D3131AF-359A-4553-90F1-1362DE7E19E0}"/>
                </a:ext>
              </a:extLst>
            </p:cNvPr>
            <p:cNvSpPr/>
            <p:nvPr/>
          </p:nvSpPr>
          <p:spPr bwMode="auto">
            <a:xfrm>
              <a:off x="5673199" y="225950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DFBD0A86-7E2F-414A-A057-7A4B64B0AFEE}"/>
                </a:ext>
              </a:extLst>
            </p:cNvPr>
            <p:cNvSpPr/>
            <p:nvPr/>
          </p:nvSpPr>
          <p:spPr bwMode="auto">
            <a:xfrm>
              <a:off x="5656435" y="227661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34D4CB2-81CA-4FA9-B816-25F5FB30C720}"/>
                </a:ext>
              </a:extLst>
            </p:cNvPr>
            <p:cNvSpPr/>
            <p:nvPr/>
          </p:nvSpPr>
          <p:spPr bwMode="auto">
            <a:xfrm>
              <a:off x="5639290" y="229341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0EBC3625-40B7-4420-96CE-115BFE08C85B}"/>
                </a:ext>
              </a:extLst>
            </p:cNvPr>
            <p:cNvSpPr/>
            <p:nvPr/>
          </p:nvSpPr>
          <p:spPr bwMode="auto">
            <a:xfrm>
              <a:off x="5624431" y="230862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9BFE61FA-7E67-4D47-AE6B-F844F7224949}"/>
                </a:ext>
              </a:extLst>
            </p:cNvPr>
            <p:cNvSpPr/>
            <p:nvPr/>
          </p:nvSpPr>
          <p:spPr bwMode="auto">
            <a:xfrm>
              <a:off x="5607286" y="232541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193AB53-4AF0-4E19-A106-0D7F42060F52}"/>
                </a:ext>
              </a:extLst>
            </p:cNvPr>
            <p:cNvSpPr/>
            <p:nvPr/>
          </p:nvSpPr>
          <p:spPr bwMode="auto">
            <a:xfrm>
              <a:off x="5590522" y="234253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9E039F61-6A41-4247-BAB1-EC356016B3F5}"/>
                </a:ext>
              </a:extLst>
            </p:cNvPr>
            <p:cNvSpPr/>
            <p:nvPr/>
          </p:nvSpPr>
          <p:spPr bwMode="auto">
            <a:xfrm>
              <a:off x="5573377" y="235932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FCC0AD15-190D-4D92-8876-5308632C28B0}"/>
                </a:ext>
              </a:extLst>
            </p:cNvPr>
            <p:cNvSpPr/>
            <p:nvPr/>
          </p:nvSpPr>
          <p:spPr bwMode="auto">
            <a:xfrm>
              <a:off x="5558518" y="237643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602BC038-CF72-42E4-B37A-C4BF25EFC2A8}"/>
                </a:ext>
              </a:extLst>
            </p:cNvPr>
            <p:cNvSpPr/>
            <p:nvPr/>
          </p:nvSpPr>
          <p:spPr bwMode="auto">
            <a:xfrm>
              <a:off x="5541373" y="2393235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C6129D8C-0C6D-4621-AC4E-129AFFF14261}"/>
                </a:ext>
              </a:extLst>
            </p:cNvPr>
            <p:cNvSpPr/>
            <p:nvPr/>
          </p:nvSpPr>
          <p:spPr bwMode="auto">
            <a:xfrm>
              <a:off x="5524609" y="241034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6D265B92-6CC5-4ECF-A0F3-9AFF894EC12A}"/>
                </a:ext>
              </a:extLst>
            </p:cNvPr>
            <p:cNvSpPr/>
            <p:nvPr/>
          </p:nvSpPr>
          <p:spPr bwMode="auto">
            <a:xfrm>
              <a:off x="5507464" y="242714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493257E8-6A6E-4879-BEC2-94E4C0385E19}"/>
                </a:ext>
              </a:extLst>
            </p:cNvPr>
            <p:cNvSpPr/>
            <p:nvPr/>
          </p:nvSpPr>
          <p:spPr bwMode="auto">
            <a:xfrm>
              <a:off x="6226476" y="2014315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5F932BEF-1EE0-4AF7-848B-F9097A969CAF}"/>
                </a:ext>
              </a:extLst>
            </p:cNvPr>
            <p:cNvSpPr/>
            <p:nvPr/>
          </p:nvSpPr>
          <p:spPr bwMode="auto">
            <a:xfrm>
              <a:off x="6211617" y="203142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34AECF3E-9C97-4890-A489-0B3BFF9615EC}"/>
                </a:ext>
              </a:extLst>
            </p:cNvPr>
            <p:cNvSpPr/>
            <p:nvPr/>
          </p:nvSpPr>
          <p:spPr bwMode="auto">
            <a:xfrm>
              <a:off x="6194472" y="204822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491CAF11-0F89-428F-B295-D53A14BC69F3}"/>
                </a:ext>
              </a:extLst>
            </p:cNvPr>
            <p:cNvSpPr/>
            <p:nvPr/>
          </p:nvSpPr>
          <p:spPr bwMode="auto">
            <a:xfrm>
              <a:off x="6177708" y="206533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37A68DF0-CD22-4DB8-802B-67CB017B3C5B}"/>
                </a:ext>
              </a:extLst>
            </p:cNvPr>
            <p:cNvSpPr/>
            <p:nvPr/>
          </p:nvSpPr>
          <p:spPr bwMode="auto">
            <a:xfrm>
              <a:off x="6160563" y="208213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DF26CA95-FBF4-426C-851B-18B394EDD49D}"/>
                </a:ext>
              </a:extLst>
            </p:cNvPr>
            <p:cNvSpPr/>
            <p:nvPr/>
          </p:nvSpPr>
          <p:spPr bwMode="auto">
            <a:xfrm>
              <a:off x="6145862" y="209924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11545682-EEE7-4468-9EAA-114AF2DF1E69}"/>
                </a:ext>
              </a:extLst>
            </p:cNvPr>
            <p:cNvSpPr/>
            <p:nvPr/>
          </p:nvSpPr>
          <p:spPr bwMode="auto">
            <a:xfrm>
              <a:off x="6128717" y="2116042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85C0A67D-F233-40BD-96A0-31C8F092313E}"/>
                </a:ext>
              </a:extLst>
            </p:cNvPr>
            <p:cNvSpPr/>
            <p:nvPr/>
          </p:nvSpPr>
          <p:spPr bwMode="auto">
            <a:xfrm>
              <a:off x="6111953" y="2133155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D30D1B91-7B66-463C-B0BE-D9DA1D4C9F6E}"/>
                </a:ext>
              </a:extLst>
            </p:cNvPr>
            <p:cNvSpPr/>
            <p:nvPr/>
          </p:nvSpPr>
          <p:spPr bwMode="auto">
            <a:xfrm>
              <a:off x="6094808" y="214995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165EEA57-EEA5-4BF1-B064-69300D008EFF}"/>
                </a:ext>
              </a:extLst>
            </p:cNvPr>
            <p:cNvSpPr/>
            <p:nvPr/>
          </p:nvSpPr>
          <p:spPr bwMode="auto">
            <a:xfrm>
              <a:off x="6079949" y="216706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A85A4DF2-115A-4365-9834-88E2DE957AD2}"/>
                </a:ext>
              </a:extLst>
            </p:cNvPr>
            <p:cNvSpPr/>
            <p:nvPr/>
          </p:nvSpPr>
          <p:spPr bwMode="auto">
            <a:xfrm>
              <a:off x="6062804" y="218386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95C9EB70-6CAE-40A3-AC51-4BEC9DBB6604}"/>
                </a:ext>
              </a:extLst>
            </p:cNvPr>
            <p:cNvSpPr/>
            <p:nvPr/>
          </p:nvSpPr>
          <p:spPr bwMode="auto">
            <a:xfrm>
              <a:off x="6046040" y="220097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62DD4896-6B6B-4876-8CBA-BA29F4F5DDB3}"/>
                </a:ext>
              </a:extLst>
            </p:cNvPr>
            <p:cNvSpPr/>
            <p:nvPr/>
          </p:nvSpPr>
          <p:spPr bwMode="auto">
            <a:xfrm>
              <a:off x="6028895" y="221776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278C9EB1-7874-45F6-BFEB-097A74375755}"/>
                </a:ext>
              </a:extLst>
            </p:cNvPr>
            <p:cNvSpPr/>
            <p:nvPr/>
          </p:nvSpPr>
          <p:spPr bwMode="auto">
            <a:xfrm>
              <a:off x="6014036" y="223297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3672E2D0-1AC0-4103-A49D-D249028EE8E2}"/>
                </a:ext>
              </a:extLst>
            </p:cNvPr>
            <p:cNvSpPr/>
            <p:nvPr/>
          </p:nvSpPr>
          <p:spPr bwMode="auto">
            <a:xfrm>
              <a:off x="5996891" y="224977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40AFA3B8-7550-44B3-A86F-8729B4796E9C}"/>
                </a:ext>
              </a:extLst>
            </p:cNvPr>
            <p:cNvSpPr/>
            <p:nvPr/>
          </p:nvSpPr>
          <p:spPr bwMode="auto">
            <a:xfrm>
              <a:off x="5980127" y="226688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8DB03001-7593-4245-8714-9761740E4336}"/>
                </a:ext>
              </a:extLst>
            </p:cNvPr>
            <p:cNvSpPr/>
            <p:nvPr/>
          </p:nvSpPr>
          <p:spPr bwMode="auto">
            <a:xfrm>
              <a:off x="5962982" y="2283682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DD287DCB-FB3B-4915-B602-7B8407CD3052}"/>
                </a:ext>
              </a:extLst>
            </p:cNvPr>
            <p:cNvSpPr/>
            <p:nvPr/>
          </p:nvSpPr>
          <p:spPr bwMode="auto">
            <a:xfrm>
              <a:off x="5948123" y="2300795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497ED9DC-368F-4DF6-A2B8-B1AFB97AFDD3}"/>
                </a:ext>
              </a:extLst>
            </p:cNvPr>
            <p:cNvSpPr/>
            <p:nvPr/>
          </p:nvSpPr>
          <p:spPr bwMode="auto">
            <a:xfrm>
              <a:off x="5930978" y="231759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0F93CA6B-B557-4DE1-BC27-B443CF8DBA6C}"/>
                </a:ext>
              </a:extLst>
            </p:cNvPr>
            <p:cNvSpPr/>
            <p:nvPr/>
          </p:nvSpPr>
          <p:spPr bwMode="auto">
            <a:xfrm>
              <a:off x="5914214" y="233470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CA5103C5-0B51-49B4-8027-E89EFFC94CFA}"/>
                </a:ext>
              </a:extLst>
            </p:cNvPr>
            <p:cNvSpPr/>
            <p:nvPr/>
          </p:nvSpPr>
          <p:spPr bwMode="auto">
            <a:xfrm>
              <a:off x="5897069" y="235150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34311480-5BA7-49FE-B8D1-B1168439BB8A}"/>
                </a:ext>
              </a:extLst>
            </p:cNvPr>
            <p:cNvCxnSpPr>
              <a:cxnSpLocks/>
              <a:stCxn id="204" idx="2"/>
              <a:endCxn id="225" idx="2"/>
            </p:cNvCxnSpPr>
            <p:nvPr/>
          </p:nvCxnSpPr>
          <p:spPr bwMode="auto">
            <a:xfrm flipV="1">
              <a:off x="5539468" y="2415508"/>
              <a:ext cx="389605" cy="75644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1E18B429-F95C-4D30-98E3-835E11F9ECA9}"/>
                </a:ext>
              </a:extLst>
            </p:cNvPr>
            <p:cNvCxnSpPr>
              <a:cxnSpLocks/>
              <a:stCxn id="173" idx="0"/>
              <a:endCxn id="205" idx="0"/>
            </p:cNvCxnSpPr>
            <p:nvPr/>
          </p:nvCxnSpPr>
          <p:spPr bwMode="auto">
            <a:xfrm>
              <a:off x="6051755" y="1905523"/>
              <a:ext cx="206725" cy="108792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9C302649-755B-458E-8E2B-9CB00AB21B57}"/>
                </a:ext>
              </a:extLst>
            </p:cNvPr>
            <p:cNvSpPr/>
            <p:nvPr/>
          </p:nvSpPr>
          <p:spPr bwMode="auto">
            <a:xfrm>
              <a:off x="6392434" y="2137756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B7E043EF-0B2A-44CF-8142-6160F6FD2B32}"/>
                </a:ext>
              </a:extLst>
            </p:cNvPr>
            <p:cNvSpPr/>
            <p:nvPr/>
          </p:nvSpPr>
          <p:spPr bwMode="auto">
            <a:xfrm>
              <a:off x="6377575" y="2152964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F1CF768C-2C47-496F-825B-3E0CA09A54B6}"/>
                </a:ext>
              </a:extLst>
            </p:cNvPr>
            <p:cNvSpPr/>
            <p:nvPr/>
          </p:nvSpPr>
          <p:spPr bwMode="auto">
            <a:xfrm>
              <a:off x="6360430" y="2169760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1FA46867-0EDE-4153-B009-40936168350F}"/>
                </a:ext>
              </a:extLst>
            </p:cNvPr>
            <p:cNvSpPr/>
            <p:nvPr/>
          </p:nvSpPr>
          <p:spPr bwMode="auto">
            <a:xfrm>
              <a:off x="6343666" y="2186873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A5603E66-8DB7-4413-80B1-807CE20812BE}"/>
                </a:ext>
              </a:extLst>
            </p:cNvPr>
            <p:cNvSpPr/>
            <p:nvPr/>
          </p:nvSpPr>
          <p:spPr bwMode="auto">
            <a:xfrm>
              <a:off x="6326521" y="2203669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245533E0-2374-467A-ADBB-853D584CA491}"/>
                </a:ext>
              </a:extLst>
            </p:cNvPr>
            <p:cNvSpPr/>
            <p:nvPr/>
          </p:nvSpPr>
          <p:spPr bwMode="auto">
            <a:xfrm>
              <a:off x="6311662" y="2220782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D69DED89-A5FC-490F-BE70-F26E5654E7A7}"/>
                </a:ext>
              </a:extLst>
            </p:cNvPr>
            <p:cNvSpPr/>
            <p:nvPr/>
          </p:nvSpPr>
          <p:spPr bwMode="auto">
            <a:xfrm>
              <a:off x="6294517" y="2237578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9AFE9B8F-1526-4FE7-AC54-0FB5D9BFA0F4}"/>
                </a:ext>
              </a:extLst>
            </p:cNvPr>
            <p:cNvSpPr/>
            <p:nvPr/>
          </p:nvSpPr>
          <p:spPr bwMode="auto">
            <a:xfrm>
              <a:off x="6277753" y="2254691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23AF300E-A8E0-471A-A2AA-FBAEA6C8BC85}"/>
                </a:ext>
              </a:extLst>
            </p:cNvPr>
            <p:cNvSpPr/>
            <p:nvPr/>
          </p:nvSpPr>
          <p:spPr bwMode="auto">
            <a:xfrm>
              <a:off x="6260608" y="2271487"/>
              <a:ext cx="64008" cy="6400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 kern="0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  <a:cs typeface="Arial" charset="0"/>
              </a:endParaRPr>
            </a:p>
          </p:txBody>
        </p: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1FA528CE-5B0C-421F-ACB2-1351BC442CDC}"/>
                </a:ext>
              </a:extLst>
            </p:cNvPr>
            <p:cNvCxnSpPr>
              <a:cxnSpLocks/>
              <a:stCxn id="225" idx="2"/>
              <a:endCxn id="236" idx="2"/>
            </p:cNvCxnSpPr>
            <p:nvPr/>
          </p:nvCxnSpPr>
          <p:spPr bwMode="auto">
            <a:xfrm flipV="1">
              <a:off x="5929073" y="2335495"/>
              <a:ext cx="363539" cy="80013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8" name="직선 연결선 237">
              <a:extLst>
                <a:ext uri="{FF2B5EF4-FFF2-40B4-BE49-F238E27FC236}">
                  <a16:creationId xmlns:a16="http://schemas.microsoft.com/office/drawing/2014/main" id="{046236D3-C3E5-4EC5-85D0-3444374A1706}"/>
                </a:ext>
              </a:extLst>
            </p:cNvPr>
            <p:cNvCxnSpPr>
              <a:cxnSpLocks/>
              <a:stCxn id="205" idx="0"/>
              <a:endCxn id="228" idx="0"/>
            </p:cNvCxnSpPr>
            <p:nvPr/>
          </p:nvCxnSpPr>
          <p:spPr bwMode="auto">
            <a:xfrm>
              <a:off x="6258480" y="2014315"/>
              <a:ext cx="165958" cy="123441"/>
            </a:xfrm>
            <a:prstGeom prst="line">
              <a:avLst/>
            </a:prstGeom>
            <a:solidFill>
              <a:srgbClr val="5B9BD5"/>
            </a:solidFill>
            <a:ln w="6350" cap="flat" cmpd="sng" algn="ctr">
              <a:solidFill>
                <a:sysClr val="windowText" lastClr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9" name="이등변 삼각형 238">
            <a:extLst>
              <a:ext uri="{FF2B5EF4-FFF2-40B4-BE49-F238E27FC236}">
                <a16:creationId xmlns:a16="http://schemas.microsoft.com/office/drawing/2014/main" id="{2513098E-0578-453A-A130-39660492B294}"/>
              </a:ext>
            </a:extLst>
          </p:cNvPr>
          <p:cNvSpPr/>
          <p:nvPr/>
        </p:nvSpPr>
        <p:spPr bwMode="auto">
          <a:xfrm rot="6184395">
            <a:off x="1724665" y="2718275"/>
            <a:ext cx="1263124" cy="1082620"/>
          </a:xfrm>
          <a:prstGeom prst="triangle">
            <a:avLst>
              <a:gd name="adj" fmla="val 29591"/>
            </a:avLst>
          </a:prstGeom>
          <a:solidFill>
            <a:srgbClr val="FFD966">
              <a:alpha val="3882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866F90E-051D-44DC-A9E2-5FB4ACFCC8A7}"/>
              </a:ext>
            </a:extLst>
          </p:cNvPr>
          <p:cNvSpPr txBox="1"/>
          <p:nvPr/>
        </p:nvSpPr>
        <p:spPr>
          <a:xfrm>
            <a:off x="3887234" y="3916137"/>
            <a:ext cx="5946635" cy="1160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736" b="1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Goal</a:t>
            </a:r>
            <a:r>
              <a:rPr lang="en-US" altLang="ko-KR" sz="1736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:</a:t>
            </a:r>
          </a:p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736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Partition DNN inference for </a:t>
            </a:r>
          </a:p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736" b="1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minimum energy </a:t>
            </a:r>
            <a:r>
              <a:rPr lang="en-US" altLang="ko-KR" sz="1736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and </a:t>
            </a:r>
            <a:r>
              <a:rPr lang="en-US" altLang="ko-KR" sz="1736" b="1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maximum throughput</a:t>
            </a:r>
            <a:br>
              <a:rPr lang="en-US" altLang="ko-KR" sz="1736" b="1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</a:br>
            <a:r>
              <a:rPr lang="en-US" altLang="ko-KR" sz="1736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at the </a:t>
            </a:r>
            <a:r>
              <a:rPr lang="en-US" altLang="ko-KR" sz="1736" b="1" dirty="0">
                <a:solidFill>
                  <a:srgbClr val="C00000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edge platform </a:t>
            </a:r>
            <a:endParaRPr lang="ko-KR" altLang="en-US" sz="1736" b="1" dirty="0">
              <a:solidFill>
                <a:srgbClr val="C00000"/>
              </a:solidFill>
              <a:latin typeface="Arial" charset="0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11C4808-CDC0-4D92-AFEA-0BCC5358B741}"/>
              </a:ext>
            </a:extLst>
          </p:cNvPr>
          <p:cNvSpPr txBox="1"/>
          <p:nvPr/>
        </p:nvSpPr>
        <p:spPr>
          <a:xfrm>
            <a:off x="2426675" y="2319412"/>
            <a:ext cx="1813317" cy="406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04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Edge platform</a:t>
            </a:r>
            <a:endParaRPr lang="ko-KR" altLang="en-US" sz="2041" dirty="0">
              <a:solidFill>
                <a:prstClr val="black"/>
              </a:solidFill>
              <a:latin typeface="Arial" charset="0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DC477024-2E8C-4665-98BC-E47C189E029A}"/>
              </a:ext>
            </a:extLst>
          </p:cNvPr>
          <p:cNvSpPr txBox="1"/>
          <p:nvPr/>
        </p:nvSpPr>
        <p:spPr>
          <a:xfrm>
            <a:off x="6102954" y="2315148"/>
            <a:ext cx="1885453" cy="406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04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Cloud platform</a:t>
            </a:r>
            <a:endParaRPr lang="ko-KR" altLang="en-US" sz="2041" dirty="0">
              <a:solidFill>
                <a:prstClr val="black"/>
              </a:solidFill>
              <a:latin typeface="Arial" charset="0"/>
              <a:ea typeface="맑은 고딕" panose="020B0503020000020004" pitchFamily="50" charset="-127"/>
              <a:cs typeface="Arial" charset="0"/>
            </a:endParaRPr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BC80F4E4-8A5B-43C6-A98E-77E6D5413C09}"/>
              </a:ext>
            </a:extLst>
          </p:cNvPr>
          <p:cNvCxnSpPr>
            <a:cxnSpLocks/>
          </p:cNvCxnSpPr>
          <p:nvPr/>
        </p:nvCxnSpPr>
        <p:spPr bwMode="auto">
          <a:xfrm>
            <a:off x="4469367" y="3175283"/>
            <a:ext cx="1359046" cy="0"/>
          </a:xfrm>
          <a:prstGeom prst="line">
            <a:avLst/>
          </a:prstGeom>
          <a:solidFill>
            <a:srgbClr val="5B9BD5"/>
          </a:solidFill>
          <a:ln w="285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8B372D82-0F13-4068-9A9D-465E397414EE}"/>
              </a:ext>
            </a:extLst>
          </p:cNvPr>
          <p:cNvSpPr/>
          <p:nvPr/>
        </p:nvSpPr>
        <p:spPr bwMode="auto">
          <a:xfrm>
            <a:off x="3207186" y="911093"/>
            <a:ext cx="3618359" cy="1036796"/>
          </a:xfrm>
          <a:prstGeom prst="roundRect">
            <a:avLst/>
          </a:prstGeom>
          <a:noFill/>
          <a:ln w="19050" cap="flat" cmpd="sng" algn="ctr">
            <a:solidFill>
              <a:srgbClr val="4472C4">
                <a:lumMod val="50000"/>
              </a:srgb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 kern="0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  <a:cs typeface="Arial" charset="0"/>
            </a:endParaRPr>
          </a:p>
        </p:txBody>
      </p: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76A42854-A9A2-4ED9-93BB-661F7F0FCF94}"/>
              </a:ext>
            </a:extLst>
          </p:cNvPr>
          <p:cNvCxnSpPr>
            <a:cxnSpLocks/>
            <a:endCxn id="243" idx="0"/>
          </p:cNvCxnSpPr>
          <p:nvPr/>
        </p:nvCxnSpPr>
        <p:spPr bwMode="auto">
          <a:xfrm>
            <a:off x="6426450" y="1971247"/>
            <a:ext cx="619231" cy="343901"/>
          </a:xfrm>
          <a:prstGeom prst="line">
            <a:avLst/>
          </a:prstGeom>
          <a:solidFill>
            <a:srgbClr val="5B9BD5"/>
          </a:solidFill>
          <a:ln w="38100" cap="flat" cmpd="sng" algn="ctr">
            <a:solidFill>
              <a:srgbClr val="4472C4">
                <a:lumMod val="50000"/>
              </a:srgbClr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728482E5-5931-42CC-B135-99FF2F2C2F81}"/>
              </a:ext>
            </a:extLst>
          </p:cNvPr>
          <p:cNvCxnSpPr>
            <a:cxnSpLocks/>
            <a:endCxn id="242" idx="0"/>
          </p:cNvCxnSpPr>
          <p:nvPr/>
        </p:nvCxnSpPr>
        <p:spPr bwMode="auto">
          <a:xfrm flipH="1">
            <a:off x="3333334" y="1971247"/>
            <a:ext cx="389741" cy="348165"/>
          </a:xfrm>
          <a:prstGeom prst="line">
            <a:avLst/>
          </a:prstGeom>
          <a:solidFill>
            <a:srgbClr val="5B9BD5"/>
          </a:solidFill>
          <a:ln w="38100" cap="flat" cmpd="sng" algn="ctr">
            <a:solidFill>
              <a:srgbClr val="4472C4">
                <a:lumMod val="50000"/>
              </a:srgbClr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A34D4B97-17B7-40E0-A7DA-2CCB75A60E84}"/>
              </a:ext>
            </a:extLst>
          </p:cNvPr>
          <p:cNvSpPr txBox="1"/>
          <p:nvPr/>
        </p:nvSpPr>
        <p:spPr>
          <a:xfrm>
            <a:off x="4621981" y="3201041"/>
            <a:ext cx="1077539" cy="650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814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Wireless</a:t>
            </a:r>
          </a:p>
          <a:p>
            <a:pPr algn="ctr"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814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TX</a:t>
            </a:r>
            <a:endParaRPr lang="ko-KR" altLang="en-US" sz="1814" dirty="0">
              <a:solidFill>
                <a:prstClr val="black"/>
              </a:solidFill>
              <a:latin typeface="Arial" charset="0"/>
              <a:ea typeface="맑은 고딕" panose="020B0503020000020004" pitchFamily="50" charset="-127"/>
              <a:cs typeface="Arial" charset="0"/>
            </a:endParaRPr>
          </a:p>
        </p:txBody>
      </p: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D6464E8E-2308-4718-B5AD-FD75D6A354D3}"/>
              </a:ext>
            </a:extLst>
          </p:cNvPr>
          <p:cNvCxnSpPr>
            <a:cxnSpLocks/>
            <a:stCxn id="131" idx="0"/>
          </p:cNvCxnSpPr>
          <p:nvPr/>
        </p:nvCxnSpPr>
        <p:spPr bwMode="auto">
          <a:xfrm flipV="1">
            <a:off x="2211566" y="3600444"/>
            <a:ext cx="755022" cy="538402"/>
          </a:xfrm>
          <a:prstGeom prst="line">
            <a:avLst/>
          </a:prstGeom>
          <a:solidFill>
            <a:srgbClr val="5B9BD5"/>
          </a:solidFill>
          <a:ln w="38100" cap="flat" cmpd="sng" algn="ctr">
            <a:solidFill>
              <a:sysClr val="windowText" lastClr="00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pic>
        <p:nvPicPr>
          <p:cNvPr id="240" name="그림 239">
            <a:extLst>
              <a:ext uri="{FF2B5EF4-FFF2-40B4-BE49-F238E27FC236}">
                <a16:creationId xmlns:a16="http://schemas.microsoft.com/office/drawing/2014/main" id="{3994D45C-E738-4D3F-B0E7-78933868377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9"/>
              </a:clrFrom>
              <a:clrTo>
                <a:srgbClr val="FFFFF9">
                  <a:alpha val="0"/>
                </a:srgbClr>
              </a:clrTo>
            </a:clrChange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0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8179" y="2945187"/>
            <a:ext cx="1164738" cy="655257"/>
          </a:xfrm>
          <a:prstGeom prst="rect">
            <a:avLst/>
          </a:prstGeom>
          <a:ln>
            <a:noFill/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6DAD9A-FE99-4409-B6CE-32DA33058587}"/>
              </a:ext>
            </a:extLst>
          </p:cNvPr>
          <p:cNvSpPr/>
          <p:nvPr/>
        </p:nvSpPr>
        <p:spPr>
          <a:xfrm>
            <a:off x="7942484" y="3113984"/>
            <a:ext cx="510140" cy="301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8419" latinLnBrk="0">
              <a:defRPr/>
            </a:pPr>
            <a:r>
              <a:rPr lang="en-US" altLang="ko-KR" sz="1361" dirty="0">
                <a:solidFill>
                  <a:prstClr val="black"/>
                </a:solidFill>
                <a:latin typeface="Arial" charset="0"/>
                <a:ea typeface="맑은 고딕" panose="020B0503020000020004" pitchFamily="50" charset="-127"/>
                <a:cs typeface="Arial" charset="0"/>
              </a:rPr>
              <a:t>‘car’</a:t>
            </a:r>
            <a:endParaRPr lang="ko-KR" altLang="en-US" sz="136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04FDBF9-9E65-41B4-9897-EE6B5DE46F6B}"/>
              </a:ext>
            </a:extLst>
          </p:cNvPr>
          <p:cNvSpPr txBox="1"/>
          <p:nvPr/>
        </p:nvSpPr>
        <p:spPr>
          <a:xfrm>
            <a:off x="-728206" y="5142710"/>
            <a:ext cx="11087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[1] </a:t>
            </a:r>
            <a:r>
              <a:rPr lang="en-US" altLang="ko-KR" sz="800" b="1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J. H. Ko </a:t>
            </a:r>
            <a:r>
              <a:rPr lang="en-US" altLang="ko-KR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et al., Edge-Host Partitioning of Deep Neural Networks with Feature Space Encoding for Resource-Constrained Internet-of-Things Platforms, AVSS 2018</a:t>
            </a:r>
          </a:p>
          <a:p>
            <a:pPr algn="r" defTabSz="518419" latinLnBrk="0">
              <a:defRPr/>
            </a:pPr>
            <a:r>
              <a:rPr lang="en-US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[2] M. F. Amir, </a:t>
            </a:r>
            <a:r>
              <a:rPr lang="en-US" sz="800" b="1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J. H. Ko </a:t>
            </a:r>
            <a:r>
              <a:rPr lang="en-US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et al., 3-D Stacked Image Sensor With Deep Neural Network Computation, IEEE Sensors Journal, 2018</a:t>
            </a:r>
          </a:p>
          <a:p>
            <a:pPr algn="r" defTabSz="518419" latinLnBrk="0">
              <a:defRPr/>
            </a:pPr>
            <a:r>
              <a:rPr lang="en-US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[3] B. A. Mudassar, </a:t>
            </a:r>
            <a:r>
              <a:rPr lang="en-US" sz="800" b="1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J. H. Ko</a:t>
            </a:r>
            <a:r>
              <a:rPr lang="en-US" sz="800" kern="0" dirty="0">
                <a:solidFill>
                  <a:schemeClr val="bg1">
                    <a:lumMod val="50000"/>
                  </a:schemeClr>
                </a:solidFill>
                <a:latin typeface="Calibri Light" panose="020F0302020204030204"/>
                <a:ea typeface="굴림" pitchFamily="34" charset="-127"/>
                <a:cs typeface="Times New Roman" panose="02020603050405020304" pitchFamily="18" charset="0"/>
              </a:rPr>
              <a:t> et al., Edge-cloud collaborative processing for intelligent internet of things: a case study on smart surveillance, DAC 2018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124ECC8-6E21-DCA3-FD26-ED287ECD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7008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241" grpId="0"/>
      <p:bldP spid="247" grpId="0" animBg="1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제목 225">
            <a:extLst>
              <a:ext uri="{FF2B5EF4-FFF2-40B4-BE49-F238E27FC236}">
                <a16:creationId xmlns:a16="http://schemas.microsoft.com/office/drawing/2014/main" id="{DA9E3139-D123-F3E5-8422-09F9F383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6A7170-AE92-49F5-9BC2-11C94C4772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8A9D6A-9D4B-8602-351C-58A553EE59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Three Inference Approaches to Edge-Cloud Collaboration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C2B3B7-4838-4433-A9F5-7835A50B5F24}"/>
              </a:ext>
            </a:extLst>
          </p:cNvPr>
          <p:cNvSpPr/>
          <p:nvPr/>
        </p:nvSpPr>
        <p:spPr bwMode="auto">
          <a:xfrm>
            <a:off x="2990745" y="1244145"/>
            <a:ext cx="1074149" cy="10367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C2AC45-0435-468B-86B6-CE0E3B7C6C24}"/>
              </a:ext>
            </a:extLst>
          </p:cNvPr>
          <p:cNvSpPr/>
          <p:nvPr/>
        </p:nvSpPr>
        <p:spPr bwMode="auto">
          <a:xfrm>
            <a:off x="4822579" y="1240388"/>
            <a:ext cx="4975241" cy="1036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2723915-6508-4F65-B26B-CD9720EC56DC}"/>
              </a:ext>
            </a:extLst>
          </p:cNvPr>
          <p:cNvSpPr txBox="1"/>
          <p:nvPr/>
        </p:nvSpPr>
        <p:spPr>
          <a:xfrm>
            <a:off x="4020587" y="1808446"/>
            <a:ext cx="839397" cy="546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518419" latinLnBrk="0">
              <a:defRPr/>
            </a:pPr>
            <a:r>
              <a:rPr lang="en-US" altLang="ko-KR" sz="147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Wireless</a:t>
            </a:r>
            <a:br>
              <a:rPr lang="en-US" altLang="ko-KR" sz="147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147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TX</a:t>
            </a:r>
            <a:endParaRPr lang="ko-KR" altLang="en-US" sz="1474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9D6EBF2-3526-4F85-AC87-0FD0A5D119A5}"/>
              </a:ext>
            </a:extLst>
          </p:cNvPr>
          <p:cNvSpPr/>
          <p:nvPr/>
        </p:nvSpPr>
        <p:spPr bwMode="auto">
          <a:xfrm>
            <a:off x="6039791" y="1352937"/>
            <a:ext cx="622078" cy="622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37DAD70-9C0E-4066-98A4-3F48853684D1}"/>
              </a:ext>
            </a:extLst>
          </p:cNvPr>
          <p:cNvSpPr/>
          <p:nvPr/>
        </p:nvSpPr>
        <p:spPr bwMode="auto">
          <a:xfrm>
            <a:off x="5987952" y="1413416"/>
            <a:ext cx="622078" cy="622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D99A6B6-7C1E-4645-9620-58120FE49100}"/>
              </a:ext>
            </a:extLst>
          </p:cNvPr>
          <p:cNvSpPr/>
          <p:nvPr/>
        </p:nvSpPr>
        <p:spPr bwMode="auto">
          <a:xfrm>
            <a:off x="5927472" y="1482536"/>
            <a:ext cx="622078" cy="622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7CA366F-FD3B-4D15-A24A-9B6EDF936628}"/>
              </a:ext>
            </a:extLst>
          </p:cNvPr>
          <p:cNvSpPr/>
          <p:nvPr/>
        </p:nvSpPr>
        <p:spPr bwMode="auto">
          <a:xfrm>
            <a:off x="5875632" y="1543016"/>
            <a:ext cx="622078" cy="6220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C7C5B041-77A9-46F0-AE5F-A52627F9626E}"/>
              </a:ext>
            </a:extLst>
          </p:cNvPr>
          <p:cNvSpPr/>
          <p:nvPr/>
        </p:nvSpPr>
        <p:spPr bwMode="auto">
          <a:xfrm>
            <a:off x="7028780" y="1392536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347B37A-6271-46FA-BAAB-574CD68BBDBE}"/>
              </a:ext>
            </a:extLst>
          </p:cNvPr>
          <p:cNvSpPr/>
          <p:nvPr/>
        </p:nvSpPr>
        <p:spPr bwMode="auto">
          <a:xfrm>
            <a:off x="6988460" y="1437536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A5078FE-3C45-40DD-BE44-CB3DBB843742}"/>
              </a:ext>
            </a:extLst>
          </p:cNvPr>
          <p:cNvSpPr/>
          <p:nvPr/>
        </p:nvSpPr>
        <p:spPr bwMode="auto">
          <a:xfrm>
            <a:off x="6948140" y="1482536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BBB8F8E1-2B4B-418A-9B02-35BC7A440615}"/>
              </a:ext>
            </a:extLst>
          </p:cNvPr>
          <p:cNvSpPr/>
          <p:nvPr/>
        </p:nvSpPr>
        <p:spPr bwMode="auto">
          <a:xfrm>
            <a:off x="6912141" y="1527537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A69E586-5F0A-44F2-9FF9-BBA7DDDEFCAD}"/>
              </a:ext>
            </a:extLst>
          </p:cNvPr>
          <p:cNvSpPr/>
          <p:nvPr/>
        </p:nvSpPr>
        <p:spPr bwMode="auto">
          <a:xfrm>
            <a:off x="6876141" y="1564974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5C3E838-EC44-440B-930D-9909505032A1}"/>
              </a:ext>
            </a:extLst>
          </p:cNvPr>
          <p:cNvSpPr/>
          <p:nvPr/>
        </p:nvSpPr>
        <p:spPr bwMode="auto">
          <a:xfrm>
            <a:off x="6835821" y="1605655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C7BC610-0A4B-4856-B7FC-3215D467DF4F}"/>
              </a:ext>
            </a:extLst>
          </p:cNvPr>
          <p:cNvSpPr/>
          <p:nvPr/>
        </p:nvSpPr>
        <p:spPr bwMode="auto">
          <a:xfrm>
            <a:off x="6795501" y="1650655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2D2C14D2-1EFB-4C34-8CCD-C6091A27CA67}"/>
              </a:ext>
            </a:extLst>
          </p:cNvPr>
          <p:cNvSpPr/>
          <p:nvPr/>
        </p:nvSpPr>
        <p:spPr bwMode="auto">
          <a:xfrm>
            <a:off x="6746541" y="1695656"/>
            <a:ext cx="431998" cy="426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C0E4354-1187-455A-9636-A7B33F51099B}"/>
              </a:ext>
            </a:extLst>
          </p:cNvPr>
          <p:cNvSpPr/>
          <p:nvPr/>
        </p:nvSpPr>
        <p:spPr bwMode="auto">
          <a:xfrm>
            <a:off x="7907177" y="1428626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D158AE6-0C44-4576-AE43-0224A5ACC431}"/>
              </a:ext>
            </a:extLst>
          </p:cNvPr>
          <p:cNvSpPr/>
          <p:nvPr/>
        </p:nvSpPr>
        <p:spPr bwMode="auto">
          <a:xfrm>
            <a:off x="7879817" y="1456165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2987B95A-16CD-4114-B0EC-3FCA9F822B01}"/>
              </a:ext>
            </a:extLst>
          </p:cNvPr>
          <p:cNvSpPr/>
          <p:nvPr/>
        </p:nvSpPr>
        <p:spPr bwMode="auto">
          <a:xfrm>
            <a:off x="7852457" y="1485326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D1243D32-D4F6-436B-B9FB-4C5FCE288838}"/>
              </a:ext>
            </a:extLst>
          </p:cNvPr>
          <p:cNvSpPr/>
          <p:nvPr/>
        </p:nvSpPr>
        <p:spPr bwMode="auto">
          <a:xfrm>
            <a:off x="7825097" y="1512865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49B2434-B3CB-4991-8104-D0AC70D17794}"/>
              </a:ext>
            </a:extLst>
          </p:cNvPr>
          <p:cNvSpPr/>
          <p:nvPr/>
        </p:nvSpPr>
        <p:spPr bwMode="auto">
          <a:xfrm>
            <a:off x="7797017" y="1541934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E335F54-396E-43A8-9332-0C52AA0F5E0B}"/>
              </a:ext>
            </a:extLst>
          </p:cNvPr>
          <p:cNvSpPr/>
          <p:nvPr/>
        </p:nvSpPr>
        <p:spPr bwMode="auto">
          <a:xfrm>
            <a:off x="7769657" y="1569473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31883B3-69A6-4065-89D4-13C6DE4F78FE}"/>
              </a:ext>
            </a:extLst>
          </p:cNvPr>
          <p:cNvSpPr/>
          <p:nvPr/>
        </p:nvSpPr>
        <p:spPr bwMode="auto">
          <a:xfrm>
            <a:off x="7742297" y="1598635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2FD48B2-B861-4B59-B663-BDF33B86A891}"/>
              </a:ext>
            </a:extLst>
          </p:cNvPr>
          <p:cNvSpPr/>
          <p:nvPr/>
        </p:nvSpPr>
        <p:spPr bwMode="auto">
          <a:xfrm>
            <a:off x="7714937" y="1626174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7D48575-C6EC-4F37-A9C4-FFE5643DEB10}"/>
              </a:ext>
            </a:extLst>
          </p:cNvPr>
          <p:cNvSpPr/>
          <p:nvPr/>
        </p:nvSpPr>
        <p:spPr bwMode="auto">
          <a:xfrm>
            <a:off x="7689017" y="1653085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AC921EB6-CF6A-4FE1-9484-45033FC018CF}"/>
              </a:ext>
            </a:extLst>
          </p:cNvPr>
          <p:cNvSpPr/>
          <p:nvPr/>
        </p:nvSpPr>
        <p:spPr bwMode="auto">
          <a:xfrm>
            <a:off x="7661658" y="1680624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35BEBBF-B27B-4EC5-A25F-89F80AD0CF5D}"/>
              </a:ext>
            </a:extLst>
          </p:cNvPr>
          <p:cNvSpPr/>
          <p:nvPr/>
        </p:nvSpPr>
        <p:spPr bwMode="auto">
          <a:xfrm>
            <a:off x="7634298" y="1709785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8604564-80F7-49D0-9BE1-566EE7FEB85E}"/>
              </a:ext>
            </a:extLst>
          </p:cNvPr>
          <p:cNvSpPr/>
          <p:nvPr/>
        </p:nvSpPr>
        <p:spPr bwMode="auto">
          <a:xfrm>
            <a:off x="7606938" y="1737324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8E66F79-BF79-4F84-B713-DEF294C9A314}"/>
              </a:ext>
            </a:extLst>
          </p:cNvPr>
          <p:cNvSpPr/>
          <p:nvPr/>
        </p:nvSpPr>
        <p:spPr bwMode="auto">
          <a:xfrm>
            <a:off x="7578858" y="1766393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31EA26EF-0876-4BD3-A453-55281DC283A2}"/>
              </a:ext>
            </a:extLst>
          </p:cNvPr>
          <p:cNvSpPr/>
          <p:nvPr/>
        </p:nvSpPr>
        <p:spPr bwMode="auto">
          <a:xfrm>
            <a:off x="7551498" y="1793932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27E7BCD3-BA38-46C6-9B86-E5AA52DDD8F2}"/>
              </a:ext>
            </a:extLst>
          </p:cNvPr>
          <p:cNvSpPr/>
          <p:nvPr/>
        </p:nvSpPr>
        <p:spPr bwMode="auto">
          <a:xfrm>
            <a:off x="7524138" y="1823094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76D2DE4-1EB3-42FE-B9F2-532E1B652BF4}"/>
              </a:ext>
            </a:extLst>
          </p:cNvPr>
          <p:cNvSpPr/>
          <p:nvPr/>
        </p:nvSpPr>
        <p:spPr bwMode="auto">
          <a:xfrm>
            <a:off x="7494980" y="1852162"/>
            <a:ext cx="298079" cy="2811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EDC6A1F-EE04-46C4-9ACC-5F1A0BBCA171}"/>
              </a:ext>
            </a:extLst>
          </p:cNvPr>
          <p:cNvSpPr/>
          <p:nvPr/>
        </p:nvSpPr>
        <p:spPr bwMode="auto">
          <a:xfrm>
            <a:off x="6242652" y="1927762"/>
            <a:ext cx="143639" cy="134551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4ACB95C5-47F3-4C66-8FFD-B2590457715C}"/>
              </a:ext>
            </a:extLst>
          </p:cNvPr>
          <p:cNvCxnSpPr>
            <a:cxnSpLocks/>
            <a:stCxn id="150" idx="0"/>
            <a:endCxn id="152" idx="0"/>
          </p:cNvCxnSpPr>
          <p:nvPr/>
        </p:nvCxnSpPr>
        <p:spPr bwMode="auto">
          <a:xfrm>
            <a:off x="6314471" y="1927761"/>
            <a:ext cx="755170" cy="45293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3FE3FF30-CCCA-4887-9033-95990F485F91}"/>
              </a:ext>
            </a:extLst>
          </p:cNvPr>
          <p:cNvSpPr/>
          <p:nvPr/>
        </p:nvSpPr>
        <p:spPr bwMode="auto">
          <a:xfrm>
            <a:off x="7028781" y="1973054"/>
            <a:ext cx="81720" cy="90139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543A519F-E58E-4EE4-9B1C-746453521815}"/>
              </a:ext>
            </a:extLst>
          </p:cNvPr>
          <p:cNvCxnSpPr>
            <a:cxnSpLocks/>
            <a:stCxn id="150" idx="2"/>
            <a:endCxn id="152" idx="2"/>
          </p:cNvCxnSpPr>
          <p:nvPr/>
        </p:nvCxnSpPr>
        <p:spPr bwMode="auto">
          <a:xfrm>
            <a:off x="6314471" y="2062313"/>
            <a:ext cx="755170" cy="881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5CF0BA8E-F7CF-4BF1-96AB-0093C04DE820}"/>
              </a:ext>
            </a:extLst>
          </p:cNvPr>
          <p:cNvSpPr/>
          <p:nvPr/>
        </p:nvSpPr>
        <p:spPr bwMode="auto">
          <a:xfrm>
            <a:off x="6929223" y="1743524"/>
            <a:ext cx="143639" cy="134551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7C7F05BB-F8F6-4C94-A989-4C213B2E2566}"/>
              </a:ext>
            </a:extLst>
          </p:cNvPr>
          <p:cNvCxnSpPr>
            <a:cxnSpLocks/>
            <a:stCxn id="154" idx="0"/>
            <a:endCxn id="156" idx="0"/>
          </p:cNvCxnSpPr>
          <p:nvPr/>
        </p:nvCxnSpPr>
        <p:spPr bwMode="auto">
          <a:xfrm>
            <a:off x="7001043" y="1743524"/>
            <a:ext cx="651434" cy="134381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9F2B918-8C61-4048-9C51-0AF95F69B58B}"/>
              </a:ext>
            </a:extLst>
          </p:cNvPr>
          <p:cNvSpPr/>
          <p:nvPr/>
        </p:nvSpPr>
        <p:spPr bwMode="auto">
          <a:xfrm>
            <a:off x="7611617" y="1877904"/>
            <a:ext cx="81720" cy="90139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4281329D-4E27-44ED-A7A2-0615669B94DA}"/>
              </a:ext>
            </a:extLst>
          </p:cNvPr>
          <p:cNvCxnSpPr>
            <a:cxnSpLocks/>
            <a:stCxn id="154" idx="2"/>
            <a:endCxn id="156" idx="2"/>
          </p:cNvCxnSpPr>
          <p:nvPr/>
        </p:nvCxnSpPr>
        <p:spPr bwMode="auto">
          <a:xfrm>
            <a:off x="7001043" y="1878074"/>
            <a:ext cx="651434" cy="89969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61D10BD-4E5F-4B6F-9FE7-35F779E4F4EF}"/>
              </a:ext>
            </a:extLst>
          </p:cNvPr>
          <p:cNvCxnSpPr>
            <a:cxnSpLocks/>
            <a:stCxn id="149" idx="2"/>
            <a:endCxn id="191" idx="2"/>
          </p:cNvCxnSpPr>
          <p:nvPr/>
        </p:nvCxnSpPr>
        <p:spPr bwMode="auto">
          <a:xfrm>
            <a:off x="7644020" y="2133323"/>
            <a:ext cx="449781" cy="7219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04093DB6-43CE-4028-9053-634DB8414CC9}"/>
              </a:ext>
            </a:extLst>
          </p:cNvPr>
          <p:cNvCxnSpPr>
            <a:cxnSpLocks/>
            <a:stCxn id="134" idx="0"/>
            <a:endCxn id="160" idx="0"/>
          </p:cNvCxnSpPr>
          <p:nvPr/>
        </p:nvCxnSpPr>
        <p:spPr bwMode="auto">
          <a:xfrm>
            <a:off x="8056216" y="1428627"/>
            <a:ext cx="618443" cy="47897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70B8629-6C6D-4440-A1B2-B65BA9687EAF}"/>
              </a:ext>
            </a:extLst>
          </p:cNvPr>
          <p:cNvSpPr/>
          <p:nvPr/>
        </p:nvSpPr>
        <p:spPr bwMode="auto">
          <a:xfrm>
            <a:off x="8638371" y="147652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8614939-3ECA-487F-8E28-47F4E7743693}"/>
              </a:ext>
            </a:extLst>
          </p:cNvPr>
          <p:cNvSpPr/>
          <p:nvPr/>
        </p:nvSpPr>
        <p:spPr bwMode="auto">
          <a:xfrm>
            <a:off x="8618931" y="149556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5222E6CE-9EEA-4B1A-9FBF-6A394D09BD64}"/>
              </a:ext>
            </a:extLst>
          </p:cNvPr>
          <p:cNvSpPr/>
          <p:nvPr/>
        </p:nvSpPr>
        <p:spPr bwMode="auto">
          <a:xfrm>
            <a:off x="8599923" y="151497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818669C7-AEC0-4374-9060-330E931668B4}"/>
              </a:ext>
            </a:extLst>
          </p:cNvPr>
          <p:cNvSpPr/>
          <p:nvPr/>
        </p:nvSpPr>
        <p:spPr bwMode="auto">
          <a:xfrm>
            <a:off x="8580483" y="153401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716FD3B-2345-4B43-B0B9-59533A0EB415}"/>
              </a:ext>
            </a:extLst>
          </p:cNvPr>
          <p:cNvSpPr/>
          <p:nvPr/>
        </p:nvSpPr>
        <p:spPr bwMode="auto">
          <a:xfrm>
            <a:off x="8563635" y="155341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45839678-EDA1-4813-86B8-8600FE8AE458}"/>
              </a:ext>
            </a:extLst>
          </p:cNvPr>
          <p:cNvSpPr/>
          <p:nvPr/>
        </p:nvSpPr>
        <p:spPr bwMode="auto">
          <a:xfrm>
            <a:off x="8544195" y="157246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43ADABEC-BB7D-4EFA-BA41-B44D97E76236}"/>
              </a:ext>
            </a:extLst>
          </p:cNvPr>
          <p:cNvSpPr/>
          <p:nvPr/>
        </p:nvSpPr>
        <p:spPr bwMode="auto">
          <a:xfrm>
            <a:off x="8525187" y="159186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B17646F7-B98C-42AB-A296-F2AB9D398197}"/>
              </a:ext>
            </a:extLst>
          </p:cNvPr>
          <p:cNvSpPr/>
          <p:nvPr/>
        </p:nvSpPr>
        <p:spPr bwMode="auto">
          <a:xfrm>
            <a:off x="8505747" y="161091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562EB3A-AD87-4CBD-9F2E-886D8A022A8A}"/>
              </a:ext>
            </a:extLst>
          </p:cNvPr>
          <p:cNvSpPr/>
          <p:nvPr/>
        </p:nvSpPr>
        <p:spPr bwMode="auto">
          <a:xfrm>
            <a:off x="8488899" y="162815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A3C0FF1-D72F-4292-930F-D03241B5C5B0}"/>
              </a:ext>
            </a:extLst>
          </p:cNvPr>
          <p:cNvSpPr/>
          <p:nvPr/>
        </p:nvSpPr>
        <p:spPr bwMode="auto">
          <a:xfrm>
            <a:off x="8469459" y="164719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803C7C50-4E76-47AE-802F-991501D2B16B}"/>
              </a:ext>
            </a:extLst>
          </p:cNvPr>
          <p:cNvSpPr/>
          <p:nvPr/>
        </p:nvSpPr>
        <p:spPr bwMode="auto">
          <a:xfrm>
            <a:off x="8450451" y="166660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36210E32-9E80-4326-BA65-4436847888E9}"/>
              </a:ext>
            </a:extLst>
          </p:cNvPr>
          <p:cNvSpPr/>
          <p:nvPr/>
        </p:nvSpPr>
        <p:spPr bwMode="auto">
          <a:xfrm>
            <a:off x="8431012" y="168564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74FE006C-F0D0-4571-AEF6-477B01C0E5AC}"/>
              </a:ext>
            </a:extLst>
          </p:cNvPr>
          <p:cNvSpPr/>
          <p:nvPr/>
        </p:nvSpPr>
        <p:spPr bwMode="auto">
          <a:xfrm>
            <a:off x="8414164" y="170505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3D868D-79D0-4CB9-8F7D-15CB17B053C5}"/>
              </a:ext>
            </a:extLst>
          </p:cNvPr>
          <p:cNvSpPr/>
          <p:nvPr/>
        </p:nvSpPr>
        <p:spPr bwMode="auto">
          <a:xfrm>
            <a:off x="8394724" y="172409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73D447F-4245-4547-9E4D-DC6828712DFE}"/>
              </a:ext>
            </a:extLst>
          </p:cNvPr>
          <p:cNvSpPr/>
          <p:nvPr/>
        </p:nvSpPr>
        <p:spPr bwMode="auto">
          <a:xfrm>
            <a:off x="8375716" y="174349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74170530-D3F6-499E-96B5-52E40D7018F7}"/>
              </a:ext>
            </a:extLst>
          </p:cNvPr>
          <p:cNvSpPr/>
          <p:nvPr/>
        </p:nvSpPr>
        <p:spPr bwMode="auto">
          <a:xfrm>
            <a:off x="8356276" y="176254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E6B37CB4-3F90-42A4-905C-07250E61D5F9}"/>
              </a:ext>
            </a:extLst>
          </p:cNvPr>
          <p:cNvSpPr/>
          <p:nvPr/>
        </p:nvSpPr>
        <p:spPr bwMode="auto">
          <a:xfrm>
            <a:off x="8339607" y="1781946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B5C395F1-F8C7-42D7-B328-D8ABB9711626}"/>
              </a:ext>
            </a:extLst>
          </p:cNvPr>
          <p:cNvSpPr/>
          <p:nvPr/>
        </p:nvSpPr>
        <p:spPr bwMode="auto">
          <a:xfrm>
            <a:off x="8320167" y="180099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0A5C8022-CA8C-40E8-972B-CC34F324B67E}"/>
              </a:ext>
            </a:extLst>
          </p:cNvPr>
          <p:cNvSpPr/>
          <p:nvPr/>
        </p:nvSpPr>
        <p:spPr bwMode="auto">
          <a:xfrm>
            <a:off x="8301159" y="1820394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2E261995-B62A-4FE3-9ABA-795EC5C1F2A6}"/>
              </a:ext>
            </a:extLst>
          </p:cNvPr>
          <p:cNvSpPr/>
          <p:nvPr/>
        </p:nvSpPr>
        <p:spPr bwMode="auto">
          <a:xfrm>
            <a:off x="8281719" y="183943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500AB4E5-50D7-4108-941A-1CCF53008252}"/>
              </a:ext>
            </a:extLst>
          </p:cNvPr>
          <p:cNvSpPr/>
          <p:nvPr/>
        </p:nvSpPr>
        <p:spPr bwMode="auto">
          <a:xfrm>
            <a:off x="8264871" y="1858842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C095103-2D9A-49CB-9711-C0CB1642D745}"/>
              </a:ext>
            </a:extLst>
          </p:cNvPr>
          <p:cNvSpPr/>
          <p:nvPr/>
        </p:nvSpPr>
        <p:spPr bwMode="auto">
          <a:xfrm>
            <a:off x="8245431" y="1877886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22A9B983-80B6-4C70-A663-AF957817A680}"/>
              </a:ext>
            </a:extLst>
          </p:cNvPr>
          <p:cNvSpPr/>
          <p:nvPr/>
        </p:nvSpPr>
        <p:spPr bwMode="auto">
          <a:xfrm>
            <a:off x="8226423" y="189729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2E9537C7-54CA-4588-9C3B-22543A046FCC}"/>
              </a:ext>
            </a:extLst>
          </p:cNvPr>
          <p:cNvSpPr/>
          <p:nvPr/>
        </p:nvSpPr>
        <p:spPr bwMode="auto">
          <a:xfrm>
            <a:off x="8206983" y="1916334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7A4B91AF-3EAB-43E2-A033-7D42182AA5AE}"/>
              </a:ext>
            </a:extLst>
          </p:cNvPr>
          <p:cNvSpPr/>
          <p:nvPr/>
        </p:nvSpPr>
        <p:spPr bwMode="auto">
          <a:xfrm>
            <a:off x="8190136" y="193357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8FCC2A72-2FC2-4379-95A9-B0454F9B34B5}"/>
              </a:ext>
            </a:extLst>
          </p:cNvPr>
          <p:cNvSpPr/>
          <p:nvPr/>
        </p:nvSpPr>
        <p:spPr bwMode="auto">
          <a:xfrm>
            <a:off x="8170696" y="1952622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F72A5DA-9649-4AA4-892E-3335D2BFD9F0}"/>
              </a:ext>
            </a:extLst>
          </p:cNvPr>
          <p:cNvSpPr/>
          <p:nvPr/>
        </p:nvSpPr>
        <p:spPr bwMode="auto">
          <a:xfrm>
            <a:off x="8151688" y="197202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97D0EC19-06AD-4A8D-A4F5-FAECF392A74D}"/>
              </a:ext>
            </a:extLst>
          </p:cNvPr>
          <p:cNvSpPr/>
          <p:nvPr/>
        </p:nvSpPr>
        <p:spPr bwMode="auto">
          <a:xfrm>
            <a:off x="8132248" y="199107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5A67152F-CB82-48BC-B4F2-75F279ED3842}"/>
              </a:ext>
            </a:extLst>
          </p:cNvPr>
          <p:cNvSpPr/>
          <p:nvPr/>
        </p:nvSpPr>
        <p:spPr bwMode="auto">
          <a:xfrm>
            <a:off x="8115400" y="201047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D33EB8E0-F44E-44AF-A2BB-FCFB2A02C762}"/>
              </a:ext>
            </a:extLst>
          </p:cNvPr>
          <p:cNvSpPr/>
          <p:nvPr/>
        </p:nvSpPr>
        <p:spPr bwMode="auto">
          <a:xfrm>
            <a:off x="8095960" y="202951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18259B8-59B1-445A-8D81-32641BB9870E}"/>
              </a:ext>
            </a:extLst>
          </p:cNvPr>
          <p:cNvSpPr/>
          <p:nvPr/>
        </p:nvSpPr>
        <p:spPr bwMode="auto">
          <a:xfrm>
            <a:off x="8076952" y="204892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B15C11F9-D5A9-40FE-99FA-745026211DD8}"/>
              </a:ext>
            </a:extLst>
          </p:cNvPr>
          <p:cNvSpPr/>
          <p:nvPr/>
        </p:nvSpPr>
        <p:spPr bwMode="auto">
          <a:xfrm>
            <a:off x="8057512" y="206796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8C8C489A-0F80-4D61-B0BA-64CA64985CA8}"/>
              </a:ext>
            </a:extLst>
          </p:cNvPr>
          <p:cNvSpPr/>
          <p:nvPr/>
        </p:nvSpPr>
        <p:spPr bwMode="auto">
          <a:xfrm>
            <a:off x="8872767" y="159987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FAFCE8C5-B73D-443B-B851-06E8DE5B55D0}"/>
              </a:ext>
            </a:extLst>
          </p:cNvPr>
          <p:cNvSpPr/>
          <p:nvPr/>
        </p:nvSpPr>
        <p:spPr bwMode="auto">
          <a:xfrm>
            <a:off x="8855919" y="161928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A83DCEE2-1350-48C3-8C3A-FB0F9BD279EF}"/>
              </a:ext>
            </a:extLst>
          </p:cNvPr>
          <p:cNvSpPr/>
          <p:nvPr/>
        </p:nvSpPr>
        <p:spPr bwMode="auto">
          <a:xfrm>
            <a:off x="8836479" y="163832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6431484-DC00-40D2-AC58-13BAB53D60C0}"/>
              </a:ext>
            </a:extLst>
          </p:cNvPr>
          <p:cNvSpPr/>
          <p:nvPr/>
        </p:nvSpPr>
        <p:spPr bwMode="auto">
          <a:xfrm>
            <a:off x="8817471" y="165772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1288849-AF8F-4CA2-8AFE-D25A5BA38059}"/>
              </a:ext>
            </a:extLst>
          </p:cNvPr>
          <p:cNvSpPr/>
          <p:nvPr/>
        </p:nvSpPr>
        <p:spPr bwMode="auto">
          <a:xfrm>
            <a:off x="8798031" y="167677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115AF25F-0846-4232-B302-A39823A009C3}"/>
              </a:ext>
            </a:extLst>
          </p:cNvPr>
          <p:cNvSpPr/>
          <p:nvPr/>
        </p:nvSpPr>
        <p:spPr bwMode="auto">
          <a:xfrm>
            <a:off x="8781362" y="169617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D6873BDE-31CA-4603-A970-7E59AF67B475}"/>
              </a:ext>
            </a:extLst>
          </p:cNvPr>
          <p:cNvSpPr/>
          <p:nvPr/>
        </p:nvSpPr>
        <p:spPr bwMode="auto">
          <a:xfrm>
            <a:off x="8761922" y="171522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97A61437-6BC9-4D1D-B7D8-EB6350835924}"/>
              </a:ext>
            </a:extLst>
          </p:cNvPr>
          <p:cNvSpPr/>
          <p:nvPr/>
        </p:nvSpPr>
        <p:spPr bwMode="auto">
          <a:xfrm>
            <a:off x="8742914" y="173462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2F61764B-7F04-456C-AA54-78E7D863EB24}"/>
              </a:ext>
            </a:extLst>
          </p:cNvPr>
          <p:cNvSpPr/>
          <p:nvPr/>
        </p:nvSpPr>
        <p:spPr bwMode="auto">
          <a:xfrm>
            <a:off x="8723474" y="175366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4CF9BB84-D40C-4F33-9B83-87377F847304}"/>
              </a:ext>
            </a:extLst>
          </p:cNvPr>
          <p:cNvSpPr/>
          <p:nvPr/>
        </p:nvSpPr>
        <p:spPr bwMode="auto">
          <a:xfrm>
            <a:off x="8706627" y="177307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0916DBDB-9CAA-4EDA-8EFC-2F892736A1CF}"/>
              </a:ext>
            </a:extLst>
          </p:cNvPr>
          <p:cNvSpPr/>
          <p:nvPr/>
        </p:nvSpPr>
        <p:spPr bwMode="auto">
          <a:xfrm>
            <a:off x="8687187" y="179211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7D04A30A-BEF8-4B13-88D0-E3BC8AE204C7}"/>
              </a:ext>
            </a:extLst>
          </p:cNvPr>
          <p:cNvSpPr/>
          <p:nvPr/>
        </p:nvSpPr>
        <p:spPr bwMode="auto">
          <a:xfrm>
            <a:off x="8668179" y="181152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573B069-F91A-4E98-A934-45DF42614C51}"/>
              </a:ext>
            </a:extLst>
          </p:cNvPr>
          <p:cNvSpPr/>
          <p:nvPr/>
        </p:nvSpPr>
        <p:spPr bwMode="auto">
          <a:xfrm>
            <a:off x="8648739" y="183056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B5FEC7C9-037B-42C0-B610-C82319017CFE}"/>
              </a:ext>
            </a:extLst>
          </p:cNvPr>
          <p:cNvSpPr/>
          <p:nvPr/>
        </p:nvSpPr>
        <p:spPr bwMode="auto">
          <a:xfrm>
            <a:off x="8631891" y="184780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E1DB66CE-E1CC-400D-83C7-F3A54C11D229}"/>
              </a:ext>
            </a:extLst>
          </p:cNvPr>
          <p:cNvSpPr/>
          <p:nvPr/>
        </p:nvSpPr>
        <p:spPr bwMode="auto">
          <a:xfrm>
            <a:off x="8612451" y="186685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8E891312-9B22-4B33-A105-EA88DC00DD8B}"/>
              </a:ext>
            </a:extLst>
          </p:cNvPr>
          <p:cNvSpPr/>
          <p:nvPr/>
        </p:nvSpPr>
        <p:spPr bwMode="auto">
          <a:xfrm>
            <a:off x="8593443" y="1886256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25DD7290-6778-47F7-8314-02E20C6DAFE2}"/>
              </a:ext>
            </a:extLst>
          </p:cNvPr>
          <p:cNvSpPr/>
          <p:nvPr/>
        </p:nvSpPr>
        <p:spPr bwMode="auto">
          <a:xfrm>
            <a:off x="8574003" y="1905300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C46D1B3F-3843-44DB-84AF-985AE7CFA91A}"/>
              </a:ext>
            </a:extLst>
          </p:cNvPr>
          <p:cNvSpPr/>
          <p:nvPr/>
        </p:nvSpPr>
        <p:spPr bwMode="auto">
          <a:xfrm>
            <a:off x="8557155" y="1924704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E77821AB-7E75-4E75-B205-E3FE25B1FA01}"/>
              </a:ext>
            </a:extLst>
          </p:cNvPr>
          <p:cNvSpPr/>
          <p:nvPr/>
        </p:nvSpPr>
        <p:spPr bwMode="auto">
          <a:xfrm>
            <a:off x="8537715" y="1943748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6B87B185-1EA7-47DB-8452-21B04A832728}"/>
              </a:ext>
            </a:extLst>
          </p:cNvPr>
          <p:cNvSpPr/>
          <p:nvPr/>
        </p:nvSpPr>
        <p:spPr bwMode="auto">
          <a:xfrm>
            <a:off x="8518707" y="1963152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88A4A535-8542-4AC0-B8C4-F63C140A106D}"/>
              </a:ext>
            </a:extLst>
          </p:cNvPr>
          <p:cNvSpPr/>
          <p:nvPr/>
        </p:nvSpPr>
        <p:spPr bwMode="auto">
          <a:xfrm>
            <a:off x="8499267" y="1982196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15DA284C-D877-43B5-B488-5F7FCB86AE7B}"/>
              </a:ext>
            </a:extLst>
          </p:cNvPr>
          <p:cNvCxnSpPr>
            <a:cxnSpLocks/>
            <a:stCxn id="191" idx="2"/>
            <a:endCxn id="212" idx="2"/>
          </p:cNvCxnSpPr>
          <p:nvPr/>
        </p:nvCxnSpPr>
        <p:spPr bwMode="auto">
          <a:xfrm flipV="1">
            <a:off x="8093801" y="2054772"/>
            <a:ext cx="441755" cy="85769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76C3654D-610D-4437-8257-98523AC5B59F}"/>
              </a:ext>
            </a:extLst>
          </p:cNvPr>
          <p:cNvCxnSpPr>
            <a:cxnSpLocks/>
            <a:stCxn id="160" idx="0"/>
            <a:endCxn id="192" idx="0"/>
          </p:cNvCxnSpPr>
          <p:nvPr/>
        </p:nvCxnSpPr>
        <p:spPr bwMode="auto">
          <a:xfrm>
            <a:off x="8674659" y="1476524"/>
            <a:ext cx="234396" cy="123354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E5B6E3FC-280C-49CE-81C3-3D3D467D1BD2}"/>
              </a:ext>
            </a:extLst>
          </p:cNvPr>
          <p:cNvSpPr/>
          <p:nvPr/>
        </p:nvSpPr>
        <p:spPr bwMode="auto">
          <a:xfrm>
            <a:off x="9060939" y="1739842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A7AF5FB7-DEF6-4C84-96CD-EDCEF2E06898}"/>
              </a:ext>
            </a:extLst>
          </p:cNvPr>
          <p:cNvSpPr/>
          <p:nvPr/>
        </p:nvSpPr>
        <p:spPr bwMode="auto">
          <a:xfrm>
            <a:off x="9044091" y="175708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E165627C-E10C-41E5-AC55-72F38B59C3F0}"/>
              </a:ext>
            </a:extLst>
          </p:cNvPr>
          <p:cNvSpPr/>
          <p:nvPr/>
        </p:nvSpPr>
        <p:spPr bwMode="auto">
          <a:xfrm>
            <a:off x="9024651" y="177612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9703D549-DA44-420D-A814-1E7B1F2D03AB}"/>
              </a:ext>
            </a:extLst>
          </p:cNvPr>
          <p:cNvSpPr/>
          <p:nvPr/>
        </p:nvSpPr>
        <p:spPr bwMode="auto">
          <a:xfrm>
            <a:off x="9005643" y="179553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254D6F93-1CD8-4CF4-9D1A-0DFEF4589025}"/>
              </a:ext>
            </a:extLst>
          </p:cNvPr>
          <p:cNvSpPr/>
          <p:nvPr/>
        </p:nvSpPr>
        <p:spPr bwMode="auto">
          <a:xfrm>
            <a:off x="8986203" y="1814577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23D1C83-AE7B-469E-96FE-4A26B7EB2EF4}"/>
              </a:ext>
            </a:extLst>
          </p:cNvPr>
          <p:cNvSpPr/>
          <p:nvPr/>
        </p:nvSpPr>
        <p:spPr bwMode="auto">
          <a:xfrm>
            <a:off x="8969355" y="1833981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DF7D937-EF8A-4DB9-B1BF-C1E0499A1F5E}"/>
              </a:ext>
            </a:extLst>
          </p:cNvPr>
          <p:cNvSpPr/>
          <p:nvPr/>
        </p:nvSpPr>
        <p:spPr bwMode="auto">
          <a:xfrm>
            <a:off x="8949915" y="1853025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787C89BE-006C-4540-8473-9DF6D4EAA4E0}"/>
              </a:ext>
            </a:extLst>
          </p:cNvPr>
          <p:cNvSpPr/>
          <p:nvPr/>
        </p:nvSpPr>
        <p:spPr bwMode="auto">
          <a:xfrm>
            <a:off x="8930907" y="1872429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D79EEFE2-F178-4344-A755-E7B44F11C305}"/>
              </a:ext>
            </a:extLst>
          </p:cNvPr>
          <p:cNvSpPr/>
          <p:nvPr/>
        </p:nvSpPr>
        <p:spPr bwMode="auto">
          <a:xfrm>
            <a:off x="8911467" y="1891473"/>
            <a:ext cx="72576" cy="725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36B91324-27F1-4566-A9DC-024583E9FB10}"/>
              </a:ext>
            </a:extLst>
          </p:cNvPr>
          <p:cNvCxnSpPr>
            <a:cxnSpLocks/>
            <a:stCxn id="212" idx="2"/>
            <a:endCxn id="223" idx="2"/>
          </p:cNvCxnSpPr>
          <p:nvPr/>
        </p:nvCxnSpPr>
        <p:spPr bwMode="auto">
          <a:xfrm flipV="1">
            <a:off x="8535556" y="1964050"/>
            <a:ext cx="412200" cy="90723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76E8C108-24BC-4133-857F-B8A13CA9E922}"/>
              </a:ext>
            </a:extLst>
          </p:cNvPr>
          <p:cNvCxnSpPr>
            <a:cxnSpLocks/>
            <a:stCxn id="192" idx="0"/>
            <a:endCxn id="215" idx="0"/>
          </p:cNvCxnSpPr>
          <p:nvPr/>
        </p:nvCxnSpPr>
        <p:spPr bwMode="auto">
          <a:xfrm>
            <a:off x="8909055" y="1599878"/>
            <a:ext cx="188172" cy="139964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05316F45-1231-46D5-9EFC-28D912133A54}"/>
              </a:ext>
            </a:extLst>
          </p:cNvPr>
          <p:cNvSpPr txBox="1"/>
          <p:nvPr/>
        </p:nvSpPr>
        <p:spPr>
          <a:xfrm>
            <a:off x="9161178" y="1672757"/>
            <a:ext cx="589457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518419" latinLnBrk="0">
              <a:defRPr/>
            </a:pPr>
            <a:r>
              <a:rPr lang="en-US" altLang="ko-KR" sz="181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‘car’</a:t>
            </a:r>
            <a:endParaRPr lang="ko-KR" altLang="en-US" sz="1814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7C6A5DE8-875D-4180-B6E8-FF027E3BC74B}"/>
              </a:ext>
            </a:extLst>
          </p:cNvPr>
          <p:cNvSpPr txBox="1"/>
          <p:nvPr/>
        </p:nvSpPr>
        <p:spPr>
          <a:xfrm>
            <a:off x="2742791" y="786418"/>
            <a:ext cx="1848455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268" b="1" dirty="0">
                <a:solidFill>
                  <a:srgbClr val="FFC000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Edge</a:t>
            </a:r>
            <a:r>
              <a:rPr lang="en-US" altLang="ko-KR" sz="2268" dirty="0">
                <a:solidFill>
                  <a:srgbClr val="FFC000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 platform</a:t>
            </a:r>
            <a:endParaRPr lang="ko-KR" altLang="en-US" sz="2268" dirty="0">
              <a:solidFill>
                <a:srgbClr val="FFC000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7115C8B-0C67-41A0-AC3E-72B3BF0739BB}"/>
              </a:ext>
            </a:extLst>
          </p:cNvPr>
          <p:cNvSpPr txBox="1"/>
          <p:nvPr/>
        </p:nvSpPr>
        <p:spPr>
          <a:xfrm>
            <a:off x="6357952" y="791953"/>
            <a:ext cx="1968039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Cloud</a:t>
            </a:r>
            <a:r>
              <a:rPr lang="en-US" altLang="ko-KR" sz="2268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 platform</a:t>
            </a:r>
            <a:endParaRPr lang="ko-KR" altLang="en-US" sz="2268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360" name="직선 연결선 359">
            <a:extLst>
              <a:ext uri="{FF2B5EF4-FFF2-40B4-BE49-F238E27FC236}">
                <a16:creationId xmlns:a16="http://schemas.microsoft.com/office/drawing/2014/main" id="{4A759D26-6D4F-40D3-96F3-A9329963C938}"/>
              </a:ext>
            </a:extLst>
          </p:cNvPr>
          <p:cNvCxnSpPr>
            <a:cxnSpLocks/>
          </p:cNvCxnSpPr>
          <p:nvPr/>
        </p:nvCxnSpPr>
        <p:spPr bwMode="auto">
          <a:xfrm>
            <a:off x="3967223" y="1772744"/>
            <a:ext cx="919853" cy="338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A9FB845B-1AD4-4BFD-BDB7-33AC07472333}"/>
              </a:ext>
            </a:extLst>
          </p:cNvPr>
          <p:cNvSpPr txBox="1"/>
          <p:nvPr/>
        </p:nvSpPr>
        <p:spPr>
          <a:xfrm>
            <a:off x="694540" y="1403577"/>
            <a:ext cx="1868011" cy="720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518419" latinLnBrk="0">
              <a:defRPr/>
            </a:pPr>
            <a:r>
              <a:rPr lang="en-US" altLang="ko-KR" sz="204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Entire inference</a:t>
            </a:r>
            <a:br>
              <a:rPr lang="en-US" altLang="ko-KR" sz="204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204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at the </a:t>
            </a:r>
            <a:r>
              <a:rPr lang="en-US" altLang="ko-KR" sz="2041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cloud</a:t>
            </a:r>
            <a:endParaRPr lang="ko-KR" altLang="en-US" sz="2041" b="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80" name="그림 379">
            <a:extLst>
              <a:ext uri="{FF2B5EF4-FFF2-40B4-BE49-F238E27FC236}">
                <a16:creationId xmlns:a16="http://schemas.microsoft.com/office/drawing/2014/main" id="{52051289-C9D5-4EFA-9647-1FB890D77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29" y="1370128"/>
            <a:ext cx="889861" cy="780350"/>
          </a:xfrm>
          <a:prstGeom prst="rect">
            <a:avLst/>
          </a:prstGeom>
        </p:spPr>
      </p:pic>
      <p:pic>
        <p:nvPicPr>
          <p:cNvPr id="381" name="그림 380">
            <a:extLst>
              <a:ext uri="{FF2B5EF4-FFF2-40B4-BE49-F238E27FC236}">
                <a16:creationId xmlns:a16="http://schemas.microsoft.com/office/drawing/2014/main" id="{44C82EF8-77C2-419F-904F-6311B07A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212" y="1384262"/>
            <a:ext cx="889861" cy="780350"/>
          </a:xfrm>
          <a:prstGeom prst="rect">
            <a:avLst/>
          </a:prstGeom>
        </p:spPr>
      </p:pic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75BE4FA1-DF88-4D9B-861C-B501691926B6}"/>
              </a:ext>
            </a:extLst>
          </p:cNvPr>
          <p:cNvSpPr/>
          <p:nvPr/>
        </p:nvSpPr>
        <p:spPr bwMode="auto">
          <a:xfrm>
            <a:off x="5424445" y="1509407"/>
            <a:ext cx="143639" cy="134551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7DE9696A-44AE-4459-8748-D58F742A81DB}"/>
              </a:ext>
            </a:extLst>
          </p:cNvPr>
          <p:cNvCxnSpPr>
            <a:cxnSpLocks/>
            <a:stCxn id="227" idx="0"/>
            <a:endCxn id="229" idx="0"/>
          </p:cNvCxnSpPr>
          <p:nvPr/>
        </p:nvCxnSpPr>
        <p:spPr bwMode="auto">
          <a:xfrm>
            <a:off x="5496265" y="1509406"/>
            <a:ext cx="703798" cy="124549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316EBBA1-19BE-4011-BBD1-4C33FCD60023}"/>
              </a:ext>
            </a:extLst>
          </p:cNvPr>
          <p:cNvSpPr/>
          <p:nvPr/>
        </p:nvSpPr>
        <p:spPr bwMode="auto">
          <a:xfrm>
            <a:off x="6159203" y="1633956"/>
            <a:ext cx="81720" cy="90139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721" b="1">
              <a:solidFill>
                <a:prstClr val="black"/>
              </a:solidFill>
              <a:latin typeface="Tahoma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2C147C2D-06FA-418C-A7B1-F661D27A5BEE}"/>
              </a:ext>
            </a:extLst>
          </p:cNvPr>
          <p:cNvCxnSpPr>
            <a:cxnSpLocks/>
            <a:stCxn id="227" idx="2"/>
            <a:endCxn id="229" idx="2"/>
          </p:cNvCxnSpPr>
          <p:nvPr/>
        </p:nvCxnSpPr>
        <p:spPr bwMode="auto">
          <a:xfrm>
            <a:off x="5496265" y="1643958"/>
            <a:ext cx="703798" cy="80137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440DE0E4-E9FB-4FAF-9F3E-2EE89A371C51}"/>
              </a:ext>
            </a:extLst>
          </p:cNvPr>
          <p:cNvGrpSpPr/>
          <p:nvPr/>
        </p:nvGrpSpPr>
        <p:grpSpPr>
          <a:xfrm>
            <a:off x="695781" y="2636648"/>
            <a:ext cx="9104144" cy="1043830"/>
            <a:chOff x="613643" y="2325167"/>
            <a:chExt cx="8029378" cy="92060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A7DCDD1-0C1B-47C8-B104-3F72FC2750F1}"/>
                </a:ext>
              </a:extLst>
            </p:cNvPr>
            <p:cNvSpPr/>
            <p:nvPr/>
          </p:nvSpPr>
          <p:spPr bwMode="auto">
            <a:xfrm>
              <a:off x="2636559" y="2325167"/>
              <a:ext cx="4407641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F07A090-8E7F-4538-A519-2DECAFD4738C}"/>
                </a:ext>
              </a:extLst>
            </p:cNvPr>
            <p:cNvSpPr/>
            <p:nvPr/>
          </p:nvSpPr>
          <p:spPr bwMode="auto">
            <a:xfrm>
              <a:off x="7759403" y="2331370"/>
              <a:ext cx="883618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DE75CC-BF33-48B7-82BC-61EE9CB23C7E}"/>
                </a:ext>
              </a:extLst>
            </p:cNvPr>
            <p:cNvSpPr/>
            <p:nvPr/>
          </p:nvSpPr>
          <p:spPr bwMode="auto">
            <a:xfrm>
              <a:off x="3761138" y="2421842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E18148D-900F-44C6-897A-5954811F8329}"/>
                </a:ext>
              </a:extLst>
            </p:cNvPr>
            <p:cNvSpPr/>
            <p:nvPr/>
          </p:nvSpPr>
          <p:spPr bwMode="auto">
            <a:xfrm>
              <a:off x="3715418" y="2475182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F622D19-EFE1-4A06-BA63-EA96A43CF37B}"/>
                </a:ext>
              </a:extLst>
            </p:cNvPr>
            <p:cNvSpPr/>
            <p:nvPr/>
          </p:nvSpPr>
          <p:spPr bwMode="auto">
            <a:xfrm>
              <a:off x="3662078" y="2536142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739DE80-8646-477D-9403-03D86116210C}"/>
                </a:ext>
              </a:extLst>
            </p:cNvPr>
            <p:cNvSpPr/>
            <p:nvPr/>
          </p:nvSpPr>
          <p:spPr bwMode="auto">
            <a:xfrm>
              <a:off x="3616358" y="2589482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141F030-8826-4930-B993-5840166D97A6}"/>
                </a:ext>
              </a:extLst>
            </p:cNvPr>
            <p:cNvSpPr/>
            <p:nvPr/>
          </p:nvSpPr>
          <p:spPr bwMode="auto">
            <a:xfrm>
              <a:off x="4633374" y="2456766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C67277D-2A30-41E1-994F-6D39148BEAD4}"/>
                </a:ext>
              </a:extLst>
            </p:cNvPr>
            <p:cNvSpPr/>
            <p:nvPr/>
          </p:nvSpPr>
          <p:spPr bwMode="auto">
            <a:xfrm>
              <a:off x="4597814" y="2496454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22AB53D-A589-4EBD-8BD2-5425D0479974}"/>
                </a:ext>
              </a:extLst>
            </p:cNvPr>
            <p:cNvSpPr/>
            <p:nvPr/>
          </p:nvSpPr>
          <p:spPr bwMode="auto">
            <a:xfrm>
              <a:off x="4562254" y="2536142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D3AF594-FFA8-4BDB-8D9F-D87B98C16B8C}"/>
                </a:ext>
              </a:extLst>
            </p:cNvPr>
            <p:cNvSpPr/>
            <p:nvPr/>
          </p:nvSpPr>
          <p:spPr bwMode="auto">
            <a:xfrm>
              <a:off x="4530504" y="2575830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FC86B58-C540-4299-924F-008A67AFE693}"/>
                </a:ext>
              </a:extLst>
            </p:cNvPr>
            <p:cNvSpPr/>
            <p:nvPr/>
          </p:nvSpPr>
          <p:spPr bwMode="auto">
            <a:xfrm>
              <a:off x="4498754" y="2608848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070E320-93AB-4E95-9F2A-0C393C1FCE82}"/>
                </a:ext>
              </a:extLst>
            </p:cNvPr>
            <p:cNvSpPr/>
            <p:nvPr/>
          </p:nvSpPr>
          <p:spPr bwMode="auto">
            <a:xfrm>
              <a:off x="4463194" y="2644726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AE93215-B887-4EC0-82C1-20B1A07B8B91}"/>
                </a:ext>
              </a:extLst>
            </p:cNvPr>
            <p:cNvSpPr/>
            <p:nvPr/>
          </p:nvSpPr>
          <p:spPr bwMode="auto">
            <a:xfrm>
              <a:off x="4427634" y="2684414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19432A5-481A-4669-B624-A26C2A0BB84C}"/>
                </a:ext>
              </a:extLst>
            </p:cNvPr>
            <p:cNvSpPr/>
            <p:nvPr/>
          </p:nvSpPr>
          <p:spPr bwMode="auto">
            <a:xfrm>
              <a:off x="4384454" y="2724102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129F260-2FD2-40BE-900A-6F9F33BD3DF7}"/>
                </a:ext>
              </a:extLst>
            </p:cNvPr>
            <p:cNvSpPr/>
            <p:nvPr/>
          </p:nvSpPr>
          <p:spPr bwMode="auto">
            <a:xfrm>
              <a:off x="5408074" y="248859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7BA67F4-8C03-4B97-9609-6CF60ED80A70}"/>
                </a:ext>
              </a:extLst>
            </p:cNvPr>
            <p:cNvSpPr/>
            <p:nvPr/>
          </p:nvSpPr>
          <p:spPr bwMode="auto">
            <a:xfrm>
              <a:off x="5383944" y="2512884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FF5DAD9-9EC5-44A4-B52B-1D6572CA2731}"/>
                </a:ext>
              </a:extLst>
            </p:cNvPr>
            <p:cNvSpPr/>
            <p:nvPr/>
          </p:nvSpPr>
          <p:spPr bwMode="auto">
            <a:xfrm>
              <a:off x="5359814" y="253860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0D99382-7C16-404D-BD27-35332E34A426}"/>
                </a:ext>
              </a:extLst>
            </p:cNvPr>
            <p:cNvSpPr/>
            <p:nvPr/>
          </p:nvSpPr>
          <p:spPr bwMode="auto">
            <a:xfrm>
              <a:off x="5335684" y="256289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B127446-C0B7-4C2C-B2DE-9D8BA9893FA6}"/>
                </a:ext>
              </a:extLst>
            </p:cNvPr>
            <p:cNvSpPr/>
            <p:nvPr/>
          </p:nvSpPr>
          <p:spPr bwMode="auto">
            <a:xfrm>
              <a:off x="5310919" y="258852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CFE6B4C-9C49-4D84-8C65-64A69D336F7A}"/>
                </a:ext>
              </a:extLst>
            </p:cNvPr>
            <p:cNvSpPr/>
            <p:nvPr/>
          </p:nvSpPr>
          <p:spPr bwMode="auto">
            <a:xfrm>
              <a:off x="5286789" y="261281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680BEB7-0F9E-4560-8024-6867DE1703A4}"/>
                </a:ext>
              </a:extLst>
            </p:cNvPr>
            <p:cNvSpPr/>
            <p:nvPr/>
          </p:nvSpPr>
          <p:spPr bwMode="auto">
            <a:xfrm>
              <a:off x="5262659" y="2638535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15915ED-7336-492F-AFAC-D1EC43312592}"/>
                </a:ext>
              </a:extLst>
            </p:cNvPr>
            <p:cNvSpPr/>
            <p:nvPr/>
          </p:nvSpPr>
          <p:spPr bwMode="auto">
            <a:xfrm>
              <a:off x="5238529" y="266282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B7449C-48BA-4627-921E-DA93D7EB6489}"/>
                </a:ext>
              </a:extLst>
            </p:cNvPr>
            <p:cNvSpPr/>
            <p:nvPr/>
          </p:nvSpPr>
          <p:spPr bwMode="auto">
            <a:xfrm>
              <a:off x="5215669" y="268655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36BDC85-643A-4160-B190-4418E61176F1}"/>
                </a:ext>
              </a:extLst>
            </p:cNvPr>
            <p:cNvSpPr/>
            <p:nvPr/>
          </p:nvSpPr>
          <p:spPr bwMode="auto">
            <a:xfrm>
              <a:off x="5191539" y="2710845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D6DE042-0DB0-4241-B91D-307EBD39F5E5}"/>
                </a:ext>
              </a:extLst>
            </p:cNvPr>
            <p:cNvSpPr/>
            <p:nvPr/>
          </p:nvSpPr>
          <p:spPr bwMode="auto">
            <a:xfrm>
              <a:off x="5167409" y="2736564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9D85502-B896-4256-89E7-6CA53E814E49}"/>
                </a:ext>
              </a:extLst>
            </p:cNvPr>
            <p:cNvSpPr/>
            <p:nvPr/>
          </p:nvSpPr>
          <p:spPr bwMode="auto">
            <a:xfrm>
              <a:off x="5143279" y="276085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DE8A194-049E-477E-8193-91A6AF6CC59D}"/>
                </a:ext>
              </a:extLst>
            </p:cNvPr>
            <p:cNvSpPr/>
            <p:nvPr/>
          </p:nvSpPr>
          <p:spPr bwMode="auto">
            <a:xfrm>
              <a:off x="5118514" y="278648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A340E7-3786-4714-91F0-A54EDC9C0002}"/>
                </a:ext>
              </a:extLst>
            </p:cNvPr>
            <p:cNvSpPr/>
            <p:nvPr/>
          </p:nvSpPr>
          <p:spPr bwMode="auto">
            <a:xfrm>
              <a:off x="5094384" y="281077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FB57EB1-350B-45D1-B13C-42852825D33C}"/>
                </a:ext>
              </a:extLst>
            </p:cNvPr>
            <p:cNvSpPr/>
            <p:nvPr/>
          </p:nvSpPr>
          <p:spPr bwMode="auto">
            <a:xfrm>
              <a:off x="5070254" y="283649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6C2DA883-963A-4B47-83C4-E17FF16E625B}"/>
                </a:ext>
              </a:extLst>
            </p:cNvPr>
            <p:cNvSpPr/>
            <p:nvPr/>
          </p:nvSpPr>
          <p:spPr bwMode="auto">
            <a:xfrm>
              <a:off x="5044538" y="286213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0920CD7-D55C-415A-8EB2-4CF9D209A318}"/>
                </a:ext>
              </a:extLst>
            </p:cNvPr>
            <p:cNvSpPr/>
            <p:nvPr/>
          </p:nvSpPr>
          <p:spPr bwMode="auto">
            <a:xfrm>
              <a:off x="3940050" y="2928807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81044FD-985B-4AF4-AFE5-C515AC1CA61B}"/>
                </a:ext>
              </a:extLst>
            </p:cNvPr>
            <p:cNvCxnSpPr>
              <a:cxnSpLocks/>
              <a:stCxn id="39" idx="0"/>
              <a:endCxn id="41" idx="0"/>
            </p:cNvCxnSpPr>
            <p:nvPr/>
          </p:nvCxnSpPr>
          <p:spPr bwMode="auto">
            <a:xfrm>
              <a:off x="4003391" y="2928807"/>
              <a:ext cx="666020" cy="39946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990AE66-AE25-40A8-BAE3-0E7ACD72E167}"/>
                </a:ext>
              </a:extLst>
            </p:cNvPr>
            <p:cNvSpPr/>
            <p:nvPr/>
          </p:nvSpPr>
          <p:spPr bwMode="auto">
            <a:xfrm>
              <a:off x="4633374" y="2968753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8E7CC83-C68F-46E9-8CB0-A81C6185FEFB}"/>
                </a:ext>
              </a:extLst>
            </p:cNvPr>
            <p:cNvCxnSpPr>
              <a:cxnSpLocks/>
              <a:stCxn id="39" idx="2"/>
              <a:endCxn id="41" idx="2"/>
            </p:cNvCxnSpPr>
            <p:nvPr/>
          </p:nvCxnSpPr>
          <p:spPr bwMode="auto">
            <a:xfrm>
              <a:off x="4003391" y="3047474"/>
              <a:ext cx="666020" cy="77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1DDF09B-A422-48DC-A4D1-12879B263F57}"/>
                </a:ext>
              </a:extLst>
            </p:cNvPr>
            <p:cNvSpPr/>
            <p:nvPr/>
          </p:nvSpPr>
          <p:spPr bwMode="auto">
            <a:xfrm>
              <a:off x="4545570" y="2766319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EE3E0B1-A8F7-43C5-8825-F81E48698CFD}"/>
                </a:ext>
              </a:extLst>
            </p:cNvPr>
            <p:cNvCxnSpPr>
              <a:cxnSpLocks/>
              <a:stCxn id="43" idx="0"/>
              <a:endCxn id="45" idx="0"/>
            </p:cNvCxnSpPr>
            <p:nvPr/>
          </p:nvCxnSpPr>
          <p:spPr bwMode="auto">
            <a:xfrm>
              <a:off x="4608911" y="2766319"/>
              <a:ext cx="574531" cy="11851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1C1155B-381E-4A26-A5F6-F09FCFB8C3BD}"/>
                </a:ext>
              </a:extLst>
            </p:cNvPr>
            <p:cNvSpPr/>
            <p:nvPr/>
          </p:nvSpPr>
          <p:spPr bwMode="auto">
            <a:xfrm>
              <a:off x="5147405" y="2884836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64EEBFD2-3AAB-4127-9786-C5C033EDE256}"/>
                </a:ext>
              </a:extLst>
            </p:cNvPr>
            <p:cNvCxnSpPr>
              <a:cxnSpLocks/>
              <a:stCxn id="43" idx="2"/>
              <a:endCxn id="45" idx="2"/>
            </p:cNvCxnSpPr>
            <p:nvPr/>
          </p:nvCxnSpPr>
          <p:spPr bwMode="auto">
            <a:xfrm>
              <a:off x="4608911" y="2884986"/>
              <a:ext cx="574531" cy="79348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5C0170B9-EE84-4A54-857B-9D76397B1055}"/>
                </a:ext>
              </a:extLst>
            </p:cNvPr>
            <p:cNvCxnSpPr>
              <a:cxnSpLocks/>
              <a:stCxn id="38" idx="2"/>
              <a:endCxn id="80" idx="2"/>
            </p:cNvCxnSpPr>
            <p:nvPr/>
          </p:nvCxnSpPr>
          <p:spPr bwMode="auto">
            <a:xfrm>
              <a:off x="5175983" y="3110101"/>
              <a:ext cx="396683" cy="636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4AF27D8C-6E70-4AE7-8E3E-283FD033EF8A}"/>
                </a:ext>
              </a:extLst>
            </p:cNvPr>
            <p:cNvCxnSpPr>
              <a:cxnSpLocks/>
              <a:stCxn id="23" idx="0"/>
              <a:endCxn id="49" idx="0"/>
            </p:cNvCxnSpPr>
            <p:nvPr/>
          </p:nvCxnSpPr>
          <p:spPr bwMode="auto">
            <a:xfrm>
              <a:off x="5539519" y="2488596"/>
              <a:ext cx="545434" cy="4224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16E999-FDA4-4F4F-ADF6-55AA07364828}"/>
                </a:ext>
              </a:extLst>
            </p:cNvPr>
            <p:cNvSpPr/>
            <p:nvPr/>
          </p:nvSpPr>
          <p:spPr bwMode="auto">
            <a:xfrm>
              <a:off x="6052949" y="253083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426F3DA-7066-41E8-A30E-DD30B0866978}"/>
                </a:ext>
              </a:extLst>
            </p:cNvPr>
            <p:cNvSpPr/>
            <p:nvPr/>
          </p:nvSpPr>
          <p:spPr bwMode="auto">
            <a:xfrm>
              <a:off x="6035804" y="254763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64BC9C6-A2D4-4C1A-BCD3-39FBBA13DF4A}"/>
                </a:ext>
              </a:extLst>
            </p:cNvPr>
            <p:cNvSpPr/>
            <p:nvPr/>
          </p:nvSpPr>
          <p:spPr bwMode="auto">
            <a:xfrm>
              <a:off x="6019040" y="256474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26B77E6-E3C1-4C28-B38E-2BF5E92589C1}"/>
                </a:ext>
              </a:extLst>
            </p:cNvPr>
            <p:cNvSpPr/>
            <p:nvPr/>
          </p:nvSpPr>
          <p:spPr bwMode="auto">
            <a:xfrm>
              <a:off x="6001895" y="258154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3269F157-5313-4287-AA9F-C96CE8E466ED}"/>
                </a:ext>
              </a:extLst>
            </p:cNvPr>
            <p:cNvSpPr/>
            <p:nvPr/>
          </p:nvSpPr>
          <p:spPr bwMode="auto">
            <a:xfrm>
              <a:off x="5987036" y="259865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894444B-2245-46B5-8329-ED30E2116CE2}"/>
                </a:ext>
              </a:extLst>
            </p:cNvPr>
            <p:cNvSpPr/>
            <p:nvPr/>
          </p:nvSpPr>
          <p:spPr bwMode="auto">
            <a:xfrm>
              <a:off x="5969891" y="261545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F052A6F-5948-4924-867F-E36FB6E6ED17}"/>
                </a:ext>
              </a:extLst>
            </p:cNvPr>
            <p:cNvSpPr/>
            <p:nvPr/>
          </p:nvSpPr>
          <p:spPr bwMode="auto">
            <a:xfrm>
              <a:off x="5953127" y="263256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F4143C4-9DF7-4D87-A852-44D21422B199}"/>
                </a:ext>
              </a:extLst>
            </p:cNvPr>
            <p:cNvSpPr/>
            <p:nvPr/>
          </p:nvSpPr>
          <p:spPr bwMode="auto">
            <a:xfrm>
              <a:off x="5935982" y="264936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B45761D-6269-44F6-80E6-E5F5BB2F8D73}"/>
                </a:ext>
              </a:extLst>
            </p:cNvPr>
            <p:cNvSpPr/>
            <p:nvPr/>
          </p:nvSpPr>
          <p:spPr bwMode="auto">
            <a:xfrm>
              <a:off x="5921123" y="266457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BA3CED3-1D7C-48DE-80B7-13A831E70FA9}"/>
                </a:ext>
              </a:extLst>
            </p:cNvPr>
            <p:cNvSpPr/>
            <p:nvPr/>
          </p:nvSpPr>
          <p:spPr bwMode="auto">
            <a:xfrm>
              <a:off x="5903978" y="268136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18A499E-2E9F-4D9C-8CFD-57900D8B2D7D}"/>
                </a:ext>
              </a:extLst>
            </p:cNvPr>
            <p:cNvSpPr/>
            <p:nvPr/>
          </p:nvSpPr>
          <p:spPr bwMode="auto">
            <a:xfrm>
              <a:off x="5887214" y="269847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871B3124-0C9E-46B8-B139-AE5A4357DF3E}"/>
                </a:ext>
              </a:extLst>
            </p:cNvPr>
            <p:cNvSpPr/>
            <p:nvPr/>
          </p:nvSpPr>
          <p:spPr bwMode="auto">
            <a:xfrm>
              <a:off x="5870069" y="271527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276AAFC-040F-4C7F-B74C-331F6D6F7AA3}"/>
                </a:ext>
              </a:extLst>
            </p:cNvPr>
            <p:cNvSpPr/>
            <p:nvPr/>
          </p:nvSpPr>
          <p:spPr bwMode="auto">
            <a:xfrm>
              <a:off x="5855210" y="273238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E4A4263-C227-4E69-B5C7-22868DFB81F6}"/>
                </a:ext>
              </a:extLst>
            </p:cNvPr>
            <p:cNvSpPr/>
            <p:nvPr/>
          </p:nvSpPr>
          <p:spPr bwMode="auto">
            <a:xfrm>
              <a:off x="5838065" y="274918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18D8429-5FF5-4D0B-A68F-B5B6EF7592E0}"/>
                </a:ext>
              </a:extLst>
            </p:cNvPr>
            <p:cNvSpPr/>
            <p:nvPr/>
          </p:nvSpPr>
          <p:spPr bwMode="auto">
            <a:xfrm>
              <a:off x="5821301" y="276629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228F98A-A91E-40EB-B55E-7C9D6153BCF3}"/>
                </a:ext>
              </a:extLst>
            </p:cNvPr>
            <p:cNvSpPr/>
            <p:nvPr/>
          </p:nvSpPr>
          <p:spPr bwMode="auto">
            <a:xfrm>
              <a:off x="5804156" y="278309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A4636A8-63E5-4A61-AF0C-F31CCF926253}"/>
                </a:ext>
              </a:extLst>
            </p:cNvPr>
            <p:cNvSpPr/>
            <p:nvPr/>
          </p:nvSpPr>
          <p:spPr bwMode="auto">
            <a:xfrm>
              <a:off x="5789455" y="280020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3D0D051-5D98-4D7B-A16B-292448C7A878}"/>
                </a:ext>
              </a:extLst>
            </p:cNvPr>
            <p:cNvSpPr/>
            <p:nvPr/>
          </p:nvSpPr>
          <p:spPr bwMode="auto">
            <a:xfrm>
              <a:off x="5772310" y="281700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BE04B4D-FA13-4055-8DA4-8E66E466D8F3}"/>
                </a:ext>
              </a:extLst>
            </p:cNvPr>
            <p:cNvSpPr/>
            <p:nvPr/>
          </p:nvSpPr>
          <p:spPr bwMode="auto">
            <a:xfrm>
              <a:off x="5755546" y="283411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86C33B5-E930-44A7-980A-3CAB5C4F5A6B}"/>
                </a:ext>
              </a:extLst>
            </p:cNvPr>
            <p:cNvSpPr/>
            <p:nvPr/>
          </p:nvSpPr>
          <p:spPr bwMode="auto">
            <a:xfrm>
              <a:off x="5738401" y="285091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7C4211C-8D51-4D22-8712-A7C2A9AF5168}"/>
                </a:ext>
              </a:extLst>
            </p:cNvPr>
            <p:cNvSpPr/>
            <p:nvPr/>
          </p:nvSpPr>
          <p:spPr bwMode="auto">
            <a:xfrm>
              <a:off x="5723542" y="286802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FB01658-C6D8-4485-96C7-BCB7B4A0C7D4}"/>
                </a:ext>
              </a:extLst>
            </p:cNvPr>
            <p:cNvSpPr/>
            <p:nvPr/>
          </p:nvSpPr>
          <p:spPr bwMode="auto">
            <a:xfrm>
              <a:off x="5706397" y="288482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95EE90E3-EA58-4124-9A4C-018FA1A891BF}"/>
                </a:ext>
              </a:extLst>
            </p:cNvPr>
            <p:cNvSpPr/>
            <p:nvPr/>
          </p:nvSpPr>
          <p:spPr bwMode="auto">
            <a:xfrm>
              <a:off x="5689633" y="290193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6A8C0F8-FBAA-446C-815F-940009E683D6}"/>
                </a:ext>
              </a:extLst>
            </p:cNvPr>
            <p:cNvSpPr/>
            <p:nvPr/>
          </p:nvSpPr>
          <p:spPr bwMode="auto">
            <a:xfrm>
              <a:off x="5672488" y="291872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76AACEA-77B5-4572-9B89-9ECC07E8FFF1}"/>
                </a:ext>
              </a:extLst>
            </p:cNvPr>
            <p:cNvSpPr/>
            <p:nvPr/>
          </p:nvSpPr>
          <p:spPr bwMode="auto">
            <a:xfrm>
              <a:off x="5657629" y="293393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D5935E1-BC8F-409F-9218-38A7C705F714}"/>
                </a:ext>
              </a:extLst>
            </p:cNvPr>
            <p:cNvSpPr/>
            <p:nvPr/>
          </p:nvSpPr>
          <p:spPr bwMode="auto">
            <a:xfrm>
              <a:off x="5640484" y="295073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957249FC-2C9B-4D87-BE0C-EE98B984D1AB}"/>
                </a:ext>
              </a:extLst>
            </p:cNvPr>
            <p:cNvSpPr/>
            <p:nvPr/>
          </p:nvSpPr>
          <p:spPr bwMode="auto">
            <a:xfrm>
              <a:off x="5623720" y="296784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05C4E7C-1AC1-430A-9715-C3965C002E1B}"/>
                </a:ext>
              </a:extLst>
            </p:cNvPr>
            <p:cNvSpPr/>
            <p:nvPr/>
          </p:nvSpPr>
          <p:spPr bwMode="auto">
            <a:xfrm>
              <a:off x="5606575" y="298464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942D333-8213-476E-98C2-2CD483E6C072}"/>
                </a:ext>
              </a:extLst>
            </p:cNvPr>
            <p:cNvSpPr/>
            <p:nvPr/>
          </p:nvSpPr>
          <p:spPr bwMode="auto">
            <a:xfrm>
              <a:off x="5591716" y="300175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CB92DF3-054F-48F0-BF3C-F6219F8E2D5A}"/>
                </a:ext>
              </a:extLst>
            </p:cNvPr>
            <p:cNvSpPr/>
            <p:nvPr/>
          </p:nvSpPr>
          <p:spPr bwMode="auto">
            <a:xfrm>
              <a:off x="5574571" y="301855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4E84448B-8C2A-4C96-B15B-4CFD3BB9505B}"/>
                </a:ext>
              </a:extLst>
            </p:cNvPr>
            <p:cNvSpPr/>
            <p:nvPr/>
          </p:nvSpPr>
          <p:spPr bwMode="auto">
            <a:xfrm>
              <a:off x="5557807" y="303566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F97E49C-1D8B-4229-91D0-CE9529EABF38}"/>
                </a:ext>
              </a:extLst>
            </p:cNvPr>
            <p:cNvSpPr/>
            <p:nvPr/>
          </p:nvSpPr>
          <p:spPr bwMode="auto">
            <a:xfrm>
              <a:off x="5540662" y="305246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B19ABF5-8D4E-45B6-97DB-12C44372A7E6}"/>
                </a:ext>
              </a:extLst>
            </p:cNvPr>
            <p:cNvSpPr/>
            <p:nvPr/>
          </p:nvSpPr>
          <p:spPr bwMode="auto">
            <a:xfrm>
              <a:off x="6259674" y="263963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4154CD0-F727-437B-8CB8-FFBC5E507EC5}"/>
                </a:ext>
              </a:extLst>
            </p:cNvPr>
            <p:cNvSpPr/>
            <p:nvPr/>
          </p:nvSpPr>
          <p:spPr bwMode="auto">
            <a:xfrm>
              <a:off x="6244815" y="265674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2FF57364-C735-4183-AEB9-5E70431E39F5}"/>
                </a:ext>
              </a:extLst>
            </p:cNvPr>
            <p:cNvSpPr/>
            <p:nvPr/>
          </p:nvSpPr>
          <p:spPr bwMode="auto">
            <a:xfrm>
              <a:off x="6227670" y="267354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0B9A151-F7AF-4E88-BF11-1A554E7298EC}"/>
                </a:ext>
              </a:extLst>
            </p:cNvPr>
            <p:cNvSpPr/>
            <p:nvPr/>
          </p:nvSpPr>
          <p:spPr bwMode="auto">
            <a:xfrm>
              <a:off x="6210906" y="269065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44FF6FF-21DD-4DFD-B2B5-D045D47D08E6}"/>
                </a:ext>
              </a:extLst>
            </p:cNvPr>
            <p:cNvSpPr/>
            <p:nvPr/>
          </p:nvSpPr>
          <p:spPr bwMode="auto">
            <a:xfrm>
              <a:off x="6193761" y="270744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D42177E-F10A-40B4-9404-A917C8D46E1C}"/>
                </a:ext>
              </a:extLst>
            </p:cNvPr>
            <p:cNvSpPr/>
            <p:nvPr/>
          </p:nvSpPr>
          <p:spPr bwMode="auto">
            <a:xfrm>
              <a:off x="6179060" y="272456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5AC2617-E252-4B54-A54B-E8123E565D5F}"/>
                </a:ext>
              </a:extLst>
            </p:cNvPr>
            <p:cNvSpPr/>
            <p:nvPr/>
          </p:nvSpPr>
          <p:spPr bwMode="auto">
            <a:xfrm>
              <a:off x="6161915" y="274135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C3CDE7A-E240-4C0D-A2C3-77C8E62D6CD7}"/>
                </a:ext>
              </a:extLst>
            </p:cNvPr>
            <p:cNvSpPr/>
            <p:nvPr/>
          </p:nvSpPr>
          <p:spPr bwMode="auto">
            <a:xfrm>
              <a:off x="6145151" y="275847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8A36138-17B3-44BF-8E7E-8139D6743F78}"/>
                </a:ext>
              </a:extLst>
            </p:cNvPr>
            <p:cNvSpPr/>
            <p:nvPr/>
          </p:nvSpPr>
          <p:spPr bwMode="auto">
            <a:xfrm>
              <a:off x="6128006" y="277526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4F78B2E-FF24-47B8-8079-246272F90037}"/>
                </a:ext>
              </a:extLst>
            </p:cNvPr>
            <p:cNvSpPr/>
            <p:nvPr/>
          </p:nvSpPr>
          <p:spPr bwMode="auto">
            <a:xfrm>
              <a:off x="6113147" y="279238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02F9AD56-BD23-48F6-ADAE-4EC73F0BF34A}"/>
                </a:ext>
              </a:extLst>
            </p:cNvPr>
            <p:cNvSpPr/>
            <p:nvPr/>
          </p:nvSpPr>
          <p:spPr bwMode="auto">
            <a:xfrm>
              <a:off x="6096002" y="280917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5610A5C-CEB8-4386-9857-CE27CD899FBB}"/>
                </a:ext>
              </a:extLst>
            </p:cNvPr>
            <p:cNvSpPr/>
            <p:nvPr/>
          </p:nvSpPr>
          <p:spPr bwMode="auto">
            <a:xfrm>
              <a:off x="6079238" y="282628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130550A-9C79-48AB-8962-4CC1B446B83C}"/>
                </a:ext>
              </a:extLst>
            </p:cNvPr>
            <p:cNvSpPr/>
            <p:nvPr/>
          </p:nvSpPr>
          <p:spPr bwMode="auto">
            <a:xfrm>
              <a:off x="6062093" y="284308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D94AF1F-501F-4439-AD59-6659DF1F4001}"/>
                </a:ext>
              </a:extLst>
            </p:cNvPr>
            <p:cNvSpPr/>
            <p:nvPr/>
          </p:nvSpPr>
          <p:spPr bwMode="auto">
            <a:xfrm>
              <a:off x="6047234" y="285829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A9EC1AA1-3A9A-4CBD-AB11-15B6060F5736}"/>
                </a:ext>
              </a:extLst>
            </p:cNvPr>
            <p:cNvSpPr/>
            <p:nvPr/>
          </p:nvSpPr>
          <p:spPr bwMode="auto">
            <a:xfrm>
              <a:off x="6030089" y="287508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A211E5D-7110-4EA4-9587-09C285DC16CC}"/>
                </a:ext>
              </a:extLst>
            </p:cNvPr>
            <p:cNvSpPr/>
            <p:nvPr/>
          </p:nvSpPr>
          <p:spPr bwMode="auto">
            <a:xfrm>
              <a:off x="6013325" y="289220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2A81802-6C20-4BD5-BEF5-C2EAA2CBB879}"/>
                </a:ext>
              </a:extLst>
            </p:cNvPr>
            <p:cNvSpPr/>
            <p:nvPr/>
          </p:nvSpPr>
          <p:spPr bwMode="auto">
            <a:xfrm>
              <a:off x="5996180" y="290899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750C082-94A6-4211-8487-D63B6BB89532}"/>
                </a:ext>
              </a:extLst>
            </p:cNvPr>
            <p:cNvSpPr/>
            <p:nvPr/>
          </p:nvSpPr>
          <p:spPr bwMode="auto">
            <a:xfrm>
              <a:off x="5981321" y="292611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C0A5AF20-801F-44DF-9A90-4300B56DB1DC}"/>
                </a:ext>
              </a:extLst>
            </p:cNvPr>
            <p:cNvSpPr/>
            <p:nvPr/>
          </p:nvSpPr>
          <p:spPr bwMode="auto">
            <a:xfrm>
              <a:off x="5964176" y="294290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95F32064-FA2A-42FA-B158-026DDF640E34}"/>
                </a:ext>
              </a:extLst>
            </p:cNvPr>
            <p:cNvSpPr/>
            <p:nvPr/>
          </p:nvSpPr>
          <p:spPr bwMode="auto">
            <a:xfrm>
              <a:off x="5947412" y="296002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4486C2AC-4594-4EBB-99F5-B31CE44E2986}"/>
                </a:ext>
              </a:extLst>
            </p:cNvPr>
            <p:cNvSpPr/>
            <p:nvPr/>
          </p:nvSpPr>
          <p:spPr bwMode="auto">
            <a:xfrm>
              <a:off x="5930267" y="297681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F4FF68CF-4B72-413E-B22E-7A3E57349B86}"/>
                </a:ext>
              </a:extLst>
            </p:cNvPr>
            <p:cNvCxnSpPr>
              <a:cxnSpLocks/>
              <a:stCxn id="80" idx="2"/>
              <a:endCxn id="101" idx="2"/>
            </p:cNvCxnSpPr>
            <p:nvPr/>
          </p:nvCxnSpPr>
          <p:spPr bwMode="auto">
            <a:xfrm flipV="1">
              <a:off x="5572666" y="3040824"/>
              <a:ext cx="389605" cy="75644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CE0319A3-C539-45E5-9284-D4EEC5EF2B6C}"/>
                </a:ext>
              </a:extLst>
            </p:cNvPr>
            <p:cNvCxnSpPr>
              <a:cxnSpLocks/>
              <a:stCxn id="49" idx="0"/>
              <a:endCxn id="81" idx="0"/>
            </p:cNvCxnSpPr>
            <p:nvPr/>
          </p:nvCxnSpPr>
          <p:spPr bwMode="auto">
            <a:xfrm>
              <a:off x="6084953" y="2530839"/>
              <a:ext cx="206725" cy="108792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E901804-BBDB-4FFA-9C8D-3BA025D47E4F}"/>
                </a:ext>
              </a:extLst>
            </p:cNvPr>
            <p:cNvSpPr/>
            <p:nvPr/>
          </p:nvSpPr>
          <p:spPr bwMode="auto">
            <a:xfrm>
              <a:off x="6425632" y="276307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8430F072-B3B1-491B-9BAE-99556F6CCA86}"/>
                </a:ext>
              </a:extLst>
            </p:cNvPr>
            <p:cNvSpPr/>
            <p:nvPr/>
          </p:nvSpPr>
          <p:spPr bwMode="auto">
            <a:xfrm>
              <a:off x="6410773" y="277828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E824180-89E2-458D-89B1-D7EDE37FDCB9}"/>
                </a:ext>
              </a:extLst>
            </p:cNvPr>
            <p:cNvSpPr/>
            <p:nvPr/>
          </p:nvSpPr>
          <p:spPr bwMode="auto">
            <a:xfrm>
              <a:off x="6393628" y="279507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F1DCE18A-5CA0-4C91-9C1D-FA7ACEFD3162}"/>
                </a:ext>
              </a:extLst>
            </p:cNvPr>
            <p:cNvSpPr/>
            <p:nvPr/>
          </p:nvSpPr>
          <p:spPr bwMode="auto">
            <a:xfrm>
              <a:off x="6376864" y="281218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C0B3C016-3A29-4387-B1E8-D48DD64D5715}"/>
                </a:ext>
              </a:extLst>
            </p:cNvPr>
            <p:cNvSpPr/>
            <p:nvPr/>
          </p:nvSpPr>
          <p:spPr bwMode="auto">
            <a:xfrm>
              <a:off x="6359719" y="282898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4948E7A-B10D-4382-AA05-6D16A364EB65}"/>
                </a:ext>
              </a:extLst>
            </p:cNvPr>
            <p:cNvSpPr/>
            <p:nvPr/>
          </p:nvSpPr>
          <p:spPr bwMode="auto">
            <a:xfrm>
              <a:off x="6344860" y="284609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12AD08B5-D2D9-445D-881E-CB2393C1CE35}"/>
                </a:ext>
              </a:extLst>
            </p:cNvPr>
            <p:cNvSpPr/>
            <p:nvPr/>
          </p:nvSpPr>
          <p:spPr bwMode="auto">
            <a:xfrm>
              <a:off x="6327715" y="286289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56F8F7F-744B-443F-89B0-113DDE275906}"/>
                </a:ext>
              </a:extLst>
            </p:cNvPr>
            <p:cNvSpPr/>
            <p:nvPr/>
          </p:nvSpPr>
          <p:spPr bwMode="auto">
            <a:xfrm>
              <a:off x="6310951" y="288000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84E38F0-F87E-4E68-B7A1-380DE49BB638}"/>
                </a:ext>
              </a:extLst>
            </p:cNvPr>
            <p:cNvSpPr/>
            <p:nvPr/>
          </p:nvSpPr>
          <p:spPr bwMode="auto">
            <a:xfrm>
              <a:off x="6293806" y="289680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F3888E98-13D6-45AD-A1AE-1ECB83F0E52C}"/>
                </a:ext>
              </a:extLst>
            </p:cNvPr>
            <p:cNvCxnSpPr>
              <a:cxnSpLocks/>
              <a:stCxn id="101" idx="2"/>
              <a:endCxn id="112" idx="2"/>
            </p:cNvCxnSpPr>
            <p:nvPr/>
          </p:nvCxnSpPr>
          <p:spPr bwMode="auto">
            <a:xfrm flipV="1">
              <a:off x="5962271" y="2960811"/>
              <a:ext cx="363539" cy="8001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4DD11D38-91B9-436D-B1CF-81B5189FE060}"/>
                </a:ext>
              </a:extLst>
            </p:cNvPr>
            <p:cNvCxnSpPr>
              <a:cxnSpLocks/>
              <a:stCxn id="81" idx="0"/>
              <a:endCxn id="104" idx="0"/>
            </p:cNvCxnSpPr>
            <p:nvPr/>
          </p:nvCxnSpPr>
          <p:spPr bwMode="auto">
            <a:xfrm>
              <a:off x="6291678" y="2639631"/>
              <a:ext cx="165958" cy="1234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1" name="직선 연결선 360">
              <a:extLst>
                <a:ext uri="{FF2B5EF4-FFF2-40B4-BE49-F238E27FC236}">
                  <a16:creationId xmlns:a16="http://schemas.microsoft.com/office/drawing/2014/main" id="{C7879D1B-EF37-4761-802E-E90D2380C4B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67061" y="2793792"/>
              <a:ext cx="646043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8785555A-CB05-42C0-9363-AE115F64B37B}"/>
                </a:ext>
              </a:extLst>
            </p:cNvPr>
            <p:cNvSpPr txBox="1"/>
            <p:nvPr/>
          </p:nvSpPr>
          <p:spPr>
            <a:xfrm>
              <a:off x="613643" y="2394493"/>
              <a:ext cx="1647488" cy="6354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2041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Entire inference</a:t>
              </a:r>
              <a:br>
                <a:rPr lang="en-US" altLang="ko-KR" sz="2041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en-US" altLang="ko-KR" sz="2041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at the </a:t>
              </a:r>
              <a:r>
                <a:rPr lang="en-US" altLang="ko-KR" sz="2041" b="1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edge</a:t>
              </a:r>
              <a:endParaRPr lang="ko-KR" altLang="en-US" sz="2041" b="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pic>
          <p:nvPicPr>
            <p:cNvPr id="382" name="그림 381">
              <a:extLst>
                <a:ext uri="{FF2B5EF4-FFF2-40B4-BE49-F238E27FC236}">
                  <a16:creationId xmlns:a16="http://schemas.microsoft.com/office/drawing/2014/main" id="{3CC0DCDA-13E6-47BA-B26E-BFD040F54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6227" y="2450113"/>
              <a:ext cx="784811" cy="688228"/>
            </a:xfrm>
            <a:prstGeom prst="rect">
              <a:avLst/>
            </a:prstGeom>
          </p:spPr>
        </p:pic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DF40E73C-A8D6-4EF1-960D-8F81294A1EBD}"/>
                </a:ext>
              </a:extLst>
            </p:cNvPr>
            <p:cNvSpPr/>
            <p:nvPr/>
          </p:nvSpPr>
          <p:spPr bwMode="auto">
            <a:xfrm>
              <a:off x="3218435" y="2559840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0EB36D7E-E70E-4A60-9DB4-CF7E43B9E2E5}"/>
                </a:ext>
              </a:extLst>
            </p:cNvPr>
            <p:cNvCxnSpPr>
              <a:cxnSpLocks/>
              <a:stCxn id="116" idx="0"/>
              <a:endCxn id="118" idx="0"/>
            </p:cNvCxnSpPr>
            <p:nvPr/>
          </p:nvCxnSpPr>
          <p:spPr bwMode="auto">
            <a:xfrm>
              <a:off x="3281776" y="2559840"/>
              <a:ext cx="620713" cy="109846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9F79374E-B850-4901-8182-278232F7B262}"/>
                </a:ext>
              </a:extLst>
            </p:cNvPr>
            <p:cNvSpPr/>
            <p:nvPr/>
          </p:nvSpPr>
          <p:spPr bwMode="auto">
            <a:xfrm>
              <a:off x="3866452" y="2669686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D9F13348-DB6A-4B87-94A4-C6A2AD9565AF}"/>
                </a:ext>
              </a:extLst>
            </p:cNvPr>
            <p:cNvCxnSpPr>
              <a:cxnSpLocks/>
              <a:stCxn id="116" idx="2"/>
              <a:endCxn id="118" idx="2"/>
            </p:cNvCxnSpPr>
            <p:nvPr/>
          </p:nvCxnSpPr>
          <p:spPr bwMode="auto">
            <a:xfrm>
              <a:off x="3281776" y="2678507"/>
              <a:ext cx="620713" cy="7067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8F8622DC-CC5E-408E-9963-22B89F981AB8}"/>
                </a:ext>
              </a:extLst>
            </p:cNvPr>
            <p:cNvSpPr txBox="1"/>
            <p:nvPr/>
          </p:nvSpPr>
          <p:spPr>
            <a:xfrm>
              <a:off x="6472402" y="2673583"/>
              <a:ext cx="519870" cy="32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814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‘car’</a:t>
              </a:r>
              <a:endParaRPr lang="ko-KR" altLang="en-US" sz="181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2102065A-BEC2-413B-ABDF-905150F9AD04}"/>
                </a:ext>
              </a:extLst>
            </p:cNvPr>
            <p:cNvSpPr txBox="1"/>
            <p:nvPr/>
          </p:nvSpPr>
          <p:spPr>
            <a:xfrm>
              <a:off x="7938451" y="2636868"/>
              <a:ext cx="519870" cy="32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814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‘car’</a:t>
              </a:r>
              <a:endParaRPr lang="ko-KR" altLang="en-US" sz="181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C51D411B-E81B-42FA-A1EB-E047F939531E}"/>
              </a:ext>
            </a:extLst>
          </p:cNvPr>
          <p:cNvGrpSpPr/>
          <p:nvPr/>
        </p:nvGrpSpPr>
        <p:grpSpPr>
          <a:xfrm>
            <a:off x="412647" y="3916073"/>
            <a:ext cx="9538272" cy="1549593"/>
            <a:chOff x="363934" y="3453553"/>
            <a:chExt cx="8412256" cy="136666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44114C6-A4BB-4363-9959-FDA5DA2F9965}"/>
                </a:ext>
              </a:extLst>
            </p:cNvPr>
            <p:cNvSpPr/>
            <p:nvPr/>
          </p:nvSpPr>
          <p:spPr bwMode="auto">
            <a:xfrm>
              <a:off x="2637680" y="3583232"/>
              <a:ext cx="3092960" cy="111796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25EEF39-7705-4A06-8B84-BEC62B94EB49}"/>
                </a:ext>
              </a:extLst>
            </p:cNvPr>
            <p:cNvSpPr/>
            <p:nvPr/>
          </p:nvSpPr>
          <p:spPr bwMode="auto">
            <a:xfrm>
              <a:off x="6508896" y="3584964"/>
              <a:ext cx="2132268" cy="11162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64226532-77B6-4775-9CA6-C3EB8DE0331D}"/>
                </a:ext>
              </a:extLst>
            </p:cNvPr>
            <p:cNvSpPr/>
            <p:nvPr/>
          </p:nvSpPr>
          <p:spPr bwMode="auto">
            <a:xfrm>
              <a:off x="6951870" y="371469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D6D065D0-0665-441D-A50D-FE5D4B3AEA72}"/>
                </a:ext>
              </a:extLst>
            </p:cNvPr>
            <p:cNvSpPr/>
            <p:nvPr/>
          </p:nvSpPr>
          <p:spPr bwMode="auto">
            <a:xfrm>
              <a:off x="6927740" y="373897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B1B846D1-0D96-4ADD-95A0-DCB586145FF5}"/>
                </a:ext>
              </a:extLst>
            </p:cNvPr>
            <p:cNvSpPr/>
            <p:nvPr/>
          </p:nvSpPr>
          <p:spPr bwMode="auto">
            <a:xfrm>
              <a:off x="6903610" y="376469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2197A96B-AD0D-4BB3-985F-4756A4C1B957}"/>
                </a:ext>
              </a:extLst>
            </p:cNvPr>
            <p:cNvSpPr/>
            <p:nvPr/>
          </p:nvSpPr>
          <p:spPr bwMode="auto">
            <a:xfrm>
              <a:off x="6879480" y="378898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DB191145-1B8D-4BF0-811C-4A28B9B8D0CC}"/>
                </a:ext>
              </a:extLst>
            </p:cNvPr>
            <p:cNvSpPr/>
            <p:nvPr/>
          </p:nvSpPr>
          <p:spPr bwMode="auto">
            <a:xfrm>
              <a:off x="6854715" y="381462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86CAE230-3CC1-4195-999F-7944C930DE3F}"/>
                </a:ext>
              </a:extLst>
            </p:cNvPr>
            <p:cNvSpPr/>
            <p:nvPr/>
          </p:nvSpPr>
          <p:spPr bwMode="auto">
            <a:xfrm>
              <a:off x="6830585" y="383891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4C315C1F-FB90-46F1-A977-0214F741BB2F}"/>
                </a:ext>
              </a:extLst>
            </p:cNvPr>
            <p:cNvSpPr/>
            <p:nvPr/>
          </p:nvSpPr>
          <p:spPr bwMode="auto">
            <a:xfrm>
              <a:off x="6806455" y="386463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967D6E40-AF9B-42E0-B4BF-6CD2011206E3}"/>
                </a:ext>
              </a:extLst>
            </p:cNvPr>
            <p:cNvSpPr/>
            <p:nvPr/>
          </p:nvSpPr>
          <p:spPr bwMode="auto">
            <a:xfrm>
              <a:off x="6782325" y="388891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D57B3FAC-9A29-495F-B62C-C11253DD6967}"/>
                </a:ext>
              </a:extLst>
            </p:cNvPr>
            <p:cNvSpPr/>
            <p:nvPr/>
          </p:nvSpPr>
          <p:spPr bwMode="auto">
            <a:xfrm>
              <a:off x="6759465" y="391265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1D1595B2-ED3E-49C7-B9D3-2ECD5BEF67BE}"/>
                </a:ext>
              </a:extLst>
            </p:cNvPr>
            <p:cNvSpPr/>
            <p:nvPr/>
          </p:nvSpPr>
          <p:spPr bwMode="auto">
            <a:xfrm>
              <a:off x="6735335" y="393694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32EB4294-B6B9-404C-9308-FB4D83F6BD5A}"/>
                </a:ext>
              </a:extLst>
            </p:cNvPr>
            <p:cNvSpPr/>
            <p:nvPr/>
          </p:nvSpPr>
          <p:spPr bwMode="auto">
            <a:xfrm>
              <a:off x="6711205" y="396265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10D0AE3A-A55B-48FF-9406-4AA7B3239DCE}"/>
                </a:ext>
              </a:extLst>
            </p:cNvPr>
            <p:cNvSpPr/>
            <p:nvPr/>
          </p:nvSpPr>
          <p:spPr bwMode="auto">
            <a:xfrm>
              <a:off x="6687075" y="398694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CD4E0E87-999C-4ACB-A92B-F952C1D9908E}"/>
                </a:ext>
              </a:extLst>
            </p:cNvPr>
            <p:cNvSpPr/>
            <p:nvPr/>
          </p:nvSpPr>
          <p:spPr bwMode="auto">
            <a:xfrm>
              <a:off x="6662310" y="4012584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DDCDE87B-42C8-4276-9D69-C853390EFEF5}"/>
                </a:ext>
              </a:extLst>
            </p:cNvPr>
            <p:cNvSpPr/>
            <p:nvPr/>
          </p:nvSpPr>
          <p:spPr bwMode="auto">
            <a:xfrm>
              <a:off x="6638180" y="403687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0CD06922-B434-454B-AAEB-4E96F976A33F}"/>
                </a:ext>
              </a:extLst>
            </p:cNvPr>
            <p:cNvSpPr/>
            <p:nvPr/>
          </p:nvSpPr>
          <p:spPr bwMode="auto">
            <a:xfrm>
              <a:off x="6614050" y="406259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65CD607E-6C95-47AA-ABA0-87385E616195}"/>
                </a:ext>
              </a:extLst>
            </p:cNvPr>
            <p:cNvSpPr/>
            <p:nvPr/>
          </p:nvSpPr>
          <p:spPr bwMode="auto">
            <a:xfrm>
              <a:off x="6588334" y="408822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B5CB69D5-68DB-4DF2-8258-8AD804AB78A1}"/>
                </a:ext>
              </a:extLst>
            </p:cNvPr>
            <p:cNvCxnSpPr>
              <a:cxnSpLocks/>
              <a:stCxn id="247" idx="2"/>
              <a:endCxn id="281" idx="2"/>
            </p:cNvCxnSpPr>
            <p:nvPr/>
          </p:nvCxnSpPr>
          <p:spPr bwMode="auto">
            <a:xfrm>
              <a:off x="6719779" y="4336196"/>
              <a:ext cx="396683" cy="636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F3DE668F-464D-4439-8F9D-A16F8E6452B1}"/>
                </a:ext>
              </a:extLst>
            </p:cNvPr>
            <p:cNvCxnSpPr>
              <a:cxnSpLocks/>
              <a:stCxn id="232" idx="0"/>
              <a:endCxn id="250" idx="0"/>
            </p:cNvCxnSpPr>
            <p:nvPr/>
          </p:nvCxnSpPr>
          <p:spPr bwMode="auto">
            <a:xfrm>
              <a:off x="7083315" y="3714691"/>
              <a:ext cx="545434" cy="4224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0C338A20-31D6-45E9-B46D-A74CE9AF05CD}"/>
                </a:ext>
              </a:extLst>
            </p:cNvPr>
            <p:cNvSpPr/>
            <p:nvPr/>
          </p:nvSpPr>
          <p:spPr bwMode="auto">
            <a:xfrm>
              <a:off x="7596745" y="375693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56A6BA50-8F14-4228-A2FB-0A0D77B35415}"/>
                </a:ext>
              </a:extLst>
            </p:cNvPr>
            <p:cNvSpPr/>
            <p:nvPr/>
          </p:nvSpPr>
          <p:spPr bwMode="auto">
            <a:xfrm>
              <a:off x="7579600" y="377373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99CE9A37-305E-4727-B6E4-4651A02F78B4}"/>
                </a:ext>
              </a:extLst>
            </p:cNvPr>
            <p:cNvSpPr/>
            <p:nvPr/>
          </p:nvSpPr>
          <p:spPr bwMode="auto">
            <a:xfrm>
              <a:off x="7562836" y="379084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6BFE0C39-F942-4EF7-A978-864825AB7C16}"/>
                </a:ext>
              </a:extLst>
            </p:cNvPr>
            <p:cNvSpPr/>
            <p:nvPr/>
          </p:nvSpPr>
          <p:spPr bwMode="auto">
            <a:xfrm>
              <a:off x="7545691" y="380763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7FA54223-3FBB-4CB0-9BB6-4145131E2A09}"/>
                </a:ext>
              </a:extLst>
            </p:cNvPr>
            <p:cNvSpPr/>
            <p:nvPr/>
          </p:nvSpPr>
          <p:spPr bwMode="auto">
            <a:xfrm>
              <a:off x="7530832" y="382475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0413045C-8054-4D3A-84B8-1528B9A655C1}"/>
                </a:ext>
              </a:extLst>
            </p:cNvPr>
            <p:cNvSpPr/>
            <p:nvPr/>
          </p:nvSpPr>
          <p:spPr bwMode="auto">
            <a:xfrm>
              <a:off x="7513687" y="384154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8D7C4C1A-11D7-44FF-9799-497F2B863CF2}"/>
                </a:ext>
              </a:extLst>
            </p:cNvPr>
            <p:cNvSpPr/>
            <p:nvPr/>
          </p:nvSpPr>
          <p:spPr bwMode="auto">
            <a:xfrm>
              <a:off x="7496923" y="385866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FE79BE1A-DC23-4A46-9691-E8E14CDE6CA3}"/>
                </a:ext>
              </a:extLst>
            </p:cNvPr>
            <p:cNvSpPr/>
            <p:nvPr/>
          </p:nvSpPr>
          <p:spPr bwMode="auto">
            <a:xfrm>
              <a:off x="7479778" y="387545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965728D3-26D0-4037-ACB6-560B3DFF7656}"/>
                </a:ext>
              </a:extLst>
            </p:cNvPr>
            <p:cNvSpPr/>
            <p:nvPr/>
          </p:nvSpPr>
          <p:spPr bwMode="auto">
            <a:xfrm>
              <a:off x="7464919" y="389066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A80791FA-AD48-403E-9346-92A1E1799769}"/>
                </a:ext>
              </a:extLst>
            </p:cNvPr>
            <p:cNvSpPr/>
            <p:nvPr/>
          </p:nvSpPr>
          <p:spPr bwMode="auto">
            <a:xfrm>
              <a:off x="7447774" y="390746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2FDA955F-9DE9-4189-B24B-78374ABCF2FE}"/>
                </a:ext>
              </a:extLst>
            </p:cNvPr>
            <p:cNvSpPr/>
            <p:nvPr/>
          </p:nvSpPr>
          <p:spPr bwMode="auto">
            <a:xfrm>
              <a:off x="7431010" y="392457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594FC7B6-0B7B-44B6-84BF-680F8BA73E78}"/>
                </a:ext>
              </a:extLst>
            </p:cNvPr>
            <p:cNvSpPr/>
            <p:nvPr/>
          </p:nvSpPr>
          <p:spPr bwMode="auto">
            <a:xfrm>
              <a:off x="7413865" y="394137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4BF7A7D5-30B2-44D7-AD18-65D66F215562}"/>
                </a:ext>
              </a:extLst>
            </p:cNvPr>
            <p:cNvSpPr/>
            <p:nvPr/>
          </p:nvSpPr>
          <p:spPr bwMode="auto">
            <a:xfrm>
              <a:off x="7399006" y="395848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3" name="직사각형 262">
              <a:extLst>
                <a:ext uri="{FF2B5EF4-FFF2-40B4-BE49-F238E27FC236}">
                  <a16:creationId xmlns:a16="http://schemas.microsoft.com/office/drawing/2014/main" id="{59F410A3-7DF1-49EC-B52B-737220C8CA70}"/>
                </a:ext>
              </a:extLst>
            </p:cNvPr>
            <p:cNvSpPr/>
            <p:nvPr/>
          </p:nvSpPr>
          <p:spPr bwMode="auto">
            <a:xfrm>
              <a:off x="7381861" y="397527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52CA4DC2-56E8-4158-BDA1-2371624D7441}"/>
                </a:ext>
              </a:extLst>
            </p:cNvPr>
            <p:cNvSpPr/>
            <p:nvPr/>
          </p:nvSpPr>
          <p:spPr bwMode="auto">
            <a:xfrm>
              <a:off x="7365097" y="399239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B4EB7F79-58E6-4391-8104-5187DEABA439}"/>
                </a:ext>
              </a:extLst>
            </p:cNvPr>
            <p:cNvSpPr/>
            <p:nvPr/>
          </p:nvSpPr>
          <p:spPr bwMode="auto">
            <a:xfrm>
              <a:off x="7347952" y="400918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ECAE4705-37EC-49FC-B806-E780210979A1}"/>
                </a:ext>
              </a:extLst>
            </p:cNvPr>
            <p:cNvSpPr/>
            <p:nvPr/>
          </p:nvSpPr>
          <p:spPr bwMode="auto">
            <a:xfrm>
              <a:off x="7333251" y="402630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DB97AD29-B51D-4BB3-98CA-C91A620CBF73}"/>
                </a:ext>
              </a:extLst>
            </p:cNvPr>
            <p:cNvSpPr/>
            <p:nvPr/>
          </p:nvSpPr>
          <p:spPr bwMode="auto">
            <a:xfrm>
              <a:off x="7316106" y="404309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ED5F7D85-4346-46A6-9660-1067A7F9AB12}"/>
                </a:ext>
              </a:extLst>
            </p:cNvPr>
            <p:cNvSpPr/>
            <p:nvPr/>
          </p:nvSpPr>
          <p:spPr bwMode="auto">
            <a:xfrm>
              <a:off x="7299342" y="406021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FDBF9F56-E56E-4C91-AEFD-EF1AB103479C}"/>
                </a:ext>
              </a:extLst>
            </p:cNvPr>
            <p:cNvSpPr/>
            <p:nvPr/>
          </p:nvSpPr>
          <p:spPr bwMode="auto">
            <a:xfrm>
              <a:off x="7282197" y="407700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42635E2D-B482-4E6E-9BBC-2A760C37BE53}"/>
                </a:ext>
              </a:extLst>
            </p:cNvPr>
            <p:cNvSpPr/>
            <p:nvPr/>
          </p:nvSpPr>
          <p:spPr bwMode="auto">
            <a:xfrm>
              <a:off x="7267338" y="409411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E1C68E37-8132-4DAB-88EA-179C5843C6B4}"/>
                </a:ext>
              </a:extLst>
            </p:cNvPr>
            <p:cNvSpPr/>
            <p:nvPr/>
          </p:nvSpPr>
          <p:spPr bwMode="auto">
            <a:xfrm>
              <a:off x="7250193" y="411091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F26AC007-CF96-4877-B382-805857372DA1}"/>
                </a:ext>
              </a:extLst>
            </p:cNvPr>
            <p:cNvSpPr/>
            <p:nvPr/>
          </p:nvSpPr>
          <p:spPr bwMode="auto">
            <a:xfrm>
              <a:off x="7233429" y="412802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E3227300-B4AE-4246-BCAB-37F1F2C51E57}"/>
                </a:ext>
              </a:extLst>
            </p:cNvPr>
            <p:cNvSpPr/>
            <p:nvPr/>
          </p:nvSpPr>
          <p:spPr bwMode="auto">
            <a:xfrm>
              <a:off x="7216284" y="414482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328C9674-84C6-4BCC-984A-88B10CE0932D}"/>
                </a:ext>
              </a:extLst>
            </p:cNvPr>
            <p:cNvSpPr/>
            <p:nvPr/>
          </p:nvSpPr>
          <p:spPr bwMode="auto">
            <a:xfrm>
              <a:off x="7201425" y="416003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F74D2F35-B145-4E89-AB9C-88112BA10B9F}"/>
                </a:ext>
              </a:extLst>
            </p:cNvPr>
            <p:cNvSpPr/>
            <p:nvPr/>
          </p:nvSpPr>
          <p:spPr bwMode="auto">
            <a:xfrm>
              <a:off x="7184280" y="417682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4055BBF6-2A6D-445C-BA02-F08E04EBAAA7}"/>
                </a:ext>
              </a:extLst>
            </p:cNvPr>
            <p:cNvSpPr/>
            <p:nvPr/>
          </p:nvSpPr>
          <p:spPr bwMode="auto">
            <a:xfrm>
              <a:off x="7167516" y="419394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2C825FDA-91DF-4FBE-BC1A-7291C55BA8F0}"/>
                </a:ext>
              </a:extLst>
            </p:cNvPr>
            <p:cNvSpPr/>
            <p:nvPr/>
          </p:nvSpPr>
          <p:spPr bwMode="auto">
            <a:xfrm>
              <a:off x="7150371" y="421073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0B1887E5-FBCF-48DF-88AD-8EBB9981705F}"/>
                </a:ext>
              </a:extLst>
            </p:cNvPr>
            <p:cNvSpPr/>
            <p:nvPr/>
          </p:nvSpPr>
          <p:spPr bwMode="auto">
            <a:xfrm>
              <a:off x="7135512" y="422785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E57111C8-C041-49A2-B0DC-8894CF540E7D}"/>
                </a:ext>
              </a:extLst>
            </p:cNvPr>
            <p:cNvSpPr/>
            <p:nvPr/>
          </p:nvSpPr>
          <p:spPr bwMode="auto">
            <a:xfrm>
              <a:off x="7118367" y="424464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74798086-98A0-4454-A9E5-AD8271B91463}"/>
                </a:ext>
              </a:extLst>
            </p:cNvPr>
            <p:cNvSpPr/>
            <p:nvPr/>
          </p:nvSpPr>
          <p:spPr bwMode="auto">
            <a:xfrm>
              <a:off x="7101603" y="426175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9139EFCD-2BDA-4AC3-A999-A39FF825FEE8}"/>
                </a:ext>
              </a:extLst>
            </p:cNvPr>
            <p:cNvSpPr/>
            <p:nvPr/>
          </p:nvSpPr>
          <p:spPr bwMode="auto">
            <a:xfrm>
              <a:off x="7084458" y="427855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F37847B1-D1A0-44A5-B1E5-B01222EF1FEE}"/>
                </a:ext>
              </a:extLst>
            </p:cNvPr>
            <p:cNvSpPr/>
            <p:nvPr/>
          </p:nvSpPr>
          <p:spPr bwMode="auto">
            <a:xfrm>
              <a:off x="7803470" y="386572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78005EDA-B699-4400-AD5D-CA89CDDD9C26}"/>
                </a:ext>
              </a:extLst>
            </p:cNvPr>
            <p:cNvSpPr/>
            <p:nvPr/>
          </p:nvSpPr>
          <p:spPr bwMode="auto">
            <a:xfrm>
              <a:off x="7788611" y="388283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4" name="직사각형 283">
              <a:extLst>
                <a:ext uri="{FF2B5EF4-FFF2-40B4-BE49-F238E27FC236}">
                  <a16:creationId xmlns:a16="http://schemas.microsoft.com/office/drawing/2014/main" id="{8CF98651-DA88-44F1-8855-AF63378AA505}"/>
                </a:ext>
              </a:extLst>
            </p:cNvPr>
            <p:cNvSpPr/>
            <p:nvPr/>
          </p:nvSpPr>
          <p:spPr bwMode="auto">
            <a:xfrm>
              <a:off x="7771466" y="389963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5A871C62-27C7-4CC7-9D8B-C6067571A1C6}"/>
                </a:ext>
              </a:extLst>
            </p:cNvPr>
            <p:cNvSpPr/>
            <p:nvPr/>
          </p:nvSpPr>
          <p:spPr bwMode="auto">
            <a:xfrm>
              <a:off x="7754702" y="391674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E02D13F3-98DB-4A89-9DD5-CA672F63D670}"/>
                </a:ext>
              </a:extLst>
            </p:cNvPr>
            <p:cNvSpPr/>
            <p:nvPr/>
          </p:nvSpPr>
          <p:spPr bwMode="auto">
            <a:xfrm>
              <a:off x="7737557" y="393354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BAB93FF5-466F-4A9E-BAF1-7A3A71AFE78D}"/>
                </a:ext>
              </a:extLst>
            </p:cNvPr>
            <p:cNvSpPr/>
            <p:nvPr/>
          </p:nvSpPr>
          <p:spPr bwMode="auto">
            <a:xfrm>
              <a:off x="7722856" y="395065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7A9ACE9A-C466-48B9-9410-422E9B2B77E1}"/>
                </a:ext>
              </a:extLst>
            </p:cNvPr>
            <p:cNvSpPr/>
            <p:nvPr/>
          </p:nvSpPr>
          <p:spPr bwMode="auto">
            <a:xfrm>
              <a:off x="7705711" y="396745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9C051751-A0E3-41F2-8E12-4E59385189C0}"/>
                </a:ext>
              </a:extLst>
            </p:cNvPr>
            <p:cNvSpPr/>
            <p:nvPr/>
          </p:nvSpPr>
          <p:spPr bwMode="auto">
            <a:xfrm>
              <a:off x="7688947" y="398456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68FC07F8-BBEA-45BC-81DD-05CDB8F48A31}"/>
                </a:ext>
              </a:extLst>
            </p:cNvPr>
            <p:cNvSpPr/>
            <p:nvPr/>
          </p:nvSpPr>
          <p:spPr bwMode="auto">
            <a:xfrm>
              <a:off x="7671802" y="400136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D172A0C4-F13C-4F27-BB7A-D3E7EB033E34}"/>
                </a:ext>
              </a:extLst>
            </p:cNvPr>
            <p:cNvSpPr/>
            <p:nvPr/>
          </p:nvSpPr>
          <p:spPr bwMode="auto">
            <a:xfrm>
              <a:off x="7656943" y="401847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2" name="직사각형 291">
              <a:extLst>
                <a:ext uri="{FF2B5EF4-FFF2-40B4-BE49-F238E27FC236}">
                  <a16:creationId xmlns:a16="http://schemas.microsoft.com/office/drawing/2014/main" id="{F1FEB115-F63C-4828-9D97-9A3756B2BEE5}"/>
                </a:ext>
              </a:extLst>
            </p:cNvPr>
            <p:cNvSpPr/>
            <p:nvPr/>
          </p:nvSpPr>
          <p:spPr bwMode="auto">
            <a:xfrm>
              <a:off x="7639798" y="403527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A3D0C1C1-5FF8-4C75-9D72-E6A94F01E5B6}"/>
                </a:ext>
              </a:extLst>
            </p:cNvPr>
            <p:cNvSpPr/>
            <p:nvPr/>
          </p:nvSpPr>
          <p:spPr bwMode="auto">
            <a:xfrm>
              <a:off x="7623034" y="405238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D929B8DA-7AC2-4B89-97A3-E337A6D7AD14}"/>
                </a:ext>
              </a:extLst>
            </p:cNvPr>
            <p:cNvSpPr/>
            <p:nvPr/>
          </p:nvSpPr>
          <p:spPr bwMode="auto">
            <a:xfrm>
              <a:off x="7605889" y="406918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DAC64DBB-C0DC-46BE-8089-92C89DCA3513}"/>
                </a:ext>
              </a:extLst>
            </p:cNvPr>
            <p:cNvSpPr/>
            <p:nvPr/>
          </p:nvSpPr>
          <p:spPr bwMode="auto">
            <a:xfrm>
              <a:off x="7591030" y="408438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4BD634BC-C028-4184-9681-2C1C4B0BB60C}"/>
                </a:ext>
              </a:extLst>
            </p:cNvPr>
            <p:cNvSpPr/>
            <p:nvPr/>
          </p:nvSpPr>
          <p:spPr bwMode="auto">
            <a:xfrm>
              <a:off x="7573885" y="410118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E4AE9898-01B5-45F3-B449-30621E839D02}"/>
                </a:ext>
              </a:extLst>
            </p:cNvPr>
            <p:cNvSpPr/>
            <p:nvPr/>
          </p:nvSpPr>
          <p:spPr bwMode="auto">
            <a:xfrm>
              <a:off x="7557121" y="411829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D2F7048E-4246-4D6D-9C33-AF1B91891DC8}"/>
                </a:ext>
              </a:extLst>
            </p:cNvPr>
            <p:cNvSpPr/>
            <p:nvPr/>
          </p:nvSpPr>
          <p:spPr bwMode="auto">
            <a:xfrm>
              <a:off x="7539976" y="413509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EBEB3F2A-46A4-435D-B08E-E0B2FD499928}"/>
                </a:ext>
              </a:extLst>
            </p:cNvPr>
            <p:cNvSpPr/>
            <p:nvPr/>
          </p:nvSpPr>
          <p:spPr bwMode="auto">
            <a:xfrm>
              <a:off x="7525117" y="415220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0190D5A3-587D-4881-9F8A-E8B066EE21D2}"/>
                </a:ext>
              </a:extLst>
            </p:cNvPr>
            <p:cNvSpPr/>
            <p:nvPr/>
          </p:nvSpPr>
          <p:spPr bwMode="auto">
            <a:xfrm>
              <a:off x="7507972" y="416900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1ECD2450-9DE4-4802-BC71-46EFBC071C7F}"/>
                </a:ext>
              </a:extLst>
            </p:cNvPr>
            <p:cNvSpPr/>
            <p:nvPr/>
          </p:nvSpPr>
          <p:spPr bwMode="auto">
            <a:xfrm>
              <a:off x="7491208" y="418611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8D410383-22A1-41AB-9A5A-1AC2740882DC}"/>
                </a:ext>
              </a:extLst>
            </p:cNvPr>
            <p:cNvSpPr/>
            <p:nvPr/>
          </p:nvSpPr>
          <p:spPr bwMode="auto">
            <a:xfrm>
              <a:off x="7474063" y="420291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420A1E88-2CFB-4B6C-A850-EEB167F0C136}"/>
                </a:ext>
              </a:extLst>
            </p:cNvPr>
            <p:cNvCxnSpPr>
              <a:cxnSpLocks/>
              <a:stCxn id="281" idx="2"/>
              <a:endCxn id="302" idx="2"/>
            </p:cNvCxnSpPr>
            <p:nvPr/>
          </p:nvCxnSpPr>
          <p:spPr bwMode="auto">
            <a:xfrm flipV="1">
              <a:off x="7116462" y="4266919"/>
              <a:ext cx="389605" cy="75644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16DB3D8C-6A91-4090-BC56-216F427E2ACE}"/>
                </a:ext>
              </a:extLst>
            </p:cNvPr>
            <p:cNvCxnSpPr>
              <a:cxnSpLocks/>
              <a:stCxn id="250" idx="0"/>
              <a:endCxn id="282" idx="0"/>
            </p:cNvCxnSpPr>
            <p:nvPr/>
          </p:nvCxnSpPr>
          <p:spPr bwMode="auto">
            <a:xfrm>
              <a:off x="7628749" y="3756934"/>
              <a:ext cx="206725" cy="108792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5" name="직사각형 304">
              <a:extLst>
                <a:ext uri="{FF2B5EF4-FFF2-40B4-BE49-F238E27FC236}">
                  <a16:creationId xmlns:a16="http://schemas.microsoft.com/office/drawing/2014/main" id="{63808577-F405-4068-BF9A-4B792D18EDB2}"/>
                </a:ext>
              </a:extLst>
            </p:cNvPr>
            <p:cNvSpPr/>
            <p:nvPr/>
          </p:nvSpPr>
          <p:spPr bwMode="auto">
            <a:xfrm>
              <a:off x="7969428" y="398916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4EF6EF2B-C89F-48E8-BEE4-C232020C851C}"/>
                </a:ext>
              </a:extLst>
            </p:cNvPr>
            <p:cNvSpPr/>
            <p:nvPr/>
          </p:nvSpPr>
          <p:spPr bwMode="auto">
            <a:xfrm>
              <a:off x="7954569" y="400437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72F2A31A-99E3-4147-AC55-4A546D18C614}"/>
                </a:ext>
              </a:extLst>
            </p:cNvPr>
            <p:cNvSpPr/>
            <p:nvPr/>
          </p:nvSpPr>
          <p:spPr bwMode="auto">
            <a:xfrm>
              <a:off x="7937424" y="402117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544CED94-0370-4637-946D-64D9D4C9B5AA}"/>
                </a:ext>
              </a:extLst>
            </p:cNvPr>
            <p:cNvSpPr/>
            <p:nvPr/>
          </p:nvSpPr>
          <p:spPr bwMode="auto">
            <a:xfrm>
              <a:off x="7920660" y="403828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F043F5A2-8698-4E27-91F8-893FD9F27890}"/>
                </a:ext>
              </a:extLst>
            </p:cNvPr>
            <p:cNvSpPr/>
            <p:nvPr/>
          </p:nvSpPr>
          <p:spPr bwMode="auto">
            <a:xfrm>
              <a:off x="7903515" y="405508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58F3BBCB-C974-489C-AF3B-D5134DE8544E}"/>
                </a:ext>
              </a:extLst>
            </p:cNvPr>
            <p:cNvSpPr/>
            <p:nvPr/>
          </p:nvSpPr>
          <p:spPr bwMode="auto">
            <a:xfrm>
              <a:off x="7888656" y="407219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17E7F64-F1A3-4A39-9E00-939E079446A5}"/>
                </a:ext>
              </a:extLst>
            </p:cNvPr>
            <p:cNvSpPr/>
            <p:nvPr/>
          </p:nvSpPr>
          <p:spPr bwMode="auto">
            <a:xfrm>
              <a:off x="7871511" y="408898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050220E6-0751-4B21-989E-D710301D417F}"/>
                </a:ext>
              </a:extLst>
            </p:cNvPr>
            <p:cNvSpPr/>
            <p:nvPr/>
          </p:nvSpPr>
          <p:spPr bwMode="auto">
            <a:xfrm>
              <a:off x="7854747" y="410610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8BB1BC81-6D34-477A-A048-697C0D9638CA}"/>
                </a:ext>
              </a:extLst>
            </p:cNvPr>
            <p:cNvSpPr/>
            <p:nvPr/>
          </p:nvSpPr>
          <p:spPr bwMode="auto">
            <a:xfrm>
              <a:off x="7837602" y="412289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31D1729C-0349-443B-9142-A5DADCD4B89A}"/>
                </a:ext>
              </a:extLst>
            </p:cNvPr>
            <p:cNvCxnSpPr>
              <a:cxnSpLocks/>
              <a:stCxn id="302" idx="2"/>
              <a:endCxn id="313" idx="2"/>
            </p:cNvCxnSpPr>
            <p:nvPr/>
          </p:nvCxnSpPr>
          <p:spPr bwMode="auto">
            <a:xfrm flipV="1">
              <a:off x="7506067" y="4186906"/>
              <a:ext cx="363539" cy="8001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직선 연결선 314">
              <a:extLst>
                <a:ext uri="{FF2B5EF4-FFF2-40B4-BE49-F238E27FC236}">
                  <a16:creationId xmlns:a16="http://schemas.microsoft.com/office/drawing/2014/main" id="{E43F7C63-7E5F-4A57-8F23-EB429715A09C}"/>
                </a:ext>
              </a:extLst>
            </p:cNvPr>
            <p:cNvCxnSpPr>
              <a:cxnSpLocks/>
              <a:stCxn id="282" idx="0"/>
              <a:endCxn id="305" idx="0"/>
            </p:cNvCxnSpPr>
            <p:nvPr/>
          </p:nvCxnSpPr>
          <p:spPr bwMode="auto">
            <a:xfrm>
              <a:off x="7835474" y="3865726"/>
              <a:ext cx="165958" cy="1234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ABD4916C-1C0F-4522-BD2A-ED6F920E108B}"/>
                </a:ext>
              </a:extLst>
            </p:cNvPr>
            <p:cNvSpPr txBox="1"/>
            <p:nvPr/>
          </p:nvSpPr>
          <p:spPr>
            <a:xfrm>
              <a:off x="6465329" y="4440840"/>
              <a:ext cx="847071" cy="29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587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Decoding</a:t>
              </a:r>
              <a:endParaRPr lang="ko-KR" altLang="en-US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AAC01606-5825-46B2-918B-22DAA58F38DA}"/>
                </a:ext>
              </a:extLst>
            </p:cNvPr>
            <p:cNvSpPr/>
            <p:nvPr/>
          </p:nvSpPr>
          <p:spPr bwMode="auto">
            <a:xfrm>
              <a:off x="3760604" y="367570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4A9A6F2A-C84B-4163-8C64-7D3111598AEB}"/>
                </a:ext>
              </a:extLst>
            </p:cNvPr>
            <p:cNvSpPr/>
            <p:nvPr/>
          </p:nvSpPr>
          <p:spPr bwMode="auto">
            <a:xfrm>
              <a:off x="3714884" y="372904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1" name="직사각형 320">
              <a:extLst>
                <a:ext uri="{FF2B5EF4-FFF2-40B4-BE49-F238E27FC236}">
                  <a16:creationId xmlns:a16="http://schemas.microsoft.com/office/drawing/2014/main" id="{3D74FC67-BBFE-4AAD-86D8-0524944BFACD}"/>
                </a:ext>
              </a:extLst>
            </p:cNvPr>
            <p:cNvSpPr/>
            <p:nvPr/>
          </p:nvSpPr>
          <p:spPr bwMode="auto">
            <a:xfrm>
              <a:off x="3661544" y="379000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2" name="직사각형 321">
              <a:extLst>
                <a:ext uri="{FF2B5EF4-FFF2-40B4-BE49-F238E27FC236}">
                  <a16:creationId xmlns:a16="http://schemas.microsoft.com/office/drawing/2014/main" id="{7B8C79E9-74A9-40E0-BE90-87AF29083CD5}"/>
                </a:ext>
              </a:extLst>
            </p:cNvPr>
            <p:cNvSpPr/>
            <p:nvPr/>
          </p:nvSpPr>
          <p:spPr bwMode="auto">
            <a:xfrm>
              <a:off x="3615824" y="384334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C057E8CF-1ACE-4E5E-8A90-C49B7D305E70}"/>
                </a:ext>
              </a:extLst>
            </p:cNvPr>
            <p:cNvSpPr/>
            <p:nvPr/>
          </p:nvSpPr>
          <p:spPr bwMode="auto">
            <a:xfrm>
              <a:off x="4632840" y="3710630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494C4061-87EB-400E-BF5C-FA56BC14E3F6}"/>
                </a:ext>
              </a:extLst>
            </p:cNvPr>
            <p:cNvSpPr/>
            <p:nvPr/>
          </p:nvSpPr>
          <p:spPr bwMode="auto">
            <a:xfrm>
              <a:off x="4597280" y="3750318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F620032B-D64B-42C1-9F40-A7F286009FF7}"/>
                </a:ext>
              </a:extLst>
            </p:cNvPr>
            <p:cNvSpPr/>
            <p:nvPr/>
          </p:nvSpPr>
          <p:spPr bwMode="auto">
            <a:xfrm>
              <a:off x="4561720" y="3790006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6" name="직사각형 325">
              <a:extLst>
                <a:ext uri="{FF2B5EF4-FFF2-40B4-BE49-F238E27FC236}">
                  <a16:creationId xmlns:a16="http://schemas.microsoft.com/office/drawing/2014/main" id="{103433BA-D86E-4846-B203-C7AA668B5998}"/>
                </a:ext>
              </a:extLst>
            </p:cNvPr>
            <p:cNvSpPr/>
            <p:nvPr/>
          </p:nvSpPr>
          <p:spPr bwMode="auto">
            <a:xfrm>
              <a:off x="4529970" y="3829694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id="{CDB63022-E8CA-4D49-AB87-8E3E15EECD3C}"/>
                </a:ext>
              </a:extLst>
            </p:cNvPr>
            <p:cNvSpPr/>
            <p:nvPr/>
          </p:nvSpPr>
          <p:spPr bwMode="auto">
            <a:xfrm>
              <a:off x="4498220" y="3862712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8" name="직사각형 327">
              <a:extLst>
                <a:ext uri="{FF2B5EF4-FFF2-40B4-BE49-F238E27FC236}">
                  <a16:creationId xmlns:a16="http://schemas.microsoft.com/office/drawing/2014/main" id="{92A2A3E0-7466-493A-B8CE-F284D6A9A4DD}"/>
                </a:ext>
              </a:extLst>
            </p:cNvPr>
            <p:cNvSpPr/>
            <p:nvPr/>
          </p:nvSpPr>
          <p:spPr bwMode="auto">
            <a:xfrm>
              <a:off x="4462660" y="3898590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8998C176-B18F-419A-BAE8-6218085A0FC2}"/>
                </a:ext>
              </a:extLst>
            </p:cNvPr>
            <p:cNvSpPr/>
            <p:nvPr/>
          </p:nvSpPr>
          <p:spPr bwMode="auto">
            <a:xfrm>
              <a:off x="4427100" y="3938278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0" name="직사각형 329">
              <a:extLst>
                <a:ext uri="{FF2B5EF4-FFF2-40B4-BE49-F238E27FC236}">
                  <a16:creationId xmlns:a16="http://schemas.microsoft.com/office/drawing/2014/main" id="{D9B3A302-BDBA-4966-B112-FCBCE6CB48E8}"/>
                </a:ext>
              </a:extLst>
            </p:cNvPr>
            <p:cNvSpPr/>
            <p:nvPr/>
          </p:nvSpPr>
          <p:spPr bwMode="auto">
            <a:xfrm>
              <a:off x="4383920" y="3977966"/>
              <a:ext cx="381000" cy="375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0E612AE0-E1C6-4C66-8DB7-8B8EBB3F1262}"/>
                </a:ext>
              </a:extLst>
            </p:cNvPr>
            <p:cNvSpPr/>
            <p:nvPr/>
          </p:nvSpPr>
          <p:spPr bwMode="auto">
            <a:xfrm>
              <a:off x="5407540" y="374246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2" name="직사각형 331">
              <a:extLst>
                <a:ext uri="{FF2B5EF4-FFF2-40B4-BE49-F238E27FC236}">
                  <a16:creationId xmlns:a16="http://schemas.microsoft.com/office/drawing/2014/main" id="{4371E8E4-6A8F-48C6-BC4E-99451AC28D7F}"/>
                </a:ext>
              </a:extLst>
            </p:cNvPr>
            <p:cNvSpPr/>
            <p:nvPr/>
          </p:nvSpPr>
          <p:spPr bwMode="auto">
            <a:xfrm>
              <a:off x="5383410" y="376674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id="{BC85C21E-5CA4-46F4-9210-EF7C5D0035E6}"/>
                </a:ext>
              </a:extLst>
            </p:cNvPr>
            <p:cNvSpPr/>
            <p:nvPr/>
          </p:nvSpPr>
          <p:spPr bwMode="auto">
            <a:xfrm>
              <a:off x="5359280" y="379246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94AF9531-E3FC-4743-8BDA-027462875503}"/>
                </a:ext>
              </a:extLst>
            </p:cNvPr>
            <p:cNvSpPr/>
            <p:nvPr/>
          </p:nvSpPr>
          <p:spPr bwMode="auto">
            <a:xfrm>
              <a:off x="5335150" y="3816755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32ACFFC2-3912-4D8C-9883-AB95BEB27609}"/>
                </a:ext>
              </a:extLst>
            </p:cNvPr>
            <p:cNvSpPr/>
            <p:nvPr/>
          </p:nvSpPr>
          <p:spPr bwMode="auto">
            <a:xfrm>
              <a:off x="5310385" y="384239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792EDE8E-1C9C-4C39-A651-7991106F5A0B}"/>
                </a:ext>
              </a:extLst>
            </p:cNvPr>
            <p:cNvSpPr/>
            <p:nvPr/>
          </p:nvSpPr>
          <p:spPr bwMode="auto">
            <a:xfrm>
              <a:off x="5286255" y="386668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7" name="직사각형 336">
              <a:extLst>
                <a:ext uri="{FF2B5EF4-FFF2-40B4-BE49-F238E27FC236}">
                  <a16:creationId xmlns:a16="http://schemas.microsoft.com/office/drawing/2014/main" id="{8A15A7A0-F5EE-4FBF-BC55-ED4BEA4F9E19}"/>
                </a:ext>
              </a:extLst>
            </p:cNvPr>
            <p:cNvSpPr/>
            <p:nvPr/>
          </p:nvSpPr>
          <p:spPr bwMode="auto">
            <a:xfrm>
              <a:off x="5262125" y="389239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C93C0DD9-CDBC-4428-9688-6D45E5208BD9}"/>
                </a:ext>
              </a:extLst>
            </p:cNvPr>
            <p:cNvSpPr/>
            <p:nvPr/>
          </p:nvSpPr>
          <p:spPr bwMode="auto">
            <a:xfrm>
              <a:off x="5237995" y="391668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05F3A622-92E6-4184-8ED3-D9556BC97238}"/>
                </a:ext>
              </a:extLst>
            </p:cNvPr>
            <p:cNvSpPr/>
            <p:nvPr/>
          </p:nvSpPr>
          <p:spPr bwMode="auto">
            <a:xfrm>
              <a:off x="5215135" y="394042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080E0FF2-7C5A-4346-96DC-510CAC9B4D0B}"/>
                </a:ext>
              </a:extLst>
            </p:cNvPr>
            <p:cNvSpPr/>
            <p:nvPr/>
          </p:nvSpPr>
          <p:spPr bwMode="auto">
            <a:xfrm>
              <a:off x="5191005" y="396470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1" name="직사각형 340">
              <a:extLst>
                <a:ext uri="{FF2B5EF4-FFF2-40B4-BE49-F238E27FC236}">
                  <a16:creationId xmlns:a16="http://schemas.microsoft.com/office/drawing/2014/main" id="{71F6854E-9013-48F6-84D0-5E3A9BC4FF69}"/>
                </a:ext>
              </a:extLst>
            </p:cNvPr>
            <p:cNvSpPr/>
            <p:nvPr/>
          </p:nvSpPr>
          <p:spPr bwMode="auto">
            <a:xfrm>
              <a:off x="5166875" y="399042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2" name="직사각형 341">
              <a:extLst>
                <a:ext uri="{FF2B5EF4-FFF2-40B4-BE49-F238E27FC236}">
                  <a16:creationId xmlns:a16="http://schemas.microsoft.com/office/drawing/2014/main" id="{DC2AFC6E-FA5F-4BCA-969E-AEBDA8512B49}"/>
                </a:ext>
              </a:extLst>
            </p:cNvPr>
            <p:cNvSpPr/>
            <p:nvPr/>
          </p:nvSpPr>
          <p:spPr bwMode="auto">
            <a:xfrm>
              <a:off x="5142745" y="401471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3" name="직사각형 342">
              <a:extLst>
                <a:ext uri="{FF2B5EF4-FFF2-40B4-BE49-F238E27FC236}">
                  <a16:creationId xmlns:a16="http://schemas.microsoft.com/office/drawing/2014/main" id="{A72BDEB5-5E47-4838-A393-E1AAACFCCDC2}"/>
                </a:ext>
              </a:extLst>
            </p:cNvPr>
            <p:cNvSpPr/>
            <p:nvPr/>
          </p:nvSpPr>
          <p:spPr bwMode="auto">
            <a:xfrm>
              <a:off x="5117980" y="404035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4" name="직사각형 343">
              <a:extLst>
                <a:ext uri="{FF2B5EF4-FFF2-40B4-BE49-F238E27FC236}">
                  <a16:creationId xmlns:a16="http://schemas.microsoft.com/office/drawing/2014/main" id="{D6F31360-216F-486F-9F1D-BD661BADAE1E}"/>
                </a:ext>
              </a:extLst>
            </p:cNvPr>
            <p:cNvSpPr/>
            <p:nvPr/>
          </p:nvSpPr>
          <p:spPr bwMode="auto">
            <a:xfrm>
              <a:off x="5093850" y="406464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5" name="직사각형 344">
              <a:extLst>
                <a:ext uri="{FF2B5EF4-FFF2-40B4-BE49-F238E27FC236}">
                  <a16:creationId xmlns:a16="http://schemas.microsoft.com/office/drawing/2014/main" id="{E3856E42-3BFA-4439-82F9-3B5AB1B290B2}"/>
                </a:ext>
              </a:extLst>
            </p:cNvPr>
            <p:cNvSpPr/>
            <p:nvPr/>
          </p:nvSpPr>
          <p:spPr bwMode="auto">
            <a:xfrm>
              <a:off x="5069720" y="409036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ED523C71-57E4-4A0A-9C67-9F80944E1E76}"/>
                </a:ext>
              </a:extLst>
            </p:cNvPr>
            <p:cNvSpPr/>
            <p:nvPr/>
          </p:nvSpPr>
          <p:spPr bwMode="auto">
            <a:xfrm>
              <a:off x="5044004" y="411599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6EEFF569-011F-4AFA-A9C8-B883D63CBCBA}"/>
                </a:ext>
              </a:extLst>
            </p:cNvPr>
            <p:cNvSpPr/>
            <p:nvPr/>
          </p:nvSpPr>
          <p:spPr bwMode="auto">
            <a:xfrm>
              <a:off x="3939516" y="4182671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48" name="직선 연결선 347">
              <a:extLst>
                <a:ext uri="{FF2B5EF4-FFF2-40B4-BE49-F238E27FC236}">
                  <a16:creationId xmlns:a16="http://schemas.microsoft.com/office/drawing/2014/main" id="{2FF56BF8-F12E-4CB2-99D5-5D2E2E78B2A9}"/>
                </a:ext>
              </a:extLst>
            </p:cNvPr>
            <p:cNvCxnSpPr>
              <a:cxnSpLocks/>
              <a:stCxn id="347" idx="0"/>
              <a:endCxn id="349" idx="0"/>
            </p:cNvCxnSpPr>
            <p:nvPr/>
          </p:nvCxnSpPr>
          <p:spPr bwMode="auto">
            <a:xfrm>
              <a:off x="4002857" y="4182671"/>
              <a:ext cx="666020" cy="39946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9" name="직사각형 348">
              <a:extLst>
                <a:ext uri="{FF2B5EF4-FFF2-40B4-BE49-F238E27FC236}">
                  <a16:creationId xmlns:a16="http://schemas.microsoft.com/office/drawing/2014/main" id="{D27F4A68-8526-4A44-8670-A55AB3374860}"/>
                </a:ext>
              </a:extLst>
            </p:cNvPr>
            <p:cNvSpPr/>
            <p:nvPr/>
          </p:nvSpPr>
          <p:spPr bwMode="auto">
            <a:xfrm>
              <a:off x="4632840" y="4222617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F2F8DB6D-1F6F-4FD5-AB26-CBCF7B0B251E}"/>
                </a:ext>
              </a:extLst>
            </p:cNvPr>
            <p:cNvCxnSpPr>
              <a:cxnSpLocks/>
              <a:stCxn id="347" idx="2"/>
              <a:endCxn id="349" idx="2"/>
            </p:cNvCxnSpPr>
            <p:nvPr/>
          </p:nvCxnSpPr>
          <p:spPr bwMode="auto">
            <a:xfrm>
              <a:off x="4002857" y="4301338"/>
              <a:ext cx="666020" cy="77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9AD66976-8758-4BB3-BD11-9E227CCF51EC}"/>
                </a:ext>
              </a:extLst>
            </p:cNvPr>
            <p:cNvSpPr/>
            <p:nvPr/>
          </p:nvSpPr>
          <p:spPr bwMode="auto">
            <a:xfrm>
              <a:off x="4545036" y="4020183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B000358E-C30B-4DC2-A4A8-4F406A30D5EE}"/>
                </a:ext>
              </a:extLst>
            </p:cNvPr>
            <p:cNvCxnSpPr>
              <a:cxnSpLocks/>
              <a:stCxn id="351" idx="0"/>
              <a:endCxn id="353" idx="0"/>
            </p:cNvCxnSpPr>
            <p:nvPr/>
          </p:nvCxnSpPr>
          <p:spPr bwMode="auto">
            <a:xfrm>
              <a:off x="4608377" y="4020183"/>
              <a:ext cx="574531" cy="11851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5584BFB1-51F7-4C71-B559-BCB9283CA465}"/>
                </a:ext>
              </a:extLst>
            </p:cNvPr>
            <p:cNvSpPr/>
            <p:nvPr/>
          </p:nvSpPr>
          <p:spPr bwMode="auto">
            <a:xfrm>
              <a:off x="5146871" y="4138700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54" name="직선 연결선 353">
              <a:extLst>
                <a:ext uri="{FF2B5EF4-FFF2-40B4-BE49-F238E27FC236}">
                  <a16:creationId xmlns:a16="http://schemas.microsoft.com/office/drawing/2014/main" id="{6B753A97-1A62-4B33-9ADF-9B54480E88FF}"/>
                </a:ext>
              </a:extLst>
            </p:cNvPr>
            <p:cNvCxnSpPr>
              <a:cxnSpLocks/>
              <a:stCxn id="351" idx="2"/>
              <a:endCxn id="353" idx="2"/>
            </p:cNvCxnSpPr>
            <p:nvPr/>
          </p:nvCxnSpPr>
          <p:spPr bwMode="auto">
            <a:xfrm>
              <a:off x="4608377" y="4138850"/>
              <a:ext cx="574531" cy="79348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F4F472D6-AF7B-4F63-9FAD-364FA99BF0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86606" y="4586397"/>
              <a:ext cx="67103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63" name="직선 연결선 362">
              <a:extLst>
                <a:ext uri="{FF2B5EF4-FFF2-40B4-BE49-F238E27FC236}">
                  <a16:creationId xmlns:a16="http://schemas.microsoft.com/office/drawing/2014/main" id="{4349C9B9-EBB0-4D02-B121-477F59F8222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821766" y="4364157"/>
              <a:ext cx="0" cy="136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5EC0FEC1-1272-4CF6-A57A-33BA79C374CB}"/>
                </a:ext>
              </a:extLst>
            </p:cNvPr>
            <p:cNvSpPr txBox="1"/>
            <p:nvPr/>
          </p:nvSpPr>
          <p:spPr>
            <a:xfrm>
              <a:off x="4875402" y="4432509"/>
              <a:ext cx="830106" cy="29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587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Encoding</a:t>
              </a:r>
              <a:endParaRPr lang="ko-KR" altLang="en-US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365" name="직선 연결선 364">
              <a:extLst>
                <a:ext uri="{FF2B5EF4-FFF2-40B4-BE49-F238E27FC236}">
                  <a16:creationId xmlns:a16="http://schemas.microsoft.com/office/drawing/2014/main" id="{F835DE5B-CEAB-4E6D-A3F1-9420C0FA83B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34466" y="4372914"/>
              <a:ext cx="0" cy="1506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6633CF06-47B9-44A6-B025-5994F6E318BB}"/>
                </a:ext>
              </a:extLst>
            </p:cNvPr>
            <p:cNvSpPr txBox="1"/>
            <p:nvPr/>
          </p:nvSpPr>
          <p:spPr>
            <a:xfrm>
              <a:off x="5407648" y="3501783"/>
              <a:ext cx="1111445" cy="51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587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Intermediate</a:t>
              </a:r>
            </a:p>
            <a:p>
              <a:pPr algn="ctr" defTabSz="518419" latinLnBrk="0">
                <a:defRPr/>
              </a:pPr>
              <a:r>
                <a:rPr lang="en-US" altLang="ko-KR" sz="1587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feature</a:t>
              </a:r>
              <a:endParaRPr lang="ko-KR" altLang="en-US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A3350C5F-F749-4ECC-9698-6A3BDE272552}"/>
                </a:ext>
              </a:extLst>
            </p:cNvPr>
            <p:cNvSpPr txBox="1"/>
            <p:nvPr/>
          </p:nvSpPr>
          <p:spPr>
            <a:xfrm>
              <a:off x="364368" y="3798116"/>
              <a:ext cx="2196424" cy="635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2041" b="1" dirty="0">
                  <a:solidFill>
                    <a:srgbClr val="C00000"/>
                  </a:solidFill>
                  <a:latin typeface="Calibri" panose="020F0502020204030204"/>
                  <a:ea typeface="맑은 고딕" panose="020B0503020000020004" pitchFamily="50" charset="-127"/>
                </a:rPr>
                <a:t>Edge-cloud</a:t>
              </a:r>
              <a:br>
                <a:rPr lang="en-US" altLang="ko-KR" sz="2041" b="1" dirty="0">
                  <a:solidFill>
                    <a:srgbClr val="C00000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en-US" altLang="ko-KR" sz="2041" b="1" dirty="0">
                  <a:solidFill>
                    <a:srgbClr val="C00000"/>
                  </a:solidFill>
                  <a:latin typeface="Calibri" panose="020F0502020204030204"/>
                  <a:ea typeface="맑은 고딕" panose="020B0503020000020004" pitchFamily="50" charset="-127"/>
                </a:rPr>
                <a:t>partitioned inference</a:t>
              </a:r>
              <a:endParaRPr lang="ko-KR" altLang="en-US" sz="2041" b="1" dirty="0">
                <a:solidFill>
                  <a:srgbClr val="C00000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AD9B3FE5-2DD4-4326-8A39-C6F3221FD1F6}"/>
                </a:ext>
              </a:extLst>
            </p:cNvPr>
            <p:cNvSpPr/>
            <p:nvPr/>
          </p:nvSpPr>
          <p:spPr bwMode="auto">
            <a:xfrm>
              <a:off x="363934" y="3453553"/>
              <a:ext cx="8412256" cy="1366660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pic>
          <p:nvPicPr>
            <p:cNvPr id="383" name="그림 382">
              <a:extLst>
                <a:ext uri="{FF2B5EF4-FFF2-40B4-BE49-F238E27FC236}">
                  <a16:creationId xmlns:a16="http://schemas.microsoft.com/office/drawing/2014/main" id="{75685A95-75EB-4C64-BDD2-4338830AA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5414" y="3687347"/>
              <a:ext cx="784811" cy="688228"/>
            </a:xfrm>
            <a:prstGeom prst="rect">
              <a:avLst/>
            </a:prstGeom>
          </p:spPr>
        </p:pic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F247B13D-F22E-43CA-8BE9-5E32A879DE69}"/>
                </a:ext>
              </a:extLst>
            </p:cNvPr>
            <p:cNvSpPr/>
            <p:nvPr/>
          </p:nvSpPr>
          <p:spPr bwMode="auto">
            <a:xfrm>
              <a:off x="3217901" y="3813704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57" name="직선 연결선 356">
              <a:extLst>
                <a:ext uri="{FF2B5EF4-FFF2-40B4-BE49-F238E27FC236}">
                  <a16:creationId xmlns:a16="http://schemas.microsoft.com/office/drawing/2014/main" id="{06FE302C-591F-4C93-B255-F8817658EC10}"/>
                </a:ext>
              </a:extLst>
            </p:cNvPr>
            <p:cNvCxnSpPr>
              <a:cxnSpLocks/>
              <a:stCxn id="356" idx="0"/>
              <a:endCxn id="358" idx="0"/>
            </p:cNvCxnSpPr>
            <p:nvPr/>
          </p:nvCxnSpPr>
          <p:spPr bwMode="auto">
            <a:xfrm>
              <a:off x="3281242" y="3813704"/>
              <a:ext cx="620713" cy="109846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57A48317-01A8-49DB-BEBE-F519FEB314CA}"/>
                </a:ext>
              </a:extLst>
            </p:cNvPr>
            <p:cNvSpPr/>
            <p:nvPr/>
          </p:nvSpPr>
          <p:spPr bwMode="auto">
            <a:xfrm>
              <a:off x="3865918" y="3923550"/>
              <a:ext cx="72073" cy="79498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2721" b="1">
                <a:solidFill>
                  <a:prstClr val="black"/>
                </a:solidFill>
                <a:latin typeface="Tahoma" pitchFamily="34" charset="0"/>
                <a:ea typeface="맑은 고딕" panose="020B0503020000020004" pitchFamily="50" charset="-127"/>
              </a:endParaRPr>
            </a:p>
          </p:txBody>
        </p: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03992A2B-F382-4871-8E9E-7C8D84C32F14}"/>
                </a:ext>
              </a:extLst>
            </p:cNvPr>
            <p:cNvCxnSpPr>
              <a:cxnSpLocks/>
              <a:stCxn id="356" idx="2"/>
              <a:endCxn id="358" idx="2"/>
            </p:cNvCxnSpPr>
            <p:nvPr/>
          </p:nvCxnSpPr>
          <p:spPr bwMode="auto">
            <a:xfrm>
              <a:off x="3281242" y="3932371"/>
              <a:ext cx="620713" cy="7067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1F4E40B1-31FD-4D6B-8DC6-3491D8A5BAF6}"/>
                </a:ext>
              </a:extLst>
            </p:cNvPr>
            <p:cNvSpPr txBox="1"/>
            <p:nvPr/>
          </p:nvSpPr>
          <p:spPr>
            <a:xfrm>
              <a:off x="8030598" y="3899903"/>
              <a:ext cx="519870" cy="327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518419" latinLnBrk="0">
                <a:defRPr/>
              </a:pPr>
              <a:r>
                <a:rPr lang="en-US" altLang="ko-KR" sz="1814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‘car’</a:t>
              </a:r>
              <a:endParaRPr lang="ko-KR" altLang="en-US" sz="181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63462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5BCECD6A-BE46-52B4-0BA5-388F0F71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D5733-45F4-4A89-A66B-0086AF31057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5B82D2E-A78C-2B33-DE1B-E181F02E5F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Tradeoff between Computation/Memory &amp; Transmission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E9BD14A-B58F-96C0-A526-54C9AF4CE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E0AC800-ABBE-4973-9D1E-29FF99968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508934"/>
              </p:ext>
            </p:extLst>
          </p:nvPr>
        </p:nvGraphicFramePr>
        <p:xfrm>
          <a:off x="-134459" y="1118978"/>
          <a:ext cx="6742872" cy="2221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A725711-3A0C-460A-8D12-352B0A69CE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7238326"/>
              </p:ext>
            </p:extLst>
          </p:nvPr>
        </p:nvGraphicFramePr>
        <p:xfrm>
          <a:off x="-38427" y="2943812"/>
          <a:ext cx="5793099" cy="2221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638E4A-7917-4EC7-B11A-B3141BC9DAB3}"/>
              </a:ext>
            </a:extLst>
          </p:cNvPr>
          <p:cNvSpPr txBox="1"/>
          <p:nvPr/>
        </p:nvSpPr>
        <p:spPr>
          <a:xfrm rot="16200000">
            <a:off x="2966641" y="2447867"/>
            <a:ext cx="607757" cy="474668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Input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conv1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conv2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conv3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conv4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conv5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fc6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fc7</a:t>
            </a:r>
          </a:p>
          <a:p>
            <a:pPr algn="r" defTabSz="518419" latinLnBrk="0">
              <a:lnSpc>
                <a:spcPts val="4082"/>
              </a:lnSpc>
              <a:defRPr/>
            </a:pPr>
            <a:r>
              <a:rPr lang="en-US" altLang="ko-KR" sz="1587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fc8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68FE-9C75-49EE-A6DD-B2AF5777FEB3}"/>
              </a:ext>
            </a:extLst>
          </p:cNvPr>
          <p:cNvSpPr txBox="1"/>
          <p:nvPr/>
        </p:nvSpPr>
        <p:spPr>
          <a:xfrm>
            <a:off x="6607467" y="1748272"/>
            <a:ext cx="3417410" cy="222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More layers at edge</a:t>
            </a:r>
          </a:p>
          <a:p>
            <a:pPr defTabSz="518419" latinLnBrk="0">
              <a:defRPr/>
            </a:pPr>
            <a:endParaRPr lang="en-US" altLang="ko-KR" sz="1247" b="1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518419" latinLnBrk="0">
              <a:defRPr/>
            </a:pP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-&gt; Computation/</a:t>
            </a:r>
          </a:p>
          <a:p>
            <a:pPr defTabSz="518419" latinLnBrk="0">
              <a:defRPr/>
            </a:pP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    memory </a:t>
            </a:r>
            <a:r>
              <a:rPr lang="en-US" altLang="ko-KR" sz="2268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demand</a:t>
            </a: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 ↑</a:t>
            </a:r>
          </a:p>
          <a:p>
            <a:pPr defTabSz="518419" latinLnBrk="0">
              <a:defRPr/>
            </a:pPr>
            <a:endParaRPr lang="en-US" altLang="ko-KR" sz="1247" b="1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518419" latinLnBrk="0">
              <a:defRPr/>
            </a:pP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-&gt; Transmission </a:t>
            </a:r>
            <a:r>
              <a:rPr lang="en-US" altLang="ko-KR" sz="2268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demand</a:t>
            </a:r>
            <a:r>
              <a:rPr lang="en-US" altLang="ko-KR" sz="2268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 ↓</a:t>
            </a:r>
          </a:p>
          <a:p>
            <a:pPr defTabSz="518419" latinLnBrk="0">
              <a:defRPr/>
            </a:pPr>
            <a:endParaRPr lang="en-US" altLang="ko-KR" sz="2268" b="1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A16A62-7328-4238-B16D-E4F472DE4BCB}"/>
              </a:ext>
            </a:extLst>
          </p:cNvPr>
          <p:cNvSpPr/>
          <p:nvPr/>
        </p:nvSpPr>
        <p:spPr>
          <a:xfrm>
            <a:off x="6850394" y="3748787"/>
            <a:ext cx="2362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8419" latinLnBrk="0">
              <a:defRPr/>
            </a:pPr>
            <a:r>
              <a:rPr lang="en-US" altLang="ko-KR" sz="18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(Analysis with </a:t>
            </a:r>
            <a:r>
              <a:rPr lang="en-US" altLang="ko-KR" sz="1800" b="1" dirty="0" err="1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AlexNet</a:t>
            </a:r>
            <a:r>
              <a:rPr lang="en-US" altLang="ko-KR" sz="1800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6F2360-3404-4AA1-8C47-19B5D870F2AB}"/>
              </a:ext>
            </a:extLst>
          </p:cNvPr>
          <p:cNvSpPr/>
          <p:nvPr/>
        </p:nvSpPr>
        <p:spPr>
          <a:xfrm>
            <a:off x="2448676" y="5004997"/>
            <a:ext cx="1819985" cy="3715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8419" latinLnBrk="0">
              <a:defRPr/>
            </a:pPr>
            <a:r>
              <a:rPr lang="en-US" altLang="ko-KR" sz="1814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Layer to partition</a:t>
            </a:r>
            <a:endParaRPr lang="en-US" altLang="ko-KR" sz="1814" b="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48AD6F-3957-4C47-91FB-54177DF49AEB}"/>
              </a:ext>
            </a:extLst>
          </p:cNvPr>
          <p:cNvSpPr/>
          <p:nvPr/>
        </p:nvSpPr>
        <p:spPr>
          <a:xfrm>
            <a:off x="61143" y="4972810"/>
            <a:ext cx="1006045" cy="5808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8419" latinLnBrk="0">
              <a:defRPr/>
            </a:pPr>
            <a: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Host</a:t>
            </a:r>
            <a:b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inference </a:t>
            </a:r>
            <a:endParaRPr lang="ko-KR" altLang="en-US" sz="1587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65791841-38EE-4A5D-86CE-F68DEC68DF9C}"/>
              </a:ext>
            </a:extLst>
          </p:cNvPr>
          <p:cNvCxnSpPr>
            <a:cxnSpLocks/>
            <a:endCxn id="7" idx="3"/>
          </p:cNvCxnSpPr>
          <p:nvPr/>
        </p:nvCxnSpPr>
        <p:spPr>
          <a:xfrm rot="5400000">
            <a:off x="1034665" y="5005334"/>
            <a:ext cx="290399" cy="225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519180-6101-4D56-93DA-57A86F1CF1A1}"/>
              </a:ext>
            </a:extLst>
          </p:cNvPr>
          <p:cNvSpPr/>
          <p:nvPr/>
        </p:nvSpPr>
        <p:spPr>
          <a:xfrm>
            <a:off x="5590034" y="4803889"/>
            <a:ext cx="989432" cy="58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8419" latinLnBrk="0">
              <a:defRPr/>
            </a:pPr>
            <a: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Edge</a:t>
            </a:r>
            <a:b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1587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inference </a:t>
            </a:r>
            <a:endParaRPr lang="ko-KR" altLang="en-US" sz="1587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71B39F7A-E3C6-4BC8-9AF2-E1DB271ED4A7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5390364" y="4894619"/>
            <a:ext cx="262596" cy="1367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9FC9CBD-17A3-4626-85BD-3F3D365F87BF}"/>
              </a:ext>
            </a:extLst>
          </p:cNvPr>
          <p:cNvSpPr/>
          <p:nvPr/>
        </p:nvSpPr>
        <p:spPr>
          <a:xfrm>
            <a:off x="1155223" y="4453274"/>
            <a:ext cx="274632" cy="537899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8419" latinLnBrk="0">
              <a:defRPr/>
            </a:pPr>
            <a:endParaRPr lang="ko-KR" altLang="en-US" sz="2041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C2E00D-66BB-4B03-85A3-B124CEE21098}"/>
              </a:ext>
            </a:extLst>
          </p:cNvPr>
          <p:cNvSpPr/>
          <p:nvPr/>
        </p:nvSpPr>
        <p:spPr>
          <a:xfrm>
            <a:off x="5297294" y="4467098"/>
            <a:ext cx="274632" cy="364594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8419" latinLnBrk="0">
              <a:defRPr/>
            </a:pPr>
            <a:endParaRPr lang="ko-KR" altLang="en-US" sz="2041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790250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제목 156">
            <a:extLst>
              <a:ext uri="{FF2B5EF4-FFF2-40B4-BE49-F238E27FC236}">
                <a16:creationId xmlns:a16="http://schemas.microsoft.com/office/drawing/2014/main" id="{D3938665-5C87-A856-5FB3-E1A99379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156" name="슬라이드 번호 개체 틀 155">
            <a:extLst>
              <a:ext uri="{FF2B5EF4-FFF2-40B4-BE49-F238E27FC236}">
                <a16:creationId xmlns:a16="http://schemas.microsoft.com/office/drawing/2014/main" id="{B2520B13-A6CC-4D3D-AA8D-1E5AD89C5B9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319B8A6-1EB1-95CF-1748-5B16E9F8AE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Fine Tuning of Partitioned Network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2F2FCE9-49B4-462D-85D0-E5241D322B99}"/>
              </a:ext>
            </a:extLst>
          </p:cNvPr>
          <p:cNvGraphicFramePr>
            <a:graphicFrameLocks/>
          </p:cNvGraphicFramePr>
          <p:nvPr/>
        </p:nvGraphicFramePr>
        <p:xfrm>
          <a:off x="-329412" y="3049966"/>
          <a:ext cx="6792019" cy="2903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EE45E5-A5DD-4CAE-80E4-6A08A2189652}"/>
              </a:ext>
            </a:extLst>
          </p:cNvPr>
          <p:cNvSpPr txBox="1"/>
          <p:nvPr/>
        </p:nvSpPr>
        <p:spPr>
          <a:xfrm>
            <a:off x="4453537" y="3408954"/>
            <a:ext cx="80983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/>
              <a:t>QF=30</a:t>
            </a:r>
            <a:endParaRPr lang="ko-KR" altLang="en-US" sz="158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445C5-9B3D-42D7-A6DE-1A431BBD979C}"/>
              </a:ext>
            </a:extLst>
          </p:cNvPr>
          <p:cNvSpPr txBox="1"/>
          <p:nvPr/>
        </p:nvSpPr>
        <p:spPr>
          <a:xfrm>
            <a:off x="2811919" y="4329903"/>
            <a:ext cx="80983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/>
              <a:t>QF=35</a:t>
            </a:r>
            <a:endParaRPr lang="ko-KR" altLang="en-US" sz="158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5E98D-AF35-4F0F-BFFD-4537072D0BE1}"/>
              </a:ext>
            </a:extLst>
          </p:cNvPr>
          <p:cNvSpPr txBox="1"/>
          <p:nvPr/>
        </p:nvSpPr>
        <p:spPr>
          <a:xfrm>
            <a:off x="1825436" y="4428452"/>
            <a:ext cx="80983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/>
              <a:t>QF=40</a:t>
            </a:r>
            <a:endParaRPr lang="ko-KR" altLang="en-US" sz="1587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1B8797-9710-4CED-A34C-09CFAFC00A4A}"/>
              </a:ext>
            </a:extLst>
          </p:cNvPr>
          <p:cNvGrpSpPr/>
          <p:nvPr/>
        </p:nvGrpSpPr>
        <p:grpSpPr>
          <a:xfrm>
            <a:off x="942059" y="855198"/>
            <a:ext cx="7849163" cy="2182384"/>
            <a:chOff x="1584960" y="1623394"/>
            <a:chExt cx="6137372" cy="172655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227C7E-44CE-4214-B4C8-0D71E17636E4}"/>
                </a:ext>
              </a:extLst>
            </p:cNvPr>
            <p:cNvSpPr/>
            <p:nvPr/>
          </p:nvSpPr>
          <p:spPr bwMode="auto">
            <a:xfrm>
              <a:off x="5950593" y="2061372"/>
              <a:ext cx="1688762" cy="9060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1C1D7EF-73EA-4045-BCB1-F05CECBFD36E}"/>
                </a:ext>
              </a:extLst>
            </p:cNvPr>
            <p:cNvSpPr/>
            <p:nvPr/>
          </p:nvSpPr>
          <p:spPr bwMode="auto">
            <a:xfrm>
              <a:off x="6393567" y="225603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383E9C-BA6B-4E1A-A1E2-36FB2A6ED46B}"/>
                </a:ext>
              </a:extLst>
            </p:cNvPr>
            <p:cNvSpPr/>
            <p:nvPr/>
          </p:nvSpPr>
          <p:spPr bwMode="auto">
            <a:xfrm>
              <a:off x="6369437" y="2280319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4FF5B57-5CB2-4EED-9C88-A47B1788CC6C}"/>
                </a:ext>
              </a:extLst>
            </p:cNvPr>
            <p:cNvSpPr/>
            <p:nvPr/>
          </p:nvSpPr>
          <p:spPr bwMode="auto">
            <a:xfrm>
              <a:off x="6345307" y="2306038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490A8BA-6920-4AB1-BA00-C6B001F92ADE}"/>
                </a:ext>
              </a:extLst>
            </p:cNvPr>
            <p:cNvSpPr/>
            <p:nvPr/>
          </p:nvSpPr>
          <p:spPr bwMode="auto">
            <a:xfrm>
              <a:off x="6321177" y="2330326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BF90101-86C7-4ED9-8D0B-CDFC47B2E5C5}"/>
                </a:ext>
              </a:extLst>
            </p:cNvPr>
            <p:cNvSpPr/>
            <p:nvPr/>
          </p:nvSpPr>
          <p:spPr bwMode="auto">
            <a:xfrm>
              <a:off x="6296412" y="2355963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59D6F29-FACB-41EF-9463-8E53B1C827F9}"/>
                </a:ext>
              </a:extLst>
            </p:cNvPr>
            <p:cNvSpPr/>
            <p:nvPr/>
          </p:nvSpPr>
          <p:spPr bwMode="auto">
            <a:xfrm>
              <a:off x="6272282" y="238025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1D0CD3-83D0-49A5-A748-59674ECB490A}"/>
                </a:ext>
              </a:extLst>
            </p:cNvPr>
            <p:cNvSpPr/>
            <p:nvPr/>
          </p:nvSpPr>
          <p:spPr bwMode="auto">
            <a:xfrm>
              <a:off x="6248152" y="2405970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85CF652-FDA7-4B83-A0ED-00A3BE00FA07}"/>
                </a:ext>
              </a:extLst>
            </p:cNvPr>
            <p:cNvSpPr/>
            <p:nvPr/>
          </p:nvSpPr>
          <p:spPr bwMode="auto">
            <a:xfrm>
              <a:off x="6224022" y="2430258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78281BE-7EA0-4409-9E58-0E3E479A3BEF}"/>
                </a:ext>
              </a:extLst>
            </p:cNvPr>
            <p:cNvSpPr/>
            <p:nvPr/>
          </p:nvSpPr>
          <p:spPr bwMode="auto">
            <a:xfrm>
              <a:off x="6201162" y="2453992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CB4A676-0373-4D04-9F21-E990484FFCDC}"/>
                </a:ext>
              </a:extLst>
            </p:cNvPr>
            <p:cNvSpPr/>
            <p:nvPr/>
          </p:nvSpPr>
          <p:spPr bwMode="auto">
            <a:xfrm>
              <a:off x="6177032" y="2478280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5B10E98-1CC8-4C20-8395-DE61F12FC960}"/>
                </a:ext>
              </a:extLst>
            </p:cNvPr>
            <p:cNvSpPr/>
            <p:nvPr/>
          </p:nvSpPr>
          <p:spPr bwMode="auto">
            <a:xfrm>
              <a:off x="6152902" y="2503999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2C4AFFD-BD37-4FE1-BC79-401FA6AD3A51}"/>
                </a:ext>
              </a:extLst>
            </p:cNvPr>
            <p:cNvSpPr/>
            <p:nvPr/>
          </p:nvSpPr>
          <p:spPr bwMode="auto">
            <a:xfrm>
              <a:off x="6128772" y="2528287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D1B3A18-29F6-4D96-BB69-52D3F0CF2F51}"/>
                </a:ext>
              </a:extLst>
            </p:cNvPr>
            <p:cNvSpPr/>
            <p:nvPr/>
          </p:nvSpPr>
          <p:spPr bwMode="auto">
            <a:xfrm>
              <a:off x="6104007" y="2553924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0198CC9-3864-4B84-88EE-A6C8886538E8}"/>
                </a:ext>
              </a:extLst>
            </p:cNvPr>
            <p:cNvSpPr/>
            <p:nvPr/>
          </p:nvSpPr>
          <p:spPr bwMode="auto">
            <a:xfrm>
              <a:off x="6079877" y="2578212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42E3538-F7C9-4850-A6D4-9AE267E4C462}"/>
                </a:ext>
              </a:extLst>
            </p:cNvPr>
            <p:cNvSpPr/>
            <p:nvPr/>
          </p:nvSpPr>
          <p:spPr bwMode="auto">
            <a:xfrm>
              <a:off x="6055747" y="260393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37A9B58-1033-46FA-8DD1-9CBC4A24FA39}"/>
                </a:ext>
              </a:extLst>
            </p:cNvPr>
            <p:cNvSpPr/>
            <p:nvPr/>
          </p:nvSpPr>
          <p:spPr bwMode="auto">
            <a:xfrm>
              <a:off x="6030031" y="2629568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E638A8BA-93CF-48B9-81BE-80A9598027F3}"/>
                </a:ext>
              </a:extLst>
            </p:cNvPr>
            <p:cNvCxnSpPr>
              <a:cxnSpLocks/>
              <a:stCxn id="26" idx="2"/>
              <a:endCxn id="60" idx="2"/>
            </p:cNvCxnSpPr>
            <p:nvPr/>
          </p:nvCxnSpPr>
          <p:spPr bwMode="auto">
            <a:xfrm>
              <a:off x="6161476" y="2877536"/>
              <a:ext cx="396683" cy="636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A7FF5EB-4C03-440C-B42D-2F72D2F92971}"/>
                </a:ext>
              </a:extLst>
            </p:cNvPr>
            <p:cNvCxnSpPr>
              <a:cxnSpLocks/>
              <a:stCxn id="11" idx="0"/>
              <a:endCxn id="29" idx="0"/>
            </p:cNvCxnSpPr>
            <p:nvPr/>
          </p:nvCxnSpPr>
          <p:spPr bwMode="auto">
            <a:xfrm>
              <a:off x="6525012" y="2256031"/>
              <a:ext cx="545434" cy="4224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0C7AF7-E990-47EC-981B-BDB758AC552E}"/>
                </a:ext>
              </a:extLst>
            </p:cNvPr>
            <p:cNvSpPr/>
            <p:nvPr/>
          </p:nvSpPr>
          <p:spPr bwMode="auto">
            <a:xfrm>
              <a:off x="7038442" y="229827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AB5C830-6D83-43AE-A1FE-7460AA8B495A}"/>
                </a:ext>
              </a:extLst>
            </p:cNvPr>
            <p:cNvSpPr/>
            <p:nvPr/>
          </p:nvSpPr>
          <p:spPr bwMode="auto">
            <a:xfrm>
              <a:off x="7021297" y="231507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8C851F2-F5EC-44A9-813C-9B651BDB6E60}"/>
                </a:ext>
              </a:extLst>
            </p:cNvPr>
            <p:cNvSpPr/>
            <p:nvPr/>
          </p:nvSpPr>
          <p:spPr bwMode="auto">
            <a:xfrm>
              <a:off x="7004533" y="233218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C724597-C3C3-40C0-A850-DFE3CC418B05}"/>
                </a:ext>
              </a:extLst>
            </p:cNvPr>
            <p:cNvSpPr/>
            <p:nvPr/>
          </p:nvSpPr>
          <p:spPr bwMode="auto">
            <a:xfrm>
              <a:off x="6987388" y="234897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19A28E0-617F-4D11-9C95-1ECD2F656A20}"/>
                </a:ext>
              </a:extLst>
            </p:cNvPr>
            <p:cNvSpPr/>
            <p:nvPr/>
          </p:nvSpPr>
          <p:spPr bwMode="auto">
            <a:xfrm>
              <a:off x="6972529" y="236609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879C72C-1761-49D5-B433-2D8A9AC117CA}"/>
                </a:ext>
              </a:extLst>
            </p:cNvPr>
            <p:cNvSpPr/>
            <p:nvPr/>
          </p:nvSpPr>
          <p:spPr bwMode="auto">
            <a:xfrm>
              <a:off x="6955384" y="238288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4733D28-48E0-4898-8A4B-61FD78443A6D}"/>
                </a:ext>
              </a:extLst>
            </p:cNvPr>
            <p:cNvSpPr/>
            <p:nvPr/>
          </p:nvSpPr>
          <p:spPr bwMode="auto">
            <a:xfrm>
              <a:off x="6938620" y="240000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3349293-D875-4107-8C7C-835B7ED8E263}"/>
                </a:ext>
              </a:extLst>
            </p:cNvPr>
            <p:cNvSpPr/>
            <p:nvPr/>
          </p:nvSpPr>
          <p:spPr bwMode="auto">
            <a:xfrm>
              <a:off x="6921475" y="241679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8593EA8-B2CA-47DB-AF02-9313AB04C21D}"/>
                </a:ext>
              </a:extLst>
            </p:cNvPr>
            <p:cNvSpPr/>
            <p:nvPr/>
          </p:nvSpPr>
          <p:spPr bwMode="auto">
            <a:xfrm>
              <a:off x="6906616" y="243200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62646387-5118-4E8E-93DF-6AF5F2C38654}"/>
                </a:ext>
              </a:extLst>
            </p:cNvPr>
            <p:cNvSpPr/>
            <p:nvPr/>
          </p:nvSpPr>
          <p:spPr bwMode="auto">
            <a:xfrm>
              <a:off x="6889471" y="244880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00276B1-90D5-4DD5-B1E3-7501D5281571}"/>
                </a:ext>
              </a:extLst>
            </p:cNvPr>
            <p:cNvSpPr/>
            <p:nvPr/>
          </p:nvSpPr>
          <p:spPr bwMode="auto">
            <a:xfrm>
              <a:off x="6872707" y="246591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8BDFE26-281C-4A1A-B0C5-BF9D4C1DCE79}"/>
                </a:ext>
              </a:extLst>
            </p:cNvPr>
            <p:cNvSpPr/>
            <p:nvPr/>
          </p:nvSpPr>
          <p:spPr bwMode="auto">
            <a:xfrm>
              <a:off x="6855562" y="248271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C98253E-53B0-4519-AF07-912B94878C42}"/>
                </a:ext>
              </a:extLst>
            </p:cNvPr>
            <p:cNvSpPr/>
            <p:nvPr/>
          </p:nvSpPr>
          <p:spPr bwMode="auto">
            <a:xfrm>
              <a:off x="6840703" y="249982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3559B9F-0A10-48D4-8629-30C17A0962DE}"/>
                </a:ext>
              </a:extLst>
            </p:cNvPr>
            <p:cNvSpPr/>
            <p:nvPr/>
          </p:nvSpPr>
          <p:spPr bwMode="auto">
            <a:xfrm>
              <a:off x="6823558" y="251661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6882D7-3526-41E3-99DD-3824BCF08252}"/>
                </a:ext>
              </a:extLst>
            </p:cNvPr>
            <p:cNvSpPr/>
            <p:nvPr/>
          </p:nvSpPr>
          <p:spPr bwMode="auto">
            <a:xfrm>
              <a:off x="6806794" y="253373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FAC7EEC-D7AD-481F-8E99-F5EDEC87CD57}"/>
                </a:ext>
              </a:extLst>
            </p:cNvPr>
            <p:cNvSpPr/>
            <p:nvPr/>
          </p:nvSpPr>
          <p:spPr bwMode="auto">
            <a:xfrm>
              <a:off x="6789649" y="255052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8298CEE-A38C-4E50-852A-BC72BCA2A0B8}"/>
                </a:ext>
              </a:extLst>
            </p:cNvPr>
            <p:cNvSpPr/>
            <p:nvPr/>
          </p:nvSpPr>
          <p:spPr bwMode="auto">
            <a:xfrm>
              <a:off x="6774948" y="256764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242E5C2-1F7D-4FF0-87A1-E421D03AAAD4}"/>
                </a:ext>
              </a:extLst>
            </p:cNvPr>
            <p:cNvSpPr/>
            <p:nvPr/>
          </p:nvSpPr>
          <p:spPr bwMode="auto">
            <a:xfrm>
              <a:off x="6757803" y="258443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5EF0DFA-C05C-4AD9-A4F5-AA37BFDBF839}"/>
                </a:ext>
              </a:extLst>
            </p:cNvPr>
            <p:cNvSpPr/>
            <p:nvPr/>
          </p:nvSpPr>
          <p:spPr bwMode="auto">
            <a:xfrm>
              <a:off x="6741039" y="260155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29BC37D-4B6E-40DA-AD3F-992606011437}"/>
                </a:ext>
              </a:extLst>
            </p:cNvPr>
            <p:cNvSpPr/>
            <p:nvPr/>
          </p:nvSpPr>
          <p:spPr bwMode="auto">
            <a:xfrm>
              <a:off x="6723894" y="261834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C74D92F-508D-42AA-A2DC-791F437E7788}"/>
                </a:ext>
              </a:extLst>
            </p:cNvPr>
            <p:cNvSpPr/>
            <p:nvPr/>
          </p:nvSpPr>
          <p:spPr bwMode="auto">
            <a:xfrm>
              <a:off x="6709035" y="263545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35C4888-8739-4B20-A7AA-CDCE3E8CA569}"/>
                </a:ext>
              </a:extLst>
            </p:cNvPr>
            <p:cNvSpPr/>
            <p:nvPr/>
          </p:nvSpPr>
          <p:spPr bwMode="auto">
            <a:xfrm>
              <a:off x="6691890" y="265225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65DCD12-444F-435F-BEE5-643BBC4C4783}"/>
                </a:ext>
              </a:extLst>
            </p:cNvPr>
            <p:cNvSpPr/>
            <p:nvPr/>
          </p:nvSpPr>
          <p:spPr bwMode="auto">
            <a:xfrm>
              <a:off x="6675126" y="266936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8C0A0AD-2525-40EC-BA78-FFA6A7178DF9}"/>
                </a:ext>
              </a:extLst>
            </p:cNvPr>
            <p:cNvSpPr/>
            <p:nvPr/>
          </p:nvSpPr>
          <p:spPr bwMode="auto">
            <a:xfrm>
              <a:off x="6657981" y="268616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2C0A476-28FC-489A-BADF-183DF8F5BCCD}"/>
                </a:ext>
              </a:extLst>
            </p:cNvPr>
            <p:cNvSpPr/>
            <p:nvPr/>
          </p:nvSpPr>
          <p:spPr bwMode="auto">
            <a:xfrm>
              <a:off x="6643122" y="270137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30D708F-E775-44C2-8DBF-F2A77D9348B8}"/>
                </a:ext>
              </a:extLst>
            </p:cNvPr>
            <p:cNvSpPr/>
            <p:nvPr/>
          </p:nvSpPr>
          <p:spPr bwMode="auto">
            <a:xfrm>
              <a:off x="6625977" y="271816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8A4D57E-2BA4-4E6F-9E30-D7FFB5F863D2}"/>
                </a:ext>
              </a:extLst>
            </p:cNvPr>
            <p:cNvSpPr/>
            <p:nvPr/>
          </p:nvSpPr>
          <p:spPr bwMode="auto">
            <a:xfrm>
              <a:off x="6609213" y="273528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7771CE-437D-43C7-B3B0-248FB0EADA7B}"/>
                </a:ext>
              </a:extLst>
            </p:cNvPr>
            <p:cNvSpPr/>
            <p:nvPr/>
          </p:nvSpPr>
          <p:spPr bwMode="auto">
            <a:xfrm>
              <a:off x="6592068" y="275207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F59BEAB-8D5A-40A7-9AC7-3FCF1A405C92}"/>
                </a:ext>
              </a:extLst>
            </p:cNvPr>
            <p:cNvSpPr/>
            <p:nvPr/>
          </p:nvSpPr>
          <p:spPr bwMode="auto">
            <a:xfrm>
              <a:off x="6577209" y="276919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BF25887-40B4-41F4-BC7D-23E62C944A3B}"/>
                </a:ext>
              </a:extLst>
            </p:cNvPr>
            <p:cNvSpPr/>
            <p:nvPr/>
          </p:nvSpPr>
          <p:spPr bwMode="auto">
            <a:xfrm>
              <a:off x="6560064" y="278598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10804C5-EBA3-4F0D-B750-76E62F007B1D}"/>
                </a:ext>
              </a:extLst>
            </p:cNvPr>
            <p:cNvSpPr/>
            <p:nvPr/>
          </p:nvSpPr>
          <p:spPr bwMode="auto">
            <a:xfrm>
              <a:off x="6543300" y="280309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2783261-887D-4E77-ADAD-AA76ACFDD51F}"/>
                </a:ext>
              </a:extLst>
            </p:cNvPr>
            <p:cNvSpPr/>
            <p:nvPr/>
          </p:nvSpPr>
          <p:spPr bwMode="auto">
            <a:xfrm>
              <a:off x="6526155" y="281989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17F5D72-E2A3-4B2F-B1F8-B8D992094C30}"/>
                </a:ext>
              </a:extLst>
            </p:cNvPr>
            <p:cNvSpPr/>
            <p:nvPr/>
          </p:nvSpPr>
          <p:spPr bwMode="auto">
            <a:xfrm>
              <a:off x="7245167" y="240706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8BEF104C-3F79-4C47-AC43-BB7A03910661}"/>
                </a:ext>
              </a:extLst>
            </p:cNvPr>
            <p:cNvSpPr/>
            <p:nvPr/>
          </p:nvSpPr>
          <p:spPr bwMode="auto">
            <a:xfrm>
              <a:off x="7230308" y="242417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66A86D9-8B11-4D6A-9C57-399488AB569E}"/>
                </a:ext>
              </a:extLst>
            </p:cNvPr>
            <p:cNvSpPr/>
            <p:nvPr/>
          </p:nvSpPr>
          <p:spPr bwMode="auto">
            <a:xfrm>
              <a:off x="7213163" y="244097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2FFD326-5D32-471F-8657-049E2AE92DA4}"/>
                </a:ext>
              </a:extLst>
            </p:cNvPr>
            <p:cNvSpPr/>
            <p:nvPr/>
          </p:nvSpPr>
          <p:spPr bwMode="auto">
            <a:xfrm>
              <a:off x="7196399" y="245808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328E461-547B-4E3B-8A19-32579B18D82D}"/>
                </a:ext>
              </a:extLst>
            </p:cNvPr>
            <p:cNvSpPr/>
            <p:nvPr/>
          </p:nvSpPr>
          <p:spPr bwMode="auto">
            <a:xfrm>
              <a:off x="7179254" y="247488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FA34729-29CF-4348-A73A-E2F443B55908}"/>
                </a:ext>
              </a:extLst>
            </p:cNvPr>
            <p:cNvSpPr/>
            <p:nvPr/>
          </p:nvSpPr>
          <p:spPr bwMode="auto">
            <a:xfrm>
              <a:off x="7164553" y="249199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A746AC66-2A6D-4EAB-81D3-F5574056D181}"/>
                </a:ext>
              </a:extLst>
            </p:cNvPr>
            <p:cNvSpPr/>
            <p:nvPr/>
          </p:nvSpPr>
          <p:spPr bwMode="auto">
            <a:xfrm>
              <a:off x="7147408" y="250879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49C6E33-B96C-45C2-822C-21EA1193444C}"/>
                </a:ext>
              </a:extLst>
            </p:cNvPr>
            <p:cNvSpPr/>
            <p:nvPr/>
          </p:nvSpPr>
          <p:spPr bwMode="auto">
            <a:xfrm>
              <a:off x="7130644" y="252590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DA02C3C-3A25-4C23-AE88-D423486DA3F4}"/>
                </a:ext>
              </a:extLst>
            </p:cNvPr>
            <p:cNvSpPr/>
            <p:nvPr/>
          </p:nvSpPr>
          <p:spPr bwMode="auto">
            <a:xfrm>
              <a:off x="7113499" y="254270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07FAFDB-C482-415B-AC76-CEE8C319ACC5}"/>
                </a:ext>
              </a:extLst>
            </p:cNvPr>
            <p:cNvSpPr/>
            <p:nvPr/>
          </p:nvSpPr>
          <p:spPr bwMode="auto">
            <a:xfrm>
              <a:off x="7098640" y="255981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D7747FF-7442-4D4C-BB09-163D5F73E30D}"/>
                </a:ext>
              </a:extLst>
            </p:cNvPr>
            <p:cNvSpPr/>
            <p:nvPr/>
          </p:nvSpPr>
          <p:spPr bwMode="auto">
            <a:xfrm>
              <a:off x="7081495" y="257661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A18E9BC-7901-400C-9FD4-3DD27613DA1A}"/>
                </a:ext>
              </a:extLst>
            </p:cNvPr>
            <p:cNvSpPr/>
            <p:nvPr/>
          </p:nvSpPr>
          <p:spPr bwMode="auto">
            <a:xfrm>
              <a:off x="7064731" y="259372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1F1D9B5-802A-4037-B11A-EF3F9B55A5E6}"/>
                </a:ext>
              </a:extLst>
            </p:cNvPr>
            <p:cNvSpPr/>
            <p:nvPr/>
          </p:nvSpPr>
          <p:spPr bwMode="auto">
            <a:xfrm>
              <a:off x="7047586" y="261052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CAF29A4-4F49-4CEA-BAD6-AA7C0323E6CA}"/>
                </a:ext>
              </a:extLst>
            </p:cNvPr>
            <p:cNvSpPr/>
            <p:nvPr/>
          </p:nvSpPr>
          <p:spPr bwMode="auto">
            <a:xfrm>
              <a:off x="7032727" y="262572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608281D-FBA4-4A25-A89B-706B7BE7CB5E}"/>
                </a:ext>
              </a:extLst>
            </p:cNvPr>
            <p:cNvSpPr/>
            <p:nvPr/>
          </p:nvSpPr>
          <p:spPr bwMode="auto">
            <a:xfrm>
              <a:off x="7015582" y="264252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477C0B4-452C-4126-9E1B-588FBA826893}"/>
                </a:ext>
              </a:extLst>
            </p:cNvPr>
            <p:cNvSpPr/>
            <p:nvPr/>
          </p:nvSpPr>
          <p:spPr bwMode="auto">
            <a:xfrm>
              <a:off x="6998818" y="265963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CC1678A-F44D-44D0-95FA-769F5D9A34B5}"/>
                </a:ext>
              </a:extLst>
            </p:cNvPr>
            <p:cNvSpPr/>
            <p:nvPr/>
          </p:nvSpPr>
          <p:spPr bwMode="auto">
            <a:xfrm>
              <a:off x="6981673" y="267643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DD9CF33-346E-4265-AFA3-B3C8A7DD1857}"/>
                </a:ext>
              </a:extLst>
            </p:cNvPr>
            <p:cNvSpPr/>
            <p:nvPr/>
          </p:nvSpPr>
          <p:spPr bwMode="auto">
            <a:xfrm>
              <a:off x="6966814" y="2693546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4F7CAB1-3999-4CFC-A477-5574B2BD07EF}"/>
                </a:ext>
              </a:extLst>
            </p:cNvPr>
            <p:cNvSpPr/>
            <p:nvPr/>
          </p:nvSpPr>
          <p:spPr bwMode="auto">
            <a:xfrm>
              <a:off x="6949669" y="271034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5583D79-A5D1-404C-B49D-C467668BE6F0}"/>
                </a:ext>
              </a:extLst>
            </p:cNvPr>
            <p:cNvSpPr/>
            <p:nvPr/>
          </p:nvSpPr>
          <p:spPr bwMode="auto">
            <a:xfrm>
              <a:off x="6932905" y="272745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737578C8-1F2A-4194-8EC8-8CB0FB6B00D3}"/>
                </a:ext>
              </a:extLst>
            </p:cNvPr>
            <p:cNvSpPr/>
            <p:nvPr/>
          </p:nvSpPr>
          <p:spPr bwMode="auto">
            <a:xfrm>
              <a:off x="6915760" y="274425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0DDA76A6-27DA-4086-AB20-81328957AFA2}"/>
                </a:ext>
              </a:extLst>
            </p:cNvPr>
            <p:cNvCxnSpPr>
              <a:cxnSpLocks/>
              <a:stCxn id="60" idx="2"/>
              <a:endCxn id="81" idx="2"/>
            </p:cNvCxnSpPr>
            <p:nvPr/>
          </p:nvCxnSpPr>
          <p:spPr bwMode="auto">
            <a:xfrm flipV="1">
              <a:off x="6558159" y="2808259"/>
              <a:ext cx="389605" cy="75644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0DDC56C0-560A-433E-B1CB-5355EBBB9171}"/>
                </a:ext>
              </a:extLst>
            </p:cNvPr>
            <p:cNvCxnSpPr>
              <a:cxnSpLocks/>
              <a:stCxn id="29" idx="0"/>
              <a:endCxn id="61" idx="0"/>
            </p:cNvCxnSpPr>
            <p:nvPr/>
          </p:nvCxnSpPr>
          <p:spPr bwMode="auto">
            <a:xfrm>
              <a:off x="7070446" y="2298274"/>
              <a:ext cx="206725" cy="108792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7743FFA-7C77-4C05-8C35-0523E2D53E2D}"/>
                </a:ext>
              </a:extLst>
            </p:cNvPr>
            <p:cNvSpPr/>
            <p:nvPr/>
          </p:nvSpPr>
          <p:spPr bwMode="auto">
            <a:xfrm>
              <a:off x="7411125" y="2530507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331D7DC5-E72D-4021-AFA3-199BB2A970CE}"/>
                </a:ext>
              </a:extLst>
            </p:cNvPr>
            <p:cNvSpPr/>
            <p:nvPr/>
          </p:nvSpPr>
          <p:spPr bwMode="auto">
            <a:xfrm>
              <a:off x="7396266" y="2545715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3DFC5FB6-4A4A-48AC-BEF3-FD7472581849}"/>
                </a:ext>
              </a:extLst>
            </p:cNvPr>
            <p:cNvSpPr/>
            <p:nvPr/>
          </p:nvSpPr>
          <p:spPr bwMode="auto">
            <a:xfrm>
              <a:off x="7379121" y="2562511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BB8434D-339D-4755-860B-0C81907A8750}"/>
                </a:ext>
              </a:extLst>
            </p:cNvPr>
            <p:cNvSpPr/>
            <p:nvPr/>
          </p:nvSpPr>
          <p:spPr bwMode="auto">
            <a:xfrm>
              <a:off x="7362357" y="2579624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F377749-D0D0-45D1-BD10-8D71C8C2F6B6}"/>
                </a:ext>
              </a:extLst>
            </p:cNvPr>
            <p:cNvSpPr/>
            <p:nvPr/>
          </p:nvSpPr>
          <p:spPr bwMode="auto">
            <a:xfrm>
              <a:off x="7345212" y="2596420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5102BD1-93DB-4624-9E24-093859BB9173}"/>
                </a:ext>
              </a:extLst>
            </p:cNvPr>
            <p:cNvSpPr/>
            <p:nvPr/>
          </p:nvSpPr>
          <p:spPr bwMode="auto">
            <a:xfrm>
              <a:off x="7330353" y="2613533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72D15C2-8C30-40CA-A08E-A92C627B5507}"/>
                </a:ext>
              </a:extLst>
            </p:cNvPr>
            <p:cNvSpPr/>
            <p:nvPr/>
          </p:nvSpPr>
          <p:spPr bwMode="auto">
            <a:xfrm>
              <a:off x="7313208" y="2630329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F7B0267-DC57-46E7-A37D-5A70E230818F}"/>
                </a:ext>
              </a:extLst>
            </p:cNvPr>
            <p:cNvSpPr/>
            <p:nvPr/>
          </p:nvSpPr>
          <p:spPr bwMode="auto">
            <a:xfrm>
              <a:off x="7296444" y="2647442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0D5874A-E589-4163-B0FF-03A76A36F5E5}"/>
                </a:ext>
              </a:extLst>
            </p:cNvPr>
            <p:cNvSpPr/>
            <p:nvPr/>
          </p:nvSpPr>
          <p:spPr bwMode="auto">
            <a:xfrm>
              <a:off x="7279299" y="2664238"/>
              <a:ext cx="64008" cy="640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7460AD4F-55C8-4931-8F2C-943A4F425E3B}"/>
                </a:ext>
              </a:extLst>
            </p:cNvPr>
            <p:cNvCxnSpPr>
              <a:cxnSpLocks/>
              <a:stCxn id="81" idx="2"/>
              <a:endCxn id="92" idx="2"/>
            </p:cNvCxnSpPr>
            <p:nvPr/>
          </p:nvCxnSpPr>
          <p:spPr bwMode="auto">
            <a:xfrm flipV="1">
              <a:off x="6947764" y="2728246"/>
              <a:ext cx="363539" cy="80013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4AE04619-72DA-4F35-97BF-83E62534E21B}"/>
                </a:ext>
              </a:extLst>
            </p:cNvPr>
            <p:cNvCxnSpPr>
              <a:cxnSpLocks/>
              <a:stCxn id="61" idx="0"/>
              <a:endCxn id="84" idx="0"/>
            </p:cNvCxnSpPr>
            <p:nvPr/>
          </p:nvCxnSpPr>
          <p:spPr bwMode="auto">
            <a:xfrm>
              <a:off x="7277171" y="2407066"/>
              <a:ext cx="165958" cy="1234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93FDC48C-8A3E-45F5-BE2E-E8ADBB678943}"/>
                </a:ext>
              </a:extLst>
            </p:cNvPr>
            <p:cNvSpPr/>
            <p:nvPr/>
          </p:nvSpPr>
          <p:spPr bwMode="auto">
            <a:xfrm>
              <a:off x="2661281" y="221704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93C17F0-EA91-48F5-ABB8-8AACCDF9EDFD}"/>
                </a:ext>
              </a:extLst>
            </p:cNvPr>
            <p:cNvSpPr/>
            <p:nvPr/>
          </p:nvSpPr>
          <p:spPr bwMode="auto">
            <a:xfrm>
              <a:off x="2615561" y="227038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2121BDF5-9100-4CAC-9347-0BBEA622F514}"/>
                </a:ext>
              </a:extLst>
            </p:cNvPr>
            <p:cNvSpPr/>
            <p:nvPr/>
          </p:nvSpPr>
          <p:spPr bwMode="auto">
            <a:xfrm>
              <a:off x="2562221" y="233134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3C11F81-372D-413E-A025-A0ADADB239CC}"/>
                </a:ext>
              </a:extLst>
            </p:cNvPr>
            <p:cNvSpPr/>
            <p:nvPr/>
          </p:nvSpPr>
          <p:spPr bwMode="auto">
            <a:xfrm>
              <a:off x="2516501" y="2384686"/>
              <a:ext cx="548640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6CCB50D-9710-4B92-8A3D-94EB43D166D1}"/>
                </a:ext>
              </a:extLst>
            </p:cNvPr>
            <p:cNvSpPr/>
            <p:nvPr/>
          </p:nvSpPr>
          <p:spPr bwMode="auto">
            <a:xfrm>
              <a:off x="4001156" y="225219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A0909D4F-9C38-4A08-A4FD-9043F718180F}"/>
                </a:ext>
              </a:extLst>
            </p:cNvPr>
            <p:cNvSpPr/>
            <p:nvPr/>
          </p:nvSpPr>
          <p:spPr bwMode="auto">
            <a:xfrm>
              <a:off x="3977026" y="227647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B47B94D-44F8-48A9-9899-E7B2D3E378B3}"/>
                </a:ext>
              </a:extLst>
            </p:cNvPr>
            <p:cNvSpPr/>
            <p:nvPr/>
          </p:nvSpPr>
          <p:spPr bwMode="auto">
            <a:xfrm>
              <a:off x="3952896" y="230219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56FEC3E0-76F2-4DA6-A963-C88468CED781}"/>
                </a:ext>
              </a:extLst>
            </p:cNvPr>
            <p:cNvSpPr/>
            <p:nvPr/>
          </p:nvSpPr>
          <p:spPr bwMode="auto">
            <a:xfrm>
              <a:off x="3928766" y="2326486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0D21A560-9541-4927-A893-6E5C43649B2B}"/>
                </a:ext>
              </a:extLst>
            </p:cNvPr>
            <p:cNvSpPr/>
            <p:nvPr/>
          </p:nvSpPr>
          <p:spPr bwMode="auto">
            <a:xfrm>
              <a:off x="3904001" y="2352123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AB2CBA3-966E-4CF7-81E4-20942CE44005}"/>
                </a:ext>
              </a:extLst>
            </p:cNvPr>
            <p:cNvSpPr/>
            <p:nvPr/>
          </p:nvSpPr>
          <p:spPr bwMode="auto">
            <a:xfrm>
              <a:off x="3879871" y="237641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40741CFF-335B-4C7B-865B-B784EA63DE86}"/>
                </a:ext>
              </a:extLst>
            </p:cNvPr>
            <p:cNvSpPr/>
            <p:nvPr/>
          </p:nvSpPr>
          <p:spPr bwMode="auto">
            <a:xfrm>
              <a:off x="3855741" y="240213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0BFB9AB-37EC-4DD4-9A9D-5CDA3C1EB965}"/>
                </a:ext>
              </a:extLst>
            </p:cNvPr>
            <p:cNvSpPr/>
            <p:nvPr/>
          </p:nvSpPr>
          <p:spPr bwMode="auto">
            <a:xfrm>
              <a:off x="3831611" y="242641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7F1E8F2-D9EE-4F39-A311-79B03553B29A}"/>
                </a:ext>
              </a:extLst>
            </p:cNvPr>
            <p:cNvSpPr/>
            <p:nvPr/>
          </p:nvSpPr>
          <p:spPr bwMode="auto">
            <a:xfrm>
              <a:off x="3808751" y="245015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33A4CB86-F5E4-4810-A7F5-6E11AE2ED8B2}"/>
                </a:ext>
              </a:extLst>
            </p:cNvPr>
            <p:cNvSpPr/>
            <p:nvPr/>
          </p:nvSpPr>
          <p:spPr bwMode="auto">
            <a:xfrm>
              <a:off x="3784621" y="2474440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F60750ED-497E-47A6-9750-3BE39E4955AE}"/>
                </a:ext>
              </a:extLst>
            </p:cNvPr>
            <p:cNvSpPr/>
            <p:nvPr/>
          </p:nvSpPr>
          <p:spPr bwMode="auto">
            <a:xfrm>
              <a:off x="3760491" y="2500159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8C6C18F-D160-4D99-9A0C-A207F636F2B9}"/>
                </a:ext>
              </a:extLst>
            </p:cNvPr>
            <p:cNvSpPr/>
            <p:nvPr/>
          </p:nvSpPr>
          <p:spPr bwMode="auto">
            <a:xfrm>
              <a:off x="3736361" y="2524447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7F24461-35EF-4FCC-9880-9D8E4E472BA0}"/>
                </a:ext>
              </a:extLst>
            </p:cNvPr>
            <p:cNvSpPr/>
            <p:nvPr/>
          </p:nvSpPr>
          <p:spPr bwMode="auto">
            <a:xfrm>
              <a:off x="3711596" y="2550084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0F8C515C-2309-4D5F-91C3-C429D1930780}"/>
                </a:ext>
              </a:extLst>
            </p:cNvPr>
            <p:cNvSpPr/>
            <p:nvPr/>
          </p:nvSpPr>
          <p:spPr bwMode="auto">
            <a:xfrm>
              <a:off x="3687466" y="2574372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D26B5D4-26BA-4557-9759-9F2B3335FA23}"/>
                </a:ext>
              </a:extLst>
            </p:cNvPr>
            <p:cNvSpPr/>
            <p:nvPr/>
          </p:nvSpPr>
          <p:spPr bwMode="auto">
            <a:xfrm>
              <a:off x="3663336" y="2600091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085B5887-0873-4535-8387-A795A622062B}"/>
                </a:ext>
              </a:extLst>
            </p:cNvPr>
            <p:cNvSpPr/>
            <p:nvPr/>
          </p:nvSpPr>
          <p:spPr bwMode="auto">
            <a:xfrm>
              <a:off x="3637620" y="2625728"/>
              <a:ext cx="262890" cy="24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D7845107-E6DF-476E-82ED-F355CAE25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4646" y="2213090"/>
              <a:ext cx="754380" cy="754380"/>
            </a:xfrm>
            <a:prstGeom prst="rect">
              <a:avLst/>
            </a:prstGeom>
          </p:spPr>
        </p:pic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711C6327-54DA-4C1E-AA7C-A363CB2B6912}"/>
                </a:ext>
              </a:extLst>
            </p:cNvPr>
            <p:cNvSpPr/>
            <p:nvPr/>
          </p:nvSpPr>
          <p:spPr bwMode="auto">
            <a:xfrm>
              <a:off x="2118578" y="2355044"/>
              <a:ext cx="126682" cy="118667"/>
            </a:xfrm>
            <a:prstGeom prst="rect">
              <a:avLst/>
            </a:prstGeom>
            <a:noFill/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95EE0529-DF24-4F9B-8943-13FA2AB0D63B}"/>
                </a:ext>
              </a:extLst>
            </p:cNvPr>
            <p:cNvCxnSpPr>
              <a:cxnSpLocks/>
              <a:stCxn id="116" idx="0"/>
            </p:cNvCxnSpPr>
            <p:nvPr/>
          </p:nvCxnSpPr>
          <p:spPr bwMode="auto">
            <a:xfrm>
              <a:off x="2181919" y="2355044"/>
              <a:ext cx="620713" cy="109846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008A80FD-C27C-436B-AC8D-FE75DCC76FAF}"/>
                </a:ext>
              </a:extLst>
            </p:cNvPr>
            <p:cNvCxnSpPr>
              <a:cxnSpLocks/>
              <a:stCxn id="116" idx="2"/>
            </p:cNvCxnSpPr>
            <p:nvPr/>
          </p:nvCxnSpPr>
          <p:spPr bwMode="auto">
            <a:xfrm>
              <a:off x="2181919" y="2473711"/>
              <a:ext cx="620713" cy="70677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D087BB02-A35E-4012-ADA1-D6CCDD4385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66287" y="2613325"/>
              <a:ext cx="474068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C00000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53ECF92-EBBD-43A5-9E39-96158C4AF9DB}"/>
                </a:ext>
              </a:extLst>
            </p:cNvPr>
            <p:cNvSpPr txBox="1"/>
            <p:nvPr/>
          </p:nvSpPr>
          <p:spPr>
            <a:xfrm>
              <a:off x="3594134" y="2697235"/>
              <a:ext cx="1504594" cy="652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587">
                  <a:solidFill>
                    <a:schemeClr val="accent4">
                      <a:lumMod val="50000"/>
                    </a:schemeClr>
                  </a:solidFill>
                </a:rPr>
                <a:t>Encoding</a:t>
              </a:r>
              <a:br>
                <a:rPr lang="en-US" altLang="ko-KR" sz="1587">
                  <a:solidFill>
                    <a:schemeClr val="accent4">
                      <a:lumMod val="50000"/>
                    </a:schemeClr>
                  </a:solidFill>
                </a:rPr>
              </a:br>
              <a:r>
                <a:rPr lang="en-US" altLang="ko-KR" sz="1587">
                  <a:solidFill>
                    <a:schemeClr val="accent4">
                      <a:lumMod val="50000"/>
                    </a:schemeClr>
                  </a:solidFill>
                </a:rPr>
                <a:t>with range of QF</a:t>
              </a:r>
              <a:br>
                <a:rPr lang="en-US" altLang="ko-KR" sz="1587">
                  <a:solidFill>
                    <a:schemeClr val="accent4">
                      <a:lumMod val="50000"/>
                    </a:schemeClr>
                  </a:solidFill>
                </a:rPr>
              </a:br>
              <a:r>
                <a:rPr lang="en-US" altLang="ko-KR" sz="1587">
                  <a:solidFill>
                    <a:schemeClr val="accent4">
                      <a:lumMod val="50000"/>
                    </a:schemeClr>
                  </a:solidFill>
                </a:rPr>
                <a:t>for target accuracy</a:t>
              </a:r>
              <a:endParaRPr lang="ko-KR" altLang="en-US" sz="1587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DDB3698-C8DE-4F0D-8E4C-BE2504B873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23736" y="2623823"/>
              <a:ext cx="21712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51A9744-E756-4B13-A054-A40DCD1B23F8}"/>
                </a:ext>
              </a:extLst>
            </p:cNvPr>
            <p:cNvSpPr txBox="1"/>
            <p:nvPr/>
          </p:nvSpPr>
          <p:spPr>
            <a:xfrm>
              <a:off x="3226988" y="2359224"/>
              <a:ext cx="385048" cy="404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721" b="1"/>
                <a:t>…</a:t>
              </a:r>
              <a:endParaRPr lang="ko-KR" altLang="en-US" sz="2721" b="1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2E71064-54CB-415F-8307-383CA4027AAE}"/>
                </a:ext>
              </a:extLst>
            </p:cNvPr>
            <p:cNvSpPr txBox="1"/>
            <p:nvPr/>
          </p:nvSpPr>
          <p:spPr>
            <a:xfrm>
              <a:off x="3505995" y="1826470"/>
              <a:ext cx="1188735" cy="459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587"/>
                <a:t>Original</a:t>
              </a:r>
            </a:p>
            <a:p>
              <a:pPr algn="ctr"/>
              <a:r>
                <a:rPr lang="en-US" altLang="ko-KR" sz="1587"/>
                <a:t>output feature</a:t>
              </a:r>
              <a:endParaRPr lang="ko-KR" altLang="en-US" sz="1587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6940D11-D08D-48A6-8531-7A1558FB3EF6}"/>
                </a:ext>
              </a:extLst>
            </p:cNvPr>
            <p:cNvSpPr txBox="1"/>
            <p:nvPr/>
          </p:nvSpPr>
          <p:spPr>
            <a:xfrm>
              <a:off x="2621153" y="1628034"/>
              <a:ext cx="659545" cy="29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814" b="1"/>
                <a:t>conv1</a:t>
              </a:r>
              <a:endParaRPr lang="ko-KR" altLang="en-US" sz="1814" b="1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1CC91A8-F773-4ACB-B244-2480A43C7941}"/>
                </a:ext>
              </a:extLst>
            </p:cNvPr>
            <p:cNvSpPr txBox="1"/>
            <p:nvPr/>
          </p:nvSpPr>
          <p:spPr>
            <a:xfrm>
              <a:off x="6687034" y="2061371"/>
              <a:ext cx="326138" cy="238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61"/>
                <a:t>fc6</a:t>
              </a:r>
              <a:endParaRPr lang="ko-KR" altLang="en-US" sz="1361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9CCEA1C-596F-414D-B005-E032DEFD0087}"/>
                </a:ext>
              </a:extLst>
            </p:cNvPr>
            <p:cNvSpPr txBox="1"/>
            <p:nvPr/>
          </p:nvSpPr>
          <p:spPr>
            <a:xfrm>
              <a:off x="7111897" y="2115258"/>
              <a:ext cx="326138" cy="238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61"/>
                <a:t>fc7</a:t>
              </a:r>
              <a:endParaRPr lang="ko-KR" altLang="en-US" sz="1361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E42D792-5299-453C-B602-90B7542CEB47}"/>
                </a:ext>
              </a:extLst>
            </p:cNvPr>
            <p:cNvSpPr txBox="1"/>
            <p:nvPr/>
          </p:nvSpPr>
          <p:spPr>
            <a:xfrm>
              <a:off x="7373153" y="2267705"/>
              <a:ext cx="326138" cy="238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361"/>
                <a:t>fc8</a:t>
              </a:r>
              <a:endParaRPr lang="ko-KR" altLang="en-US" sz="1361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311D28E-C9D9-4AEE-812F-6938F230BCFE}"/>
                </a:ext>
              </a:extLst>
            </p:cNvPr>
            <p:cNvSpPr txBox="1"/>
            <p:nvPr/>
          </p:nvSpPr>
          <p:spPr>
            <a:xfrm>
              <a:off x="5177023" y="2639158"/>
              <a:ext cx="709681" cy="514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814" b="1">
                  <a:solidFill>
                    <a:srgbClr val="C00000"/>
                  </a:solidFill>
                </a:rPr>
                <a:t>Fine</a:t>
              </a:r>
              <a:br>
                <a:rPr lang="en-US" altLang="ko-KR" sz="1814" b="1">
                  <a:solidFill>
                    <a:srgbClr val="C00000"/>
                  </a:solidFill>
                </a:rPr>
              </a:br>
              <a:r>
                <a:rPr lang="en-US" altLang="ko-KR" sz="1814" b="1">
                  <a:solidFill>
                    <a:srgbClr val="C00000"/>
                  </a:solidFill>
                </a:rPr>
                <a:t>tuning</a:t>
              </a:r>
              <a:endParaRPr lang="ko-KR" altLang="en-US" sz="1814" b="1">
                <a:solidFill>
                  <a:srgbClr val="C00000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5B3EF33-CD8C-4328-AA74-2D9B3CF8F80F}"/>
                </a:ext>
              </a:extLst>
            </p:cNvPr>
            <p:cNvSpPr/>
            <p:nvPr/>
          </p:nvSpPr>
          <p:spPr bwMode="auto">
            <a:xfrm>
              <a:off x="5044084" y="2244794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2BBF202A-CC2E-4D8E-8F54-6B08EE74555E}"/>
                </a:ext>
              </a:extLst>
            </p:cNvPr>
            <p:cNvSpPr/>
            <p:nvPr/>
          </p:nvSpPr>
          <p:spPr bwMode="auto">
            <a:xfrm>
              <a:off x="5019954" y="2269082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8A19FF32-3302-4F6E-B4E4-3805FDDB2C18}"/>
                </a:ext>
              </a:extLst>
            </p:cNvPr>
            <p:cNvSpPr/>
            <p:nvPr/>
          </p:nvSpPr>
          <p:spPr bwMode="auto">
            <a:xfrm>
              <a:off x="4995824" y="229480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628FAFAC-8206-40D9-BCB0-08EB656AC69A}"/>
                </a:ext>
              </a:extLst>
            </p:cNvPr>
            <p:cNvSpPr/>
            <p:nvPr/>
          </p:nvSpPr>
          <p:spPr bwMode="auto">
            <a:xfrm>
              <a:off x="4971694" y="2319089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D1DE57F4-F2EC-4BBF-8409-6FE2E0584120}"/>
                </a:ext>
              </a:extLst>
            </p:cNvPr>
            <p:cNvSpPr/>
            <p:nvPr/>
          </p:nvSpPr>
          <p:spPr bwMode="auto">
            <a:xfrm>
              <a:off x="4946929" y="2344726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022E918-9C52-404E-BC16-3443EF5C5964}"/>
                </a:ext>
              </a:extLst>
            </p:cNvPr>
            <p:cNvSpPr/>
            <p:nvPr/>
          </p:nvSpPr>
          <p:spPr bwMode="auto">
            <a:xfrm>
              <a:off x="4922799" y="2369014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6B63654-2E85-4963-B257-7918B5989266}"/>
                </a:ext>
              </a:extLst>
            </p:cNvPr>
            <p:cNvSpPr/>
            <p:nvPr/>
          </p:nvSpPr>
          <p:spPr bwMode="auto">
            <a:xfrm>
              <a:off x="4898669" y="2394733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83D44544-C47F-4DA9-9609-EF33D94C46AB}"/>
                </a:ext>
              </a:extLst>
            </p:cNvPr>
            <p:cNvSpPr/>
            <p:nvPr/>
          </p:nvSpPr>
          <p:spPr bwMode="auto">
            <a:xfrm>
              <a:off x="4874539" y="241902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0673B39-30A3-4D9B-BB7B-D2B142B2AB70}"/>
                </a:ext>
              </a:extLst>
            </p:cNvPr>
            <p:cNvSpPr/>
            <p:nvPr/>
          </p:nvSpPr>
          <p:spPr bwMode="auto">
            <a:xfrm>
              <a:off x="4851679" y="2442755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5D69599-D8E8-45C3-B2E8-F60FA8C48544}"/>
                </a:ext>
              </a:extLst>
            </p:cNvPr>
            <p:cNvSpPr/>
            <p:nvPr/>
          </p:nvSpPr>
          <p:spPr bwMode="auto">
            <a:xfrm>
              <a:off x="4827549" y="2467043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21AB590-200C-4916-94F6-A77F8F8EC71E}"/>
                </a:ext>
              </a:extLst>
            </p:cNvPr>
            <p:cNvSpPr/>
            <p:nvPr/>
          </p:nvSpPr>
          <p:spPr bwMode="auto">
            <a:xfrm>
              <a:off x="4803419" y="2492762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EF73C1F9-80F6-434A-8A4E-F2CE1BD10A5C}"/>
                </a:ext>
              </a:extLst>
            </p:cNvPr>
            <p:cNvSpPr/>
            <p:nvPr/>
          </p:nvSpPr>
          <p:spPr bwMode="auto">
            <a:xfrm>
              <a:off x="4779289" y="2517050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19200C1B-A381-4FB2-B08D-4A40B541D2B5}"/>
                </a:ext>
              </a:extLst>
            </p:cNvPr>
            <p:cNvSpPr/>
            <p:nvPr/>
          </p:nvSpPr>
          <p:spPr bwMode="auto">
            <a:xfrm>
              <a:off x="4754524" y="2542687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9AD110B-6344-463E-8F2E-50B9DB22DFF2}"/>
                </a:ext>
              </a:extLst>
            </p:cNvPr>
            <p:cNvSpPr/>
            <p:nvPr/>
          </p:nvSpPr>
          <p:spPr bwMode="auto">
            <a:xfrm>
              <a:off x="4730394" y="2566975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E325C19F-96C9-4B47-B25F-72BAE5A5EFA1}"/>
                </a:ext>
              </a:extLst>
            </p:cNvPr>
            <p:cNvSpPr/>
            <p:nvPr/>
          </p:nvSpPr>
          <p:spPr bwMode="auto">
            <a:xfrm>
              <a:off x="4706264" y="2592694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ED85E2B5-D6CC-4D8A-A539-200F5E8D947E}"/>
                </a:ext>
              </a:extLst>
            </p:cNvPr>
            <p:cNvSpPr/>
            <p:nvPr/>
          </p:nvSpPr>
          <p:spPr bwMode="auto">
            <a:xfrm>
              <a:off x="4680548" y="2618331"/>
              <a:ext cx="262890" cy="2479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9011EBD-76EA-45F5-B514-EBCB9E376EFC}"/>
                </a:ext>
              </a:extLst>
            </p:cNvPr>
            <p:cNvSpPr txBox="1"/>
            <p:nvPr/>
          </p:nvSpPr>
          <p:spPr>
            <a:xfrm>
              <a:off x="5984938" y="1623394"/>
              <a:ext cx="1608076" cy="459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587">
                  <a:solidFill>
                    <a:srgbClr val="002060"/>
                  </a:solidFill>
                </a:rPr>
                <a:t>Partitioned network</a:t>
              </a:r>
              <a:br>
                <a:rPr lang="en-US" altLang="ko-KR" sz="1587">
                  <a:solidFill>
                    <a:srgbClr val="002060"/>
                  </a:solidFill>
                </a:rPr>
              </a:br>
              <a:r>
                <a:rPr lang="en-US" altLang="ko-KR" sz="1587">
                  <a:solidFill>
                    <a:srgbClr val="002060"/>
                  </a:solidFill>
                </a:rPr>
                <a:t>at the host platform</a:t>
              </a:r>
              <a:endParaRPr lang="ko-KR" altLang="en-US" sz="1587">
                <a:solidFill>
                  <a:srgbClr val="002060"/>
                </a:solidFill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19C38D8E-1FF2-4399-8615-928CC11C91AF}"/>
                </a:ext>
              </a:extLst>
            </p:cNvPr>
            <p:cNvSpPr/>
            <p:nvPr/>
          </p:nvSpPr>
          <p:spPr bwMode="auto">
            <a:xfrm>
              <a:off x="1584960" y="1623395"/>
              <a:ext cx="6137372" cy="169417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3680" tIns="51840" rIns="103680" bIns="51840" numCol="1" rtlCol="0" anchor="t" anchorCtr="0" compatLnSpc="1">
              <a:prstTxWarp prst="textNoShape">
                <a:avLst/>
              </a:prstTxWarp>
            </a:bodyPr>
            <a:lstStyle/>
            <a:p>
              <a:pPr defTabSz="1036838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3175" b="1">
                <a:latin typeface="Tahoma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0A638054-436E-4727-9288-D32AD0D30F6A}"/>
                </a:ext>
              </a:extLst>
            </p:cNvPr>
            <p:cNvSpPr/>
            <p:nvPr/>
          </p:nvSpPr>
          <p:spPr>
            <a:xfrm>
              <a:off x="4317689" y="1630199"/>
              <a:ext cx="659545" cy="29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814" b="1"/>
                <a:t>conv5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010A2C1-F22A-4CDD-A186-694432F5EC7D}"/>
                </a:ext>
              </a:extLst>
            </p:cNvPr>
            <p:cNvSpPr txBox="1"/>
            <p:nvPr/>
          </p:nvSpPr>
          <p:spPr>
            <a:xfrm>
              <a:off x="4579514" y="1801351"/>
              <a:ext cx="1188735" cy="459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587">
                  <a:solidFill>
                    <a:srgbClr val="C00000"/>
                  </a:solidFill>
                </a:rPr>
                <a:t>Encoded</a:t>
              </a:r>
            </a:p>
            <a:p>
              <a:pPr algn="ctr"/>
              <a:r>
                <a:rPr lang="en-US" altLang="ko-KR" sz="1587">
                  <a:solidFill>
                    <a:srgbClr val="C00000"/>
                  </a:solidFill>
                </a:rPr>
                <a:t>output feature</a:t>
              </a:r>
              <a:endParaRPr lang="ko-KR" altLang="en-US" sz="1587">
                <a:solidFill>
                  <a:srgbClr val="C00000"/>
                </a:solidFill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9A751DA0-B539-492B-977D-C0A278511B4F}"/>
                </a:ext>
              </a:extLst>
            </p:cNvPr>
            <p:cNvSpPr/>
            <p:nvPr/>
          </p:nvSpPr>
          <p:spPr>
            <a:xfrm>
              <a:off x="2332809" y="1874326"/>
              <a:ext cx="1188735" cy="2662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587"/>
                <a:t>output feature</a:t>
              </a:r>
              <a:endParaRPr lang="ko-KR" altLang="en-US" sz="1587"/>
            </a:p>
          </p:txBody>
        </p: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998651C6-B63E-4640-AA66-25510907CD6E}"/>
              </a:ext>
            </a:extLst>
          </p:cNvPr>
          <p:cNvCxnSpPr>
            <a:cxnSpLocks/>
          </p:cNvCxnSpPr>
          <p:nvPr/>
        </p:nvCxnSpPr>
        <p:spPr bwMode="auto">
          <a:xfrm>
            <a:off x="942058" y="4208118"/>
            <a:ext cx="5094188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4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FE8DD5C-5311-48B0-B797-0533A28B34A6}"/>
              </a:ext>
            </a:extLst>
          </p:cNvPr>
          <p:cNvSpPr txBox="1"/>
          <p:nvPr/>
        </p:nvSpPr>
        <p:spPr>
          <a:xfrm>
            <a:off x="5214716" y="4264735"/>
            <a:ext cx="974947" cy="580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87">
                <a:solidFill>
                  <a:schemeClr val="accent4">
                    <a:lumMod val="50000"/>
                  </a:schemeClr>
                </a:solidFill>
              </a:rPr>
              <a:t>Target</a:t>
            </a:r>
            <a:br>
              <a:rPr lang="en-US" altLang="ko-KR" sz="1587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altLang="ko-KR" sz="1587">
                <a:solidFill>
                  <a:schemeClr val="accent4">
                    <a:lumMod val="50000"/>
                  </a:schemeClr>
                </a:solidFill>
              </a:rPr>
              <a:t>accuracy</a:t>
            </a:r>
            <a:endParaRPr lang="ko-KR" altLang="en-US" sz="1587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7BEBDDF-7EED-4E30-AFB2-2619DB07B8D4}"/>
              </a:ext>
            </a:extLst>
          </p:cNvPr>
          <p:cNvSpPr txBox="1"/>
          <p:nvPr/>
        </p:nvSpPr>
        <p:spPr>
          <a:xfrm>
            <a:off x="6188100" y="3782925"/>
            <a:ext cx="3879716" cy="82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Fine tuning </a:t>
            </a:r>
            <a:r>
              <a:rPr lang="en-US" altLang="ko-KR" sz="1587" dirty="0">
                <a:solidFill>
                  <a:srgbClr val="C00000"/>
                </a:solidFill>
              </a:rPr>
              <a:t>of a partitioned network </a:t>
            </a:r>
            <a:br>
              <a:rPr lang="en-US" altLang="ko-KR" sz="1587" b="1" dirty="0">
                <a:solidFill>
                  <a:srgbClr val="C00000"/>
                </a:solidFill>
              </a:rPr>
            </a:br>
            <a:r>
              <a:rPr lang="en-US" altLang="ko-KR" sz="1587" dirty="0">
                <a:solidFill>
                  <a:srgbClr val="C00000"/>
                </a:solidFill>
              </a:rPr>
              <a:t>with </a:t>
            </a:r>
            <a:r>
              <a:rPr lang="en-US" altLang="ko-KR" sz="1587" b="1" dirty="0">
                <a:solidFill>
                  <a:srgbClr val="C00000"/>
                </a:solidFill>
              </a:rPr>
              <a:t>encoded intermediated features</a:t>
            </a:r>
          </a:p>
          <a:p>
            <a:r>
              <a:rPr lang="en-US" altLang="ko-KR" sz="1587" b="1" dirty="0">
                <a:solidFill>
                  <a:srgbClr val="C00000"/>
                </a:solidFill>
              </a:rPr>
              <a:t>→ enhance compression performance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82253244-C369-4752-8A39-70D6D58AF121}"/>
              </a:ext>
            </a:extLst>
          </p:cNvPr>
          <p:cNvCxnSpPr>
            <a:cxnSpLocks/>
          </p:cNvCxnSpPr>
          <p:nvPr/>
        </p:nvCxnSpPr>
        <p:spPr bwMode="auto">
          <a:xfrm>
            <a:off x="3998054" y="4217678"/>
            <a:ext cx="103520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E295BF9-91C2-415D-AB0C-4D86C1D03172}"/>
              </a:ext>
            </a:extLst>
          </p:cNvPr>
          <p:cNvSpPr txBox="1"/>
          <p:nvPr/>
        </p:nvSpPr>
        <p:spPr>
          <a:xfrm>
            <a:off x="4215017" y="3859144"/>
            <a:ext cx="1395254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87">
                <a:solidFill>
                  <a:srgbClr val="C00000"/>
                </a:solidFill>
              </a:rPr>
              <a:t>11% increase</a:t>
            </a:r>
            <a:endParaRPr lang="ko-KR" altLang="en-US" sz="1587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7953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7" grpId="0"/>
      <p:bldP spid="8" grpId="0"/>
      <p:bldP spid="151" grpId="0"/>
      <p:bldP spid="152" grpId="0"/>
      <p:bldP spid="1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24">
            <a:extLst>
              <a:ext uri="{FF2B5EF4-FFF2-40B4-BE49-F238E27FC236}">
                <a16:creationId xmlns:a16="http://schemas.microsoft.com/office/drawing/2014/main" id="{F7C1AC9F-4E7F-39BF-4ED3-592C6417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4F7526-AEBE-EF92-DF00-BE4736FE65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400" dirty="0"/>
              <a:t>Throughput/Energy Analysis</a:t>
            </a:r>
            <a:endParaRPr lang="ko-KR" altLang="en-US" sz="2400" dirty="0"/>
          </a:p>
          <a:p>
            <a:endParaRPr lang="ko-KR" altLang="en-US" dirty="0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39B7B1D-2451-80A5-2E9D-706277A4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77F22C44-242F-2BD8-6F9A-0E3662197C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1945588"/>
              </p:ext>
            </p:extLst>
          </p:nvPr>
        </p:nvGraphicFramePr>
        <p:xfrm>
          <a:off x="744226" y="1349842"/>
          <a:ext cx="6113318" cy="2102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E20E25D8-77EA-3605-7630-9D080602EF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134375"/>
              </p:ext>
            </p:extLst>
          </p:nvPr>
        </p:nvGraphicFramePr>
        <p:xfrm>
          <a:off x="1223313" y="3202208"/>
          <a:ext cx="5293476" cy="2355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71F33DE-D370-B1FD-256B-DC04A0CAA00B}"/>
              </a:ext>
            </a:extLst>
          </p:cNvPr>
          <p:cNvSpPr txBox="1"/>
          <p:nvPr/>
        </p:nvSpPr>
        <p:spPr>
          <a:xfrm rot="16200000">
            <a:off x="3872753" y="3144467"/>
            <a:ext cx="536010" cy="4247317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Input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conv1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conv2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conv3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conv4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conv5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fc6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fc7</a:t>
            </a:r>
          </a:p>
          <a:p>
            <a:pPr marL="0" marR="0" lvl="0" indent="0" algn="r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fc8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055C08-6D73-461B-9158-E5294E7EEB23}"/>
              </a:ext>
            </a:extLst>
          </p:cNvPr>
          <p:cNvSpPr/>
          <p:nvPr/>
        </p:nvSpPr>
        <p:spPr>
          <a:xfrm>
            <a:off x="6600369" y="2578894"/>
            <a:ext cx="279172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Min. system energy &amp;</a:t>
            </a:r>
            <a:b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Max. system throughput</a:t>
            </a:r>
            <a:b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@ end of conv layers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2D0766-4EF8-9CB0-A923-EE9759D2C1C7}"/>
              </a:ext>
            </a:extLst>
          </p:cNvPr>
          <p:cNvSpPr/>
          <p:nvPr/>
        </p:nvSpPr>
        <p:spPr>
          <a:xfrm>
            <a:off x="3615018" y="2965692"/>
            <a:ext cx="9094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Energy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61874A-6213-BDB2-0D92-B63BB70D95BB}"/>
              </a:ext>
            </a:extLst>
          </p:cNvPr>
          <p:cNvSpPr/>
          <p:nvPr/>
        </p:nvSpPr>
        <p:spPr>
          <a:xfrm>
            <a:off x="3298049" y="1093344"/>
            <a:ext cx="14366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Throughput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3D6AA95-6EE5-2BA5-42E0-F3DB598A4D42}"/>
              </a:ext>
            </a:extLst>
          </p:cNvPr>
          <p:cNvSpPr/>
          <p:nvPr/>
        </p:nvSpPr>
        <p:spPr bwMode="auto">
          <a:xfrm>
            <a:off x="4416253" y="2094706"/>
            <a:ext cx="216363" cy="218403"/>
          </a:xfrm>
          <a:prstGeom prst="ellipse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C987D09-CA5B-0D66-8704-B9F8FAAB3B24}"/>
              </a:ext>
            </a:extLst>
          </p:cNvPr>
          <p:cNvSpPr/>
          <p:nvPr/>
        </p:nvSpPr>
        <p:spPr bwMode="auto">
          <a:xfrm>
            <a:off x="4416253" y="4699774"/>
            <a:ext cx="453822" cy="787507"/>
          </a:xfrm>
          <a:prstGeom prst="ellipse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E1148C-3AA5-E46B-F102-6E5CD1F0DE7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27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375243215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>
            <a:extLst>
              <a:ext uri="{FF2B5EF4-FFF2-40B4-BE49-F238E27FC236}">
                <a16:creationId xmlns:a16="http://schemas.microsoft.com/office/drawing/2014/main" id="{924F27FD-9D2C-EE30-70D9-888A0CF4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AD06C-2537-4793-815C-6F64F89013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3D26F17F-3671-CBA9-EF94-93804907EF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Throughput/Energy Advantages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26CEA69F-789E-B17D-C8D3-086DE0C03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4EA8A31-EE3B-4871-875D-EA9ED9190BB9}"/>
              </a:ext>
            </a:extLst>
          </p:cNvPr>
          <p:cNvGraphicFramePr>
            <a:graphicFrameLocks/>
          </p:cNvGraphicFramePr>
          <p:nvPr/>
        </p:nvGraphicFramePr>
        <p:xfrm>
          <a:off x="1142692" y="763327"/>
          <a:ext cx="7258106" cy="5642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46A59E-299D-404E-9C95-7BEA032AC9D2}"/>
              </a:ext>
            </a:extLst>
          </p:cNvPr>
          <p:cNvSpPr txBox="1"/>
          <p:nvPr/>
        </p:nvSpPr>
        <p:spPr>
          <a:xfrm>
            <a:off x="2633744" y="2917818"/>
            <a:ext cx="1549720" cy="929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721" b="1" dirty="0">
                <a:solidFill>
                  <a:srgbClr val="FFC000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Inference</a:t>
            </a:r>
          </a:p>
          <a:p>
            <a:pPr defTabSz="518419" latinLnBrk="0">
              <a:defRPr/>
            </a:pPr>
            <a:r>
              <a:rPr lang="en-US" altLang="ko-KR" sz="2721" b="1" dirty="0">
                <a:solidFill>
                  <a:srgbClr val="FFC000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at edge</a:t>
            </a:r>
            <a:endParaRPr lang="ko-KR" altLang="en-US" sz="2721" b="1" dirty="0">
              <a:solidFill>
                <a:srgbClr val="FFC000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D1CCC-8D53-43EF-858B-4D57C48D4C22}"/>
              </a:ext>
            </a:extLst>
          </p:cNvPr>
          <p:cNvSpPr txBox="1"/>
          <p:nvPr/>
        </p:nvSpPr>
        <p:spPr>
          <a:xfrm>
            <a:off x="2437545" y="3860047"/>
            <a:ext cx="1549720" cy="929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721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Inference</a:t>
            </a:r>
          </a:p>
          <a:p>
            <a:pPr defTabSz="518419" latinLnBrk="0">
              <a:defRPr/>
            </a:pPr>
            <a:r>
              <a:rPr lang="en-US" altLang="ko-KR" sz="2721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  <a:ea typeface="맑은 고딕" panose="020B0503020000020004" pitchFamily="50" charset="-127"/>
              </a:rPr>
              <a:t>at cloud</a:t>
            </a:r>
            <a:endParaRPr lang="ko-KR" altLang="en-US" sz="2721" b="1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F0F49-E0EF-4EFF-BA21-34BD8EC69600}"/>
              </a:ext>
            </a:extLst>
          </p:cNvPr>
          <p:cNvSpPr txBox="1"/>
          <p:nvPr/>
        </p:nvSpPr>
        <p:spPr>
          <a:xfrm>
            <a:off x="8043736" y="1157983"/>
            <a:ext cx="1808124" cy="929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8419" latinLnBrk="0">
              <a:defRPr/>
            </a:pPr>
            <a:r>
              <a:rPr lang="en-US" altLang="ko-KR" sz="2721" b="1" dirty="0">
                <a:solidFill>
                  <a:srgbClr val="C00000"/>
                </a:solidFill>
                <a:latin typeface="Calibri" panose="020F0502020204030204"/>
                <a:ea typeface="맑은 고딕" panose="020B0503020000020004" pitchFamily="50" charset="-127"/>
              </a:rPr>
              <a:t>Partitioned</a:t>
            </a:r>
          </a:p>
          <a:p>
            <a:pPr defTabSz="518419" latinLnBrk="0">
              <a:defRPr/>
            </a:pPr>
            <a:r>
              <a:rPr lang="en-US" altLang="ko-KR" sz="2721" b="1" dirty="0">
                <a:solidFill>
                  <a:srgbClr val="C00000"/>
                </a:solidFill>
                <a:latin typeface="Calibri" panose="020F0502020204030204"/>
                <a:ea typeface="맑은 고딕" panose="020B0503020000020004" pitchFamily="50" charset="-127"/>
              </a:rPr>
              <a:t>inference</a:t>
            </a:r>
            <a:endParaRPr lang="ko-KR" altLang="en-US" sz="2721" b="1" dirty="0">
              <a:solidFill>
                <a:srgbClr val="C0000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4BF614-C9E7-42AB-86B1-E07D206CB037}"/>
              </a:ext>
            </a:extLst>
          </p:cNvPr>
          <p:cNvCxnSpPr>
            <a:cxnSpLocks/>
          </p:cNvCxnSpPr>
          <p:nvPr/>
        </p:nvCxnSpPr>
        <p:spPr bwMode="auto">
          <a:xfrm flipV="1">
            <a:off x="4262773" y="1591139"/>
            <a:ext cx="3288890" cy="169935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4">
                <a:lumMod val="75000"/>
              </a:schemeClr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28AD01E-26C7-419E-AA80-E31482F814B2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3987265" y="1705557"/>
            <a:ext cx="3673508" cy="261936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743087-DC3C-46AC-8E6B-7B310EB5248B}"/>
              </a:ext>
            </a:extLst>
          </p:cNvPr>
          <p:cNvSpPr/>
          <p:nvPr/>
        </p:nvSpPr>
        <p:spPr>
          <a:xfrm>
            <a:off x="3301446" y="1787653"/>
            <a:ext cx="2289473" cy="7204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defTabSz="518419" latinLnBrk="0">
              <a:defRPr/>
            </a:pPr>
            <a:r>
              <a:rPr lang="en-US" altLang="ko-KR" sz="2041" dirty="0">
                <a:solidFill>
                  <a:srgbClr val="FFC000">
                    <a:lumMod val="50000"/>
                  </a:srgb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2.3x throughput ↑</a:t>
            </a:r>
          </a:p>
          <a:p>
            <a:pPr defTabSz="518419" latinLnBrk="0">
              <a:defRPr/>
            </a:pPr>
            <a:r>
              <a:rPr lang="en-US" altLang="ko-KR" sz="2041" dirty="0">
                <a:solidFill>
                  <a:srgbClr val="FFC000">
                    <a:lumMod val="50000"/>
                  </a:srgb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2.5x E efficiency ↑</a:t>
            </a:r>
            <a:endParaRPr lang="ko-KR" altLang="en-US" sz="2041" dirty="0">
              <a:solidFill>
                <a:srgbClr val="FFC000">
                  <a:lumMod val="50000"/>
                </a:srgb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2A5416-1BE7-4E94-A047-05692CE5FA8D}"/>
              </a:ext>
            </a:extLst>
          </p:cNvPr>
          <p:cNvSpPr/>
          <p:nvPr/>
        </p:nvSpPr>
        <p:spPr>
          <a:xfrm>
            <a:off x="5544051" y="3358866"/>
            <a:ext cx="2435347" cy="7204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defTabSz="518419" latinLnBrk="0">
              <a:defRPr/>
            </a:pPr>
            <a:r>
              <a:rPr lang="en-US" altLang="ko-KR" sz="2041" dirty="0">
                <a:solidFill>
                  <a:srgbClr val="4472C4">
                    <a:lumMod val="50000"/>
                  </a:srgb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15.3x throughput ↑</a:t>
            </a:r>
          </a:p>
          <a:p>
            <a:pPr defTabSz="518419" latinLnBrk="0">
              <a:defRPr/>
            </a:pPr>
            <a:r>
              <a:rPr lang="en-US" altLang="ko-KR" sz="2041" dirty="0">
                <a:solidFill>
                  <a:srgbClr val="4472C4">
                    <a:lumMod val="50000"/>
                  </a:srgb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16.5x E efficiency ↑</a:t>
            </a:r>
            <a:endParaRPr lang="ko-KR" altLang="en-US" sz="2041" dirty="0">
              <a:solidFill>
                <a:srgbClr val="4472C4">
                  <a:lumMod val="50000"/>
                </a:srgb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66613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24F08FF-7B41-4A32-ACD4-40A5ABB6A68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D64B59-B4AC-DD0F-7914-7CD6FA17C9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Analysis on Network type</a:t>
            </a:r>
            <a:endParaRPr lang="ko-KR" altLang="en-US" sz="2000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62DC86-FEA0-45FF-9572-3930F8821C87}"/>
              </a:ext>
            </a:extLst>
          </p:cNvPr>
          <p:cNvSpPr/>
          <p:nvPr/>
        </p:nvSpPr>
        <p:spPr>
          <a:xfrm>
            <a:off x="2052994" y="856927"/>
            <a:ext cx="1250983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b="1" dirty="0">
                <a:solidFill>
                  <a:schemeClr val="accent5">
                    <a:lumMod val="50000"/>
                  </a:schemeClr>
                </a:solidFill>
              </a:rPr>
              <a:t>VGG-16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2DB9AF-107E-4211-8B99-C4CC2685AF95}"/>
              </a:ext>
            </a:extLst>
          </p:cNvPr>
          <p:cNvSpPr/>
          <p:nvPr/>
        </p:nvSpPr>
        <p:spPr>
          <a:xfrm>
            <a:off x="6095508" y="887545"/>
            <a:ext cx="1609864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b="1" dirty="0">
                <a:solidFill>
                  <a:schemeClr val="accent5">
                    <a:lumMod val="50000"/>
                  </a:schemeClr>
                </a:solidFill>
              </a:rPr>
              <a:t>ResNet-50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B54BA3F1-B73D-4A2A-82B2-0B74DE6F9911}"/>
              </a:ext>
            </a:extLst>
          </p:cNvPr>
          <p:cNvGraphicFramePr>
            <a:graphicFrameLocks/>
          </p:cNvGraphicFramePr>
          <p:nvPr/>
        </p:nvGraphicFramePr>
        <p:xfrm>
          <a:off x="4908504" y="1079692"/>
          <a:ext cx="3833986" cy="33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C34712C7-3D1B-4E2A-9699-44616A83BD84}"/>
              </a:ext>
            </a:extLst>
          </p:cNvPr>
          <p:cNvGraphicFramePr>
            <a:graphicFrameLocks/>
          </p:cNvGraphicFramePr>
          <p:nvPr/>
        </p:nvGraphicFramePr>
        <p:xfrm>
          <a:off x="949992" y="968739"/>
          <a:ext cx="7041575" cy="4069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5494F4-80B1-46E5-9784-B5A52F0800C0}"/>
              </a:ext>
            </a:extLst>
          </p:cNvPr>
          <p:cNvSpPr txBox="1"/>
          <p:nvPr/>
        </p:nvSpPr>
        <p:spPr>
          <a:xfrm>
            <a:off x="6618434" y="1910167"/>
            <a:ext cx="705582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87" b="1">
                <a:solidFill>
                  <a:schemeClr val="accent4">
                    <a:lumMod val="50000"/>
                  </a:schemeClr>
                </a:solidFill>
              </a:rPr>
              <a:t>Edge</a:t>
            </a:r>
            <a:endParaRPr lang="ko-KR" altLang="en-US" sz="1587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FAA80-9EDC-41AA-BD14-C74C7AF7E74D}"/>
              </a:ext>
            </a:extLst>
          </p:cNvPr>
          <p:cNvSpPr txBox="1"/>
          <p:nvPr/>
        </p:nvSpPr>
        <p:spPr>
          <a:xfrm>
            <a:off x="6311083" y="3330923"/>
            <a:ext cx="747320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chemeClr val="accent5">
                    <a:lumMod val="50000"/>
                  </a:schemeClr>
                </a:solidFill>
              </a:rPr>
              <a:t>Cloud</a:t>
            </a:r>
            <a:endParaRPr lang="ko-KR" altLang="en-US" sz="1587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E5F8C-F5E3-479A-8E8E-A86610652F94}"/>
              </a:ext>
            </a:extLst>
          </p:cNvPr>
          <p:cNvSpPr txBox="1"/>
          <p:nvPr/>
        </p:nvSpPr>
        <p:spPr>
          <a:xfrm>
            <a:off x="6971226" y="1380958"/>
            <a:ext cx="1259319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>
                <a:solidFill>
                  <a:srgbClr val="C00000"/>
                </a:solidFill>
              </a:rPr>
              <a:t>Partitioned</a:t>
            </a:r>
            <a:endParaRPr lang="ko-KR" altLang="en-US" sz="1587" b="1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99352-E5E4-48D0-99C8-48F24918FA38}"/>
              </a:ext>
            </a:extLst>
          </p:cNvPr>
          <p:cNvSpPr txBox="1"/>
          <p:nvPr/>
        </p:nvSpPr>
        <p:spPr>
          <a:xfrm>
            <a:off x="1981756" y="3076566"/>
            <a:ext cx="705582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87" b="1">
                <a:solidFill>
                  <a:schemeClr val="accent4">
                    <a:lumMod val="50000"/>
                  </a:schemeClr>
                </a:solidFill>
              </a:rPr>
              <a:t>Edge</a:t>
            </a:r>
            <a:endParaRPr lang="ko-KR" altLang="en-US" sz="1587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50AD79-AB8E-42A7-8808-6D404158B28E}"/>
              </a:ext>
            </a:extLst>
          </p:cNvPr>
          <p:cNvSpPr txBox="1"/>
          <p:nvPr/>
        </p:nvSpPr>
        <p:spPr>
          <a:xfrm>
            <a:off x="2357267" y="2256315"/>
            <a:ext cx="747320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chemeClr val="accent5">
                    <a:lumMod val="50000"/>
                  </a:schemeClr>
                </a:solidFill>
              </a:rPr>
              <a:t>Cloud</a:t>
            </a:r>
            <a:endParaRPr lang="ko-KR" altLang="en-US" sz="1587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8EF1EF-6F5A-43CA-A36F-B21909C77139}"/>
              </a:ext>
            </a:extLst>
          </p:cNvPr>
          <p:cNvSpPr txBox="1"/>
          <p:nvPr/>
        </p:nvSpPr>
        <p:spPr>
          <a:xfrm>
            <a:off x="2382895" y="1561193"/>
            <a:ext cx="1259319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>
                <a:solidFill>
                  <a:srgbClr val="C00000"/>
                </a:solidFill>
              </a:rPr>
              <a:t>Partitioned</a:t>
            </a:r>
            <a:endParaRPr lang="ko-KR" altLang="en-US" sz="1587" b="1">
              <a:solidFill>
                <a:srgbClr val="C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F15808-1BED-4593-ABB4-34E6AAC02C9A}"/>
              </a:ext>
            </a:extLst>
          </p:cNvPr>
          <p:cNvSpPr/>
          <p:nvPr/>
        </p:nvSpPr>
        <p:spPr>
          <a:xfrm>
            <a:off x="743687" y="4267935"/>
            <a:ext cx="3102196" cy="626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Large FC layers</a:t>
            </a:r>
            <a:b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→ </a:t>
            </a: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entire at </a:t>
            </a:r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cloud </a:t>
            </a: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than edge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84CFF4-3D63-4E44-954E-4DBEFBF9BBAF}"/>
              </a:ext>
            </a:extLst>
          </p:cNvPr>
          <p:cNvSpPr/>
          <p:nvPr/>
        </p:nvSpPr>
        <p:spPr>
          <a:xfrm>
            <a:off x="5067267" y="4267934"/>
            <a:ext cx="3640484" cy="626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736" b="1">
                <a:solidFill>
                  <a:schemeClr val="accent5">
                    <a:lumMod val="50000"/>
                  </a:schemeClr>
                </a:solidFill>
              </a:rPr>
              <a:t>Deep conv layers + one FC layer</a:t>
            </a:r>
            <a:br>
              <a:rPr lang="en-US" altLang="ko-KR" sz="1736" b="1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ko-KR" sz="1736" b="1">
                <a:solidFill>
                  <a:schemeClr val="accent5">
                    <a:lumMod val="50000"/>
                  </a:schemeClr>
                </a:solidFill>
              </a:rPr>
              <a:t>→ </a:t>
            </a:r>
            <a:r>
              <a:rPr lang="en-US" altLang="ko-KR" sz="1736">
                <a:solidFill>
                  <a:schemeClr val="accent5">
                    <a:lumMod val="50000"/>
                  </a:schemeClr>
                </a:solidFill>
              </a:rPr>
              <a:t>entire at </a:t>
            </a:r>
            <a:r>
              <a:rPr lang="en-US" altLang="ko-KR" sz="1736" b="1">
                <a:solidFill>
                  <a:schemeClr val="accent5">
                    <a:lumMod val="50000"/>
                  </a:schemeClr>
                </a:solidFill>
              </a:rPr>
              <a:t>edge </a:t>
            </a:r>
            <a:r>
              <a:rPr lang="en-US" altLang="ko-KR" sz="1736">
                <a:solidFill>
                  <a:schemeClr val="accent5">
                    <a:lumMod val="50000"/>
                  </a:schemeClr>
                </a:solidFill>
              </a:rPr>
              <a:t>than host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A4DDCE-5E9B-4649-AA6A-C2E1916F5FAD}"/>
              </a:ext>
            </a:extLst>
          </p:cNvPr>
          <p:cNvSpPr/>
          <p:nvPr/>
        </p:nvSpPr>
        <p:spPr>
          <a:xfrm>
            <a:off x="2748465" y="5022263"/>
            <a:ext cx="3923766" cy="626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Partitioned inference </a:t>
            </a: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is better than </a:t>
            </a:r>
            <a:b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entire cloud or edge inference</a:t>
            </a:r>
          </a:p>
        </p:txBody>
      </p:sp>
      <p:sp>
        <p:nvSpPr>
          <p:cNvPr id="20" name="제목 19">
            <a:extLst>
              <a:ext uri="{FF2B5EF4-FFF2-40B4-BE49-F238E27FC236}">
                <a16:creationId xmlns:a16="http://schemas.microsoft.com/office/drawing/2014/main" id="{099ECA41-B5E6-B360-2800-9CE10FC3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989273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9586498E-2D1F-4E84-A663-4D408DD5D32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031D68-484D-242A-E70A-54DCC2D25F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Analysis on Transmission Channel</a:t>
            </a:r>
            <a:endParaRPr lang="ko-KR" altLang="en-US" sz="2000" dirty="0"/>
          </a:p>
          <a:p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FD95392-A867-423D-BE5C-EBFED2D01869}"/>
              </a:ext>
            </a:extLst>
          </p:cNvPr>
          <p:cNvGraphicFramePr>
            <a:graphicFrameLocks/>
          </p:cNvGraphicFramePr>
          <p:nvPr/>
        </p:nvGraphicFramePr>
        <p:xfrm>
          <a:off x="554342" y="1065569"/>
          <a:ext cx="7858050" cy="481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4D8FA8F-78F3-4BBA-99A9-C61AE92C4546}"/>
              </a:ext>
            </a:extLst>
          </p:cNvPr>
          <p:cNvGraphicFramePr>
            <a:graphicFrameLocks/>
          </p:cNvGraphicFramePr>
          <p:nvPr/>
        </p:nvGraphicFramePr>
        <p:xfrm>
          <a:off x="5085325" y="1212449"/>
          <a:ext cx="3948466" cy="3827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1B10D7-A3A8-4717-A881-CBACCCF3F042}"/>
              </a:ext>
            </a:extLst>
          </p:cNvPr>
          <p:cNvSpPr txBox="1"/>
          <p:nvPr/>
        </p:nvSpPr>
        <p:spPr>
          <a:xfrm>
            <a:off x="6870335" y="2923188"/>
            <a:ext cx="705582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87" b="1">
                <a:solidFill>
                  <a:schemeClr val="accent4">
                    <a:lumMod val="50000"/>
                  </a:schemeClr>
                </a:solidFill>
              </a:rPr>
              <a:t>Edge</a:t>
            </a:r>
            <a:endParaRPr lang="ko-KR" altLang="en-US" sz="1587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C934F-FB58-4EAF-B8F3-961278ADDDF1}"/>
              </a:ext>
            </a:extLst>
          </p:cNvPr>
          <p:cNvSpPr txBox="1"/>
          <p:nvPr/>
        </p:nvSpPr>
        <p:spPr>
          <a:xfrm>
            <a:off x="5793807" y="2688122"/>
            <a:ext cx="747320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chemeClr val="accent5">
                    <a:lumMod val="50000"/>
                  </a:schemeClr>
                </a:solidFill>
              </a:rPr>
              <a:t>Cloud</a:t>
            </a:r>
            <a:endParaRPr lang="ko-KR" altLang="en-US" sz="1587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AAB92-4ECA-41F2-8D0C-872D2B2691FA}"/>
              </a:ext>
            </a:extLst>
          </p:cNvPr>
          <p:cNvSpPr txBox="1"/>
          <p:nvPr/>
        </p:nvSpPr>
        <p:spPr>
          <a:xfrm>
            <a:off x="6655149" y="1603801"/>
            <a:ext cx="1259319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87" b="1">
                <a:solidFill>
                  <a:srgbClr val="C00000"/>
                </a:solidFill>
              </a:rPr>
              <a:t>Partitioned</a:t>
            </a:r>
            <a:endParaRPr lang="ko-KR" altLang="en-US" sz="1587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D878E-5A5E-476F-B05E-ECC5AB5305D6}"/>
              </a:ext>
            </a:extLst>
          </p:cNvPr>
          <p:cNvSpPr txBox="1"/>
          <p:nvPr/>
        </p:nvSpPr>
        <p:spPr>
          <a:xfrm>
            <a:off x="2527983" y="2951714"/>
            <a:ext cx="705582" cy="33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87" b="1">
                <a:solidFill>
                  <a:schemeClr val="accent4">
                    <a:lumMod val="50000"/>
                  </a:schemeClr>
                </a:solidFill>
              </a:rPr>
              <a:t>Edge</a:t>
            </a:r>
            <a:endParaRPr lang="ko-KR" altLang="en-US" sz="1587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F155D-7B20-49C1-8412-041F687FA116}"/>
              </a:ext>
            </a:extLst>
          </p:cNvPr>
          <p:cNvSpPr txBox="1"/>
          <p:nvPr/>
        </p:nvSpPr>
        <p:spPr>
          <a:xfrm>
            <a:off x="1628435" y="3677113"/>
            <a:ext cx="747320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chemeClr val="accent5">
                    <a:lumMod val="50000"/>
                  </a:schemeClr>
                </a:solidFill>
              </a:rPr>
              <a:t>Cloud</a:t>
            </a:r>
            <a:endParaRPr lang="ko-KR" altLang="en-US" sz="1587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674C0-7A19-4DE9-BA5D-BB596F52D5A2}"/>
              </a:ext>
            </a:extLst>
          </p:cNvPr>
          <p:cNvSpPr txBox="1"/>
          <p:nvPr/>
        </p:nvSpPr>
        <p:spPr>
          <a:xfrm>
            <a:off x="1963363" y="1503887"/>
            <a:ext cx="1259319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87" b="1">
                <a:solidFill>
                  <a:srgbClr val="C00000"/>
                </a:solidFill>
              </a:rPr>
              <a:t>Partitioned</a:t>
            </a:r>
            <a:endParaRPr lang="ko-KR" altLang="en-US" sz="1587">
              <a:solidFill>
                <a:srgbClr val="C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2045BB-F1EF-4ED1-A17B-DA9E2AF63575}"/>
              </a:ext>
            </a:extLst>
          </p:cNvPr>
          <p:cNvSpPr/>
          <p:nvPr/>
        </p:nvSpPr>
        <p:spPr>
          <a:xfrm>
            <a:off x="1739378" y="823924"/>
            <a:ext cx="2610010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b="1">
                <a:solidFill>
                  <a:schemeClr val="accent5">
                    <a:lumMod val="50000"/>
                  </a:schemeClr>
                </a:solidFill>
              </a:rPr>
              <a:t>Low BW </a:t>
            </a:r>
            <a:r>
              <a:rPr lang="en-US" altLang="ko-KR" sz="2268">
                <a:solidFill>
                  <a:schemeClr val="accent5">
                    <a:lumMod val="50000"/>
                  </a:schemeClr>
                </a:solidFill>
              </a:rPr>
              <a:t>(1 </a:t>
            </a:r>
            <a:r>
              <a:rPr lang="en-US" altLang="ko-KR" sz="2268" err="1">
                <a:solidFill>
                  <a:schemeClr val="accent5">
                    <a:lumMod val="50000"/>
                  </a:schemeClr>
                </a:solidFill>
              </a:rPr>
              <a:t>Mbps</a:t>
            </a:r>
            <a:r>
              <a:rPr lang="en-US" altLang="ko-KR" sz="2268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A3BC76-BF91-42A1-8B1C-0354A33B9DEA}"/>
              </a:ext>
            </a:extLst>
          </p:cNvPr>
          <p:cNvSpPr/>
          <p:nvPr/>
        </p:nvSpPr>
        <p:spPr>
          <a:xfrm>
            <a:off x="5986465" y="834495"/>
            <a:ext cx="2874505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b="1">
                <a:solidFill>
                  <a:schemeClr val="accent5">
                    <a:lumMod val="50000"/>
                  </a:schemeClr>
                </a:solidFill>
              </a:rPr>
              <a:t>High BW </a:t>
            </a:r>
            <a:r>
              <a:rPr lang="en-US" altLang="ko-KR" sz="2268">
                <a:solidFill>
                  <a:schemeClr val="accent5">
                    <a:lumMod val="50000"/>
                  </a:schemeClr>
                </a:solidFill>
              </a:rPr>
              <a:t>(22 </a:t>
            </a:r>
            <a:r>
              <a:rPr lang="en-US" altLang="ko-KR" sz="2268" err="1">
                <a:solidFill>
                  <a:schemeClr val="accent5">
                    <a:lumMod val="50000"/>
                  </a:schemeClr>
                </a:solidFill>
              </a:rPr>
              <a:t>Mbps</a:t>
            </a:r>
            <a:r>
              <a:rPr lang="en-US" altLang="ko-KR" sz="2268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3D7800-07E5-4AA3-8C68-639C64BDC069}"/>
              </a:ext>
            </a:extLst>
          </p:cNvPr>
          <p:cNvSpPr/>
          <p:nvPr/>
        </p:nvSpPr>
        <p:spPr>
          <a:xfrm>
            <a:off x="1825297" y="4837425"/>
            <a:ext cx="6885090" cy="790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b="1" dirty="0">
                <a:solidFill>
                  <a:schemeClr val="accent5">
                    <a:lumMod val="50000"/>
                  </a:schemeClr>
                </a:solidFill>
              </a:rPr>
              <a:t>BW ↑ → cloud inference performance ↑ </a:t>
            </a:r>
          </a:p>
          <a:p>
            <a:r>
              <a:rPr lang="en-US" altLang="ko-KR" sz="2268" b="1" dirty="0">
                <a:solidFill>
                  <a:schemeClr val="accent5">
                    <a:lumMod val="50000"/>
                  </a:schemeClr>
                </a:solidFill>
              </a:rPr>
              <a:t>Partitioned inference outperforms for both BW </a:t>
            </a:r>
          </a:p>
        </p:txBody>
      </p:sp>
      <p:sp>
        <p:nvSpPr>
          <p:cNvPr id="21" name="제목 19">
            <a:extLst>
              <a:ext uri="{FF2B5EF4-FFF2-40B4-BE49-F238E27FC236}">
                <a16:creationId xmlns:a16="http://schemas.microsoft.com/office/drawing/2014/main" id="{7E103235-1DA5-6E4B-AC06-4ED7824E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9313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EE54EF4-B6FA-DD79-A087-B4FCA019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9586498E-2D1F-4E84-A663-4D408DD5D32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A2AB93-7540-1690-31D4-03963BEF56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Analysis on Transmission Channel</a:t>
            </a:r>
            <a:endParaRPr lang="ko-KR" altLang="en-US" sz="2000" dirty="0"/>
          </a:p>
          <a:p>
            <a:endParaRPr lang="ko-KR" altLang="en-US" dirty="0"/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AE695FB3-1333-43DE-A087-A2C3B5088F3B}"/>
              </a:ext>
            </a:extLst>
          </p:cNvPr>
          <p:cNvGraphicFramePr>
            <a:graphicFrameLocks/>
          </p:cNvGraphicFramePr>
          <p:nvPr/>
        </p:nvGraphicFramePr>
        <p:xfrm>
          <a:off x="35943" y="1842482"/>
          <a:ext cx="4844142" cy="414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85FBF09-08B4-467B-B38F-C02C3E9AFE76}"/>
              </a:ext>
            </a:extLst>
          </p:cNvPr>
          <p:cNvCxnSpPr>
            <a:cxnSpLocks/>
          </p:cNvCxnSpPr>
          <p:nvPr/>
        </p:nvCxnSpPr>
        <p:spPr bwMode="auto">
          <a:xfrm>
            <a:off x="1158301" y="2544075"/>
            <a:ext cx="40566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9B5789F-E106-492F-B472-C179B4B93EAC}"/>
              </a:ext>
            </a:extLst>
          </p:cNvPr>
          <p:cNvCxnSpPr>
            <a:cxnSpLocks/>
          </p:cNvCxnSpPr>
          <p:nvPr/>
        </p:nvCxnSpPr>
        <p:spPr bwMode="auto">
          <a:xfrm>
            <a:off x="1105654" y="3033276"/>
            <a:ext cx="40566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DAC83DB-3F93-45A9-AFB7-74E24CC3B9B6}"/>
              </a:ext>
            </a:extLst>
          </p:cNvPr>
          <p:cNvCxnSpPr>
            <a:cxnSpLocks/>
          </p:cNvCxnSpPr>
          <p:nvPr/>
        </p:nvCxnSpPr>
        <p:spPr bwMode="auto">
          <a:xfrm>
            <a:off x="1105654" y="4132995"/>
            <a:ext cx="40566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81DAAA7-477F-4B85-A902-2310F3B24425}"/>
              </a:ext>
            </a:extLst>
          </p:cNvPr>
          <p:cNvCxnSpPr>
            <a:cxnSpLocks/>
          </p:cNvCxnSpPr>
          <p:nvPr/>
        </p:nvCxnSpPr>
        <p:spPr bwMode="auto">
          <a:xfrm>
            <a:off x="1105654" y="4736699"/>
            <a:ext cx="399161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BDD063E-6D3D-404C-93F4-3F205988BFA1}"/>
              </a:ext>
            </a:extLst>
          </p:cNvPr>
          <p:cNvCxnSpPr>
            <a:cxnSpLocks/>
          </p:cNvCxnSpPr>
          <p:nvPr/>
        </p:nvCxnSpPr>
        <p:spPr bwMode="auto">
          <a:xfrm>
            <a:off x="1409692" y="1678867"/>
            <a:ext cx="0" cy="35303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D86EE28-1B66-4E96-A23D-1578B2A32AF7}"/>
              </a:ext>
            </a:extLst>
          </p:cNvPr>
          <p:cNvCxnSpPr>
            <a:cxnSpLocks/>
          </p:cNvCxnSpPr>
          <p:nvPr/>
        </p:nvCxnSpPr>
        <p:spPr bwMode="auto">
          <a:xfrm>
            <a:off x="2291188" y="1560191"/>
            <a:ext cx="0" cy="364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957BE95-3F8E-41DB-B6D1-042E057FA72E}"/>
              </a:ext>
            </a:extLst>
          </p:cNvPr>
          <p:cNvCxnSpPr>
            <a:cxnSpLocks/>
          </p:cNvCxnSpPr>
          <p:nvPr/>
        </p:nvCxnSpPr>
        <p:spPr bwMode="auto">
          <a:xfrm>
            <a:off x="2527420" y="1560191"/>
            <a:ext cx="0" cy="364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E27AC62-8D90-4019-825D-2763B384F5A6}"/>
              </a:ext>
            </a:extLst>
          </p:cNvPr>
          <p:cNvCxnSpPr>
            <a:cxnSpLocks/>
          </p:cNvCxnSpPr>
          <p:nvPr/>
        </p:nvCxnSpPr>
        <p:spPr bwMode="auto">
          <a:xfrm>
            <a:off x="3341109" y="1560191"/>
            <a:ext cx="0" cy="36490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66E9A6E-FBA5-4969-B045-44A2515BA96E}"/>
              </a:ext>
            </a:extLst>
          </p:cNvPr>
          <p:cNvCxnSpPr>
            <a:cxnSpLocks/>
          </p:cNvCxnSpPr>
          <p:nvPr/>
        </p:nvCxnSpPr>
        <p:spPr bwMode="auto">
          <a:xfrm>
            <a:off x="3918565" y="1667995"/>
            <a:ext cx="0" cy="35412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E46DB2-A0EF-4EA0-BF75-5CDD13685FDE}"/>
              </a:ext>
            </a:extLst>
          </p:cNvPr>
          <p:cNvSpPr txBox="1"/>
          <p:nvPr/>
        </p:nvSpPr>
        <p:spPr>
          <a:xfrm>
            <a:off x="840987" y="1684959"/>
            <a:ext cx="607859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host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0FAC32-11F0-4B18-8C3D-7B7F174A32A1}"/>
              </a:ext>
            </a:extLst>
          </p:cNvPr>
          <p:cNvSpPr txBox="1"/>
          <p:nvPr/>
        </p:nvSpPr>
        <p:spPr>
          <a:xfrm>
            <a:off x="1440137" y="1684959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conv1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655E88-0841-4FCD-892D-A3A19A4DD49B}"/>
              </a:ext>
            </a:extLst>
          </p:cNvPr>
          <p:cNvSpPr txBox="1"/>
          <p:nvPr/>
        </p:nvSpPr>
        <p:spPr>
          <a:xfrm rot="16200000">
            <a:off x="2014337" y="1495169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conv2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D7A76-B3AB-4C30-A96F-795BCA981A97}"/>
              </a:ext>
            </a:extLst>
          </p:cNvPr>
          <p:cNvSpPr txBox="1"/>
          <p:nvPr/>
        </p:nvSpPr>
        <p:spPr>
          <a:xfrm>
            <a:off x="2527420" y="1667996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conv5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E4E108-C8D4-43F0-A28E-B9A77A7122C1}"/>
              </a:ext>
            </a:extLst>
          </p:cNvPr>
          <p:cNvSpPr txBox="1"/>
          <p:nvPr/>
        </p:nvSpPr>
        <p:spPr>
          <a:xfrm>
            <a:off x="3387153" y="1684959"/>
            <a:ext cx="478016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fc6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4A4C82-EE3E-4370-A045-837B0E5B833A}"/>
              </a:ext>
            </a:extLst>
          </p:cNvPr>
          <p:cNvSpPr txBox="1"/>
          <p:nvPr/>
        </p:nvSpPr>
        <p:spPr>
          <a:xfrm>
            <a:off x="3898574" y="1684958"/>
            <a:ext cx="662361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002060"/>
                </a:solidFill>
              </a:rPr>
              <a:t>edge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46944D-52BF-493C-B1A2-AC44C43CBCAA}"/>
              </a:ext>
            </a:extLst>
          </p:cNvPr>
          <p:cNvSpPr txBox="1"/>
          <p:nvPr/>
        </p:nvSpPr>
        <p:spPr>
          <a:xfrm>
            <a:off x="4448941" y="2134852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conv1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899C72-776F-4A60-9DB2-4CC8E9AFF5A4}"/>
              </a:ext>
            </a:extLst>
          </p:cNvPr>
          <p:cNvSpPr txBox="1"/>
          <p:nvPr/>
        </p:nvSpPr>
        <p:spPr>
          <a:xfrm>
            <a:off x="4448941" y="2675662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conv2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178EF-1181-41FD-A61C-6CCB2C0F1044}"/>
              </a:ext>
            </a:extLst>
          </p:cNvPr>
          <p:cNvSpPr txBox="1"/>
          <p:nvPr/>
        </p:nvSpPr>
        <p:spPr>
          <a:xfrm>
            <a:off x="4448941" y="3458664"/>
            <a:ext cx="761747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conv5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6F34C0-0E2E-4781-9D97-50F238FAC406}"/>
              </a:ext>
            </a:extLst>
          </p:cNvPr>
          <p:cNvSpPr txBox="1"/>
          <p:nvPr/>
        </p:nvSpPr>
        <p:spPr>
          <a:xfrm>
            <a:off x="4595255" y="4252990"/>
            <a:ext cx="478016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fc6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6CF904-16EA-493E-9FFF-3CE22D024264}"/>
              </a:ext>
            </a:extLst>
          </p:cNvPr>
          <p:cNvSpPr txBox="1"/>
          <p:nvPr/>
        </p:nvSpPr>
        <p:spPr>
          <a:xfrm>
            <a:off x="4533019" y="4806906"/>
            <a:ext cx="662361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rgbClr val="C00000"/>
                </a:solidFill>
              </a:rPr>
              <a:t>edge</a:t>
            </a:r>
            <a:endParaRPr lang="ko-KR" altLang="en-US" sz="1587" b="1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1DAB7F-46F7-4380-8774-E9D3900F5959}"/>
              </a:ext>
            </a:extLst>
          </p:cNvPr>
          <p:cNvSpPr txBox="1"/>
          <p:nvPr/>
        </p:nvSpPr>
        <p:spPr>
          <a:xfrm>
            <a:off x="2723890" y="3089637"/>
            <a:ext cx="2219582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>
                <a:solidFill>
                  <a:schemeClr val="accent4">
                    <a:lumMod val="50000"/>
                  </a:schemeClr>
                </a:solidFill>
              </a:rPr>
              <a:t>Bluetooth (@2Mbps)</a:t>
            </a:r>
            <a:endParaRPr lang="ko-KR" altLang="en-US" sz="1587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6E2A04E1-E7BC-42B1-8DCE-72131ED8DB05}"/>
              </a:ext>
            </a:extLst>
          </p:cNvPr>
          <p:cNvSpPr/>
          <p:nvPr/>
        </p:nvSpPr>
        <p:spPr bwMode="auto">
          <a:xfrm>
            <a:off x="2593481" y="3152743"/>
            <a:ext cx="236233" cy="254575"/>
          </a:xfrm>
          <a:prstGeom prst="triangle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2721" b="1">
              <a:latin typeface="Tahoma" pitchFamily="34" charset="0"/>
            </a:endParaRPr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2C95C900-D18F-4B5F-A43F-A1D36E9B0A1D}"/>
              </a:ext>
            </a:extLst>
          </p:cNvPr>
          <p:cNvSpPr/>
          <p:nvPr/>
        </p:nvSpPr>
        <p:spPr bwMode="auto">
          <a:xfrm>
            <a:off x="2723746" y="2469067"/>
            <a:ext cx="236233" cy="254575"/>
          </a:xfrm>
          <a:prstGeom prst="triangle">
            <a:avLst/>
          </a:prstGeom>
          <a:solidFill>
            <a:srgbClr val="00206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2721" b="1">
              <a:latin typeface="Tahoma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49523-B4A0-4D31-ABE0-B169BB70889C}"/>
              </a:ext>
            </a:extLst>
          </p:cNvPr>
          <p:cNvSpPr txBox="1"/>
          <p:nvPr/>
        </p:nvSpPr>
        <p:spPr>
          <a:xfrm>
            <a:off x="2861011" y="2494741"/>
            <a:ext cx="1776448" cy="336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 err="1">
                <a:solidFill>
                  <a:srgbClr val="002060"/>
                </a:solidFill>
              </a:rPr>
              <a:t>Wifi</a:t>
            </a:r>
            <a:r>
              <a:rPr lang="en-US" altLang="ko-KR" sz="1587" b="1" dirty="0">
                <a:solidFill>
                  <a:srgbClr val="002060"/>
                </a:solidFill>
              </a:rPr>
              <a:t> (@22Mbps)</a:t>
            </a:r>
            <a:endParaRPr lang="ko-KR" altLang="en-US" sz="1587" b="1" dirty="0">
              <a:solidFill>
                <a:srgbClr val="002060"/>
              </a:solidFill>
            </a:endParaRP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61889B3C-C24F-4A42-AE18-AC365099CB7C}"/>
              </a:ext>
            </a:extLst>
          </p:cNvPr>
          <p:cNvSpPr/>
          <p:nvPr/>
        </p:nvSpPr>
        <p:spPr bwMode="auto">
          <a:xfrm>
            <a:off x="2624779" y="3474508"/>
            <a:ext cx="236233" cy="254575"/>
          </a:xfrm>
          <a:prstGeom prst="triangl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2721" b="1">
              <a:latin typeface="Tahoma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573A85-53BC-426E-A682-F27F60C151F8}"/>
              </a:ext>
            </a:extLst>
          </p:cNvPr>
          <p:cNvSpPr txBox="1"/>
          <p:nvPr/>
        </p:nvSpPr>
        <p:spPr>
          <a:xfrm>
            <a:off x="1447382" y="3400714"/>
            <a:ext cx="1276953" cy="82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 err="1">
                <a:solidFill>
                  <a:schemeClr val="accent2">
                    <a:lumMod val="50000"/>
                  </a:schemeClr>
                </a:solidFill>
              </a:rPr>
              <a:t>Bluetoogh</a:t>
            </a:r>
            <a:br>
              <a:rPr lang="en-US" altLang="ko-KR" sz="1587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ko-KR" sz="1587" b="1" dirty="0">
                <a:solidFill>
                  <a:schemeClr val="accent2">
                    <a:lumMod val="50000"/>
                  </a:schemeClr>
                </a:solidFill>
              </a:rPr>
              <a:t>low-energy</a:t>
            </a:r>
            <a:br>
              <a:rPr lang="en-US" altLang="ko-KR" sz="1587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ko-KR" sz="1587" b="1" dirty="0">
                <a:solidFill>
                  <a:schemeClr val="accent2">
                    <a:lumMod val="50000"/>
                  </a:schemeClr>
                </a:solidFill>
              </a:rPr>
              <a:t>(@ 1Mbps)</a:t>
            </a:r>
            <a:endParaRPr lang="ko-KR" altLang="en-US" sz="1587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0CCAAAF3-C0BC-4722-AA90-B9A6A45E6CCF}"/>
              </a:ext>
            </a:extLst>
          </p:cNvPr>
          <p:cNvSpPr/>
          <p:nvPr/>
        </p:nvSpPr>
        <p:spPr bwMode="auto">
          <a:xfrm>
            <a:off x="2924643" y="3478085"/>
            <a:ext cx="236233" cy="254575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3680" tIns="51840" rIns="103680" bIns="51840" numCol="1" rtlCol="0" anchor="t" anchorCtr="0" compatLnSpc="1">
            <a:prstTxWarp prst="textNoShape">
              <a:avLst/>
            </a:prstTxWarp>
          </a:bodyPr>
          <a:lstStyle/>
          <a:p>
            <a:pPr defTabSz="1036838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2721" b="1">
              <a:latin typeface="Tahoma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CFC864-E264-448C-937A-602ECD2F05BA}"/>
              </a:ext>
            </a:extLst>
          </p:cNvPr>
          <p:cNvSpPr txBox="1"/>
          <p:nvPr/>
        </p:nvSpPr>
        <p:spPr>
          <a:xfrm>
            <a:off x="3101461" y="3458662"/>
            <a:ext cx="1192955" cy="580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87" b="1" dirty="0" err="1">
                <a:solidFill>
                  <a:schemeClr val="accent6">
                    <a:lumMod val="50000"/>
                  </a:schemeClr>
                </a:solidFill>
              </a:rPr>
              <a:t>Wifi</a:t>
            </a:r>
            <a:br>
              <a:rPr lang="en-US" altLang="ko-KR" sz="1587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altLang="ko-KR" sz="1587" b="1" dirty="0">
                <a:solidFill>
                  <a:schemeClr val="accent6">
                    <a:lumMod val="50000"/>
                  </a:schemeClr>
                </a:solidFill>
              </a:rPr>
              <a:t>(@1Mbps)</a:t>
            </a:r>
            <a:endParaRPr lang="ko-KR" altLang="en-US" sz="1587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3C46FC4-0EA6-46F7-A1CF-072B09B11E1C}"/>
              </a:ext>
            </a:extLst>
          </p:cNvPr>
          <p:cNvSpPr/>
          <p:nvPr/>
        </p:nvSpPr>
        <p:spPr>
          <a:xfrm>
            <a:off x="715756" y="949890"/>
            <a:ext cx="4582601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 dirty="0">
                <a:solidFill>
                  <a:schemeClr val="accent5">
                    <a:lumMod val="50000"/>
                  </a:schemeClr>
                </a:solidFill>
              </a:rPr>
              <a:t>Partitioning layer for </a:t>
            </a:r>
            <a:r>
              <a:rPr lang="en-US" altLang="ko-KR" sz="2268" b="1" dirty="0">
                <a:solidFill>
                  <a:schemeClr val="accent5">
                    <a:lumMod val="50000"/>
                  </a:schemeClr>
                </a:solidFill>
              </a:rPr>
              <a:t>min energy</a:t>
            </a:r>
            <a:endParaRPr lang="en-US" altLang="ko-KR" sz="2268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E6D2273-F195-4194-9DD9-2E4195B6C19D}"/>
              </a:ext>
            </a:extLst>
          </p:cNvPr>
          <p:cNvSpPr/>
          <p:nvPr/>
        </p:nvSpPr>
        <p:spPr>
          <a:xfrm>
            <a:off x="6249379" y="2962789"/>
            <a:ext cx="3504486" cy="8937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Partitioning at </a:t>
            </a:r>
          </a:p>
          <a:p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last conv layer </a:t>
            </a: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(conv5)</a:t>
            </a:r>
          </a:p>
          <a:p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covers </a:t>
            </a:r>
            <a:r>
              <a:rPr lang="en-US" altLang="ko-KR" sz="1736" b="1" dirty="0">
                <a:solidFill>
                  <a:schemeClr val="accent5">
                    <a:lumMod val="50000"/>
                  </a:schemeClr>
                </a:solidFill>
              </a:rPr>
              <a:t>wide range </a:t>
            </a:r>
            <a:r>
              <a:rPr lang="en-US" altLang="ko-KR" sz="1736" dirty="0">
                <a:solidFill>
                  <a:schemeClr val="accent5">
                    <a:lumMod val="50000"/>
                  </a:schemeClr>
                </a:solidFill>
              </a:rPr>
              <a:t>of TX models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1AEBD6-0FD6-4569-A81E-DCB406621626}"/>
              </a:ext>
            </a:extLst>
          </p:cNvPr>
          <p:cNvSpPr/>
          <p:nvPr/>
        </p:nvSpPr>
        <p:spPr>
          <a:xfrm rot="16200000">
            <a:off x="4203687" y="3158891"/>
            <a:ext cx="2904065" cy="790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68">
                <a:solidFill>
                  <a:srgbClr val="C00000"/>
                </a:solidFill>
              </a:rPr>
              <a:t>Partitioning layer for</a:t>
            </a:r>
            <a:br>
              <a:rPr lang="en-US" altLang="ko-KR" sz="2268">
                <a:solidFill>
                  <a:srgbClr val="C00000"/>
                </a:solidFill>
              </a:rPr>
            </a:br>
            <a:r>
              <a:rPr lang="en-US" altLang="ko-KR" sz="2268" b="1">
                <a:solidFill>
                  <a:srgbClr val="C00000"/>
                </a:solidFill>
              </a:rPr>
              <a:t>max throughput </a:t>
            </a:r>
            <a:endParaRPr lang="ko-KR" altLang="en-US" sz="2268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60977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62BFE28-1231-4A4A-847F-7D795F5225A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9484FA0-7586-410D-A30C-EF1EE157C9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sz="2381" dirty="0"/>
              <a:t>Partitioning of OD (YOLO) Models</a:t>
            </a:r>
          </a:p>
          <a:p>
            <a:pPr>
              <a:lnSpc>
                <a:spcPct val="120000"/>
              </a:lnSpc>
            </a:pPr>
            <a:endParaRPr lang="en-US" altLang="ko-KR" sz="2381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CD91F7-41D2-41E9-83E6-48E1C3D63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dirty="0"/>
              <a:t>YOLO v2 architecture imposes difficulties for partitioning 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/>
              <a:t>Input of a layer after the split point may depend on the multiple previous layers</a:t>
            </a:r>
          </a:p>
          <a:p>
            <a:pPr>
              <a:lnSpc>
                <a:spcPct val="120000"/>
              </a:lnSpc>
            </a:pPr>
            <a:r>
              <a:rPr lang="en-US" altLang="ko-KR" sz="2000" dirty="0"/>
              <a:t>Entire edge or cloud inference is still better</a:t>
            </a:r>
          </a:p>
          <a:p>
            <a:pPr lvl="1">
              <a:lnSpc>
                <a:spcPct val="120000"/>
              </a:lnSpc>
            </a:pP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 lvl="1"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 defTabSz="583221" latinLnBrk="1">
              <a:lnSpc>
                <a:spcPct val="90000"/>
              </a:lnSpc>
              <a:spcBef>
                <a:spcPts val="638"/>
              </a:spcBef>
              <a:defRPr/>
            </a:pPr>
            <a:endParaRPr lang="ko-KR" altLang="en-US" sz="1800" dirty="0"/>
          </a:p>
        </p:txBody>
      </p:sp>
      <p:pic>
        <p:nvPicPr>
          <p:cNvPr id="2050" name="Picture 2" descr="What&amp;#39;s new in YOLO v3?. A review of the YOLO v3 object… | by Ayoosh  Kathuria | Towards Data Science">
            <a:extLst>
              <a:ext uri="{FF2B5EF4-FFF2-40B4-BE49-F238E27FC236}">
                <a16:creationId xmlns:a16="http://schemas.microsoft.com/office/drawing/2014/main" id="{5A08AA71-FD92-4530-A94A-C3DD05DC3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63" y="2571475"/>
            <a:ext cx="4649213" cy="25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5316FD9-C5C1-4EF8-9B00-DEA5E02743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99"/>
          <a:stretch/>
        </p:blipFill>
        <p:spPr>
          <a:xfrm>
            <a:off x="5330842" y="2571476"/>
            <a:ext cx="4424057" cy="25783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15A7F9-89E8-425C-AA46-4FBB7D59B9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683" t="38989" b="40347"/>
          <a:stretch/>
        </p:blipFill>
        <p:spPr>
          <a:xfrm>
            <a:off x="7071959" y="3015111"/>
            <a:ext cx="2416103" cy="10026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D84EE0-625C-4618-8B76-55197C716095}"/>
              </a:ext>
            </a:extLst>
          </p:cNvPr>
          <p:cNvSpPr txBox="1"/>
          <p:nvPr/>
        </p:nvSpPr>
        <p:spPr>
          <a:xfrm>
            <a:off x="1443860" y="5326129"/>
            <a:ext cx="93090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W.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Magalhães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 et al., Evaluating Edge-Cloud Computing Trade-Offs for Mobile Object Detection and Classification with Deep Learning, Journal of Information and Data Management, 2020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5BE3A49B-FA72-F1A9-E852-417B280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65" y="28812"/>
            <a:ext cx="9993443" cy="498750"/>
          </a:xfrm>
        </p:spPr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0922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2B52A66D-C175-40D3-BC8C-96E119C05EC1}"/>
              </a:ext>
            </a:extLst>
          </p:cNvPr>
          <p:cNvSpPr/>
          <p:nvPr/>
        </p:nvSpPr>
        <p:spPr>
          <a:xfrm>
            <a:off x="6333947" y="3436225"/>
            <a:ext cx="1172724" cy="715214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45C7EE95-F99C-4B0E-AD8E-2107F3EA87D2}"/>
              </a:ext>
            </a:extLst>
          </p:cNvPr>
          <p:cNvSpPr/>
          <p:nvPr/>
        </p:nvSpPr>
        <p:spPr>
          <a:xfrm>
            <a:off x="7713475" y="3246922"/>
            <a:ext cx="1093956" cy="1097015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8F9824DF-1612-405D-95C0-3922CB872C3B}"/>
              </a:ext>
            </a:extLst>
          </p:cNvPr>
          <p:cNvSpPr/>
          <p:nvPr/>
        </p:nvSpPr>
        <p:spPr>
          <a:xfrm>
            <a:off x="7784415" y="1964310"/>
            <a:ext cx="1015369" cy="1097015"/>
          </a:xfrm>
          <a:prstGeom prst="rect">
            <a:avLst/>
          </a:prstGeom>
          <a:noFill/>
          <a:ln w="6350"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7BC3EEC-793D-EA46-923E-1CE2286B13A1}"/>
              </a:ext>
            </a:extLst>
          </p:cNvPr>
          <p:cNvSpPr/>
          <p:nvPr/>
        </p:nvSpPr>
        <p:spPr>
          <a:xfrm>
            <a:off x="2935231" y="2303584"/>
            <a:ext cx="822411" cy="799027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05F06A-231A-2B4B-8A53-3C95D80BFCC0}"/>
              </a:ext>
            </a:extLst>
          </p:cNvPr>
          <p:cNvSpPr/>
          <p:nvPr/>
        </p:nvSpPr>
        <p:spPr>
          <a:xfrm>
            <a:off x="5425127" y="3532666"/>
            <a:ext cx="692367" cy="52552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6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ko-KR" altLang="en-US" sz="136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6EE527-61CD-1347-BB10-D17C3ED1FA11}"/>
              </a:ext>
            </a:extLst>
          </p:cNvPr>
          <p:cNvSpPr txBox="1"/>
          <p:nvPr/>
        </p:nvSpPr>
        <p:spPr>
          <a:xfrm>
            <a:off x="6442845" y="4142721"/>
            <a:ext cx="1240634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F1EC01-96DF-A740-8A28-5E5A70289B2A}"/>
              </a:ext>
            </a:extLst>
          </p:cNvPr>
          <p:cNvSpPr txBox="1"/>
          <p:nvPr/>
        </p:nvSpPr>
        <p:spPr>
          <a:xfrm>
            <a:off x="8851641" y="2359313"/>
            <a:ext cx="620440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화살표: 오른쪽 49">
            <a:extLst>
              <a:ext uri="{FF2B5EF4-FFF2-40B4-BE49-F238E27FC236}">
                <a16:creationId xmlns:a16="http://schemas.microsoft.com/office/drawing/2014/main" id="{7F2CF49E-14B7-CB40-AECB-927C24ADEF8C}"/>
              </a:ext>
            </a:extLst>
          </p:cNvPr>
          <p:cNvSpPr/>
          <p:nvPr/>
        </p:nvSpPr>
        <p:spPr>
          <a:xfrm>
            <a:off x="6162040" y="3675841"/>
            <a:ext cx="104877" cy="239177"/>
          </a:xfrm>
          <a:prstGeom prst="right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위로 굽은 화살표[B] 35">
            <a:extLst>
              <a:ext uri="{FF2B5EF4-FFF2-40B4-BE49-F238E27FC236}">
                <a16:creationId xmlns:a16="http://schemas.microsoft.com/office/drawing/2014/main" id="{2CFF80F2-395E-A942-8B36-ED213BAF0ECB}"/>
              </a:ext>
            </a:extLst>
          </p:cNvPr>
          <p:cNvSpPr/>
          <p:nvPr/>
        </p:nvSpPr>
        <p:spPr>
          <a:xfrm flipV="1">
            <a:off x="8725145" y="2627582"/>
            <a:ext cx="746937" cy="313468"/>
          </a:xfrm>
          <a:prstGeom prst="bentUp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10CF54-EEE1-C444-B116-0B72AD4FB14C}"/>
              </a:ext>
            </a:extLst>
          </p:cNvPr>
          <p:cNvSpPr txBox="1"/>
          <p:nvPr/>
        </p:nvSpPr>
        <p:spPr>
          <a:xfrm>
            <a:off x="6704594" y="1662799"/>
            <a:ext cx="919023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A54F44-E162-BA49-9D46-B1FEEB79093E}"/>
              </a:ext>
            </a:extLst>
          </p:cNvPr>
          <p:cNvSpPr txBox="1"/>
          <p:nvPr/>
        </p:nvSpPr>
        <p:spPr>
          <a:xfrm>
            <a:off x="7920168" y="1640908"/>
            <a:ext cx="873961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99E74D3-A77C-D94D-8ADC-229BAB8C9B57}"/>
              </a:ext>
            </a:extLst>
          </p:cNvPr>
          <p:cNvSpPr/>
          <p:nvPr/>
        </p:nvSpPr>
        <p:spPr>
          <a:xfrm>
            <a:off x="6402866" y="3525710"/>
            <a:ext cx="86768" cy="553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7CAF6C-58E6-0C41-8C11-FCC13BC56CA3}"/>
              </a:ext>
            </a:extLst>
          </p:cNvPr>
          <p:cNvSpPr/>
          <p:nvPr/>
        </p:nvSpPr>
        <p:spPr>
          <a:xfrm>
            <a:off x="7020303" y="3673734"/>
            <a:ext cx="89443" cy="2705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10A87B5-03E1-8245-9277-ED561DBEB64F}"/>
              </a:ext>
            </a:extLst>
          </p:cNvPr>
          <p:cNvSpPr/>
          <p:nvPr/>
        </p:nvSpPr>
        <p:spPr>
          <a:xfrm>
            <a:off x="6531755" y="3575051"/>
            <a:ext cx="84036" cy="4619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D8EF063-10E3-9942-8A51-101EB1A202B3}"/>
              </a:ext>
            </a:extLst>
          </p:cNvPr>
          <p:cNvSpPr/>
          <p:nvPr/>
        </p:nvSpPr>
        <p:spPr>
          <a:xfrm>
            <a:off x="6777125" y="3624392"/>
            <a:ext cx="86768" cy="3681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9111A4E-CA28-7B4A-BCFA-D5F4EF9B6286}"/>
              </a:ext>
            </a:extLst>
          </p:cNvPr>
          <p:cNvSpPr/>
          <p:nvPr/>
        </p:nvSpPr>
        <p:spPr>
          <a:xfrm>
            <a:off x="6901533" y="3624393"/>
            <a:ext cx="82600" cy="3681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FFED3B-F66C-EB42-8594-B557F39E1B88}"/>
              </a:ext>
            </a:extLst>
          </p:cNvPr>
          <p:cNvSpPr/>
          <p:nvPr/>
        </p:nvSpPr>
        <p:spPr>
          <a:xfrm>
            <a:off x="7140477" y="3673735"/>
            <a:ext cx="89443" cy="2705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B88953-16DF-244D-8D3D-8A10916E95A3}"/>
              </a:ext>
            </a:extLst>
          </p:cNvPr>
          <p:cNvSpPr/>
          <p:nvPr/>
        </p:nvSpPr>
        <p:spPr>
          <a:xfrm>
            <a:off x="7260580" y="3716027"/>
            <a:ext cx="81467" cy="17736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CE30910-CCAF-E24B-BCA1-2D5A46AC9E68}"/>
              </a:ext>
            </a:extLst>
          </p:cNvPr>
          <p:cNvSpPr/>
          <p:nvPr/>
        </p:nvSpPr>
        <p:spPr>
          <a:xfrm>
            <a:off x="7373971" y="3715927"/>
            <a:ext cx="81467" cy="177470"/>
          </a:xfrm>
          <a:prstGeom prst="rect">
            <a:avLst/>
          </a:prstGeom>
          <a:solidFill>
            <a:srgbClr val="7030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8319CE6-97B0-C445-8B12-CE24BD89B58D}"/>
              </a:ext>
            </a:extLst>
          </p:cNvPr>
          <p:cNvSpPr/>
          <p:nvPr/>
        </p:nvSpPr>
        <p:spPr>
          <a:xfrm>
            <a:off x="6652762" y="3575051"/>
            <a:ext cx="82600" cy="46311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BBFC444-F5F1-9846-B5F7-236790788429}"/>
              </a:ext>
            </a:extLst>
          </p:cNvPr>
          <p:cNvSpPr/>
          <p:nvPr/>
        </p:nvSpPr>
        <p:spPr>
          <a:xfrm>
            <a:off x="8231937" y="3524706"/>
            <a:ext cx="94730" cy="5618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2D4307B-B7EF-8C4C-9E53-6DC9B3316FD1}"/>
              </a:ext>
            </a:extLst>
          </p:cNvPr>
          <p:cNvSpPr/>
          <p:nvPr/>
        </p:nvSpPr>
        <p:spPr>
          <a:xfrm>
            <a:off x="8477218" y="3400705"/>
            <a:ext cx="94730" cy="8002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56E4507-8445-D14D-9199-2524775E4CB6}"/>
              </a:ext>
            </a:extLst>
          </p:cNvPr>
          <p:cNvSpPr/>
          <p:nvPr/>
        </p:nvSpPr>
        <p:spPr>
          <a:xfrm>
            <a:off x="8352840" y="3398444"/>
            <a:ext cx="94730" cy="800256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367CCF4-D0C9-2A4C-A0A1-B33E58D8F3B3}"/>
              </a:ext>
            </a:extLst>
          </p:cNvPr>
          <p:cNvSpPr/>
          <p:nvPr/>
        </p:nvSpPr>
        <p:spPr>
          <a:xfrm>
            <a:off x="8113448" y="3525706"/>
            <a:ext cx="94730" cy="56180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C0C1BCE-A70A-1646-9DC4-FBE6A4D7FD27}"/>
              </a:ext>
            </a:extLst>
          </p:cNvPr>
          <p:cNvSpPr/>
          <p:nvPr/>
        </p:nvSpPr>
        <p:spPr>
          <a:xfrm>
            <a:off x="8000625" y="3614788"/>
            <a:ext cx="94730" cy="3753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80A96BC-1F19-3A48-9BC3-309BB16F981F}"/>
              </a:ext>
            </a:extLst>
          </p:cNvPr>
          <p:cNvSpPr/>
          <p:nvPr/>
        </p:nvSpPr>
        <p:spPr>
          <a:xfrm>
            <a:off x="7881240" y="3618918"/>
            <a:ext cx="94730" cy="375379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DF755E4-EFA9-8F40-91CE-5A3B005C127D}"/>
              </a:ext>
            </a:extLst>
          </p:cNvPr>
          <p:cNvSpPr/>
          <p:nvPr/>
        </p:nvSpPr>
        <p:spPr>
          <a:xfrm>
            <a:off x="8605870" y="3313710"/>
            <a:ext cx="96532" cy="964507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A3B2CA-4DAC-6948-AB1E-329F2032FA59}"/>
              </a:ext>
            </a:extLst>
          </p:cNvPr>
          <p:cNvSpPr txBox="1"/>
          <p:nvPr/>
        </p:nvSpPr>
        <p:spPr>
          <a:xfrm>
            <a:off x="9028789" y="2972626"/>
            <a:ext cx="1273597" cy="51116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BBOXs / Labels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A113A11-A686-DA4D-BD6A-474884A71FF7}"/>
              </a:ext>
            </a:extLst>
          </p:cNvPr>
          <p:cNvSpPr/>
          <p:nvPr/>
        </p:nvSpPr>
        <p:spPr>
          <a:xfrm>
            <a:off x="448062" y="3432115"/>
            <a:ext cx="731269" cy="48656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6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ko-KR" altLang="en-US" sz="136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05F5441-C32F-F64D-B5E5-590BE47994A2}"/>
              </a:ext>
            </a:extLst>
          </p:cNvPr>
          <p:cNvSpPr/>
          <p:nvPr/>
        </p:nvSpPr>
        <p:spPr>
          <a:xfrm>
            <a:off x="1370160" y="3063616"/>
            <a:ext cx="1104651" cy="1177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E4A560D-3D6A-6E40-B8A8-79328DA49502}"/>
              </a:ext>
            </a:extLst>
          </p:cNvPr>
          <p:cNvSpPr txBox="1"/>
          <p:nvPr/>
        </p:nvSpPr>
        <p:spPr>
          <a:xfrm>
            <a:off x="1427794" y="4239739"/>
            <a:ext cx="1161083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51BB6C0-5782-234F-A733-F1B5869BC46F}"/>
              </a:ext>
            </a:extLst>
          </p:cNvPr>
          <p:cNvSpPr txBox="1"/>
          <p:nvPr/>
        </p:nvSpPr>
        <p:spPr>
          <a:xfrm>
            <a:off x="3856761" y="2434420"/>
            <a:ext cx="724109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D6C1D52-6D93-7B44-A944-4543A901044C}"/>
              </a:ext>
            </a:extLst>
          </p:cNvPr>
          <p:cNvSpPr txBox="1"/>
          <p:nvPr/>
        </p:nvSpPr>
        <p:spPr>
          <a:xfrm>
            <a:off x="4045348" y="3057997"/>
            <a:ext cx="1179170" cy="51116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BBOXs / Labels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화살표: 오른쪽 49">
            <a:extLst>
              <a:ext uri="{FF2B5EF4-FFF2-40B4-BE49-F238E27FC236}">
                <a16:creationId xmlns:a16="http://schemas.microsoft.com/office/drawing/2014/main" id="{85E6107B-0A04-0B41-B7E3-9ABDF0AA9AF7}"/>
              </a:ext>
            </a:extLst>
          </p:cNvPr>
          <p:cNvSpPr/>
          <p:nvPr/>
        </p:nvSpPr>
        <p:spPr>
          <a:xfrm>
            <a:off x="1220574" y="3564675"/>
            <a:ext cx="97101" cy="221444"/>
          </a:xfrm>
          <a:prstGeom prst="right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위로 굽은 화살표[B] 132">
            <a:extLst>
              <a:ext uri="{FF2B5EF4-FFF2-40B4-BE49-F238E27FC236}">
                <a16:creationId xmlns:a16="http://schemas.microsoft.com/office/drawing/2014/main" id="{B6E3828C-234B-FB4E-8EAB-71EE3E03889B}"/>
              </a:ext>
            </a:extLst>
          </p:cNvPr>
          <p:cNvSpPr/>
          <p:nvPr/>
        </p:nvSpPr>
        <p:spPr>
          <a:xfrm flipV="1">
            <a:off x="3820574" y="2716375"/>
            <a:ext cx="691558" cy="290227"/>
          </a:xfrm>
          <a:prstGeom prst="bentUp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6BBAC64-FEC8-AB49-B0D7-E0FD11C45A60}"/>
              </a:ext>
            </a:extLst>
          </p:cNvPr>
          <p:cNvSpPr/>
          <p:nvPr/>
        </p:nvSpPr>
        <p:spPr>
          <a:xfrm>
            <a:off x="1428333" y="3131278"/>
            <a:ext cx="83529" cy="104236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9EB1005-9DA2-7143-B337-44AEC216F0AB}"/>
              </a:ext>
            </a:extLst>
          </p:cNvPr>
          <p:cNvSpPr/>
          <p:nvPr/>
        </p:nvSpPr>
        <p:spPr>
          <a:xfrm>
            <a:off x="1999994" y="3391479"/>
            <a:ext cx="81970" cy="5201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A66EF9E-316B-6C4C-924E-889EB321BDD3}"/>
              </a:ext>
            </a:extLst>
          </p:cNvPr>
          <p:cNvSpPr/>
          <p:nvPr/>
        </p:nvSpPr>
        <p:spPr>
          <a:xfrm>
            <a:off x="1547669" y="3195804"/>
            <a:ext cx="83529" cy="89299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B5FC745-5DAA-184C-8FB5-17382D3EA113}"/>
              </a:ext>
            </a:extLst>
          </p:cNvPr>
          <p:cNvSpPr/>
          <p:nvPr/>
        </p:nvSpPr>
        <p:spPr>
          <a:xfrm>
            <a:off x="1774845" y="3268431"/>
            <a:ext cx="81970" cy="7409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6B30EB1-6F09-8B49-9DBB-3BE4044FE376}"/>
              </a:ext>
            </a:extLst>
          </p:cNvPr>
          <p:cNvSpPr/>
          <p:nvPr/>
        </p:nvSpPr>
        <p:spPr>
          <a:xfrm>
            <a:off x="1890031" y="3268431"/>
            <a:ext cx="81970" cy="740924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88F7066-F835-3F4D-AF3A-90CB8BE46CCE}"/>
              </a:ext>
            </a:extLst>
          </p:cNvPr>
          <p:cNvSpPr/>
          <p:nvPr/>
        </p:nvSpPr>
        <p:spPr>
          <a:xfrm>
            <a:off x="2111258" y="3391479"/>
            <a:ext cx="81970" cy="520147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BD04F7D-8AC6-B14D-8A50-9F875AF2A7C6}"/>
              </a:ext>
            </a:extLst>
          </p:cNvPr>
          <p:cNvSpPr/>
          <p:nvPr/>
        </p:nvSpPr>
        <p:spPr>
          <a:xfrm>
            <a:off x="2222455" y="3477779"/>
            <a:ext cx="81970" cy="3475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E0AB889-EE48-7B47-912E-B6ACEF301C33}"/>
              </a:ext>
            </a:extLst>
          </p:cNvPr>
          <p:cNvSpPr/>
          <p:nvPr/>
        </p:nvSpPr>
        <p:spPr>
          <a:xfrm>
            <a:off x="2327440" y="3479282"/>
            <a:ext cx="81970" cy="347548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69EAE54-9BB3-2547-9FDE-54D17ADBF295}"/>
              </a:ext>
            </a:extLst>
          </p:cNvPr>
          <p:cNvSpPr/>
          <p:nvPr/>
        </p:nvSpPr>
        <p:spPr>
          <a:xfrm>
            <a:off x="1659702" y="3196892"/>
            <a:ext cx="83529" cy="892997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직선 연결선[R] 89">
            <a:extLst>
              <a:ext uri="{FF2B5EF4-FFF2-40B4-BE49-F238E27FC236}">
                <a16:creationId xmlns:a16="http://schemas.microsoft.com/office/drawing/2014/main" id="{566DCA02-29BA-9540-8CD6-64AA58DCD755}"/>
              </a:ext>
            </a:extLst>
          </p:cNvPr>
          <p:cNvCxnSpPr>
            <a:cxnSpLocks/>
          </p:cNvCxnSpPr>
          <p:nvPr/>
        </p:nvCxnSpPr>
        <p:spPr>
          <a:xfrm>
            <a:off x="2771144" y="1634122"/>
            <a:ext cx="0" cy="291969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5ABCCEB-9816-3347-A6ED-F326B692270A}"/>
              </a:ext>
            </a:extLst>
          </p:cNvPr>
          <p:cNvSpPr/>
          <p:nvPr/>
        </p:nvSpPr>
        <p:spPr>
          <a:xfrm>
            <a:off x="3599691" y="2393862"/>
            <a:ext cx="74940" cy="625861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87A1AB7E-4EB3-E340-9641-186022DE48A8}"/>
              </a:ext>
            </a:extLst>
          </p:cNvPr>
          <p:cNvSpPr/>
          <p:nvPr/>
        </p:nvSpPr>
        <p:spPr>
          <a:xfrm>
            <a:off x="3419405" y="2455216"/>
            <a:ext cx="74940" cy="527280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0E4A643-B8C8-E649-BAB1-55C7412294C8}"/>
              </a:ext>
            </a:extLst>
          </p:cNvPr>
          <p:cNvSpPr/>
          <p:nvPr/>
        </p:nvSpPr>
        <p:spPr>
          <a:xfrm>
            <a:off x="3041707" y="2544419"/>
            <a:ext cx="74940" cy="348871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EF3106B-93DA-7C4C-9A01-EEA1BAE466A8}"/>
              </a:ext>
            </a:extLst>
          </p:cNvPr>
          <p:cNvSpPr/>
          <p:nvPr/>
        </p:nvSpPr>
        <p:spPr>
          <a:xfrm>
            <a:off x="3235045" y="2511271"/>
            <a:ext cx="74940" cy="415169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924D679-1947-BD43-8EF9-49B98CE1EE6F}"/>
              </a:ext>
            </a:extLst>
          </p:cNvPr>
          <p:cNvSpPr txBox="1"/>
          <p:nvPr/>
        </p:nvSpPr>
        <p:spPr>
          <a:xfrm>
            <a:off x="1868805" y="1629243"/>
            <a:ext cx="787293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B15E729-663C-074C-8BC5-17E8CE310E89}"/>
              </a:ext>
            </a:extLst>
          </p:cNvPr>
          <p:cNvSpPr txBox="1"/>
          <p:nvPr/>
        </p:nvSpPr>
        <p:spPr>
          <a:xfrm>
            <a:off x="3077807" y="1647762"/>
            <a:ext cx="858440" cy="30174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endParaRPr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슬라이드 번호 개체 틀 79">
            <a:extLst>
              <a:ext uri="{FF2B5EF4-FFF2-40B4-BE49-F238E27FC236}">
                <a16:creationId xmlns:a16="http://schemas.microsoft.com/office/drawing/2014/main" id="{84B083F7-8993-439D-96EE-5F659AFD599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1EB2260-C8A4-32FA-A563-3CAE3D394A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sz="2000" dirty="0"/>
              <a:t>Feature Reconstruction with Asymmetric Scaling</a:t>
            </a:r>
            <a:endParaRPr lang="ko-KR" altLang="en-US" sz="2000" dirty="0"/>
          </a:p>
          <a:p>
            <a:endParaRPr lang="ko-KR" altLang="en-US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9AB946D-BB3F-449D-906D-1DD4295F9AC4}"/>
              </a:ext>
            </a:extLst>
          </p:cNvPr>
          <p:cNvCxnSpPr>
            <a:cxnSpLocks/>
            <a:stCxn id="89" idx="0"/>
            <a:endCxn id="146" idx="0"/>
          </p:cNvCxnSpPr>
          <p:nvPr/>
        </p:nvCxnSpPr>
        <p:spPr>
          <a:xfrm rot="5400000" flipH="1" flipV="1">
            <a:off x="2267799" y="1827530"/>
            <a:ext cx="803030" cy="1935694"/>
          </a:xfrm>
          <a:prstGeom prst="bentConnector3">
            <a:avLst>
              <a:gd name="adj1" fmla="val 132278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988B61C-B164-4CE3-8B64-603BF1D79058}"/>
              </a:ext>
            </a:extLst>
          </p:cNvPr>
          <p:cNvSpPr/>
          <p:nvPr/>
        </p:nvSpPr>
        <p:spPr>
          <a:xfrm>
            <a:off x="7775474" y="3715927"/>
            <a:ext cx="81467" cy="177470"/>
          </a:xfrm>
          <a:prstGeom prst="rect">
            <a:avLst/>
          </a:prstGeom>
          <a:solidFill>
            <a:srgbClr val="7030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AFFE3503-EF6F-4D36-94DE-A686F01754D2}"/>
              </a:ext>
            </a:extLst>
          </p:cNvPr>
          <p:cNvSpPr/>
          <p:nvPr/>
        </p:nvSpPr>
        <p:spPr>
          <a:xfrm>
            <a:off x="8348886" y="2127471"/>
            <a:ext cx="94730" cy="800256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83E475C7-3B3F-4ED2-8200-6647837FF23D}"/>
              </a:ext>
            </a:extLst>
          </p:cNvPr>
          <p:cNvSpPr/>
          <p:nvPr/>
        </p:nvSpPr>
        <p:spPr>
          <a:xfrm>
            <a:off x="8109494" y="2254734"/>
            <a:ext cx="94730" cy="56180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E1B68C3-E21B-4F5F-8815-103178F3C7F8}"/>
              </a:ext>
            </a:extLst>
          </p:cNvPr>
          <p:cNvSpPr/>
          <p:nvPr/>
        </p:nvSpPr>
        <p:spPr>
          <a:xfrm>
            <a:off x="7877287" y="2347946"/>
            <a:ext cx="94730" cy="375379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5EBBE3A-BDF8-48F9-9125-8F9CDBC4C3F2}"/>
              </a:ext>
            </a:extLst>
          </p:cNvPr>
          <p:cNvSpPr/>
          <p:nvPr/>
        </p:nvSpPr>
        <p:spPr>
          <a:xfrm>
            <a:off x="8601916" y="2042738"/>
            <a:ext cx="96532" cy="964507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8" name="직선 연결선[R] 89">
            <a:extLst>
              <a:ext uri="{FF2B5EF4-FFF2-40B4-BE49-F238E27FC236}">
                <a16:creationId xmlns:a16="http://schemas.microsoft.com/office/drawing/2014/main" id="{3B5FDC0A-EE12-4A00-AF06-D25A6790AF0E}"/>
              </a:ext>
            </a:extLst>
          </p:cNvPr>
          <p:cNvCxnSpPr>
            <a:cxnSpLocks/>
          </p:cNvCxnSpPr>
          <p:nvPr/>
        </p:nvCxnSpPr>
        <p:spPr>
          <a:xfrm>
            <a:off x="7620902" y="1662799"/>
            <a:ext cx="0" cy="284108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0A4A77-3306-4E6C-8DFF-D6F9815D85D1}"/>
              </a:ext>
            </a:extLst>
          </p:cNvPr>
          <p:cNvSpPr txBox="1"/>
          <p:nvPr/>
        </p:nvSpPr>
        <p:spPr>
          <a:xfrm>
            <a:off x="7481300" y="4349171"/>
            <a:ext cx="1625691" cy="720582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</a:p>
          <a:p>
            <a:pPr algn="ctr"/>
            <a:r>
              <a:rPr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reconstruction</a:t>
            </a:r>
          </a:p>
          <a:p>
            <a:pPr algn="ctr"/>
            <a:r>
              <a:rPr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96A3CBB-A3B4-4D5D-936C-E021D3042FA3}"/>
              </a:ext>
            </a:extLst>
          </p:cNvPr>
          <p:cNvCxnSpPr>
            <a:cxnSpLocks/>
          </p:cNvCxnSpPr>
          <p:nvPr/>
        </p:nvCxnSpPr>
        <p:spPr>
          <a:xfrm flipV="1">
            <a:off x="8260453" y="3061325"/>
            <a:ext cx="0" cy="1780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512C7EF2-557C-4673-9454-2813F92ABEDC}"/>
              </a:ext>
            </a:extLst>
          </p:cNvPr>
          <p:cNvCxnSpPr>
            <a:cxnSpLocks/>
            <a:stCxn id="85" idx="0"/>
            <a:endCxn id="147" idx="0"/>
          </p:cNvCxnSpPr>
          <p:nvPr/>
        </p:nvCxnSpPr>
        <p:spPr>
          <a:xfrm rot="5400000" flipH="1" flipV="1">
            <a:off x="2287337" y="2098894"/>
            <a:ext cx="813216" cy="1525859"/>
          </a:xfrm>
          <a:prstGeom prst="bentConnector3">
            <a:avLst>
              <a:gd name="adj1" fmla="val 131873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10CA27C7-DB54-4173-8E2A-83AC1073A8A3}"/>
              </a:ext>
            </a:extLst>
          </p:cNvPr>
          <p:cNvCxnSpPr>
            <a:cxnSpLocks/>
            <a:stCxn id="86" idx="0"/>
            <a:endCxn id="149" idx="0"/>
          </p:cNvCxnSpPr>
          <p:nvPr/>
        </p:nvCxnSpPr>
        <p:spPr>
          <a:xfrm rot="5400000" flipH="1" flipV="1">
            <a:off x="2272274" y="2391240"/>
            <a:ext cx="880209" cy="1120272"/>
          </a:xfrm>
          <a:prstGeom prst="bentConnector3">
            <a:avLst>
              <a:gd name="adj1" fmla="val 129447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BDD68134-F028-4339-9604-32F6DE009A2F}"/>
              </a:ext>
            </a:extLst>
          </p:cNvPr>
          <p:cNvCxnSpPr>
            <a:cxnSpLocks/>
            <a:stCxn id="88" idx="0"/>
            <a:endCxn id="148" idx="0"/>
          </p:cNvCxnSpPr>
          <p:nvPr/>
        </p:nvCxnSpPr>
        <p:spPr>
          <a:xfrm rot="5400000" flipH="1" flipV="1">
            <a:off x="2256369" y="2656474"/>
            <a:ext cx="934863" cy="710752"/>
          </a:xfrm>
          <a:prstGeom prst="bentConnector3">
            <a:avLst>
              <a:gd name="adj1" fmla="val 127726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D8AFFECC-643A-4141-9FA4-A0A559AC4CEB}"/>
              </a:ext>
            </a:extLst>
          </p:cNvPr>
          <p:cNvCxnSpPr>
            <a:cxnSpLocks/>
            <a:stCxn id="46" idx="0"/>
            <a:endCxn id="179" idx="0"/>
          </p:cNvCxnSpPr>
          <p:nvPr/>
        </p:nvCxnSpPr>
        <p:spPr>
          <a:xfrm rot="5400000" flipH="1" flipV="1">
            <a:off x="7615455" y="3515176"/>
            <a:ext cx="14400" cy="401503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63B1313-A738-4CFA-B073-D3CC36555050}"/>
              </a:ext>
            </a:extLst>
          </p:cNvPr>
          <p:cNvSpPr txBox="1"/>
          <p:nvPr/>
        </p:nvSpPr>
        <p:spPr>
          <a:xfrm>
            <a:off x="1491171" y="1078804"/>
            <a:ext cx="2675182" cy="371512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814" b="1" dirty="0">
                <a:latin typeface="Arial" panose="020B0604020202020204" pitchFamily="34" charset="0"/>
                <a:cs typeface="Arial" panose="020B0604020202020204" pitchFamily="34" charset="0"/>
              </a:rPr>
              <a:t>&lt;Baseline structure&gt;</a:t>
            </a:r>
            <a:endParaRPr lang="ko-KR" altLang="en-US" sz="1814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A16D3C-24EA-42D0-84EE-A8DB868B422B}"/>
              </a:ext>
            </a:extLst>
          </p:cNvPr>
          <p:cNvSpPr txBox="1"/>
          <p:nvPr/>
        </p:nvSpPr>
        <p:spPr>
          <a:xfrm>
            <a:off x="6177230" y="1078804"/>
            <a:ext cx="2956332" cy="371512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814" b="1" dirty="0">
                <a:latin typeface="Arial" panose="020B0604020202020204" pitchFamily="34" charset="0"/>
                <a:cs typeface="Arial" panose="020B0604020202020204" pitchFamily="34" charset="0"/>
              </a:rPr>
              <a:t>&lt;Proposed structure&gt;</a:t>
            </a:r>
            <a:endParaRPr lang="ko-KR" altLang="en-US" sz="1814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0485B7-0814-4846-A80A-28E8279BA720}"/>
              </a:ext>
            </a:extLst>
          </p:cNvPr>
          <p:cNvSpPr txBox="1"/>
          <p:nvPr/>
        </p:nvSpPr>
        <p:spPr>
          <a:xfrm>
            <a:off x="5394612" y="5129931"/>
            <a:ext cx="1625691" cy="51116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Asymmetric scaling</a:t>
            </a: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2DEB55B-669B-490D-B2EE-204704221892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6207458" y="4494900"/>
            <a:ext cx="660045" cy="635031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2223F9FA-5847-45A1-B2A3-ABE10949C3AD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6207458" y="4875261"/>
            <a:ext cx="1430253" cy="254670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2D7826B9-5E60-F562-8320-1FC0B9CE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892213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4DA70-5D56-4CDD-AC9A-AE7599E22C5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4989976" y="5278072"/>
            <a:ext cx="241411" cy="265457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7AF07-4EF6-47B2-A492-EF95AB9FC47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Feature Reconstruction with Asymmetric Scaling</a:t>
            </a:r>
            <a:endParaRPr lang="ko-KR" altLang="en-US" sz="2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63D71-F13D-4DAE-8ADA-02BD6A23D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2268" dirty="0"/>
          </a:p>
        </p:txBody>
      </p:sp>
      <p:graphicFrame>
        <p:nvGraphicFramePr>
          <p:cNvPr id="48" name="차트 47">
            <a:extLst>
              <a:ext uri="{FF2B5EF4-FFF2-40B4-BE49-F238E27FC236}">
                <a16:creationId xmlns:a16="http://schemas.microsoft.com/office/drawing/2014/main" id="{497201C5-4104-2D4E-B6A4-1C8261FC0F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6849659"/>
              </p:ext>
            </p:extLst>
          </p:nvPr>
        </p:nvGraphicFramePr>
        <p:xfrm>
          <a:off x="1230885" y="1160164"/>
          <a:ext cx="7740130" cy="4363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1AF3E8-EE8E-437A-A67D-0A6D2C7385E3}"/>
              </a:ext>
            </a:extLst>
          </p:cNvPr>
          <p:cNvSpPr txBox="1"/>
          <p:nvPr/>
        </p:nvSpPr>
        <p:spPr>
          <a:xfrm rot="16200000">
            <a:off x="242607" y="2483281"/>
            <a:ext cx="1592684" cy="37151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814" dirty="0">
                <a:latin typeface="Arial" panose="020B0604020202020204" pitchFamily="34" charset="0"/>
                <a:cs typeface="Arial" panose="020B0604020202020204" pitchFamily="34" charset="0"/>
              </a:rPr>
              <a:t>Latency (</a:t>
            </a:r>
            <a:r>
              <a:rPr kumimoji="1" lang="en-US" altLang="ko-KR" sz="1814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kumimoji="1" lang="en-US" altLang="ko-KR" sz="1814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8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FB2CD-83A4-4357-B6E5-15912DB78A8B}"/>
              </a:ext>
            </a:extLst>
          </p:cNvPr>
          <p:cNvSpPr txBox="1"/>
          <p:nvPr/>
        </p:nvSpPr>
        <p:spPr>
          <a:xfrm rot="16200000">
            <a:off x="2686176" y="4113899"/>
            <a:ext cx="1008400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Partitioned (baseline)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B6199-964C-41F2-ABE3-2C463B8C3962}"/>
              </a:ext>
            </a:extLst>
          </p:cNvPr>
          <p:cNvSpPr txBox="1"/>
          <p:nvPr/>
        </p:nvSpPr>
        <p:spPr>
          <a:xfrm rot="16200000">
            <a:off x="3111695" y="4271575"/>
            <a:ext cx="1323762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(proposed)</a:t>
            </a:r>
            <a:endParaRPr kumimoji="1" lang="ko-KR" altLang="en-US" sz="136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4911E-FE86-4F0A-BB8B-460674411506}"/>
              </a:ext>
            </a:extLst>
          </p:cNvPr>
          <p:cNvSpPr txBox="1"/>
          <p:nvPr/>
        </p:nvSpPr>
        <p:spPr>
          <a:xfrm rot="16200000">
            <a:off x="5064168" y="4113899"/>
            <a:ext cx="1008400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Partitioned (baseline)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6DE03-5D79-4EBF-B5DB-E8C8AB8A8F45}"/>
              </a:ext>
            </a:extLst>
          </p:cNvPr>
          <p:cNvSpPr txBox="1"/>
          <p:nvPr/>
        </p:nvSpPr>
        <p:spPr>
          <a:xfrm rot="16200000">
            <a:off x="5489686" y="4271575"/>
            <a:ext cx="1323763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(proposed)</a:t>
            </a:r>
            <a:endParaRPr kumimoji="1" lang="ko-KR" altLang="en-US" sz="136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FF68E-1F21-4A4F-9797-509D83B365B8}"/>
              </a:ext>
            </a:extLst>
          </p:cNvPr>
          <p:cNvSpPr txBox="1"/>
          <p:nvPr/>
        </p:nvSpPr>
        <p:spPr>
          <a:xfrm rot="16200000">
            <a:off x="7424884" y="4113899"/>
            <a:ext cx="1008400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Partitioned (baseline)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862D9-80C4-4E83-BF0E-CAD1EECBC6A5}"/>
              </a:ext>
            </a:extLst>
          </p:cNvPr>
          <p:cNvSpPr txBox="1"/>
          <p:nvPr/>
        </p:nvSpPr>
        <p:spPr>
          <a:xfrm rot="16200000">
            <a:off x="7850403" y="4271575"/>
            <a:ext cx="1323763" cy="511166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(proposed)</a:t>
            </a:r>
            <a:endParaRPr kumimoji="1" lang="ko-KR" altLang="en-US" sz="136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BC4A76-F594-43F8-818A-0BA50A0B12F9}"/>
              </a:ext>
            </a:extLst>
          </p:cNvPr>
          <p:cNvSpPr txBox="1"/>
          <p:nvPr/>
        </p:nvSpPr>
        <p:spPr>
          <a:xfrm>
            <a:off x="2181976" y="4733364"/>
            <a:ext cx="1008400" cy="30174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5Mbps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DFCDA-3184-4E91-BA77-96CF19790392}"/>
              </a:ext>
            </a:extLst>
          </p:cNvPr>
          <p:cNvSpPr txBox="1"/>
          <p:nvPr/>
        </p:nvSpPr>
        <p:spPr>
          <a:xfrm>
            <a:off x="4599997" y="4718989"/>
            <a:ext cx="1008400" cy="30174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10Mbps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C2DB5C-9D95-4D9D-AC2C-F3BCA4343F2B}"/>
              </a:ext>
            </a:extLst>
          </p:cNvPr>
          <p:cNvSpPr txBox="1"/>
          <p:nvPr/>
        </p:nvSpPr>
        <p:spPr>
          <a:xfrm>
            <a:off x="6913363" y="4733363"/>
            <a:ext cx="1008400" cy="30174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/>
            <a:r>
              <a:rPr kumimoji="1" lang="en-US" altLang="ko-KR" sz="1361" dirty="0">
                <a:latin typeface="Arial" panose="020B0604020202020204" pitchFamily="34" charset="0"/>
                <a:cs typeface="Arial" panose="020B0604020202020204" pitchFamily="34" charset="0"/>
              </a:rPr>
              <a:t>20Mbps</a:t>
            </a:r>
            <a:endParaRPr kumimoji="1" lang="ko-KR" altLang="en-US" sz="136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FBA74-80AD-479E-ADD0-71A60D3EF5A0}"/>
              </a:ext>
            </a:extLst>
          </p:cNvPr>
          <p:cNvSpPr/>
          <p:nvPr/>
        </p:nvSpPr>
        <p:spPr>
          <a:xfrm>
            <a:off x="2081219" y="5005337"/>
            <a:ext cx="6486750" cy="518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36"/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C9256734-C231-9F83-B423-B082E64F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CFD4D7-878D-099D-36FE-083DB0B378BC}"/>
              </a:ext>
            </a:extLst>
          </p:cNvPr>
          <p:cNvSpPr txBox="1">
            <a:spLocks/>
          </p:cNvSpPr>
          <p:nvPr/>
        </p:nvSpPr>
        <p:spPr>
          <a:xfrm>
            <a:off x="5028944" y="5551147"/>
            <a:ext cx="164467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>
              <a:defRPr lang="ko-KR"/>
            </a:defPPr>
            <a:lvl1pPr marL="0" algn="ctr" defTabSz="777208" rtl="0" eaLnBrk="1" latinLnBrk="1" hangingPunct="1">
              <a:defRPr sz="1125" kern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388604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08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5813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16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3020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623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0227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32" algn="l" defTabSz="777208" rtl="0" eaLnBrk="1" latinLnBrk="1" hangingPunct="1"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29697" latinLnBrk="0" hangingPunct="0"/>
            <a:fld id="{86CB4B4D-7CA3-9044-876B-883B54F8677D}" type="slidenum">
              <a:rPr lang="en-US" altLang="ko-KR" kern="0" smtClean="0"/>
              <a:pPr defTabSz="1029697" latinLnBrk="0" hangingPunct="0"/>
              <a:t>34</a:t>
            </a:fld>
            <a:endParaRPr lang="en-US" altLang="ko-KR" kern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AC5E2F-E38E-9165-DB4F-59C2822D3D9B}"/>
              </a:ext>
            </a:extLst>
          </p:cNvPr>
          <p:cNvSpPr txBox="1"/>
          <p:nvPr/>
        </p:nvSpPr>
        <p:spPr>
          <a:xfrm>
            <a:off x="5109604" y="5241523"/>
            <a:ext cx="519288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J. C. Lee, Y. Kim, S. Moon and J. H. Ko, "A Reconfigurable Neural Architecture for Edge–Cloud Collaborative Real-Time Object Detection," in IEEE Internet of Things Journal, 2022, </a:t>
            </a:r>
            <a:r>
              <a:rPr lang="en" altLang="ko-KR" sz="8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" altLang="ko-KR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 10.1109/JIOT.2022.3205682.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35820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D025EF-377A-43EB-9A94-7A8ED2CBF61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2F43CC4-A25D-4598-A649-B48D77B2B481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8B72806-1E21-49EF-ABD3-9EA20FDDB3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Intermediate Feature Transmission</a:t>
            </a:r>
          </a:p>
          <a:p>
            <a:endParaRPr lang="ko-KR" altLang="en-US" sz="1871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6F0DDD2-1CF9-4ABF-A4AC-671B91D4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41" dirty="0"/>
              <a:t>Feature transmission is lossy</a:t>
            </a:r>
          </a:p>
          <a:p>
            <a:pPr lvl="1"/>
            <a:r>
              <a:rPr lang="en-US" altLang="ko-KR" sz="1871" dirty="0"/>
              <a:t>Due to bit error, packet loss, …</a:t>
            </a:r>
          </a:p>
          <a:p>
            <a:r>
              <a:rPr lang="en-US" altLang="ko-KR" sz="2041" dirty="0"/>
              <a:t>Solutions</a:t>
            </a:r>
          </a:p>
          <a:p>
            <a:pPr lvl="1"/>
            <a:r>
              <a:rPr lang="en-US" altLang="ko-KR" sz="1871" dirty="0"/>
              <a:t>Optimal partition point search under lossy environment</a:t>
            </a:r>
          </a:p>
          <a:p>
            <a:pPr lvl="1"/>
            <a:r>
              <a:rPr lang="en-US" altLang="ko-KR" sz="1871" dirty="0"/>
              <a:t>Feature loss recovery</a:t>
            </a:r>
          </a:p>
          <a:p>
            <a:pPr lvl="1"/>
            <a:r>
              <a:rPr lang="en-US" altLang="ko-KR" sz="1871" dirty="0"/>
              <a:t>Loss-augmented training</a:t>
            </a:r>
            <a:endParaRPr lang="ko-KR" altLang="en-US" sz="1871" dirty="0"/>
          </a:p>
          <a:p>
            <a:endParaRPr lang="ko-KR" altLang="en-US" sz="2268" dirty="0"/>
          </a:p>
        </p:txBody>
      </p:sp>
      <p:pic>
        <p:nvPicPr>
          <p:cNvPr id="5" name="Picture 207" descr="Shape&#10;&#10;Description automatically generated with medium confidence">
            <a:extLst>
              <a:ext uri="{FF2B5EF4-FFF2-40B4-BE49-F238E27FC236}">
                <a16:creationId xmlns:a16="http://schemas.microsoft.com/office/drawing/2014/main" id="{F57C9A84-1585-41E6-BBBA-2A6EFBB07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41" y="3020755"/>
            <a:ext cx="9130328" cy="2380314"/>
          </a:xfrm>
          <a:prstGeom prst="rect">
            <a:avLst/>
          </a:prstGeom>
        </p:spPr>
      </p:pic>
      <p:sp>
        <p:nvSpPr>
          <p:cNvPr id="2" name="제목 3">
            <a:extLst>
              <a:ext uri="{FF2B5EF4-FFF2-40B4-BE49-F238E27FC236}">
                <a16:creationId xmlns:a16="http://schemas.microsoft.com/office/drawing/2014/main" id="{C5F48705-3B8E-9124-93C9-2BEA84C5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7. Mapping &amp; Dataflow – Collaborative Inference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3F4F8-B1CC-4BC1-F06D-47FFE88719FA}"/>
              </a:ext>
            </a:extLst>
          </p:cNvPr>
          <p:cNvSpPr txBox="1"/>
          <p:nvPr/>
        </p:nvSpPr>
        <p:spPr>
          <a:xfrm>
            <a:off x="5229137" y="5273271"/>
            <a:ext cx="519288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Kim H, Choi JS, Kim J, Ko JH. A DNN partitioning framework with controlled lossy mechanisms for edge-cloud collaborative intelligence. Future Generation Computer Systems. 2024 May 1;154:426-39.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0129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/>
          <p:cNvSpPr txBox="1"/>
          <p:nvPr/>
        </p:nvSpPr>
        <p:spPr>
          <a:xfrm>
            <a:off x="437711" y="15872"/>
            <a:ext cx="3372453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1487" rIns="51487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29697" latinLnBrk="0" hangingPunct="0"/>
            <a:r>
              <a:rPr sz="1125" kern="0"/>
              <a:t>Lecture 6: Polling and Interrupt</a:t>
            </a:r>
          </a:p>
        </p:txBody>
      </p:sp>
      <p:sp>
        <p:nvSpPr>
          <p:cNvPr id="99" name="Google Shape;15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 b="1" dirty="0"/>
              <a:t>Thank you!</a:t>
            </a:r>
          </a:p>
        </p:txBody>
      </p:sp>
      <p:sp>
        <p:nvSpPr>
          <p:cNvPr id="10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36</a:t>
            </a:fld>
            <a:endParaRPr kern="0"/>
          </a:p>
        </p:txBody>
      </p:sp>
      <p:sp>
        <p:nvSpPr>
          <p:cNvPr id="101" name="Questions or comments?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r>
              <a:rPr dirty="0"/>
              <a:t>Questions or comments? </a:t>
            </a:r>
          </a:p>
        </p:txBody>
      </p:sp>
      <p:sp>
        <p:nvSpPr>
          <p:cNvPr id="102" name="Google Shape;36;p7"/>
          <p:cNvSpPr txBox="1"/>
          <p:nvPr/>
        </p:nvSpPr>
        <p:spPr>
          <a:xfrm>
            <a:off x="389920" y="3467052"/>
            <a:ext cx="5814555" cy="145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2958" tIns="102958" rIns="102958" bIns="102958">
            <a:spAutoFit/>
          </a:bodyPr>
          <a:lstStyle/>
          <a:p>
            <a:pPr defTabSz="1029697" latinLnBrk="0" hangingPunct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altLang="ko-KR" sz="1577" kern="0" dirty="0">
                <a:solidFill>
                  <a:srgbClr val="666666"/>
                </a:solidFill>
                <a:latin typeface="Raleway Bold"/>
                <a:cs typeface="Raleway Bold"/>
                <a:sym typeface="Raleway Bold"/>
              </a:rPr>
              <a:t>Jong Hwan Ko</a:t>
            </a:r>
          </a:p>
          <a:p>
            <a:pPr defTabSz="1029697" latinLnBrk="0" hangingPunct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US" altLang="ko-KR" sz="1125" kern="0" dirty="0">
              <a:solidFill>
                <a:srgbClr val="666666"/>
              </a:solidFill>
              <a:latin typeface="Raleway Bold"/>
              <a:cs typeface="Raleway Bold"/>
              <a:sym typeface="Raleway Bold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SungKyunKwan</a:t>
            </a: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 University, Korea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Department of Information and Communication Engineering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jhko@skku.edu</a:t>
            </a: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KKU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10339</TotalTime>
  <Words>2916</Words>
  <Application>Microsoft Macintosh PowerPoint</Application>
  <PresentationFormat>사용자 지정</PresentationFormat>
  <Paragraphs>869</Paragraphs>
  <Slides>36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5" baseType="lpstr">
      <vt:lpstr>NanumGothic</vt:lpstr>
      <vt:lpstr>맑은 고딕</vt:lpstr>
      <vt:lpstr>Noto Sans CJK KR Black</vt:lpstr>
      <vt:lpstr>Noto Sans CJK KR Regular</vt:lpstr>
      <vt:lpstr>Noto Sans KR Medium</vt:lpstr>
      <vt:lpstr>Noto Sans KR Regular</vt:lpstr>
      <vt:lpstr>Raleway Bold</vt:lpstr>
      <vt:lpstr>Raleway Regular</vt:lpstr>
      <vt:lpstr>Arial</vt:lpstr>
      <vt:lpstr>Calibri</vt:lpstr>
      <vt:lpstr>Calibri Light</vt:lpstr>
      <vt:lpstr>Courier New</vt:lpstr>
      <vt:lpstr>Helvetica Neue</vt:lpstr>
      <vt:lpstr>Raleway</vt:lpstr>
      <vt:lpstr>Source Sans Pro</vt:lpstr>
      <vt:lpstr>Tahoma</vt:lpstr>
      <vt:lpstr>Trebuchet MS</vt:lpstr>
      <vt:lpstr>Wingdings</vt:lpstr>
      <vt:lpstr>SKKU</vt:lpstr>
      <vt:lpstr> 미래차 부트캠프 On-device AI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7. Mapping &amp; Dataflow – Collaborative Inference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고종환</dc:creator>
  <cp:lastModifiedBy>고종환</cp:lastModifiedBy>
  <cp:revision>100</cp:revision>
  <dcterms:created xsi:type="dcterms:W3CDTF">2024-08-09T12:51:12Z</dcterms:created>
  <dcterms:modified xsi:type="dcterms:W3CDTF">2025-08-09T03:19:52Z</dcterms:modified>
</cp:coreProperties>
</file>