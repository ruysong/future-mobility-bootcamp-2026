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343" r:id="rId3"/>
    <p:sldId id="268" r:id="rId4"/>
    <p:sldId id="271" r:id="rId5"/>
    <p:sldId id="344" r:id="rId6"/>
    <p:sldId id="345" r:id="rId7"/>
    <p:sldId id="346" r:id="rId8"/>
    <p:sldId id="347" r:id="rId9"/>
    <p:sldId id="348" r:id="rId10"/>
    <p:sldId id="285" r:id="rId11"/>
    <p:sldId id="288" r:id="rId12"/>
    <p:sldId id="296" r:id="rId13"/>
    <p:sldId id="331" r:id="rId14"/>
    <p:sldId id="350" r:id="rId15"/>
    <p:sldId id="313" r:id="rId16"/>
    <p:sldId id="305" r:id="rId17"/>
    <p:sldId id="308" r:id="rId18"/>
    <p:sldId id="310" r:id="rId19"/>
    <p:sldId id="315" r:id="rId20"/>
    <p:sldId id="349" r:id="rId21"/>
    <p:sldId id="352" r:id="rId22"/>
    <p:sldId id="260" r:id="rId23"/>
  </p:sldIdLst>
  <p:sldSz cx="10367963" cy="5832475"/>
  <p:notesSz cx="6858000" cy="9144000"/>
  <p:defaultTextStyle>
    <a:defPPr>
      <a:defRPr lang="ko-KR"/>
    </a:defPPr>
    <a:lvl1pPr marL="0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1pPr>
    <a:lvl2pPr marL="388604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2pPr>
    <a:lvl3pPr marL="777208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3pPr>
    <a:lvl4pPr marL="1165813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4pPr>
    <a:lvl5pPr marL="1554416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5pPr>
    <a:lvl6pPr marL="1943020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6pPr>
    <a:lvl7pPr marL="2331623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7pPr>
    <a:lvl8pPr marL="2720227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8pPr>
    <a:lvl9pPr marL="3108832" algn="l" defTabSz="777208" rtl="0" eaLnBrk="1" latinLnBrk="1" hangingPunct="1">
      <a:defRPr sz="15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8F00"/>
    <a:srgbClr val="EDEDED"/>
    <a:srgbClr val="FF2600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792"/>
    <p:restoredTop sz="83782"/>
  </p:normalViewPr>
  <p:slideViewPr>
    <p:cSldViewPr snapToGrid="0">
      <p:cViewPr varScale="1">
        <p:scale>
          <a:sx n="59" d="100"/>
          <a:sy n="59" d="100"/>
        </p:scale>
        <p:origin x="192" y="92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849FB-297F-7B42-8ED7-99C4FA76502A}" type="datetimeFigureOut">
              <a:rPr kumimoji="1" lang="ko-KR" altLang="en-US" smtClean="0"/>
              <a:t>2025. 8. 5.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049E4-ABA9-D647-BBC8-EAC091E4C2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2204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1pPr>
    <a:lvl2pPr marL="388604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2pPr>
    <a:lvl3pPr marL="777208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3pPr>
    <a:lvl4pPr marL="1165813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4pPr>
    <a:lvl5pPr marL="1554416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5pPr>
    <a:lvl6pPr marL="1943020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6pPr>
    <a:lvl7pPr marL="2331623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7pPr>
    <a:lvl8pPr marL="2720227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8pPr>
    <a:lvl9pPr marL="3108832" algn="l" defTabSz="777208" rtl="0" eaLnBrk="1" latinLnBrk="1" hangingPunct="1">
      <a:defRPr sz="10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dirty="0"/>
          </a:p>
        </p:txBody>
      </p:sp>
    </p:spTree>
    <p:extLst>
      <p:ext uri="{BB962C8B-B14F-4D97-AF65-F5344CB8AC3E}">
        <p14:creationId xmlns:p14="http://schemas.microsoft.com/office/powerpoint/2010/main" val="1598414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049E4-ABA9-D647-BBC8-EAC091E4C269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8370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b="1" dirty="0" err="1"/>
              <a:t>프루닝으로</a:t>
            </a:r>
            <a:r>
              <a:rPr lang="ko-KR" altLang="en-US" b="1" dirty="0"/>
              <a:t> 파라미터가 크게 줄어들어도</a:t>
            </a:r>
            <a:r>
              <a:rPr lang="en-US" altLang="ko-KR" b="1" dirty="0"/>
              <a:t>, </a:t>
            </a:r>
            <a:r>
              <a:rPr lang="en" altLang="ko-KR" b="1" dirty="0"/>
              <a:t>MAC </a:t>
            </a:r>
            <a:r>
              <a:rPr lang="ko-KR" altLang="en-US" b="1" dirty="0" err="1"/>
              <a:t>연산량</a:t>
            </a:r>
            <a:r>
              <a:rPr lang="en-US" altLang="ko-KR" b="1" dirty="0"/>
              <a:t>(</a:t>
            </a:r>
            <a:r>
              <a:rPr lang="ko-KR" altLang="en-US" b="1" dirty="0"/>
              <a:t>곱셈</a:t>
            </a:r>
            <a:r>
              <a:rPr lang="en-US" altLang="ko-KR" b="1" dirty="0"/>
              <a:t>-</a:t>
            </a:r>
            <a:r>
              <a:rPr lang="ko-KR" altLang="en-US" b="1" dirty="0"/>
              <a:t>덧셈 연산</a:t>
            </a:r>
            <a:r>
              <a:rPr lang="en-US" altLang="ko-KR" b="1" dirty="0"/>
              <a:t>)</a:t>
            </a:r>
            <a:r>
              <a:rPr lang="ko-KR" altLang="en-US" b="1" dirty="0"/>
              <a:t>이 같은 비율로 줄어들지 않는 이유</a:t>
            </a:r>
            <a:r>
              <a:rPr lang="ko-KR" altLang="en-US" dirty="0"/>
              <a:t>는 다음과 같은 요인들 때문입니다</a:t>
            </a:r>
            <a:r>
              <a:rPr lang="en-US" altLang="ko-KR" dirty="0"/>
              <a:t>:</a:t>
            </a:r>
          </a:p>
          <a:p>
            <a:pPr>
              <a:buNone/>
            </a:pPr>
            <a:r>
              <a:rPr lang="en-US" altLang="ko-KR" dirty="0"/>
              <a:t>1. </a:t>
            </a:r>
            <a:r>
              <a:rPr lang="ko-KR" altLang="en-US" b="1" dirty="0" err="1"/>
              <a:t>언스트럭처드</a:t>
            </a:r>
            <a:r>
              <a:rPr lang="en-US" altLang="ko-KR" b="1" dirty="0"/>
              <a:t>(</a:t>
            </a:r>
            <a:r>
              <a:rPr lang="en" altLang="ko-KR" b="1" dirty="0"/>
              <a:t>unstructured) vs. </a:t>
            </a:r>
            <a:r>
              <a:rPr lang="ko-KR" altLang="en-US" b="1" dirty="0" err="1"/>
              <a:t>스트럭처드</a:t>
            </a:r>
            <a:r>
              <a:rPr lang="en-US" altLang="ko-KR" b="1" dirty="0"/>
              <a:t>(</a:t>
            </a:r>
            <a:r>
              <a:rPr lang="en" altLang="ko-KR" b="1" dirty="0"/>
              <a:t>structured) </a:t>
            </a:r>
            <a:r>
              <a:rPr lang="ko-KR" altLang="en-US" b="1" dirty="0" err="1"/>
              <a:t>프루닝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 err="1"/>
              <a:t>언스트럭처드</a:t>
            </a:r>
            <a:r>
              <a:rPr lang="ko-KR" altLang="en-US" dirty="0"/>
              <a:t> </a:t>
            </a:r>
            <a:r>
              <a:rPr lang="ko-KR" altLang="en-US" dirty="0" err="1"/>
              <a:t>프루닝</a:t>
            </a:r>
            <a:r>
              <a:rPr lang="en-US" altLang="ko-KR" dirty="0"/>
              <a:t>(</a:t>
            </a:r>
            <a:r>
              <a:rPr lang="ko-KR" altLang="en-US" dirty="0"/>
              <a:t>개별 가중치를 </a:t>
            </a:r>
            <a:r>
              <a:rPr lang="en-US" altLang="ko-KR" dirty="0"/>
              <a:t>0</a:t>
            </a:r>
            <a:r>
              <a:rPr lang="ko-KR" altLang="en-US" dirty="0" err="1"/>
              <a:t>으로</a:t>
            </a:r>
            <a:r>
              <a:rPr lang="ko-KR" altLang="en-US" dirty="0"/>
              <a:t> 만드는 방식</a:t>
            </a:r>
            <a:r>
              <a:rPr lang="en-US" altLang="ko-KR" dirty="0"/>
              <a:t>)</a:t>
            </a:r>
            <a:r>
              <a:rPr lang="ko-KR" altLang="en-US" dirty="0"/>
              <a:t>에서는 실제 계산 그래프가 동일한 형태를 유지하므로</a:t>
            </a:r>
            <a:r>
              <a:rPr lang="en-US" altLang="ko-KR" dirty="0"/>
              <a:t>, </a:t>
            </a:r>
            <a:r>
              <a:rPr lang="ko-KR" altLang="en-US" dirty="0"/>
              <a:t>하드웨어 관점에서는 여전히 모든 연산을 수행해야 하는 경우가 많습니다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반면 </a:t>
            </a:r>
            <a:r>
              <a:rPr lang="ko-KR" altLang="en-US" dirty="0" err="1"/>
              <a:t>스트럭처드</a:t>
            </a:r>
            <a:r>
              <a:rPr lang="ko-KR" altLang="en-US" dirty="0"/>
              <a:t> </a:t>
            </a:r>
            <a:r>
              <a:rPr lang="ko-KR" altLang="en-US" dirty="0" err="1"/>
              <a:t>프루닝</a:t>
            </a:r>
            <a:r>
              <a:rPr lang="en-US" altLang="ko-KR" dirty="0"/>
              <a:t>(</a:t>
            </a:r>
            <a:r>
              <a:rPr lang="ko-KR" altLang="en-US" dirty="0"/>
              <a:t>필터 단위</a:t>
            </a:r>
            <a:r>
              <a:rPr lang="en-US" altLang="ko-KR" dirty="0"/>
              <a:t>, </a:t>
            </a:r>
            <a:r>
              <a:rPr lang="ko-KR" altLang="en-US" dirty="0"/>
              <a:t>채널 단위 제거 등</a:t>
            </a:r>
            <a:r>
              <a:rPr lang="en-US" altLang="ko-KR" dirty="0"/>
              <a:t>)</a:t>
            </a:r>
            <a:r>
              <a:rPr lang="ko-KR" altLang="en-US" dirty="0"/>
              <a:t>은 네트워크 구조 자체를 바꾸기 때문에 </a:t>
            </a:r>
            <a:r>
              <a:rPr lang="en" altLang="ko-KR" dirty="0"/>
              <a:t>MAC </a:t>
            </a:r>
            <a:r>
              <a:rPr lang="ko-KR" altLang="en-US" dirty="0" err="1"/>
              <a:t>연산량도</a:t>
            </a:r>
            <a:r>
              <a:rPr lang="ko-KR" altLang="en-US" dirty="0"/>
              <a:t> 더 크게 줄일 수 있습니다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2. </a:t>
            </a:r>
            <a:r>
              <a:rPr lang="ko-KR" altLang="en-US" b="1" dirty="0"/>
              <a:t>레이어별 연산 비중 차이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파라미터가 많이 줄어든 레이어가 실제 연산 비중이 낮은 레이어일 수 있습니다</a:t>
            </a:r>
            <a:r>
              <a:rPr lang="en-US" altLang="ko-KR" dirty="0"/>
              <a:t>. </a:t>
            </a: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en" altLang="ko-KR" dirty="0"/>
              <a:t>Fully-Connected </a:t>
            </a:r>
            <a:r>
              <a:rPr lang="ko-KR" altLang="en-US" dirty="0"/>
              <a:t>레이어에서 파라미터가 대거 줄어도</a:t>
            </a:r>
            <a:r>
              <a:rPr lang="en-US" altLang="ko-KR" dirty="0"/>
              <a:t>, </a:t>
            </a:r>
            <a:r>
              <a:rPr lang="en" altLang="ko-KR" dirty="0"/>
              <a:t>CNN</a:t>
            </a:r>
            <a:r>
              <a:rPr lang="ko-KR" altLang="en-US" dirty="0"/>
              <a:t>의 </a:t>
            </a:r>
            <a:r>
              <a:rPr lang="ko-KR" altLang="en-US" dirty="0" err="1"/>
              <a:t>연산량은</a:t>
            </a:r>
            <a:r>
              <a:rPr lang="ko-KR" altLang="en-US" dirty="0"/>
              <a:t> 대부분 </a:t>
            </a:r>
            <a:r>
              <a:rPr lang="ko-KR" altLang="en-US" dirty="0" err="1"/>
              <a:t>합성곱</a:t>
            </a:r>
            <a:r>
              <a:rPr lang="en-US" altLang="ko-KR" dirty="0"/>
              <a:t>(</a:t>
            </a:r>
            <a:r>
              <a:rPr lang="en" altLang="ko-KR" dirty="0"/>
              <a:t>Convolution) </a:t>
            </a:r>
            <a:r>
              <a:rPr lang="ko-KR" altLang="en-US" dirty="0"/>
              <a:t>레이어에 집중되어 있을 수 있습니다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파라미터가 크게 줄어든 레이어가 전체 </a:t>
            </a:r>
            <a:r>
              <a:rPr lang="en" altLang="ko-KR" dirty="0"/>
              <a:t>MAC </a:t>
            </a:r>
            <a:r>
              <a:rPr lang="ko-KR" altLang="en-US" dirty="0" err="1"/>
              <a:t>연산량에서</a:t>
            </a:r>
            <a:r>
              <a:rPr lang="ko-KR" altLang="en-US" dirty="0"/>
              <a:t> 차지하는 비율이 작다면</a:t>
            </a:r>
            <a:r>
              <a:rPr lang="en-US" altLang="ko-KR" dirty="0"/>
              <a:t>, </a:t>
            </a:r>
            <a:r>
              <a:rPr lang="en" altLang="ko-KR" dirty="0"/>
              <a:t>MAC </a:t>
            </a:r>
            <a:r>
              <a:rPr lang="ko-KR" altLang="en-US" dirty="0"/>
              <a:t>감소 비율은 상대적으로 작아집니다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3. </a:t>
            </a:r>
            <a:r>
              <a:rPr lang="ko-KR" altLang="en-US" b="1" dirty="0"/>
              <a:t>네트워크 구조 및 활성화 크기</a:t>
            </a:r>
            <a:r>
              <a:rPr lang="en-US" altLang="ko-KR" b="1" dirty="0"/>
              <a:t>(</a:t>
            </a:r>
            <a:r>
              <a:rPr lang="en" altLang="ko-KR" b="1" dirty="0"/>
              <a:t>Feature map size)</a:t>
            </a:r>
            <a:endParaRPr lang="en" altLang="ko-KR" dirty="0"/>
          </a:p>
          <a:p>
            <a:pPr>
              <a:buNone/>
            </a:pPr>
            <a:r>
              <a:rPr lang="en" altLang="ko-KR" dirty="0"/>
              <a:t>• MAC </a:t>
            </a:r>
            <a:r>
              <a:rPr lang="ko-KR" altLang="en-US" dirty="0" err="1"/>
              <a:t>연산량은</a:t>
            </a:r>
            <a:r>
              <a:rPr lang="ko-KR" altLang="en-US" dirty="0"/>
              <a:t> 단순히 가중치 수에만 의존하는 것이 아니라</a:t>
            </a:r>
            <a:r>
              <a:rPr lang="en-US" altLang="ko-KR" dirty="0"/>
              <a:t>, </a:t>
            </a:r>
            <a:r>
              <a:rPr lang="ko-KR" altLang="en-US" dirty="0"/>
              <a:t>입력</a:t>
            </a:r>
            <a:r>
              <a:rPr lang="en-US" altLang="ko-KR" dirty="0"/>
              <a:t>/</a:t>
            </a:r>
            <a:r>
              <a:rPr lang="ko-KR" altLang="en-US" dirty="0"/>
              <a:t>출력 활성화</a:t>
            </a:r>
            <a:r>
              <a:rPr lang="en-US" altLang="ko-KR" dirty="0"/>
              <a:t>(</a:t>
            </a:r>
            <a:r>
              <a:rPr lang="en" altLang="ko-KR" dirty="0"/>
              <a:t>feature map)</a:t>
            </a:r>
            <a:r>
              <a:rPr lang="ko-KR" altLang="en-US" dirty="0"/>
              <a:t>의 크기에도 영향을 받습니다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• </a:t>
            </a:r>
            <a:r>
              <a:rPr lang="ko-KR" altLang="en-US" dirty="0"/>
              <a:t>특정 레이어에서 파라미터가 많이 줄어도</a:t>
            </a:r>
            <a:r>
              <a:rPr lang="en-US" altLang="ko-KR" dirty="0"/>
              <a:t>, </a:t>
            </a:r>
            <a:r>
              <a:rPr lang="ko-KR" altLang="en-US" dirty="0"/>
              <a:t>그 레이어의 입력</a:t>
            </a:r>
            <a:r>
              <a:rPr lang="en-US" altLang="ko-KR" dirty="0"/>
              <a:t>/</a:t>
            </a:r>
            <a:r>
              <a:rPr lang="ko-KR" altLang="en-US" dirty="0"/>
              <a:t>출력 크기가 그대로라면 </a:t>
            </a:r>
            <a:r>
              <a:rPr lang="ko-KR" altLang="en-US" dirty="0" err="1"/>
              <a:t>연산량은</a:t>
            </a:r>
            <a:r>
              <a:rPr lang="ko-KR" altLang="en-US" dirty="0"/>
              <a:t> 기대만큼 줄지 않을 수 있습니다</a:t>
            </a:r>
            <a:r>
              <a:rPr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049E4-ABA9-D647-BBC8-EAC091E4C269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208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원래 저장 공간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en" altLang="ko-KR" dirty="0"/>
              <a:t>weight × 32</a:t>
            </a:r>
            <a:r>
              <a:rPr lang="ko-KR" altLang="en-US" dirty="0"/>
              <a:t>비트 </a:t>
            </a:r>
            <a:r>
              <a:rPr lang="en-US" altLang="ko-KR" dirty="0"/>
              <a:t>= 128</a:t>
            </a:r>
            <a:r>
              <a:rPr lang="ko-KR" altLang="en-US" dirty="0"/>
              <a:t>비트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en-US" altLang="ko-KR" b="1" dirty="0"/>
              <a:t>2:4 </a:t>
            </a:r>
            <a:r>
              <a:rPr lang="ko-KR" altLang="en-US" b="1" dirty="0" err="1"/>
              <a:t>스파스티</a:t>
            </a:r>
            <a:r>
              <a:rPr lang="ko-KR" altLang="en-US" b="1" dirty="0"/>
              <a:t> 적용 후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en" altLang="ko-KR" dirty="0"/>
              <a:t>non-zero weight × 32</a:t>
            </a:r>
            <a:r>
              <a:rPr lang="ko-KR" altLang="en-US" dirty="0"/>
              <a:t>비트 </a:t>
            </a:r>
            <a:r>
              <a:rPr lang="en-US" altLang="ko-KR" dirty="0"/>
              <a:t>= 64</a:t>
            </a:r>
            <a:r>
              <a:rPr lang="ko-KR" altLang="en-US" dirty="0"/>
              <a:t>비트</a:t>
            </a:r>
          </a:p>
          <a:p>
            <a:pPr>
              <a:buNone/>
            </a:pPr>
            <a:r>
              <a:rPr lang="en-US" altLang="ko-KR" dirty="0"/>
              <a:t>• 4</a:t>
            </a:r>
            <a:r>
              <a:rPr lang="ko-KR" altLang="en-US" dirty="0"/>
              <a:t>개 그룹 내에서 </a:t>
            </a:r>
            <a:r>
              <a:rPr lang="en-US" altLang="ko-KR" dirty="0"/>
              <a:t>2</a:t>
            </a:r>
            <a:r>
              <a:rPr lang="ko-KR" altLang="en-US" dirty="0"/>
              <a:t>개의 위치를 나타내기 위해 </a:t>
            </a:r>
            <a:r>
              <a:rPr lang="en-US" altLang="ko-KR" dirty="0"/>
              <a:t>2</a:t>
            </a:r>
            <a:r>
              <a:rPr lang="ko-KR" altLang="en-US" dirty="0"/>
              <a:t>비트의 인덱스 저장 → 총 </a:t>
            </a:r>
            <a:r>
              <a:rPr lang="en-US" altLang="ko-KR" dirty="0"/>
              <a:t>2</a:t>
            </a:r>
            <a:r>
              <a:rPr lang="ko-KR" altLang="en-US" dirty="0"/>
              <a:t>비트</a:t>
            </a:r>
          </a:p>
          <a:p>
            <a:r>
              <a:rPr lang="en-US" altLang="ko-KR" dirty="0"/>
              <a:t>• </a:t>
            </a:r>
            <a:r>
              <a:rPr lang="ko-KR" altLang="en-US" b="1" dirty="0"/>
              <a:t>총 저장 공간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64</a:t>
            </a:r>
            <a:r>
              <a:rPr lang="ko-KR" altLang="en-US" dirty="0"/>
              <a:t>비트 </a:t>
            </a:r>
            <a:r>
              <a:rPr lang="en-US" altLang="ko-KR" dirty="0"/>
              <a:t>+ 2</a:t>
            </a:r>
            <a:r>
              <a:rPr lang="ko-KR" altLang="en-US" dirty="0"/>
              <a:t>비트 </a:t>
            </a:r>
            <a:r>
              <a:rPr lang="en-US" altLang="ko-KR" dirty="0"/>
              <a:t>= 66</a:t>
            </a:r>
            <a:r>
              <a:rPr lang="ko-KR" altLang="en-US" dirty="0"/>
              <a:t>비트</a:t>
            </a:r>
          </a:p>
          <a:p>
            <a:endParaRPr kumimoji="1" lang="en-US" altLang="ko-KR" dirty="0"/>
          </a:p>
          <a:p>
            <a:pPr>
              <a:buNone/>
            </a:pPr>
            <a:r>
              <a:rPr lang="en" altLang="ko-KR" dirty="0"/>
              <a:t>3:8 sparsity</a:t>
            </a:r>
            <a:r>
              <a:rPr lang="ko-KR" altLang="en-US" dirty="0" err="1"/>
              <a:t>를</a:t>
            </a:r>
            <a:r>
              <a:rPr lang="ko-KR" altLang="en-US" dirty="0"/>
              <a:t> 가정하면</a:t>
            </a:r>
            <a:r>
              <a:rPr lang="en-US" altLang="ko-KR" dirty="0"/>
              <a:t>, </a:t>
            </a:r>
            <a:r>
              <a:rPr lang="ko-KR" altLang="en-US" dirty="0"/>
              <a:t>각 블록마다 </a:t>
            </a:r>
            <a:r>
              <a:rPr lang="en-US" altLang="ko-KR" dirty="0"/>
              <a:t>8</a:t>
            </a:r>
            <a:r>
              <a:rPr lang="ko-KR" altLang="en-US" dirty="0"/>
              <a:t>개의 가중치가 원래 저장되는데</a:t>
            </a:r>
            <a:r>
              <a:rPr lang="en-US" altLang="ko-KR" dirty="0"/>
              <a:t>, 32</a:t>
            </a:r>
            <a:r>
              <a:rPr lang="ko-KR" altLang="en-US" dirty="0"/>
              <a:t>비트 기준으로 계산하면</a:t>
            </a:r>
            <a:r>
              <a:rPr lang="en-US" altLang="ko-KR" dirty="0"/>
              <a:t>: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원래 저장 공간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8 × 32</a:t>
            </a:r>
            <a:r>
              <a:rPr lang="ko-KR" altLang="en-US" dirty="0"/>
              <a:t>비트 </a:t>
            </a:r>
            <a:r>
              <a:rPr lang="en-US" altLang="ko-KR" dirty="0"/>
              <a:t>= 256</a:t>
            </a:r>
            <a:r>
              <a:rPr lang="ko-KR" altLang="en-US" dirty="0"/>
              <a:t>비트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 err="1"/>
              <a:t>프루닝</a:t>
            </a:r>
            <a:r>
              <a:rPr lang="ko-KR" altLang="en-US" b="1" dirty="0"/>
              <a:t> 후 저장 공간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en" altLang="ko-KR" dirty="0"/>
              <a:t>Non-zero </a:t>
            </a:r>
            <a:r>
              <a:rPr lang="ko-KR" altLang="en-US" dirty="0"/>
              <a:t>가중치</a:t>
            </a:r>
            <a:r>
              <a:rPr lang="en-US" altLang="ko-KR" dirty="0"/>
              <a:t>: 3 × 32</a:t>
            </a:r>
            <a:r>
              <a:rPr lang="ko-KR" altLang="en-US" dirty="0"/>
              <a:t>비트 </a:t>
            </a:r>
            <a:r>
              <a:rPr lang="en-US" altLang="ko-KR" dirty="0"/>
              <a:t>= 96</a:t>
            </a:r>
            <a:r>
              <a:rPr lang="ko-KR" altLang="en-US" dirty="0"/>
              <a:t>비트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인덱스</a:t>
            </a:r>
            <a:r>
              <a:rPr lang="en-US" altLang="ko-KR" dirty="0"/>
              <a:t>: </a:t>
            </a:r>
            <a:r>
              <a:rPr lang="ko-KR" altLang="en-US" dirty="0"/>
              <a:t>각 블록 내 </a:t>
            </a:r>
            <a:r>
              <a:rPr lang="en-US" altLang="ko-KR" dirty="0"/>
              <a:t>8</a:t>
            </a:r>
            <a:r>
              <a:rPr lang="ko-KR" altLang="en-US" dirty="0"/>
              <a:t>개 중 어느 위치가 </a:t>
            </a:r>
            <a:r>
              <a:rPr lang="en" altLang="ko-KR" dirty="0"/>
              <a:t>non-zero</a:t>
            </a:r>
            <a:r>
              <a:rPr lang="ko-KR" altLang="en-US" dirty="0"/>
              <a:t>인지 나타내야 하므로</a:t>
            </a:r>
            <a:r>
              <a:rPr lang="en-US" altLang="ko-KR" dirty="0"/>
              <a:t>, </a:t>
            </a:r>
            <a:r>
              <a:rPr lang="ko-KR" altLang="en-US" dirty="0"/>
              <a:t>각 인덱스에 </a:t>
            </a:r>
            <a:r>
              <a:rPr lang="en-US" altLang="ko-KR" dirty="0"/>
              <a:t>3</a:t>
            </a:r>
            <a:r>
              <a:rPr lang="ko-KR" altLang="en-US" dirty="0"/>
              <a:t>비트</a:t>
            </a:r>
            <a:r>
              <a:rPr lang="en-US" altLang="ko-KR" dirty="0"/>
              <a:t>(</a:t>
            </a:r>
            <a:r>
              <a:rPr lang="ko-KR" altLang="en-US" dirty="0"/>
              <a:t>왜냐하면 </a:t>
            </a:r>
            <a:r>
              <a:rPr lang="en" altLang="ko-KR" dirty="0"/>
              <a:t>log₂(8) = 3)</a:t>
            </a:r>
            <a:r>
              <a:rPr lang="ko-KR" altLang="en-US" dirty="0"/>
              <a:t>가 필요합니다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→ 3 </a:t>
            </a:r>
            <a:r>
              <a:rPr lang="en" altLang="ko-KR" dirty="0"/>
              <a:t>non-zero</a:t>
            </a:r>
            <a:r>
              <a:rPr lang="ko-KR" altLang="en-US" dirty="0"/>
              <a:t>이므로</a:t>
            </a:r>
            <a:r>
              <a:rPr lang="en-US" altLang="ko-KR" dirty="0"/>
              <a:t>, 3 × 3</a:t>
            </a:r>
            <a:r>
              <a:rPr lang="ko-KR" altLang="en-US" dirty="0"/>
              <a:t>비트 </a:t>
            </a:r>
            <a:r>
              <a:rPr lang="en-US" altLang="ko-KR" dirty="0"/>
              <a:t>= 9</a:t>
            </a:r>
            <a:r>
              <a:rPr lang="ko-KR" altLang="en-US" dirty="0"/>
              <a:t>비트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총 저장 공간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96</a:t>
            </a:r>
            <a:r>
              <a:rPr lang="ko-KR" altLang="en-US" dirty="0"/>
              <a:t>비트 </a:t>
            </a:r>
            <a:r>
              <a:rPr lang="en-US" altLang="ko-KR" dirty="0"/>
              <a:t>+ 9</a:t>
            </a:r>
            <a:r>
              <a:rPr lang="ko-KR" altLang="en-US" dirty="0"/>
              <a:t>비트 </a:t>
            </a:r>
            <a:r>
              <a:rPr lang="en-US" altLang="ko-KR" dirty="0"/>
              <a:t>= 105</a:t>
            </a:r>
            <a:r>
              <a:rPr lang="ko-KR" altLang="en-US" dirty="0"/>
              <a:t>비트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저장 공간 감소 비율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105</a:t>
            </a:r>
            <a:r>
              <a:rPr lang="ko-KR" altLang="en-US" dirty="0"/>
              <a:t>비트 </a:t>
            </a:r>
            <a:r>
              <a:rPr lang="en-US" altLang="ko-KR" dirty="0"/>
              <a:t>/ 256</a:t>
            </a:r>
            <a:r>
              <a:rPr lang="ko-KR" altLang="en-US" dirty="0"/>
              <a:t>비트 ≈ </a:t>
            </a:r>
            <a:r>
              <a:rPr lang="en-US" altLang="ko-KR" dirty="0"/>
              <a:t>41%</a:t>
            </a:r>
          </a:p>
          <a:p>
            <a:pPr>
              <a:buNone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원래 공간의 약 </a:t>
            </a:r>
            <a:r>
              <a:rPr lang="en-US" altLang="ko-KR" dirty="0"/>
              <a:t>41%</a:t>
            </a:r>
            <a:r>
              <a:rPr lang="ko-KR" altLang="en-US" dirty="0"/>
              <a:t>만 사용하게 되어</a:t>
            </a:r>
            <a:r>
              <a:rPr lang="en-US" altLang="ko-KR" dirty="0"/>
              <a:t>, </a:t>
            </a:r>
            <a:r>
              <a:rPr lang="ko-KR" altLang="en-US" dirty="0"/>
              <a:t>약 </a:t>
            </a:r>
            <a:r>
              <a:rPr lang="en-US" altLang="ko-KR" dirty="0"/>
              <a:t>59% </a:t>
            </a:r>
            <a:r>
              <a:rPr lang="ko-KR" altLang="en-US" dirty="0"/>
              <a:t>정도의 저장 공간 절감 효과를 얻을 수 있습니다</a:t>
            </a:r>
            <a:r>
              <a:rPr lang="en-US" altLang="ko-KR" dirty="0"/>
              <a:t>.</a:t>
            </a:r>
          </a:p>
          <a:p>
            <a:pPr>
              <a:buNone/>
            </a:pP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이렇게 </a:t>
            </a:r>
            <a:r>
              <a:rPr lang="en-US" altLang="ko-KR" dirty="0"/>
              <a:t>3:8 </a:t>
            </a:r>
            <a:r>
              <a:rPr lang="en" altLang="ko-KR" dirty="0"/>
              <a:t>sparsity</a:t>
            </a:r>
            <a:r>
              <a:rPr lang="ko-KR" altLang="en-US" dirty="0"/>
              <a:t>에서는 인덱스 저장 오버헤드도 고려하면</a:t>
            </a:r>
            <a:r>
              <a:rPr lang="en-US" altLang="ko-KR" dirty="0"/>
              <a:t>, </a:t>
            </a:r>
            <a:r>
              <a:rPr lang="ko-KR" altLang="en-US" dirty="0"/>
              <a:t>실제 저장 공간은 이론적인 </a:t>
            </a:r>
            <a:r>
              <a:rPr lang="en" altLang="ko-KR" dirty="0"/>
              <a:t>non-zero </a:t>
            </a:r>
            <a:r>
              <a:rPr lang="ko-KR" altLang="en-US" dirty="0"/>
              <a:t>비율</a:t>
            </a:r>
            <a:r>
              <a:rPr lang="en-US" altLang="ko-KR" dirty="0"/>
              <a:t>(37.5%, 3/8)</a:t>
            </a:r>
            <a:r>
              <a:rPr lang="ko-KR" altLang="en-US" dirty="0"/>
              <a:t>보다는 다소 높아지게 됩니다</a:t>
            </a:r>
            <a:r>
              <a:rPr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049E4-ABA9-D647-BBC8-EAC091E4C269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0555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a32548943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6a32548943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bc6fc37659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c6fc37659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각 </a:t>
            </a:r>
            <a:r>
              <a:rPr kumimoji="1" lang="en-US" altLang="ko-KR" dirty="0"/>
              <a:t>row </a:t>
            </a:r>
            <a:r>
              <a:rPr kumimoji="1" lang="ko-KR" altLang="en-US" dirty="0"/>
              <a:t>별로 </a:t>
            </a:r>
            <a:r>
              <a:rPr kumimoji="1" lang="en-US" altLang="ko-KR" dirty="0"/>
              <a:t>L1 </a:t>
            </a:r>
            <a:r>
              <a:rPr kumimoji="1" lang="ko-KR" altLang="en-US" dirty="0"/>
              <a:t>을 적용한다면</a:t>
            </a:r>
            <a:endParaRPr kumimoji="1" lang="en-US" altLang="ko-KR" dirty="0"/>
          </a:p>
          <a:p>
            <a:r>
              <a:rPr kumimoji="1" lang="en-US" altLang="ko-KR" dirty="0"/>
              <a:t>3+2</a:t>
            </a:r>
          </a:p>
          <a:p>
            <a:r>
              <a:rPr kumimoji="1" lang="en-US" altLang="ko-KR" dirty="0"/>
              <a:t>1+4</a:t>
            </a:r>
          </a:p>
          <a:p>
            <a:r>
              <a:rPr kumimoji="1" lang="ko-KR" altLang="en-US" dirty="0"/>
              <a:t>같음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4</a:t>
            </a:r>
            <a:r>
              <a:rPr kumimoji="1" lang="ko-KR" altLang="en-US" dirty="0"/>
              <a:t>가 더 중요하지 않을까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049E4-ABA9-D647-BBC8-EAC091E4C269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2018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049E4-ABA9-D647-BBC8-EAC091E4C269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2560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" altLang="ko-KR" dirty="0"/>
              <a:t>Batch Normalization (BN)</a:t>
            </a:r>
            <a:r>
              <a:rPr lang="ko-KR" altLang="en-US" dirty="0"/>
              <a:t>에서는 </a:t>
            </a:r>
            <a:r>
              <a:rPr lang="en" altLang="ko-KR" b="1" dirty="0"/>
              <a:t>scale factor</a:t>
            </a:r>
            <a:r>
              <a:rPr lang="ko-KR" altLang="en-US" dirty="0" err="1"/>
              <a:t>라고</a:t>
            </a:r>
            <a:r>
              <a:rPr lang="ko-KR" altLang="en-US" dirty="0"/>
              <a:t> 주로 불리는 파라미터가 바로 </a:t>
            </a:r>
            <a:r>
              <a:rPr lang="en-US" altLang="ko-KR" dirty="0"/>
              <a:t>\</a:t>
            </a:r>
            <a:r>
              <a:rPr lang="en" altLang="ko-KR" dirty="0"/>
              <a:t>gamma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en" altLang="ko-KR" dirty="0"/>
              <a:t>BN</a:t>
            </a:r>
            <a:r>
              <a:rPr lang="ko-KR" altLang="en-US" dirty="0"/>
              <a:t>의 주요 과정을 간단히 정리하면 다음과 같습니다</a:t>
            </a:r>
            <a:r>
              <a:rPr lang="en-US" altLang="ko-KR" dirty="0"/>
              <a:t>:</a:t>
            </a:r>
          </a:p>
          <a:p>
            <a:pPr>
              <a:buNone/>
            </a:pPr>
            <a:r>
              <a:rPr lang="en-US" altLang="ko-KR" dirty="0"/>
              <a:t>1. </a:t>
            </a:r>
            <a:r>
              <a:rPr lang="ko-KR" altLang="en-US" b="1" dirty="0"/>
              <a:t>정규화 </a:t>
            </a:r>
            <a:r>
              <a:rPr lang="en-US" altLang="ko-KR" b="1" dirty="0"/>
              <a:t>(</a:t>
            </a:r>
            <a:r>
              <a:rPr lang="en" altLang="ko-KR" b="1" dirty="0"/>
              <a:t>Normalization):</a:t>
            </a:r>
            <a:endParaRPr lang="en" altLang="ko-KR" dirty="0"/>
          </a:p>
          <a:p>
            <a:pPr>
              <a:buNone/>
            </a:pPr>
            <a:r>
              <a:rPr lang="ko-KR" altLang="en-US" dirty="0"/>
              <a:t>입력 </a:t>
            </a:r>
            <a:r>
              <a:rPr lang="en" altLang="ko-KR" dirty="0"/>
              <a:t>x</a:t>
            </a:r>
            <a:r>
              <a:rPr lang="ko-KR" altLang="en-US" dirty="0" err="1"/>
              <a:t>에</a:t>
            </a:r>
            <a:r>
              <a:rPr lang="ko-KR" altLang="en-US" dirty="0"/>
              <a:t> 대해</a:t>
            </a:r>
            <a:r>
              <a:rPr lang="en-US" altLang="ko-KR" dirty="0"/>
              <a:t>, </a:t>
            </a:r>
            <a:r>
              <a:rPr lang="ko-KR" altLang="en-US" dirty="0"/>
              <a:t>배치의 평균 </a:t>
            </a:r>
            <a:r>
              <a:rPr lang="en-US" altLang="ko-KR" dirty="0"/>
              <a:t>\</a:t>
            </a:r>
            <a:r>
              <a:rPr lang="en" altLang="ko-KR" dirty="0"/>
              <a:t>mu</a:t>
            </a:r>
            <a:r>
              <a:rPr lang="ko-KR" altLang="en-US" dirty="0"/>
              <a:t>와 분산 </a:t>
            </a:r>
            <a:r>
              <a:rPr lang="en-US" altLang="ko-KR" dirty="0"/>
              <a:t>\</a:t>
            </a:r>
            <a:r>
              <a:rPr lang="en" altLang="ko-KR" dirty="0"/>
              <a:t>sigma^2</a:t>
            </a:r>
            <a:r>
              <a:rPr lang="ko-KR" altLang="en-US" dirty="0" err="1"/>
              <a:t>를</a:t>
            </a:r>
            <a:r>
              <a:rPr lang="ko-KR" altLang="en-US" dirty="0"/>
              <a:t> 계산하여</a:t>
            </a:r>
            <a:r>
              <a:rPr lang="en-US" altLang="ko-KR" dirty="0"/>
              <a:t>,</a:t>
            </a:r>
          </a:p>
          <a:p>
            <a:pPr>
              <a:buNone/>
            </a:pPr>
            <a:r>
              <a:rPr lang="en-US" altLang="ko-KR" dirty="0"/>
              <a:t>\</a:t>
            </a:r>
            <a:r>
              <a:rPr lang="en" altLang="ko-KR" dirty="0"/>
              <a:t>hat{x} = \frac{x - \mu}{\sqrt{\sigma^2 + \epsilon}}</a:t>
            </a:r>
          </a:p>
          <a:p>
            <a:pPr>
              <a:buNone/>
            </a:pPr>
            <a:r>
              <a:rPr lang="ko-KR" altLang="en-US" dirty="0"/>
              <a:t>와 같이 </a:t>
            </a:r>
            <a:r>
              <a:rPr lang="ko-KR" altLang="en-US" dirty="0" err="1"/>
              <a:t>정규화합니다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2. </a:t>
            </a:r>
            <a:r>
              <a:rPr lang="ko-KR" altLang="en-US" b="1" dirty="0"/>
              <a:t>스케일 및 시프트 </a:t>
            </a:r>
            <a:r>
              <a:rPr lang="en-US" altLang="ko-KR" b="1" dirty="0"/>
              <a:t>(</a:t>
            </a:r>
            <a:r>
              <a:rPr lang="en" altLang="ko-KR" b="1" dirty="0"/>
              <a:t>Scale and Shift):</a:t>
            </a:r>
            <a:endParaRPr lang="en" altLang="ko-KR" dirty="0"/>
          </a:p>
          <a:p>
            <a:pPr>
              <a:buNone/>
            </a:pPr>
            <a:r>
              <a:rPr lang="ko-KR" altLang="en-US" dirty="0" err="1"/>
              <a:t>정규화된</a:t>
            </a:r>
            <a:r>
              <a:rPr lang="ko-KR" altLang="en-US" dirty="0"/>
              <a:t> 값에 학습 가능한 두 파라미터 </a:t>
            </a:r>
            <a:r>
              <a:rPr lang="en-US" altLang="ko-KR" dirty="0"/>
              <a:t>\</a:t>
            </a:r>
            <a:r>
              <a:rPr lang="en" altLang="ko-KR" dirty="0"/>
              <a:t>gamma (scale)</a:t>
            </a:r>
            <a:r>
              <a:rPr lang="ko-KR" altLang="en-US" dirty="0"/>
              <a:t>와 </a:t>
            </a:r>
            <a:r>
              <a:rPr lang="en-US" altLang="ko-KR" dirty="0"/>
              <a:t>\</a:t>
            </a:r>
            <a:r>
              <a:rPr lang="en" altLang="ko-KR" dirty="0"/>
              <a:t>beta (shift)</a:t>
            </a:r>
            <a:r>
              <a:rPr lang="ko-KR" altLang="en-US" dirty="0" err="1"/>
              <a:t>를</a:t>
            </a:r>
            <a:r>
              <a:rPr lang="ko-KR" altLang="en-US" dirty="0"/>
              <a:t> 적용합니다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" altLang="ko-KR" dirty="0"/>
              <a:t>y = \gamma \hat{x} + \beta</a:t>
            </a:r>
          </a:p>
          <a:p>
            <a:pPr>
              <a:buNone/>
            </a:pPr>
            <a:r>
              <a:rPr lang="ko-KR" altLang="en-US" dirty="0"/>
              <a:t>여기서 </a:t>
            </a:r>
            <a:r>
              <a:rPr lang="en-US" altLang="ko-KR" dirty="0"/>
              <a:t>\</a:t>
            </a:r>
            <a:r>
              <a:rPr lang="en" altLang="ko-KR" dirty="0"/>
              <a:t>gamma</a:t>
            </a:r>
            <a:r>
              <a:rPr lang="ko-KR" altLang="en-US" dirty="0"/>
              <a:t>가 바로 </a:t>
            </a:r>
            <a:r>
              <a:rPr lang="en" altLang="ko-KR" b="1" dirty="0"/>
              <a:t>scale factor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>
              <a:buNone/>
            </a:pPr>
            <a:br>
              <a:rPr lang="en-US" altLang="ko-KR" dirty="0"/>
            </a:br>
            <a:endParaRPr lang="en-US" altLang="ko-KR" dirty="0"/>
          </a:p>
          <a:p>
            <a:pPr>
              <a:buNone/>
            </a:pPr>
            <a:r>
              <a:rPr lang="ko-KR" altLang="en-US" b="1" dirty="0"/>
              <a:t>배치 정규화에서의 </a:t>
            </a:r>
            <a:r>
              <a:rPr lang="en-US" altLang="ko-KR" dirty="0"/>
              <a:t>\</a:t>
            </a:r>
            <a:r>
              <a:rPr lang="en" altLang="ko-KR" dirty="0"/>
              <a:t>gamma</a:t>
            </a:r>
            <a:r>
              <a:rPr lang="en" altLang="ko-KR" b="1" dirty="0"/>
              <a:t> (Scale Factor)</a:t>
            </a:r>
            <a:r>
              <a:rPr lang="ko-KR" altLang="en-US" b="1" dirty="0"/>
              <a:t>의 역할 및 중요성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학습 가능한 스케일링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\</a:t>
            </a:r>
            <a:r>
              <a:rPr lang="en" altLang="ko-KR" dirty="0"/>
              <a:t>gamma</a:t>
            </a:r>
            <a:r>
              <a:rPr lang="ko-KR" altLang="en-US" dirty="0"/>
              <a:t>는 각 채널이나 피처에 대해 학습 가능한 스케일 파라미터로</a:t>
            </a:r>
            <a:r>
              <a:rPr lang="en-US" altLang="ko-KR" dirty="0"/>
              <a:t>, </a:t>
            </a:r>
            <a:r>
              <a:rPr lang="ko-KR" altLang="en-US" dirty="0" err="1"/>
              <a:t>정규화된</a:t>
            </a:r>
            <a:r>
              <a:rPr lang="ko-KR" altLang="en-US" dirty="0"/>
              <a:t> 출력을 적절한 스케일로 조정합니다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이를 통해 모델은 정규화 후에도 필요한 표현력을 유지할 수 있습니다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채널 중요도 판단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ko-KR" altLang="en-US" dirty="0"/>
              <a:t>일부 모델 </a:t>
            </a:r>
            <a:r>
              <a:rPr lang="ko-KR" altLang="en-US" dirty="0" err="1"/>
              <a:t>프루닝</a:t>
            </a:r>
            <a:r>
              <a:rPr lang="ko-KR" altLang="en-US" dirty="0"/>
              <a:t> 기법에서는 </a:t>
            </a:r>
            <a:r>
              <a:rPr lang="en-US" altLang="ko-KR" dirty="0"/>
              <a:t>\</a:t>
            </a:r>
            <a:r>
              <a:rPr lang="en" altLang="ko-KR" dirty="0"/>
              <a:t>gamma</a:t>
            </a:r>
            <a:r>
              <a:rPr lang="ko-KR" altLang="en-US" dirty="0"/>
              <a:t>의 크기를 기준으로 각 채널의 중요도를 평가합니다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만약 어떤 채널의 </a:t>
            </a:r>
            <a:r>
              <a:rPr lang="en-US" altLang="ko-KR" dirty="0"/>
              <a:t>\</a:t>
            </a:r>
            <a:r>
              <a:rPr lang="en" altLang="ko-KR" dirty="0"/>
              <a:t>gamma </a:t>
            </a:r>
            <a:r>
              <a:rPr lang="ko-KR" altLang="en-US" dirty="0"/>
              <a:t>값이 매우 작다면</a:t>
            </a:r>
            <a:r>
              <a:rPr lang="en-US" altLang="ko-KR" dirty="0"/>
              <a:t>, </a:t>
            </a:r>
            <a:r>
              <a:rPr lang="ko-KR" altLang="en-US" dirty="0"/>
              <a:t>그 채널이 출력에 거의 기여하지 않는 것으로 간주되어 </a:t>
            </a:r>
            <a:r>
              <a:rPr lang="ko-KR" altLang="en-US" dirty="0" err="1"/>
              <a:t>프루닝</a:t>
            </a:r>
            <a:r>
              <a:rPr lang="ko-KR" altLang="en-US" dirty="0"/>
              <a:t> 대상이 될 수 있습니다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b="1" dirty="0"/>
              <a:t>모델 안정화 및 수렴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None/>
            </a:pPr>
            <a:r>
              <a:rPr lang="en" altLang="ko-KR" dirty="0"/>
              <a:t>BN</a:t>
            </a:r>
            <a:r>
              <a:rPr lang="ko-KR" altLang="en-US" dirty="0"/>
              <a:t>을 통해 내부 </a:t>
            </a:r>
            <a:r>
              <a:rPr lang="ko-KR" altLang="en-US" dirty="0" err="1"/>
              <a:t>공변량</a:t>
            </a:r>
            <a:r>
              <a:rPr lang="ko-KR" altLang="en-US" dirty="0"/>
              <a:t> 이동을 줄이고</a:t>
            </a:r>
            <a:r>
              <a:rPr lang="en-US" altLang="ko-KR" dirty="0"/>
              <a:t>, </a:t>
            </a:r>
            <a:r>
              <a:rPr lang="ko-KR" altLang="en-US" dirty="0"/>
              <a:t>학습 과정을 </a:t>
            </a:r>
            <a:r>
              <a:rPr lang="ko-KR" altLang="en-US" dirty="0" err="1"/>
              <a:t>안정화시킵니다</a:t>
            </a:r>
            <a:r>
              <a:rPr lang="en-US" altLang="ko-KR" dirty="0"/>
              <a:t>. \</a:t>
            </a:r>
            <a:r>
              <a:rPr lang="en" altLang="ko-KR" dirty="0"/>
              <a:t>gamma</a:t>
            </a:r>
            <a:r>
              <a:rPr lang="ko-KR" altLang="en-US" dirty="0"/>
              <a:t>와 </a:t>
            </a:r>
            <a:r>
              <a:rPr lang="en-US" altLang="ko-KR" dirty="0"/>
              <a:t>\</a:t>
            </a:r>
            <a:r>
              <a:rPr lang="en" altLang="ko-KR" dirty="0"/>
              <a:t>beta</a:t>
            </a:r>
            <a:r>
              <a:rPr lang="ko-KR" altLang="en-US" dirty="0"/>
              <a:t>는 이 과정에서 모델이 최적의 표현을 찾도록 도와주는 역할을 합니다</a:t>
            </a:r>
            <a:r>
              <a:rPr lang="en-US" altLang="ko-KR" dirty="0"/>
              <a:t>.</a:t>
            </a:r>
          </a:p>
          <a:p>
            <a:pPr>
              <a:buNone/>
            </a:pP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요약하면</a:t>
            </a:r>
            <a:r>
              <a:rPr lang="en-US" altLang="ko-KR" dirty="0"/>
              <a:t>, </a:t>
            </a:r>
            <a:r>
              <a:rPr lang="en" altLang="ko-KR" dirty="0"/>
              <a:t>Batch Normalization</a:t>
            </a:r>
            <a:r>
              <a:rPr lang="ko-KR" altLang="en-US" dirty="0"/>
              <a:t>에서의 </a:t>
            </a:r>
            <a:r>
              <a:rPr lang="en" altLang="ko-KR" dirty="0"/>
              <a:t>scale factor (\gamma)</a:t>
            </a:r>
            <a:r>
              <a:rPr lang="ko-KR" altLang="en-US" dirty="0"/>
              <a:t>는 </a:t>
            </a:r>
            <a:r>
              <a:rPr lang="ko-KR" altLang="en-US" dirty="0" err="1"/>
              <a:t>정규화된</a:t>
            </a:r>
            <a:r>
              <a:rPr lang="ko-KR" altLang="en-US" dirty="0"/>
              <a:t> 출력을 다시 조정하는 역할을 하며</a:t>
            </a:r>
            <a:r>
              <a:rPr lang="en-US" altLang="ko-KR" dirty="0"/>
              <a:t>, </a:t>
            </a:r>
            <a:r>
              <a:rPr lang="ko-KR" altLang="en-US" dirty="0"/>
              <a:t>그 크기가 작으면 해당 채널의 중요도가 낮다고 판단할 수 있어 </a:t>
            </a:r>
            <a:r>
              <a:rPr lang="ko-KR" altLang="en-US" dirty="0" err="1"/>
              <a:t>프루닝</a:t>
            </a:r>
            <a:r>
              <a:rPr lang="ko-KR" altLang="en-US" dirty="0"/>
              <a:t> 등의 후처리 작업에서 활용되기도 합니다</a:t>
            </a:r>
            <a:r>
              <a:rPr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049E4-ABA9-D647-BBC8-EAC091E4C269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9534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bc6fc37659_1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bc6fc37659_1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" altLang="ko-KR" b="1" dirty="0"/>
              <a:t>Activation-based Pruning</a:t>
            </a:r>
            <a:r>
              <a:rPr lang="ko-KR" altLang="en-US" dirty="0"/>
              <a:t>에서 말하는 “</a:t>
            </a:r>
            <a:r>
              <a:rPr lang="en" altLang="ko-KR" dirty="0"/>
              <a:t>activation”</a:t>
            </a:r>
            <a:r>
              <a:rPr lang="ko-KR" altLang="en-US" dirty="0"/>
              <a:t>은 단일 입력이 아니라 **대표적인 입력 데이터셋</a:t>
            </a:r>
            <a:r>
              <a:rPr lang="en-US" altLang="ko-KR" dirty="0"/>
              <a:t>(</a:t>
            </a:r>
            <a:r>
              <a:rPr lang="ko-KR" altLang="en-US" dirty="0"/>
              <a:t>또는 미니배치들</a:t>
            </a:r>
            <a:r>
              <a:rPr lang="en-US" altLang="ko-KR" dirty="0"/>
              <a:t>)**</a:t>
            </a:r>
            <a:r>
              <a:rPr lang="ko-KR" altLang="en-US" dirty="0"/>
              <a:t>을 통해 </a:t>
            </a:r>
            <a:r>
              <a:rPr lang="ko-KR" altLang="en-US" b="1" dirty="0"/>
              <a:t>평균적</a:t>
            </a:r>
            <a:r>
              <a:rPr lang="ko-KR" altLang="en-US" dirty="0"/>
              <a:t> 또는 </a:t>
            </a:r>
            <a:r>
              <a:rPr lang="ko-KR" altLang="en-US" b="1" dirty="0"/>
              <a:t>통계적</a:t>
            </a:r>
            <a:r>
              <a:rPr lang="ko-KR" altLang="en-US" dirty="0"/>
              <a:t>으로 얻어진 </a:t>
            </a:r>
            <a:r>
              <a:rPr lang="ko-KR" altLang="en-US" dirty="0" err="1"/>
              <a:t>활성화값을</a:t>
            </a:r>
            <a:r>
              <a:rPr lang="ko-KR" altLang="en-US" dirty="0"/>
              <a:t> 의미합니다</a:t>
            </a:r>
            <a:r>
              <a:rPr lang="en-US" altLang="ko-KR" dirty="0"/>
              <a:t>.</a:t>
            </a:r>
          </a:p>
          <a:p>
            <a:pPr>
              <a:buNone/>
            </a:pPr>
            <a:br>
              <a:rPr lang="en-US" altLang="ko-KR" dirty="0"/>
            </a:br>
            <a:endParaRPr lang="en-US" altLang="ko-KR" dirty="0"/>
          </a:p>
          <a:p>
            <a:pPr>
              <a:buNone/>
            </a:pPr>
            <a:r>
              <a:rPr lang="ko-KR" altLang="en-US" dirty="0"/>
              <a:t>예를 들어 다음과 같은 방법들이 있을 수 있습니다</a:t>
            </a:r>
            <a:r>
              <a:rPr lang="en-US" altLang="ko-KR" dirty="0"/>
              <a:t>:</a:t>
            </a:r>
          </a:p>
          <a:p>
            <a:pPr>
              <a:buNone/>
            </a:pPr>
            <a:r>
              <a:rPr lang="en-US" altLang="ko-KR" dirty="0"/>
              <a:t>1. </a:t>
            </a:r>
            <a:r>
              <a:rPr lang="ko-KR" altLang="en-US" b="1" dirty="0"/>
              <a:t>대표 데이터셋 통계 활용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실제 운용 중 모델에 들어올 입력과 유사한</a:t>
            </a:r>
            <a:r>
              <a:rPr lang="en-US" altLang="ko-KR" dirty="0"/>
              <a:t>(</a:t>
            </a:r>
            <a:r>
              <a:rPr lang="ko-KR" altLang="en-US" dirty="0"/>
              <a:t>대표성 있는</a:t>
            </a:r>
            <a:r>
              <a:rPr lang="en-US" altLang="ko-KR" dirty="0"/>
              <a:t>) </a:t>
            </a:r>
            <a:r>
              <a:rPr lang="ko-KR" altLang="en-US" dirty="0"/>
              <a:t>데이터셋을 여러 개 투입하여</a:t>
            </a:r>
            <a:r>
              <a:rPr lang="en-US" altLang="ko-KR" dirty="0"/>
              <a:t>, </a:t>
            </a:r>
            <a:r>
              <a:rPr lang="ko-KR" altLang="en-US" dirty="0"/>
              <a:t>각 뉴런</a:t>
            </a:r>
            <a:r>
              <a:rPr lang="en-US" altLang="ko-KR" dirty="0"/>
              <a:t>(</a:t>
            </a:r>
            <a:r>
              <a:rPr lang="ko-KR" altLang="en-US" dirty="0"/>
              <a:t>채널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ko-KR" altLang="en-US" dirty="0" err="1"/>
              <a:t>활성화값</a:t>
            </a:r>
            <a:r>
              <a:rPr lang="ko-KR" altLang="en-US" dirty="0"/>
              <a:t> 분포를 수집합니다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 err="1"/>
              <a:t>활성화값의</a:t>
            </a:r>
            <a:r>
              <a:rPr lang="ko-KR" altLang="en-US" dirty="0"/>
              <a:t> 평균</a:t>
            </a:r>
            <a:r>
              <a:rPr lang="en-US" altLang="ko-KR" dirty="0"/>
              <a:t>, </a:t>
            </a:r>
            <a:r>
              <a:rPr lang="ko-KR" altLang="en-US" dirty="0"/>
              <a:t>분산</a:t>
            </a:r>
            <a:r>
              <a:rPr lang="en-US" altLang="ko-KR" dirty="0"/>
              <a:t>, </a:t>
            </a:r>
            <a:r>
              <a:rPr lang="ko-KR" altLang="en-US" dirty="0"/>
              <a:t>최대값</a:t>
            </a:r>
            <a:r>
              <a:rPr lang="en-US" altLang="ko-KR" dirty="0"/>
              <a:t>, 0</a:t>
            </a:r>
            <a:r>
              <a:rPr lang="ko-KR" altLang="en-US" dirty="0" err="1"/>
              <a:t>에</a:t>
            </a:r>
            <a:r>
              <a:rPr lang="ko-KR" altLang="en-US" dirty="0"/>
              <a:t> 가까운 비율</a:t>
            </a:r>
            <a:r>
              <a:rPr lang="en-US" altLang="ko-KR" dirty="0"/>
              <a:t>(</a:t>
            </a:r>
            <a:r>
              <a:rPr lang="ko-KR" altLang="en-US" dirty="0"/>
              <a:t>혹은 정확히 </a:t>
            </a:r>
            <a:r>
              <a:rPr lang="en-US" altLang="ko-KR" dirty="0"/>
              <a:t>0</a:t>
            </a:r>
            <a:r>
              <a:rPr lang="ko-KR" altLang="en-US" dirty="0"/>
              <a:t>이 되는 비율</a:t>
            </a:r>
            <a:r>
              <a:rPr lang="en-US" altLang="ko-KR" dirty="0"/>
              <a:t>) </a:t>
            </a:r>
            <a:r>
              <a:rPr lang="ko-KR" altLang="en-US" dirty="0"/>
              <a:t>등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2. </a:t>
            </a:r>
            <a:r>
              <a:rPr lang="ko-KR" altLang="en-US" b="1" dirty="0" err="1"/>
              <a:t>활성화값의</a:t>
            </a:r>
            <a:r>
              <a:rPr lang="ko-KR" altLang="en-US" b="1" dirty="0"/>
              <a:t> 빈도 혹은 평균 크기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일정 기준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특정 </a:t>
            </a:r>
            <a:r>
              <a:rPr lang="ko-KR" altLang="en-US" dirty="0" err="1"/>
              <a:t>임계값</a:t>
            </a:r>
            <a:r>
              <a:rPr lang="ko-KR" altLang="en-US" dirty="0"/>
              <a:t> </a:t>
            </a:r>
            <a:r>
              <a:rPr lang="en-US" altLang="ko-KR" dirty="0"/>
              <a:t>\</a:t>
            </a:r>
            <a:r>
              <a:rPr lang="en" altLang="ko-KR" dirty="0"/>
              <a:t>theta)</a:t>
            </a:r>
            <a:r>
              <a:rPr lang="ko-KR" altLang="en-US" dirty="0"/>
              <a:t>을 설정하여</a:t>
            </a:r>
            <a:r>
              <a:rPr lang="en-US" altLang="ko-KR" dirty="0"/>
              <a:t>, </a:t>
            </a:r>
            <a:r>
              <a:rPr lang="ko-KR" altLang="en-US" dirty="0"/>
              <a:t>평균 </a:t>
            </a:r>
            <a:r>
              <a:rPr lang="ko-KR" altLang="en-US" dirty="0" err="1"/>
              <a:t>활성화값이</a:t>
            </a:r>
            <a:r>
              <a:rPr lang="ko-KR" altLang="en-US" dirty="0"/>
              <a:t> </a:t>
            </a:r>
            <a:r>
              <a:rPr lang="en-US" altLang="ko-KR" dirty="0"/>
              <a:t>\</a:t>
            </a:r>
            <a:r>
              <a:rPr lang="en" altLang="ko-KR" dirty="0"/>
              <a:t>theta </a:t>
            </a:r>
            <a:r>
              <a:rPr lang="ko-KR" altLang="en-US" dirty="0"/>
              <a:t>이하로 작거나</a:t>
            </a:r>
            <a:r>
              <a:rPr lang="en-US" altLang="ko-KR" dirty="0"/>
              <a:t>, 0</a:t>
            </a:r>
            <a:r>
              <a:rPr lang="ko-KR" altLang="en-US" dirty="0"/>
              <a:t>이 나오는 빈도가 높으면 해당 뉴런</a:t>
            </a:r>
            <a:r>
              <a:rPr lang="en-US" altLang="ko-KR" dirty="0"/>
              <a:t>(</a:t>
            </a:r>
            <a:r>
              <a:rPr lang="ko-KR" altLang="en-US" dirty="0"/>
              <a:t>혹은 채널</a:t>
            </a:r>
            <a:r>
              <a:rPr lang="en-US" altLang="ko-KR" dirty="0"/>
              <a:t>)</a:t>
            </a:r>
            <a:r>
              <a:rPr lang="ko-KR" altLang="en-US" dirty="0"/>
              <a:t>이 중요도가 낮다고 판단해 제거할 수 있습니다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dirty="0"/>
              <a:t>3. </a:t>
            </a:r>
            <a:r>
              <a:rPr lang="ko-KR" altLang="en-US" b="1" dirty="0"/>
              <a:t>학습 과정에서의 모니터링</a:t>
            </a:r>
            <a:endParaRPr lang="ko-KR" altLang="en-US" dirty="0"/>
          </a:p>
          <a:p>
            <a:pPr>
              <a:buNone/>
            </a:pPr>
            <a:r>
              <a:rPr lang="en-US" altLang="ko-KR" dirty="0"/>
              <a:t>• </a:t>
            </a:r>
            <a:r>
              <a:rPr lang="ko-KR" altLang="en-US" dirty="0"/>
              <a:t>학습 중 혹은 학습 후에</a:t>
            </a:r>
            <a:r>
              <a:rPr lang="en-US" altLang="ko-KR" dirty="0"/>
              <a:t>, </a:t>
            </a:r>
            <a:r>
              <a:rPr lang="ko-KR" altLang="en-US" dirty="0"/>
              <a:t>여러 배치를 통해 </a:t>
            </a:r>
            <a:r>
              <a:rPr lang="ko-KR" altLang="en-US" dirty="0" err="1"/>
              <a:t>활성화값을</a:t>
            </a:r>
            <a:r>
              <a:rPr lang="ko-KR" altLang="en-US" dirty="0"/>
              <a:t> 관측하고</a:t>
            </a:r>
            <a:r>
              <a:rPr lang="en-US" altLang="ko-KR" dirty="0"/>
              <a:t>, </a:t>
            </a:r>
            <a:r>
              <a:rPr lang="ko-KR" altLang="en-US" dirty="0"/>
              <a:t>평균적 혹은 누적 통계를 기반으로 중요도가 낮은 뉴런</a:t>
            </a:r>
            <a:r>
              <a:rPr lang="en-US" altLang="ko-KR" dirty="0"/>
              <a:t>(</a:t>
            </a:r>
            <a:r>
              <a:rPr lang="ko-KR" altLang="en-US" dirty="0"/>
              <a:t>채널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ko-KR" altLang="en-US" dirty="0" err="1"/>
              <a:t>프루닝</a:t>
            </a:r>
            <a:r>
              <a:rPr lang="ko-KR" altLang="en-US" dirty="0"/>
              <a:t> 대상에 포함합니다</a:t>
            </a:r>
            <a:r>
              <a:rPr lang="en-US" altLang="ko-KR" dirty="0"/>
              <a:t>.</a:t>
            </a:r>
          </a:p>
          <a:p>
            <a:pPr>
              <a:buNone/>
            </a:pP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정리하면</a:t>
            </a:r>
            <a:r>
              <a:rPr lang="en-US" altLang="ko-KR" dirty="0"/>
              <a:t>, “</a:t>
            </a:r>
            <a:r>
              <a:rPr lang="ko-KR" altLang="en-US" dirty="0"/>
              <a:t>특정 </a:t>
            </a:r>
            <a:r>
              <a:rPr lang="ko-KR" altLang="en-US" dirty="0" err="1"/>
              <a:t>입력”에</a:t>
            </a:r>
            <a:r>
              <a:rPr lang="ko-KR" altLang="en-US" dirty="0"/>
              <a:t> 국한되지 않고 </a:t>
            </a:r>
            <a:r>
              <a:rPr lang="ko-KR" altLang="en-US" b="1" dirty="0"/>
              <a:t>여러 입력에 대한 활성화 통계</a:t>
            </a:r>
            <a:r>
              <a:rPr lang="ko-KR" altLang="en-US" dirty="0"/>
              <a:t>를 바탕으로 뉴런</a:t>
            </a:r>
            <a:r>
              <a:rPr lang="en-US" altLang="ko-KR" dirty="0"/>
              <a:t>(</a:t>
            </a:r>
            <a:r>
              <a:rPr lang="ko-KR" altLang="en-US" dirty="0"/>
              <a:t>채널</a:t>
            </a:r>
            <a:r>
              <a:rPr lang="en-US" altLang="ko-KR" dirty="0"/>
              <a:t>)</a:t>
            </a:r>
            <a:r>
              <a:rPr lang="ko-KR" altLang="en-US" dirty="0"/>
              <a:t>의 중요도를 측정하고</a:t>
            </a:r>
            <a:r>
              <a:rPr lang="en-US" altLang="ko-KR" dirty="0"/>
              <a:t>, </a:t>
            </a:r>
            <a:r>
              <a:rPr lang="ko-KR" altLang="en-US" dirty="0"/>
              <a:t>이를 기준으로 </a:t>
            </a:r>
            <a:r>
              <a:rPr lang="ko-KR" altLang="en-US" dirty="0" err="1"/>
              <a:t>프루닝을</a:t>
            </a:r>
            <a:r>
              <a:rPr lang="ko-KR" altLang="en-US" dirty="0"/>
              <a:t> 진행합니다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1" name="TextBox 1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5324" y="2982938"/>
            <a:ext cx="3195450" cy="369651"/>
          </a:xfrm>
          <a:prstGeom prst="rect">
            <a:avLst/>
          </a:prstGeom>
        </p:spPr>
        <p:txBody>
          <a:bodyPr lIns="45719" tIns="45719" rIns="45719" bIns="45719">
            <a:spAutoFit/>
          </a:bodyPr>
          <a:lstStyle>
            <a:lvl1pPr marL="0" indent="0">
              <a:defRPr sz="1802" b="0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date here</a:t>
            </a:r>
          </a:p>
        </p:txBody>
      </p:sp>
      <p:sp>
        <p:nvSpPr>
          <p:cNvPr id="22" name="Google Shape;36;p7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50912" y="3470869"/>
            <a:ext cx="5660540" cy="1573796"/>
          </a:xfrm>
          <a:prstGeom prst="rect">
            <a:avLst/>
          </a:prstGeom>
        </p:spPr>
        <p:txBody>
          <a:bodyPr>
            <a:spAutoFit/>
          </a:bodyPr>
          <a:lstStyle>
            <a:lvl1pPr marL="7150" indent="0">
              <a:tabLst/>
              <a:defRPr sz="2027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r>
              <a:rPr lang="en-HK" dirty="0"/>
              <a:t>Name here</a:t>
            </a:r>
          </a:p>
          <a:p>
            <a:pPr>
              <a:defRPr sz="10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endParaRPr lang="en-HK" dirty="0"/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Affiliation here 1</a:t>
            </a: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Affiliation here 2</a:t>
            </a: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Affiliation here 3</a:t>
            </a:r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lang="en-HK" dirty="0"/>
          </a:p>
          <a:p>
            <a:pPr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HK" dirty="0"/>
              <a:t>Email or contact here</a:t>
            </a:r>
          </a:p>
        </p:txBody>
      </p:sp>
      <p:sp>
        <p:nvSpPr>
          <p:cNvPr id="23" name="Google Shape;58;p11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550914" y="2278337"/>
            <a:ext cx="9015842" cy="731399"/>
          </a:xfrm>
          <a:prstGeom prst="rect">
            <a:avLst/>
          </a:prstGeom>
        </p:spPr>
        <p:txBody>
          <a:bodyPr/>
          <a:lstStyle>
            <a:lvl1pPr marL="0" indent="0">
              <a:defRPr sz="2253" b="0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subtitle (if any) here</a:t>
            </a:r>
          </a:p>
        </p:txBody>
      </p:sp>
      <p:sp>
        <p:nvSpPr>
          <p:cNvPr id="24" name="Google Shape;58;p11"/>
          <p:cNvSpPr txBox="1">
            <a:spLocks noGrp="1"/>
          </p:cNvSpPr>
          <p:nvPr>
            <p:ph type="body" sz="quarter" idx="24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defRPr sz="2253" b="0" i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meeting type (if any) here: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99538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44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 dirty="0"/>
              <a:t>IRIS Lab., SKKU</a:t>
            </a:r>
          </a:p>
        </p:txBody>
      </p:sp>
      <p:sp>
        <p:nvSpPr>
          <p:cNvPr id="45" name="TextBox 10"/>
          <p:cNvSpPr txBox="1"/>
          <p:nvPr/>
        </p:nvSpPr>
        <p:spPr>
          <a:xfrm>
            <a:off x="7896026" y="5568220"/>
            <a:ext cx="2289593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de-DE" altLang="ko-KR" sz="902" dirty="0"/>
              <a:t>Jong</a:t>
            </a:r>
            <a:r>
              <a:rPr lang="zh-CN" altLang="en-US" sz="902" dirty="0"/>
              <a:t> </a:t>
            </a:r>
            <a:r>
              <a:rPr lang="en-US" altLang="zh-CN" sz="902" dirty="0"/>
              <a:t>Hwan Ko </a:t>
            </a:r>
            <a:r>
              <a:rPr lang="de-DE" altLang="ko-KR" sz="902" dirty="0"/>
              <a:t>(</a:t>
            </a:r>
            <a:r>
              <a:rPr lang="de-DE" altLang="ko-KR" sz="902" dirty="0" err="1"/>
              <a:t>jhko@skku.edu</a:t>
            </a:r>
            <a:r>
              <a:rPr lang="de-DE" altLang="ko-KR" sz="902" dirty="0"/>
              <a:t>)</a:t>
            </a:r>
          </a:p>
        </p:txBody>
      </p:sp>
      <p:sp>
        <p:nvSpPr>
          <p:cNvPr id="4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87265" y="45766"/>
            <a:ext cx="9993443" cy="580992"/>
          </a:xfrm>
          <a:prstGeom prst="rect">
            <a:avLst/>
          </a:prstGeom>
        </p:spPr>
        <p:txBody>
          <a:bodyPr tIns="36000" bIns="36000">
            <a:noAutofit/>
          </a:bodyPr>
          <a:lstStyle>
            <a:lvl1pPr>
              <a:defRPr sz="3604" b="1" baseline="0">
                <a:latin typeface="Arial" panose="020B0604020202020204" pitchFamily="34" charset="0"/>
                <a:ea typeface="NanumGothic" panose="020D0604000000000000" pitchFamily="34" charset="-127"/>
                <a:cs typeface="Arial" panose="020B0604020202020204" pitchFamily="34" charset="0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9" name="Google Shape;7;p1"/>
          <p:cNvSpPr/>
          <p:nvPr/>
        </p:nvSpPr>
        <p:spPr>
          <a:xfrm>
            <a:off x="-4376" y="62083"/>
            <a:ext cx="191638" cy="57705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ED12B53F-49DF-5B8A-44F0-6E66B967A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7265" y="664678"/>
            <a:ext cx="9993443" cy="4876895"/>
          </a:xfrm>
          <a:prstGeom prst="rect">
            <a:avLst/>
          </a:prstGeom>
        </p:spPr>
        <p:txBody>
          <a:bodyPr/>
          <a:lstStyle>
            <a:lvl1pPr marL="205582" indent="-196644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●"/>
              <a:tabLst/>
              <a:defRPr sz="2027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1pPr>
            <a:lvl2pPr marL="505911" indent="-198432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○"/>
              <a:tabLst/>
              <a:defRPr sz="1802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2pPr>
            <a:lvl3pPr marL="804450" indent="-200219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Wingdings" pitchFamily="2" charset="2"/>
              <a:buChar char="§"/>
              <a:tabLst/>
              <a:defRPr sz="1577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3pPr>
            <a:lvl4pPr marL="1051149" indent="-148377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Arial" panose="020B0604020202020204" pitchFamily="34" charset="0"/>
              <a:buChar char="•"/>
              <a:tabLst/>
              <a:defRPr sz="1352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4pPr>
            <a:lvl5pPr marL="1310362" indent="-159103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맑은 고딕"/>
              <a:buChar char="-"/>
              <a:tabLst/>
              <a:defRPr sz="1239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Source Sans Pro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27886674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NDING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58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/>
              <a:t>IRIS Lab., SKKU</a:t>
            </a:r>
          </a:p>
        </p:txBody>
      </p:sp>
      <p:sp>
        <p:nvSpPr>
          <p:cNvPr id="59" name="TextBox 10"/>
          <p:cNvSpPr txBox="1"/>
          <p:nvPr/>
        </p:nvSpPr>
        <p:spPr>
          <a:xfrm>
            <a:off x="8547564" y="5587457"/>
            <a:ext cx="1638054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en-US" altLang="ko-KR" sz="902" dirty="0"/>
              <a:t>Jong Hwan Ko (</a:t>
            </a:r>
            <a:r>
              <a:rPr lang="en-US" altLang="ko-KR" sz="902" dirty="0" err="1"/>
              <a:t>jhko@skku.edu</a:t>
            </a:r>
            <a:r>
              <a:rPr lang="en-US" altLang="ko-KR" sz="902" dirty="0"/>
              <a:t>)</a:t>
            </a:r>
          </a:p>
        </p:txBody>
      </p:sp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xfrm>
            <a:off x="391323" y="1944159"/>
            <a:ext cx="9438713" cy="890946"/>
          </a:xfrm>
          <a:prstGeom prst="rect">
            <a:avLst/>
          </a:prstGeom>
        </p:spPr>
        <p:txBody>
          <a:bodyPr anchor="b"/>
          <a:lstStyle/>
          <a:p>
            <a:r>
              <a:rPr dirty="0"/>
              <a:t>Title Text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97486" y="2782040"/>
            <a:ext cx="8984312" cy="12758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indent="257425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indent="514848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indent="772272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indent="1029697">
              <a:lnSpc>
                <a:spcPct val="115000"/>
              </a:lnSpc>
              <a:defRPr sz="1577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10901222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836DB01-A671-4B8D-8557-AA1B74E8A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986" y="-145766"/>
            <a:ext cx="10409938" cy="598795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958A57-2825-47A5-9714-F7DDE98633E9}"/>
              </a:ext>
            </a:extLst>
          </p:cNvPr>
          <p:cNvSpPr/>
          <p:nvPr userDrawn="1"/>
        </p:nvSpPr>
        <p:spPr>
          <a:xfrm>
            <a:off x="6" y="99196"/>
            <a:ext cx="10396439" cy="5926711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5000"/>
                </a:schemeClr>
              </a:gs>
              <a:gs pos="100000">
                <a:schemeClr val="tx1">
                  <a:alpha val="2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39BE719-23BF-4495-8D44-9981DA1F1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655" y="650354"/>
            <a:ext cx="7775972" cy="734881"/>
          </a:xfrm>
          <a:noFill/>
        </p:spPr>
        <p:txBody>
          <a:bodyPr lIns="0" anchor="t">
            <a:normAutofit/>
          </a:bodyPr>
          <a:lstStyle>
            <a:lvl1pPr algn="l">
              <a:defRPr sz="3717" spc="-127">
                <a:solidFill>
                  <a:schemeClr val="bg1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1EE34957-E293-4918-8179-72C68BC00C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2657" y="1407418"/>
            <a:ext cx="7775972" cy="406500"/>
          </a:xfrm>
          <a:noFill/>
        </p:spPr>
        <p:txBody>
          <a:bodyPr vert="horz" lIns="0" tIns="45720" rIns="91440" bIns="45720" rtlCol="0" anchor="t">
            <a:noAutofit/>
          </a:bodyPr>
          <a:lstStyle>
            <a:lvl1pPr>
              <a:defRPr lang="ko-KR" altLang="en-US" sz="2365" spc="-127" dirty="0">
                <a:solidFill>
                  <a:schemeClr val="bg1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ko-KR" altLang="en-US" dirty="0"/>
              <a:t>부제목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613B20-0EE5-4E1D-A03C-C27B4133B720}"/>
              </a:ext>
            </a:extLst>
          </p:cNvPr>
          <p:cNvSpPr/>
          <p:nvPr userDrawn="1"/>
        </p:nvSpPr>
        <p:spPr>
          <a:xfrm>
            <a:off x="-20984" y="3651119"/>
            <a:ext cx="10409938" cy="1959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184E8E-3C75-4ADE-ACBD-89F4587307E0}"/>
              </a:ext>
            </a:extLst>
          </p:cNvPr>
          <p:cNvSpPr/>
          <p:nvPr userDrawn="1"/>
        </p:nvSpPr>
        <p:spPr>
          <a:xfrm>
            <a:off x="552654" y="475347"/>
            <a:ext cx="1837048" cy="61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769FE32-1A3F-4FFD-B89C-AF2BE5656617}"/>
              </a:ext>
            </a:extLst>
          </p:cNvPr>
          <p:cNvGrpSpPr/>
          <p:nvPr userDrawn="1"/>
        </p:nvGrpSpPr>
        <p:grpSpPr>
          <a:xfrm>
            <a:off x="434594" y="4508485"/>
            <a:ext cx="1060202" cy="921557"/>
            <a:chOff x="340544" y="4873328"/>
            <a:chExt cx="1651000" cy="1434976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7C952422-EBE4-44F4-AE85-08C27CAA8CD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40544" y="4873328"/>
              <a:ext cx="1434975" cy="1434976"/>
            </a:xfrm>
            <a:prstGeom prst="rect">
              <a:avLst/>
            </a:prstGeom>
          </p:spPr>
        </p:pic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3C57C52E-0175-4E94-948E-DC90B7B534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91544" y="5087076"/>
              <a:ext cx="0" cy="1007478"/>
            </a:xfrm>
            <a:prstGeom prst="line">
              <a:avLst/>
            </a:prstGeom>
            <a:ln w="25400">
              <a:solidFill>
                <a:srgbClr val="072A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텍스트 개체 틀 17">
            <a:extLst>
              <a:ext uri="{FF2B5EF4-FFF2-40B4-BE49-F238E27FC236}">
                <a16:creationId xmlns:a16="http://schemas.microsoft.com/office/drawing/2014/main" id="{6FC04201-605D-4D50-A123-F5E27B635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8303" y="3993847"/>
            <a:ext cx="4170234" cy="406500"/>
          </a:xfrm>
        </p:spPr>
        <p:txBody>
          <a:bodyPr vert="horz" lIns="0" tIns="45720" rIns="91440" bIns="45720" rtlCol="0" anchor="t">
            <a:normAutofit/>
          </a:bodyPr>
          <a:lstStyle>
            <a:lvl1pPr algn="r">
              <a:defRPr lang="ko-KR" altLang="en-US" dirty="0">
                <a:latin typeface="Noto Sans CJK KR Black" panose="020B0A00000000000000" pitchFamily="34" charset="-127"/>
                <a:ea typeface="Noto Sans CJK KR Black" panose="020B0A00000000000000" pitchFamily="34" charset="-127"/>
                <a:cs typeface="+mj-cs"/>
              </a:defRPr>
            </a:lvl1pPr>
          </a:lstStyle>
          <a:p>
            <a:pPr marL="0" lvl="0" algn="r">
              <a:spcBef>
                <a:spcPct val="0"/>
              </a:spcBef>
              <a:buNone/>
            </a:pPr>
            <a:r>
              <a:rPr lang="ko-KR" altLang="en-US" dirty="0" err="1"/>
              <a:t>정문찬</a:t>
            </a:r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4668" y="4618389"/>
            <a:ext cx="2183379" cy="74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93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836DB01-A671-4B8D-8557-AA1B74E8A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986" y="-145766"/>
            <a:ext cx="10409938" cy="598795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958A57-2825-47A5-9714-F7DDE98633E9}"/>
              </a:ext>
            </a:extLst>
          </p:cNvPr>
          <p:cNvSpPr/>
          <p:nvPr userDrawn="1"/>
        </p:nvSpPr>
        <p:spPr>
          <a:xfrm>
            <a:off x="-14238" y="-145767"/>
            <a:ext cx="10396439" cy="597824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1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5" name="사각형: 둥근 한쪽 모서리 4">
            <a:extLst>
              <a:ext uri="{FF2B5EF4-FFF2-40B4-BE49-F238E27FC236}">
                <a16:creationId xmlns:a16="http://schemas.microsoft.com/office/drawing/2014/main" id="{B8F7F016-4544-4A20-A055-28D1E234AC34}"/>
              </a:ext>
            </a:extLst>
          </p:cNvPr>
          <p:cNvSpPr/>
          <p:nvPr userDrawn="1"/>
        </p:nvSpPr>
        <p:spPr>
          <a:xfrm>
            <a:off x="-20984" y="160434"/>
            <a:ext cx="10165000" cy="5681752"/>
          </a:xfrm>
          <a:prstGeom prst="round1Rect">
            <a:avLst>
              <a:gd name="adj" fmla="val 96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82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2BF44D-09B4-40FB-84D5-64F426FC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63" y="263953"/>
            <a:ext cx="9382878" cy="543473"/>
          </a:xfrm>
        </p:spPr>
        <p:txBody>
          <a:bodyPr>
            <a:normAutofit/>
          </a:bodyPr>
          <a:lstStyle>
            <a:lvl1pPr>
              <a:defRPr sz="3041">
                <a:latin typeface="Noto Sans CJK KR Black" panose="020B0A00000000000000" pitchFamily="34" charset="-127"/>
                <a:ea typeface="Noto Sans CJK KR Black" panose="020B0A00000000000000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F7246-F0EC-4EE6-9E70-277B0CBED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363" y="899579"/>
            <a:ext cx="9382878" cy="4132361"/>
          </a:xfrm>
        </p:spPr>
        <p:txBody>
          <a:bodyPr>
            <a:normAutofit/>
          </a:bodyPr>
          <a:lstStyle>
            <a:lvl1pPr>
              <a:spcBef>
                <a:spcPts val="675"/>
              </a:spcBef>
              <a:defRPr sz="1689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  <a:lvl2pPr>
              <a:spcBef>
                <a:spcPts val="675"/>
              </a:spcBef>
              <a:defRPr sz="1521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spcBef>
                <a:spcPts val="675"/>
              </a:spcBef>
              <a:defRPr sz="1352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spcBef>
                <a:spcPts val="675"/>
              </a:spcBef>
              <a:defRPr sz="1182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spcBef>
                <a:spcPts val="675"/>
              </a:spcBef>
              <a:defRPr sz="1182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1EA8FD-4B4B-42DD-946F-9665BA41A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09673" y="5273109"/>
            <a:ext cx="241411" cy="265457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5E7529C-9835-4872-B8DD-A36FFB4CA1A4}"/>
              </a:ext>
            </a:extLst>
          </p:cNvPr>
          <p:cNvCxnSpPr/>
          <p:nvPr userDrawn="1"/>
        </p:nvCxnSpPr>
        <p:spPr>
          <a:xfrm flipH="1">
            <a:off x="484725" y="5285214"/>
            <a:ext cx="9398518" cy="0"/>
          </a:xfrm>
          <a:prstGeom prst="line">
            <a:avLst/>
          </a:prstGeom>
          <a:ln w="25400">
            <a:solidFill>
              <a:srgbClr val="072A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675A7024-1CE0-4F1E-8179-17E55D45C3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162" y="5338142"/>
            <a:ext cx="436379" cy="436416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2D2AC8D-C80A-41CA-81E3-6B626C8633C6}"/>
              </a:ext>
            </a:extLst>
          </p:cNvPr>
          <p:cNvCxnSpPr/>
          <p:nvPr userDrawn="1"/>
        </p:nvCxnSpPr>
        <p:spPr>
          <a:xfrm flipH="1">
            <a:off x="484725" y="803364"/>
            <a:ext cx="9398518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6844" y="5378294"/>
            <a:ext cx="1086398" cy="37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8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9049" y="161337"/>
            <a:ext cx="7440307" cy="555537"/>
          </a:xfrm>
        </p:spPr>
        <p:txBody>
          <a:bodyPr lIns="0" tIns="0" rIns="0" bIns="0"/>
          <a:lstStyle>
            <a:lvl1pPr>
              <a:defRPr sz="361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8248" y="1987521"/>
            <a:ext cx="4409168" cy="261931"/>
          </a:xfrm>
        </p:spPr>
        <p:txBody>
          <a:bodyPr lIns="0" tIns="0" rIns="0" bIns="0"/>
          <a:lstStyle>
            <a:lvl1pPr>
              <a:defRPr sz="1702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6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549">
              <a:spcBef>
                <a:spcPts val="26"/>
              </a:spcBef>
            </a:pPr>
            <a:r>
              <a:rPr lang="en" spc="-5"/>
              <a:t>https://efficientml.ai</a:t>
            </a:r>
            <a:endParaRPr lang="en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6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55670">
              <a:spcBef>
                <a:spcPts val="15"/>
              </a:spcBef>
            </a:pPr>
            <a:fld id="{81D60167-4931-47E6-BA6A-407CBD079E47}" type="slidenum">
              <a:rPr lang="en-US" altLang="ko-KR" spc="10" smtClean="0"/>
              <a:pPr marL="55670">
                <a:spcBef>
                  <a:spcPts val="15"/>
                </a:spcBef>
              </a:pPr>
              <a:t>‹#›</a:t>
            </a:fld>
            <a:endParaRPr lang="en-US" altLang="ko-KR" spc="10" dirty="0"/>
          </a:p>
        </p:txBody>
      </p:sp>
    </p:spTree>
    <p:extLst>
      <p:ext uri="{BB962C8B-B14F-4D97-AF65-F5344CB8AC3E}">
        <p14:creationId xmlns:p14="http://schemas.microsoft.com/office/powerpoint/2010/main" val="3307499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44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 dirty="0"/>
              <a:t>IRIS Lab., SKKU</a:t>
            </a:r>
          </a:p>
        </p:txBody>
      </p:sp>
      <p:sp>
        <p:nvSpPr>
          <p:cNvPr id="45" name="TextBox 10"/>
          <p:cNvSpPr txBox="1"/>
          <p:nvPr/>
        </p:nvSpPr>
        <p:spPr>
          <a:xfrm>
            <a:off x="8547566" y="5587457"/>
            <a:ext cx="1638054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de-DE" altLang="ko-KR" sz="902" dirty="0"/>
              <a:t>Jong Hwan Ko (</a:t>
            </a:r>
            <a:r>
              <a:rPr lang="de-DE" altLang="ko-KR" sz="902" dirty="0" err="1"/>
              <a:t>jhko@skku.edu</a:t>
            </a:r>
            <a:r>
              <a:rPr lang="de-DE" altLang="ko-KR" sz="902" dirty="0"/>
              <a:t>)</a:t>
            </a:r>
          </a:p>
        </p:txBody>
      </p:sp>
      <p:sp>
        <p:nvSpPr>
          <p:cNvPr id="46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87265" y="28812"/>
            <a:ext cx="9993443" cy="498750"/>
          </a:xfrm>
          <a:prstGeom prst="rect">
            <a:avLst/>
          </a:prstGeom>
        </p:spPr>
        <p:txBody>
          <a:bodyPr tIns="18000" bIns="0">
            <a:noAutofit/>
          </a:bodyPr>
          <a:lstStyle>
            <a:lvl1pPr>
              <a:defRPr sz="3154" b="1" baseline="0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989976" y="5570303"/>
            <a:ext cx="241411" cy="26545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49" name="Google Shape;7;p1"/>
          <p:cNvSpPr/>
          <p:nvPr/>
        </p:nvSpPr>
        <p:spPr>
          <a:xfrm>
            <a:off x="-4376" y="62257"/>
            <a:ext cx="191638" cy="831610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50" name="Google Shape;58;p11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80955" y="535478"/>
            <a:ext cx="10006053" cy="395010"/>
          </a:xfrm>
          <a:prstGeom prst="rect">
            <a:avLst/>
          </a:prstGeom>
        </p:spPr>
        <p:txBody>
          <a:bodyPr tIns="18000" bIns="0">
            <a:noAutofit/>
          </a:bodyPr>
          <a:lstStyle>
            <a:lvl1pPr marL="0" indent="0">
              <a:defRPr sz="2253" b="1" i="1">
                <a:latin typeface="Raleway" pitchFamily="2" charset="0"/>
                <a:ea typeface="NanumGothic" panose="020D0604000000000000" pitchFamily="34" charset="-127"/>
              </a:defRPr>
            </a:lvl1pPr>
          </a:lstStyle>
          <a:p>
            <a:r>
              <a:rPr dirty="0"/>
              <a:t>Put subtitle (if any) here</a:t>
            </a:r>
          </a:p>
        </p:txBody>
      </p:sp>
      <p:sp>
        <p:nvSpPr>
          <p:cNvPr id="4" name="Body Level One…">
            <a:extLst>
              <a:ext uri="{FF2B5EF4-FFF2-40B4-BE49-F238E27FC236}">
                <a16:creationId xmlns:a16="http://schemas.microsoft.com/office/drawing/2014/main" id="{ED12B53F-49DF-5B8A-44F0-6E66B967A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7265" y="946501"/>
            <a:ext cx="9993443" cy="4595072"/>
          </a:xfrm>
          <a:prstGeom prst="rect">
            <a:avLst/>
          </a:prstGeom>
        </p:spPr>
        <p:txBody>
          <a:bodyPr/>
          <a:lstStyle>
            <a:lvl1pPr marL="205582" indent="-196644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●"/>
              <a:tabLst/>
              <a:defRPr sz="2027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1pPr>
            <a:lvl2pPr marL="505911" indent="-198432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Source Sans Pro"/>
              <a:buChar char="○"/>
              <a:tabLst/>
              <a:defRPr sz="1802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2pPr>
            <a:lvl3pPr marL="804450" indent="-200219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Wingdings" pitchFamily="2" charset="2"/>
              <a:buChar char="§"/>
              <a:tabLst/>
              <a:defRPr sz="1577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3pPr>
            <a:lvl4pPr marL="1051149" indent="-148377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Arial" panose="020B0604020202020204" pitchFamily="34" charset="0"/>
              <a:buChar char="•"/>
              <a:tabLst/>
              <a:defRPr sz="1352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4pPr>
            <a:lvl5pPr marL="1310362" indent="-159103">
              <a:lnSpc>
                <a:spcPct val="120000"/>
              </a:lnSpc>
              <a:spcBef>
                <a:spcPts val="0"/>
              </a:spcBef>
              <a:buClr>
                <a:srgbClr val="11437A"/>
              </a:buClr>
              <a:buSzPts val="1400"/>
              <a:buFont typeface="맑은 고딕"/>
              <a:buChar char="-"/>
              <a:tabLst/>
              <a:defRPr sz="1239" b="0" i="0">
                <a:solidFill>
                  <a:srgbClr val="000000"/>
                </a:solidFill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61877905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/>
          <p:nvPr/>
        </p:nvSpPr>
        <p:spPr>
          <a:xfrm>
            <a:off x="1" y="5573595"/>
            <a:ext cx="10367963" cy="25888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3" name="TextBox 2"/>
          <p:cNvSpPr txBox="1"/>
          <p:nvPr/>
        </p:nvSpPr>
        <p:spPr>
          <a:xfrm>
            <a:off x="182345" y="5587459"/>
            <a:ext cx="846170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sz="902" dirty="0"/>
              <a:t>IRIS Lab., SKKU</a:t>
            </a:r>
          </a:p>
        </p:txBody>
      </p:sp>
      <p:sp>
        <p:nvSpPr>
          <p:cNvPr id="4" name="TextBox 10"/>
          <p:cNvSpPr txBox="1"/>
          <p:nvPr/>
        </p:nvSpPr>
        <p:spPr>
          <a:xfrm>
            <a:off x="8547566" y="5587457"/>
            <a:ext cx="1638054" cy="231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1487" rIns="51487" anchor="ctr">
            <a:spAutoFit/>
          </a:bodyPr>
          <a:lstStyle>
            <a:lvl1pPr algn="r">
              <a:defRPr sz="8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r>
              <a:rPr lang="en-US" sz="902" dirty="0"/>
              <a:t>Jong Hwan Ko (</a:t>
            </a:r>
            <a:r>
              <a:rPr lang="en-US" sz="902" dirty="0" err="1"/>
              <a:t>jhko@skku.edu</a:t>
            </a:r>
            <a:r>
              <a:rPr lang="en-US" sz="902" dirty="0"/>
              <a:t>)</a:t>
            </a:r>
            <a:endParaRPr sz="902" dirty="0"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550914" y="826873"/>
            <a:ext cx="9015842" cy="158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grpSp>
        <p:nvGrpSpPr>
          <p:cNvPr id="10" name="Group 4"/>
          <p:cNvGrpSpPr/>
          <p:nvPr/>
        </p:nvGrpSpPr>
        <p:grpSpPr>
          <a:xfrm>
            <a:off x="7517258" y="4537003"/>
            <a:ext cx="2623411" cy="781279"/>
            <a:chOff x="0" y="0"/>
            <a:chExt cx="2313709" cy="688988"/>
          </a:xfrm>
        </p:grpSpPr>
        <p:grpSp>
          <p:nvGrpSpPr>
            <p:cNvPr id="8" name="Google Shape;33;p7"/>
            <p:cNvGrpSpPr/>
            <p:nvPr/>
          </p:nvGrpSpPr>
          <p:grpSpPr>
            <a:xfrm>
              <a:off x="-1" y="-1"/>
              <a:ext cx="2313711" cy="688990"/>
              <a:chOff x="0" y="0"/>
              <a:chExt cx="2313709" cy="688988"/>
            </a:xfrm>
          </p:grpSpPr>
          <p:pic>
            <p:nvPicPr>
              <p:cNvPr id="6" name="Google Shape;34;p7" descr="Google Shape;34;p7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-1"/>
                <a:ext cx="688988" cy="68899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" name="Google Shape;35;p7" descr="Google Shape;35;p7"/>
              <p:cNvPicPr>
                <a:picLocks noChangeAspect="1"/>
              </p:cNvPicPr>
              <p:nvPr/>
            </p:nvPicPr>
            <p:blipFill>
              <a:blip r:embed="rId10"/>
              <a:srcRect t="24172" b="23380"/>
              <a:stretch>
                <a:fillRect/>
              </a:stretch>
            </p:blipFill>
            <p:spPr>
              <a:xfrm>
                <a:off x="1000012" y="-1"/>
                <a:ext cx="1313699" cy="68899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9" name="Straight Connector 3"/>
            <p:cNvSpPr/>
            <p:nvPr/>
          </p:nvSpPr>
          <p:spPr>
            <a:xfrm flipH="1">
              <a:off x="853095" y="0"/>
              <a:ext cx="1" cy="688988"/>
            </a:xfrm>
            <a:prstGeom prst="line">
              <a:avLst/>
            </a:prstGeom>
            <a:noFill/>
            <a:ln w="12700" cap="flat">
              <a:solidFill>
                <a:srgbClr val="11437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027"/>
            </a:p>
          </p:txBody>
        </p:sp>
      </p:grpSp>
      <p:sp>
        <p:nvSpPr>
          <p:cNvPr id="11" name="Google Shape;7;p1"/>
          <p:cNvSpPr/>
          <p:nvPr/>
        </p:nvSpPr>
        <p:spPr>
          <a:xfrm>
            <a:off x="-1" y="802336"/>
            <a:ext cx="191638" cy="2227392"/>
          </a:xfrm>
          <a:prstGeom prst="rect">
            <a:avLst/>
          </a:prstGeom>
          <a:solidFill>
            <a:srgbClr val="11437A"/>
          </a:solidFill>
          <a:ln w="12700">
            <a:miter lim="400000"/>
          </a:ln>
        </p:spPr>
        <p:txBody>
          <a:bodyPr lIns="51487" rIns="51487" anchor="ctr"/>
          <a:lstStyle/>
          <a:p>
            <a:pPr>
              <a:defRPr>
                <a:solidFill>
                  <a:srgbClr val="000000"/>
                </a:solidFill>
              </a:defRPr>
            </a:pPr>
            <a:endParaRPr sz="2027"/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xfrm>
            <a:off x="550914" y="461174"/>
            <a:ext cx="9015842" cy="73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309673" y="5273109"/>
            <a:ext cx="241411" cy="26545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ctr">
              <a:defRPr sz="1125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6213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ransition spd="med"/>
  <p:txStyles>
    <p:titleStyle>
      <a:lvl1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1pPr>
      <a:lvl2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2pPr>
      <a:lvl3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3pPr>
      <a:lvl4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4pPr>
      <a:lvl5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5pPr>
      <a:lvl6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6pPr>
      <a:lvl7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7pPr>
      <a:lvl8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8pPr>
      <a:lvl9pPr marL="0" marR="0" indent="0" algn="l" defTabSz="1029697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54" b="0" i="0" u="none" strike="noStrike" cap="none" spc="0" baseline="0">
          <a:solidFill>
            <a:srgbClr val="11437A"/>
          </a:solidFill>
          <a:uFillTx/>
          <a:latin typeface="Raleway Bold"/>
          <a:ea typeface="Raleway Bold"/>
          <a:cs typeface="Raleway Bold"/>
          <a:sym typeface="Raleway Bold"/>
        </a:defRPr>
      </a:lvl9pPr>
    </p:titleStyle>
    <p:bodyStyle>
      <a:lvl1pPr marL="357534" marR="0" indent="-200219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1pPr>
      <a:lvl2pPr marL="357534" marR="0" indent="328932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2pPr>
      <a:lvl3pPr marL="357534" marR="0" indent="858080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3pPr>
      <a:lvl4pPr marL="357534" marR="0" indent="1372929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4pPr>
      <a:lvl5pPr marL="357534" marR="0" indent="1887778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5pPr>
      <a:lvl6pPr marL="357534" marR="0" indent="2402626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6pPr>
      <a:lvl7pPr marL="357534" marR="0" indent="2917473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7pPr>
      <a:lvl8pPr marL="357534" marR="0" indent="3432323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8pPr>
      <a:lvl9pPr marL="357534" marR="0" indent="3947170" algn="l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4" b="0" i="0" u="none" strike="noStrike" cap="none" spc="0" baseline="0">
          <a:solidFill>
            <a:srgbClr val="11437A"/>
          </a:solidFill>
          <a:uFillTx/>
          <a:latin typeface="Raleway Regular"/>
          <a:ea typeface="Raleway Regular"/>
          <a:cs typeface="Raleway Regular"/>
          <a:sym typeface="Raleway Regular"/>
        </a:defRPr>
      </a:lvl9pPr>
    </p:bodyStyle>
    <p:otherStyle>
      <a:lvl1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1pPr>
      <a:lvl2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2pPr>
      <a:lvl3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3pPr>
      <a:lvl4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4pPr>
      <a:lvl5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5pPr>
      <a:lvl6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6pPr>
      <a:lvl7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7pPr>
      <a:lvl8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8pPr>
      <a:lvl9pPr marL="0" marR="0" indent="0" algn="ctr" defTabSz="102969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ooter Placeholder 2"/>
          <p:cNvSpPr txBox="1"/>
          <p:nvPr/>
        </p:nvSpPr>
        <p:spPr>
          <a:xfrm>
            <a:off x="405261" y="-3756"/>
            <a:ext cx="3395510" cy="266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1839" rIns="51839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defTabSz="1036838" latinLnBrk="0" hangingPunct="0">
              <a:defRPr/>
            </a:pPr>
            <a:r>
              <a:rPr sz="1134" kern="0"/>
              <a:t>Lecture 6: Polling and Interrupt</a:t>
            </a:r>
          </a:p>
        </p:txBody>
      </p:sp>
      <p:sp>
        <p:nvSpPr>
          <p:cNvPr id="72" name="Google Shape;56;p11"/>
          <p:cNvSpPr txBox="1">
            <a:spLocks noGrp="1"/>
          </p:cNvSpPr>
          <p:nvPr>
            <p:ph type="title"/>
          </p:nvPr>
        </p:nvSpPr>
        <p:spPr>
          <a:xfrm>
            <a:off x="293174" y="769691"/>
            <a:ext cx="9962700" cy="1589551"/>
          </a:xfrm>
          <a:prstGeom prst="rect">
            <a:avLst/>
          </a:prstGeom>
        </p:spPr>
        <p:txBody>
          <a:bodyPr>
            <a:noAutofit/>
          </a:bodyPr>
          <a:lstStyle/>
          <a:p>
            <a:br>
              <a:rPr lang="en-US" altLang="ko-KR" sz="2400" dirty="0"/>
            </a:br>
            <a:r>
              <a:rPr lang="ko-KR" altLang="en-US" sz="3600" dirty="0" err="1">
                <a:latin typeface="NanumGothic" panose="020D0604000000000000" pitchFamily="34" charset="-127"/>
              </a:rPr>
              <a:t>미래차</a:t>
            </a:r>
            <a:r>
              <a:rPr lang="ko-KR" altLang="en-US" sz="3600" dirty="0">
                <a:latin typeface="NanumGothic" panose="020D0604000000000000" pitchFamily="34" charset="-127"/>
              </a:rPr>
              <a:t> 부트캠프</a:t>
            </a:r>
            <a:br>
              <a:rPr lang="en-US" altLang="ko-KR" sz="3600" dirty="0">
                <a:latin typeface="NanumGothic" panose="020D0604000000000000" pitchFamily="34" charset="-127"/>
              </a:rPr>
            </a:br>
            <a:r>
              <a:rPr lang="en-US" altLang="ko-KR" sz="4800" dirty="0">
                <a:latin typeface="NanumGothic" panose="020D0604000000000000" pitchFamily="34" charset="-127"/>
              </a:rPr>
              <a:t>On-device</a:t>
            </a:r>
            <a:r>
              <a:rPr lang="ko-KR" altLang="en-US" sz="4800" dirty="0">
                <a:latin typeface="NanumGothic" panose="020D0604000000000000" pitchFamily="34" charset="-127"/>
              </a:rPr>
              <a:t> </a:t>
            </a:r>
            <a:r>
              <a:rPr lang="en-US" altLang="ko-KR" sz="4800" dirty="0">
                <a:latin typeface="NanumGothic" panose="020D0604000000000000" pitchFamily="34" charset="-127"/>
              </a:rPr>
              <a:t>AI</a:t>
            </a:r>
            <a:endParaRPr lang="en-US" sz="4000" dirty="0"/>
          </a:p>
        </p:txBody>
      </p:sp>
      <p:sp>
        <p:nvSpPr>
          <p:cNvPr id="74" name="Google Shape;36;p7"/>
          <p:cNvSpPr txBox="1">
            <a:spLocks noGrp="1"/>
          </p:cNvSpPr>
          <p:nvPr>
            <p:ph type="body" sz="quarter" idx="22"/>
          </p:nvPr>
        </p:nvSpPr>
        <p:spPr>
          <a:xfrm>
            <a:off x="550911" y="3470817"/>
            <a:ext cx="5660540" cy="1477295"/>
          </a:xfrm>
          <a:prstGeom prst="rect">
            <a:avLst/>
          </a:prstGeom>
        </p:spPr>
        <p:txBody>
          <a:bodyPr/>
          <a:lstStyle/>
          <a:p>
            <a:pPr marL="0">
              <a:defRPr sz="14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r>
              <a:rPr lang="en-US" dirty="0"/>
              <a:t>Jong Hwan Ko</a:t>
            </a:r>
            <a:endParaRPr dirty="0"/>
          </a:p>
          <a:p>
            <a:pPr marL="0">
              <a:defRPr sz="10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/>
              <a:t>Associate Professor</a:t>
            </a: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 err="1"/>
              <a:t>SungKyunKwan</a:t>
            </a:r>
            <a:r>
              <a:rPr lang="en-US" dirty="0"/>
              <a:t> University, Korea</a:t>
            </a: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/>
              <a:t>Department of Electrical and Computer Engineering</a:t>
            </a: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dirty="0"/>
          </a:p>
          <a:p>
            <a:pPr marL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dirty="0" err="1"/>
              <a:t>jhko@skku.edu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B0AC8-A735-BC7E-9427-F1FEFBCBC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Pruning – Contents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6D1F59-CF8E-CFB7-6F65-F2CF47A32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Introduction to pruning</a:t>
            </a:r>
          </a:p>
          <a:p>
            <a:pPr lvl="1"/>
            <a:r>
              <a:rPr kumimoji="1" lang="en" altLang="ko-KR" dirty="0"/>
              <a:t>What is pruning?</a:t>
            </a:r>
          </a:p>
          <a:p>
            <a:pPr lvl="1"/>
            <a:r>
              <a:rPr kumimoji="1" lang="en" altLang="ko-KR" dirty="0"/>
              <a:t>Iterative pruning</a:t>
            </a:r>
          </a:p>
          <a:p>
            <a:r>
              <a:rPr kumimoji="1" lang="en" altLang="ko-KR" dirty="0"/>
              <a:t>Pruning granularity</a:t>
            </a:r>
          </a:p>
          <a:p>
            <a:pPr lvl="1"/>
            <a:r>
              <a:rPr kumimoji="1" lang="en" altLang="ko-KR" dirty="0"/>
              <a:t>In what pattern should we prune the neural network?</a:t>
            </a:r>
          </a:p>
          <a:p>
            <a:r>
              <a:rPr kumimoji="1" lang="en" altLang="ko-KR" dirty="0"/>
              <a:t>Pruning criterion</a:t>
            </a:r>
          </a:p>
          <a:p>
            <a:pPr lvl="1"/>
            <a:r>
              <a:rPr kumimoji="1" lang="en" altLang="ko-KR" dirty="0"/>
              <a:t>What synapses/neurons should we prune?</a:t>
            </a:r>
          </a:p>
          <a:p>
            <a:r>
              <a:rPr kumimoji="1" lang="en" altLang="ko-KR" dirty="0"/>
              <a:t>Pruning ratio</a:t>
            </a:r>
          </a:p>
          <a:p>
            <a:pPr lvl="1"/>
            <a:r>
              <a:rPr kumimoji="1" lang="en" altLang="ko-KR" dirty="0"/>
              <a:t>What should target sparsity be for each layer?</a:t>
            </a:r>
          </a:p>
          <a:p>
            <a:r>
              <a:rPr kumimoji="1" lang="en" altLang="ko-KR" dirty="0"/>
              <a:t>Regularization for pruning</a:t>
            </a:r>
          </a:p>
          <a:p>
            <a:pPr lvl="1"/>
            <a:r>
              <a:rPr kumimoji="1" lang="en-US" altLang="ko-KR" dirty="0"/>
              <a:t>How can we make the model pruning-friendly?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D1C3F5-7174-6C9F-8C87-95A0964E296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72900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A0274-A207-2C61-15C0-6E1F6B51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Pruning – Background</a:t>
            </a:r>
            <a:endParaRPr kumimoji="1" lang="ko-KR" altLang="en-US" dirty="0"/>
          </a:p>
        </p:txBody>
      </p:sp>
      <p:sp>
        <p:nvSpPr>
          <p:cNvPr id="52" name="object 3">
            <a:extLst>
              <a:ext uri="{FF2B5EF4-FFF2-40B4-BE49-F238E27FC236}">
                <a16:creationId xmlns:a16="http://schemas.microsoft.com/office/drawing/2014/main" id="{275F480B-9F7C-BD16-98DC-C61B951EDC9B}"/>
              </a:ext>
            </a:extLst>
          </p:cNvPr>
          <p:cNvSpPr/>
          <p:nvPr/>
        </p:nvSpPr>
        <p:spPr>
          <a:xfrm>
            <a:off x="1564256" y="4273945"/>
            <a:ext cx="649717" cy="920869"/>
          </a:xfrm>
          <a:custGeom>
            <a:avLst/>
            <a:gdLst/>
            <a:ahLst/>
            <a:cxnLst/>
            <a:rect l="l" t="t" r="r" b="b"/>
            <a:pathLst>
              <a:path w="1259839" h="1785620">
                <a:moveTo>
                  <a:pt x="629642" y="0"/>
                </a:moveTo>
                <a:lnTo>
                  <a:pt x="581505" y="4609"/>
                </a:lnTo>
                <a:lnTo>
                  <a:pt x="534788" y="18440"/>
                </a:lnTo>
                <a:lnTo>
                  <a:pt x="490936" y="41495"/>
                </a:lnTo>
                <a:lnTo>
                  <a:pt x="451397" y="73779"/>
                </a:lnTo>
                <a:lnTo>
                  <a:pt x="422242" y="108677"/>
                </a:lnTo>
                <a:lnTo>
                  <a:pt x="400375" y="147097"/>
                </a:lnTo>
                <a:lnTo>
                  <a:pt x="385798" y="188033"/>
                </a:lnTo>
                <a:lnTo>
                  <a:pt x="378509" y="230480"/>
                </a:lnTo>
                <a:lnTo>
                  <a:pt x="378509" y="273429"/>
                </a:lnTo>
                <a:lnTo>
                  <a:pt x="385798" y="315876"/>
                </a:lnTo>
                <a:lnTo>
                  <a:pt x="400375" y="356812"/>
                </a:lnTo>
                <a:lnTo>
                  <a:pt x="422242" y="395232"/>
                </a:lnTo>
                <a:lnTo>
                  <a:pt x="451397" y="430129"/>
                </a:lnTo>
                <a:lnTo>
                  <a:pt x="486294" y="459284"/>
                </a:lnTo>
                <a:lnTo>
                  <a:pt x="524714" y="481151"/>
                </a:lnTo>
                <a:lnTo>
                  <a:pt x="565650" y="495728"/>
                </a:lnTo>
                <a:lnTo>
                  <a:pt x="608097" y="503017"/>
                </a:lnTo>
                <a:lnTo>
                  <a:pt x="651046" y="503017"/>
                </a:lnTo>
                <a:lnTo>
                  <a:pt x="693493" y="495728"/>
                </a:lnTo>
                <a:lnTo>
                  <a:pt x="734429" y="481151"/>
                </a:lnTo>
                <a:lnTo>
                  <a:pt x="772849" y="459284"/>
                </a:lnTo>
                <a:lnTo>
                  <a:pt x="807747" y="430129"/>
                </a:lnTo>
                <a:lnTo>
                  <a:pt x="836902" y="395232"/>
                </a:lnTo>
                <a:lnTo>
                  <a:pt x="858768" y="356812"/>
                </a:lnTo>
                <a:lnTo>
                  <a:pt x="873346" y="315876"/>
                </a:lnTo>
                <a:lnTo>
                  <a:pt x="880635" y="273429"/>
                </a:lnTo>
                <a:lnTo>
                  <a:pt x="880635" y="230480"/>
                </a:lnTo>
                <a:lnTo>
                  <a:pt x="873346" y="188033"/>
                </a:lnTo>
                <a:lnTo>
                  <a:pt x="858768" y="147097"/>
                </a:lnTo>
                <a:lnTo>
                  <a:pt x="836902" y="108677"/>
                </a:lnTo>
                <a:lnTo>
                  <a:pt x="807747" y="73779"/>
                </a:lnTo>
                <a:lnTo>
                  <a:pt x="768230" y="41495"/>
                </a:lnTo>
                <a:lnTo>
                  <a:pt x="724426" y="18440"/>
                </a:lnTo>
                <a:lnTo>
                  <a:pt x="677756" y="4609"/>
                </a:lnTo>
                <a:lnTo>
                  <a:pt x="629642" y="0"/>
                </a:lnTo>
                <a:close/>
              </a:path>
              <a:path w="1259839" h="1785620">
                <a:moveTo>
                  <a:pt x="826993" y="537801"/>
                </a:moveTo>
                <a:lnTo>
                  <a:pt x="432151" y="537801"/>
                </a:lnTo>
                <a:lnTo>
                  <a:pt x="415890" y="539468"/>
                </a:lnTo>
                <a:lnTo>
                  <a:pt x="373991" y="562906"/>
                </a:lnTo>
                <a:lnTo>
                  <a:pt x="6065" y="953146"/>
                </a:lnTo>
                <a:lnTo>
                  <a:pt x="0" y="968237"/>
                </a:lnTo>
                <a:lnTo>
                  <a:pt x="1402" y="976259"/>
                </a:lnTo>
                <a:lnTo>
                  <a:pt x="5787" y="983411"/>
                </a:lnTo>
                <a:lnTo>
                  <a:pt x="68688" y="1052031"/>
                </a:lnTo>
                <a:lnTo>
                  <a:pt x="75144" y="1056882"/>
                </a:lnTo>
                <a:lnTo>
                  <a:pt x="82676" y="1059057"/>
                </a:lnTo>
                <a:lnTo>
                  <a:pt x="90491" y="1058486"/>
                </a:lnTo>
                <a:lnTo>
                  <a:pt x="97837" y="1055099"/>
                </a:lnTo>
                <a:lnTo>
                  <a:pt x="341494" y="883271"/>
                </a:lnTo>
                <a:lnTo>
                  <a:pt x="349622" y="880447"/>
                </a:lnTo>
                <a:lnTo>
                  <a:pt x="1184675" y="880447"/>
                </a:lnTo>
                <a:lnTo>
                  <a:pt x="885292" y="562906"/>
                </a:lnTo>
                <a:lnTo>
                  <a:pt x="872903" y="552216"/>
                </a:lnTo>
                <a:lnTo>
                  <a:pt x="858738" y="544338"/>
                </a:lnTo>
                <a:lnTo>
                  <a:pt x="843276" y="539468"/>
                </a:lnTo>
                <a:lnTo>
                  <a:pt x="826993" y="537801"/>
                </a:lnTo>
                <a:close/>
              </a:path>
              <a:path w="1259839" h="1785620">
                <a:moveTo>
                  <a:pt x="1184675" y="880447"/>
                </a:moveTo>
                <a:lnTo>
                  <a:pt x="909535" y="880447"/>
                </a:lnTo>
                <a:lnTo>
                  <a:pt x="917650" y="883271"/>
                </a:lnTo>
                <a:lnTo>
                  <a:pt x="1161446" y="1055099"/>
                </a:lnTo>
                <a:lnTo>
                  <a:pt x="1168762" y="1058486"/>
                </a:lnTo>
                <a:lnTo>
                  <a:pt x="1176543" y="1059057"/>
                </a:lnTo>
                <a:lnTo>
                  <a:pt x="1184027" y="1056882"/>
                </a:lnTo>
                <a:lnTo>
                  <a:pt x="1190455" y="1052031"/>
                </a:lnTo>
                <a:lnTo>
                  <a:pt x="1253357" y="983411"/>
                </a:lnTo>
                <a:lnTo>
                  <a:pt x="1257765" y="976259"/>
                </a:lnTo>
                <a:lnTo>
                  <a:pt x="1259215" y="968237"/>
                </a:lnTo>
                <a:lnTo>
                  <a:pt x="1257701" y="960235"/>
                </a:lnTo>
                <a:lnTo>
                  <a:pt x="1253218" y="953146"/>
                </a:lnTo>
                <a:lnTo>
                  <a:pt x="1184675" y="880447"/>
                </a:lnTo>
                <a:close/>
              </a:path>
              <a:path w="1259839" h="1785620">
                <a:moveTo>
                  <a:pt x="909535" y="880447"/>
                </a:moveTo>
                <a:lnTo>
                  <a:pt x="349639" y="880447"/>
                </a:lnTo>
                <a:lnTo>
                  <a:pt x="357542" y="882211"/>
                </a:lnTo>
                <a:lnTo>
                  <a:pt x="363529" y="887678"/>
                </a:lnTo>
                <a:lnTo>
                  <a:pt x="365901" y="895963"/>
                </a:lnTo>
                <a:lnTo>
                  <a:pt x="365901" y="1017581"/>
                </a:lnTo>
                <a:lnTo>
                  <a:pt x="893382" y="1017581"/>
                </a:lnTo>
                <a:lnTo>
                  <a:pt x="893382" y="895963"/>
                </a:lnTo>
                <a:lnTo>
                  <a:pt x="895732" y="887678"/>
                </a:lnTo>
                <a:lnTo>
                  <a:pt x="901673" y="882211"/>
                </a:lnTo>
                <a:lnTo>
                  <a:pt x="909535" y="880447"/>
                </a:lnTo>
                <a:close/>
              </a:path>
              <a:path w="1259839" h="1785620">
                <a:moveTo>
                  <a:pt x="363251" y="1119814"/>
                </a:moveTo>
                <a:lnTo>
                  <a:pt x="127266" y="1357473"/>
                </a:lnTo>
                <a:lnTo>
                  <a:pt x="120486" y="1367679"/>
                </a:lnTo>
                <a:lnTo>
                  <a:pt x="118152" y="1379278"/>
                </a:lnTo>
                <a:lnTo>
                  <a:pt x="120270" y="1390922"/>
                </a:lnTo>
                <a:lnTo>
                  <a:pt x="126848" y="1401267"/>
                </a:lnTo>
                <a:lnTo>
                  <a:pt x="485010" y="1777002"/>
                </a:lnTo>
                <a:lnTo>
                  <a:pt x="492730" y="1782621"/>
                </a:lnTo>
                <a:lnTo>
                  <a:pt x="501640" y="1785090"/>
                </a:lnTo>
                <a:lnTo>
                  <a:pt x="510847" y="1784317"/>
                </a:lnTo>
                <a:lnTo>
                  <a:pt x="584872" y="1732790"/>
                </a:lnTo>
                <a:lnTo>
                  <a:pt x="595642" y="1708594"/>
                </a:lnTo>
                <a:lnTo>
                  <a:pt x="592960" y="1699596"/>
                </a:lnTo>
                <a:lnTo>
                  <a:pt x="464786" y="1446316"/>
                </a:lnTo>
                <a:lnTo>
                  <a:pt x="461822" y="1437176"/>
                </a:lnTo>
                <a:lnTo>
                  <a:pt x="461742" y="1427760"/>
                </a:lnTo>
                <a:lnTo>
                  <a:pt x="464439" y="1418731"/>
                </a:lnTo>
                <a:lnTo>
                  <a:pt x="469807" y="1410751"/>
                </a:lnTo>
                <a:lnTo>
                  <a:pt x="559069" y="1313958"/>
                </a:lnTo>
                <a:lnTo>
                  <a:pt x="363251" y="1119814"/>
                </a:lnTo>
                <a:close/>
              </a:path>
              <a:path w="1259839" h="1785620">
                <a:moveTo>
                  <a:pt x="896032" y="1119814"/>
                </a:moveTo>
                <a:lnTo>
                  <a:pt x="700214" y="1313958"/>
                </a:lnTo>
                <a:lnTo>
                  <a:pt x="789476" y="1410751"/>
                </a:lnTo>
                <a:lnTo>
                  <a:pt x="794822" y="1418731"/>
                </a:lnTo>
                <a:lnTo>
                  <a:pt x="797472" y="1427760"/>
                </a:lnTo>
                <a:lnTo>
                  <a:pt x="797343" y="1437177"/>
                </a:lnTo>
                <a:lnTo>
                  <a:pt x="794357" y="1446316"/>
                </a:lnTo>
                <a:lnTo>
                  <a:pt x="666183" y="1699596"/>
                </a:lnTo>
                <a:lnTo>
                  <a:pt x="663503" y="1708594"/>
                </a:lnTo>
                <a:lnTo>
                  <a:pt x="739685" y="1780210"/>
                </a:lnTo>
                <a:lnTo>
                  <a:pt x="757573" y="1785090"/>
                </a:lnTo>
                <a:lnTo>
                  <a:pt x="766531" y="1782621"/>
                </a:lnTo>
                <a:lnTo>
                  <a:pt x="774273" y="1777002"/>
                </a:lnTo>
                <a:lnTo>
                  <a:pt x="1132435" y="1401267"/>
                </a:lnTo>
                <a:lnTo>
                  <a:pt x="1139013" y="1390922"/>
                </a:lnTo>
                <a:lnTo>
                  <a:pt x="1141132" y="1379278"/>
                </a:lnTo>
                <a:lnTo>
                  <a:pt x="1138797" y="1367679"/>
                </a:lnTo>
                <a:lnTo>
                  <a:pt x="1132017" y="1357473"/>
                </a:lnTo>
                <a:lnTo>
                  <a:pt x="896032" y="11198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4">
            <a:extLst>
              <a:ext uri="{FF2B5EF4-FFF2-40B4-BE49-F238E27FC236}">
                <a16:creationId xmlns:a16="http://schemas.microsoft.com/office/drawing/2014/main" id="{9A4FDA5B-B372-21A2-73BC-11C48ABF2FDE}"/>
              </a:ext>
            </a:extLst>
          </p:cNvPr>
          <p:cNvSpPr/>
          <p:nvPr/>
        </p:nvSpPr>
        <p:spPr>
          <a:xfrm>
            <a:off x="3566821" y="4460799"/>
            <a:ext cx="981452" cy="733551"/>
          </a:xfrm>
          <a:custGeom>
            <a:avLst/>
            <a:gdLst/>
            <a:ahLst/>
            <a:cxnLst/>
            <a:rect l="l" t="t" r="r" b="b"/>
            <a:pathLst>
              <a:path w="1903095" h="1422400">
                <a:moveTo>
                  <a:pt x="294758" y="1143000"/>
                </a:moveTo>
                <a:lnTo>
                  <a:pt x="249982" y="1143000"/>
                </a:lnTo>
                <a:lnTo>
                  <a:pt x="218189" y="1168400"/>
                </a:lnTo>
                <a:lnTo>
                  <a:pt x="194587" y="1193800"/>
                </a:lnTo>
                <a:lnTo>
                  <a:pt x="182418" y="1219200"/>
                </a:lnTo>
                <a:lnTo>
                  <a:pt x="170518" y="1257300"/>
                </a:lnTo>
                <a:lnTo>
                  <a:pt x="148434" y="1282700"/>
                </a:lnTo>
                <a:lnTo>
                  <a:pt x="120465" y="1295400"/>
                </a:lnTo>
                <a:lnTo>
                  <a:pt x="74299" y="1320800"/>
                </a:lnTo>
                <a:lnTo>
                  <a:pt x="61846" y="1333500"/>
                </a:lnTo>
                <a:lnTo>
                  <a:pt x="53026" y="1333500"/>
                </a:lnTo>
                <a:lnTo>
                  <a:pt x="47315" y="1346200"/>
                </a:lnTo>
                <a:lnTo>
                  <a:pt x="44530" y="1358900"/>
                </a:lnTo>
                <a:lnTo>
                  <a:pt x="11122" y="1358900"/>
                </a:lnTo>
                <a:lnTo>
                  <a:pt x="3176" y="1371600"/>
                </a:lnTo>
                <a:lnTo>
                  <a:pt x="0" y="1384300"/>
                </a:lnTo>
                <a:lnTo>
                  <a:pt x="14542" y="1409700"/>
                </a:lnTo>
                <a:lnTo>
                  <a:pt x="51936" y="1422400"/>
                </a:lnTo>
                <a:lnTo>
                  <a:pt x="250602" y="1422400"/>
                </a:lnTo>
                <a:lnTo>
                  <a:pt x="275601" y="1397000"/>
                </a:lnTo>
                <a:lnTo>
                  <a:pt x="292657" y="1384300"/>
                </a:lnTo>
                <a:lnTo>
                  <a:pt x="311718" y="1371600"/>
                </a:lnTo>
                <a:lnTo>
                  <a:pt x="937262" y="1371600"/>
                </a:lnTo>
                <a:lnTo>
                  <a:pt x="950841" y="1346200"/>
                </a:lnTo>
                <a:lnTo>
                  <a:pt x="953562" y="1308100"/>
                </a:lnTo>
                <a:lnTo>
                  <a:pt x="947606" y="1257300"/>
                </a:lnTo>
                <a:lnTo>
                  <a:pt x="935153" y="1219200"/>
                </a:lnTo>
                <a:lnTo>
                  <a:pt x="934549" y="1206500"/>
                </a:lnTo>
                <a:lnTo>
                  <a:pt x="937382" y="1206500"/>
                </a:lnTo>
                <a:lnTo>
                  <a:pt x="942856" y="1193800"/>
                </a:lnTo>
                <a:lnTo>
                  <a:pt x="1274048" y="1193800"/>
                </a:lnTo>
                <a:lnTo>
                  <a:pt x="1281715" y="1155700"/>
                </a:lnTo>
                <a:lnTo>
                  <a:pt x="302262" y="1155700"/>
                </a:lnTo>
                <a:lnTo>
                  <a:pt x="294758" y="1143000"/>
                </a:lnTo>
                <a:close/>
              </a:path>
              <a:path w="1903095" h="1422400">
                <a:moveTo>
                  <a:pt x="937262" y="1371600"/>
                </a:moveTo>
                <a:lnTo>
                  <a:pt x="311718" y="1371600"/>
                </a:lnTo>
                <a:lnTo>
                  <a:pt x="337073" y="1384300"/>
                </a:lnTo>
                <a:lnTo>
                  <a:pt x="373906" y="1397000"/>
                </a:lnTo>
                <a:lnTo>
                  <a:pt x="419471" y="1409700"/>
                </a:lnTo>
                <a:lnTo>
                  <a:pt x="471026" y="1422400"/>
                </a:lnTo>
                <a:lnTo>
                  <a:pt x="868809" y="1422400"/>
                </a:lnTo>
                <a:lnTo>
                  <a:pt x="910645" y="1397000"/>
                </a:lnTo>
                <a:lnTo>
                  <a:pt x="937262" y="1371600"/>
                </a:lnTo>
                <a:close/>
              </a:path>
              <a:path w="1903095" h="1422400">
                <a:moveTo>
                  <a:pt x="1274048" y="1193800"/>
                </a:moveTo>
                <a:lnTo>
                  <a:pt x="1059397" y="1193800"/>
                </a:lnTo>
                <a:lnTo>
                  <a:pt x="1060881" y="1206500"/>
                </a:lnTo>
                <a:lnTo>
                  <a:pt x="1071901" y="1257300"/>
                </a:lnTo>
                <a:lnTo>
                  <a:pt x="1087298" y="1295400"/>
                </a:lnTo>
                <a:lnTo>
                  <a:pt x="1107245" y="1333500"/>
                </a:lnTo>
                <a:lnTo>
                  <a:pt x="1131913" y="1371600"/>
                </a:lnTo>
                <a:lnTo>
                  <a:pt x="1161475" y="1397000"/>
                </a:lnTo>
                <a:lnTo>
                  <a:pt x="1196102" y="1422400"/>
                </a:lnTo>
                <a:lnTo>
                  <a:pt x="1371172" y="1422400"/>
                </a:lnTo>
                <a:lnTo>
                  <a:pt x="1390455" y="1409700"/>
                </a:lnTo>
                <a:lnTo>
                  <a:pt x="1445921" y="1409700"/>
                </a:lnTo>
                <a:lnTo>
                  <a:pt x="1419530" y="1358900"/>
                </a:lnTo>
                <a:lnTo>
                  <a:pt x="1385572" y="1333500"/>
                </a:lnTo>
                <a:lnTo>
                  <a:pt x="1341483" y="1308100"/>
                </a:lnTo>
                <a:lnTo>
                  <a:pt x="1286598" y="1295400"/>
                </a:lnTo>
                <a:lnTo>
                  <a:pt x="1270498" y="1295400"/>
                </a:lnTo>
                <a:lnTo>
                  <a:pt x="1268743" y="1282700"/>
                </a:lnTo>
                <a:lnTo>
                  <a:pt x="1267609" y="1244600"/>
                </a:lnTo>
                <a:lnTo>
                  <a:pt x="1274048" y="1193800"/>
                </a:lnTo>
                <a:close/>
              </a:path>
              <a:path w="1903095" h="1422400">
                <a:moveTo>
                  <a:pt x="1445921" y="1409700"/>
                </a:moveTo>
                <a:lnTo>
                  <a:pt x="1390455" y="1409700"/>
                </a:lnTo>
                <a:lnTo>
                  <a:pt x="1423200" y="1422400"/>
                </a:lnTo>
                <a:lnTo>
                  <a:pt x="1445921" y="1409700"/>
                </a:lnTo>
                <a:close/>
              </a:path>
              <a:path w="1903095" h="1422400">
                <a:moveTo>
                  <a:pt x="1637675" y="977900"/>
                </a:moveTo>
                <a:lnTo>
                  <a:pt x="1382271" y="977900"/>
                </a:lnTo>
                <a:lnTo>
                  <a:pt x="1392276" y="990600"/>
                </a:lnTo>
                <a:lnTo>
                  <a:pt x="1403446" y="1016000"/>
                </a:lnTo>
                <a:lnTo>
                  <a:pt x="1415857" y="1028700"/>
                </a:lnTo>
                <a:lnTo>
                  <a:pt x="1429586" y="1041400"/>
                </a:lnTo>
                <a:lnTo>
                  <a:pt x="1434078" y="1041400"/>
                </a:lnTo>
                <a:lnTo>
                  <a:pt x="1437770" y="1054100"/>
                </a:lnTo>
                <a:lnTo>
                  <a:pt x="1440569" y="1054100"/>
                </a:lnTo>
                <a:lnTo>
                  <a:pt x="1442382" y="1066800"/>
                </a:lnTo>
                <a:lnTo>
                  <a:pt x="1453552" y="1104900"/>
                </a:lnTo>
                <a:lnTo>
                  <a:pt x="1471626" y="1155700"/>
                </a:lnTo>
                <a:lnTo>
                  <a:pt x="1495353" y="1193800"/>
                </a:lnTo>
                <a:lnTo>
                  <a:pt x="1523482" y="1244600"/>
                </a:lnTo>
                <a:lnTo>
                  <a:pt x="1554762" y="1295400"/>
                </a:lnTo>
                <a:lnTo>
                  <a:pt x="1587945" y="1346200"/>
                </a:lnTo>
                <a:lnTo>
                  <a:pt x="1621779" y="1371600"/>
                </a:lnTo>
                <a:lnTo>
                  <a:pt x="1655014" y="1397000"/>
                </a:lnTo>
                <a:lnTo>
                  <a:pt x="1686399" y="1409700"/>
                </a:lnTo>
                <a:lnTo>
                  <a:pt x="1738644" y="1409700"/>
                </a:lnTo>
                <a:lnTo>
                  <a:pt x="1769458" y="1422400"/>
                </a:lnTo>
                <a:lnTo>
                  <a:pt x="1823945" y="1422400"/>
                </a:lnTo>
                <a:lnTo>
                  <a:pt x="1831440" y="1409700"/>
                </a:lnTo>
                <a:lnTo>
                  <a:pt x="1831176" y="1397000"/>
                </a:lnTo>
                <a:lnTo>
                  <a:pt x="1821205" y="1384300"/>
                </a:lnTo>
                <a:lnTo>
                  <a:pt x="1902891" y="1384300"/>
                </a:lnTo>
                <a:lnTo>
                  <a:pt x="1900162" y="1371600"/>
                </a:lnTo>
                <a:lnTo>
                  <a:pt x="1896963" y="1358900"/>
                </a:lnTo>
                <a:lnTo>
                  <a:pt x="1893529" y="1346200"/>
                </a:lnTo>
                <a:lnTo>
                  <a:pt x="1890095" y="1346200"/>
                </a:lnTo>
                <a:lnTo>
                  <a:pt x="1885061" y="1333500"/>
                </a:lnTo>
                <a:lnTo>
                  <a:pt x="1878114" y="1320800"/>
                </a:lnTo>
                <a:lnTo>
                  <a:pt x="1869494" y="1308100"/>
                </a:lnTo>
                <a:lnTo>
                  <a:pt x="1859444" y="1308100"/>
                </a:lnTo>
                <a:lnTo>
                  <a:pt x="1829434" y="1295400"/>
                </a:lnTo>
                <a:lnTo>
                  <a:pt x="1797816" y="1282700"/>
                </a:lnTo>
                <a:lnTo>
                  <a:pt x="1761861" y="1270000"/>
                </a:lnTo>
                <a:lnTo>
                  <a:pt x="1711016" y="1270000"/>
                </a:lnTo>
                <a:lnTo>
                  <a:pt x="1704249" y="1257300"/>
                </a:lnTo>
                <a:lnTo>
                  <a:pt x="1698936" y="1257300"/>
                </a:lnTo>
                <a:lnTo>
                  <a:pt x="1695477" y="1244600"/>
                </a:lnTo>
                <a:lnTo>
                  <a:pt x="1689431" y="1206500"/>
                </a:lnTo>
                <a:lnTo>
                  <a:pt x="1686562" y="1168400"/>
                </a:lnTo>
                <a:lnTo>
                  <a:pt x="1683058" y="1130300"/>
                </a:lnTo>
                <a:lnTo>
                  <a:pt x="1675106" y="1079500"/>
                </a:lnTo>
                <a:lnTo>
                  <a:pt x="1658892" y="1016000"/>
                </a:lnTo>
                <a:lnTo>
                  <a:pt x="1637675" y="977900"/>
                </a:lnTo>
                <a:close/>
              </a:path>
              <a:path w="1903095" h="1422400">
                <a:moveTo>
                  <a:pt x="1896433" y="1397000"/>
                </a:moveTo>
                <a:lnTo>
                  <a:pt x="1867524" y="1397000"/>
                </a:lnTo>
                <a:lnTo>
                  <a:pt x="1875365" y="1409700"/>
                </a:lnTo>
                <a:lnTo>
                  <a:pt x="1886723" y="1409700"/>
                </a:lnTo>
                <a:lnTo>
                  <a:pt x="1896433" y="1397000"/>
                </a:lnTo>
                <a:close/>
              </a:path>
              <a:path w="1903095" h="1422400">
                <a:moveTo>
                  <a:pt x="1902891" y="1384300"/>
                </a:moveTo>
                <a:lnTo>
                  <a:pt x="1855708" y="1384300"/>
                </a:lnTo>
                <a:lnTo>
                  <a:pt x="1860926" y="1397000"/>
                </a:lnTo>
                <a:lnTo>
                  <a:pt x="1902490" y="1397000"/>
                </a:lnTo>
                <a:lnTo>
                  <a:pt x="1902891" y="1384300"/>
                </a:lnTo>
                <a:close/>
              </a:path>
              <a:path w="1903095" h="1422400">
                <a:moveTo>
                  <a:pt x="1589291" y="0"/>
                </a:moveTo>
                <a:lnTo>
                  <a:pt x="1488805" y="0"/>
                </a:lnTo>
                <a:lnTo>
                  <a:pt x="1429236" y="12700"/>
                </a:lnTo>
                <a:lnTo>
                  <a:pt x="1382371" y="38100"/>
                </a:lnTo>
                <a:lnTo>
                  <a:pt x="1346703" y="63500"/>
                </a:lnTo>
                <a:lnTo>
                  <a:pt x="1320730" y="101600"/>
                </a:lnTo>
                <a:lnTo>
                  <a:pt x="1302947" y="139700"/>
                </a:lnTo>
                <a:lnTo>
                  <a:pt x="1291849" y="177800"/>
                </a:lnTo>
                <a:lnTo>
                  <a:pt x="1285932" y="215900"/>
                </a:lnTo>
                <a:lnTo>
                  <a:pt x="1283691" y="254000"/>
                </a:lnTo>
                <a:lnTo>
                  <a:pt x="1283622" y="279400"/>
                </a:lnTo>
                <a:lnTo>
                  <a:pt x="1283798" y="279400"/>
                </a:lnTo>
                <a:lnTo>
                  <a:pt x="1278505" y="292100"/>
                </a:lnTo>
                <a:lnTo>
                  <a:pt x="1243623" y="292100"/>
                </a:lnTo>
                <a:lnTo>
                  <a:pt x="1229420" y="304800"/>
                </a:lnTo>
                <a:lnTo>
                  <a:pt x="1218749" y="342900"/>
                </a:lnTo>
                <a:lnTo>
                  <a:pt x="1216201" y="355600"/>
                </a:lnTo>
                <a:lnTo>
                  <a:pt x="1216466" y="381000"/>
                </a:lnTo>
                <a:lnTo>
                  <a:pt x="1219026" y="393700"/>
                </a:lnTo>
                <a:lnTo>
                  <a:pt x="1223361" y="419100"/>
                </a:lnTo>
                <a:lnTo>
                  <a:pt x="1224224" y="419100"/>
                </a:lnTo>
                <a:lnTo>
                  <a:pt x="1223365" y="431800"/>
                </a:lnTo>
                <a:lnTo>
                  <a:pt x="1220794" y="444500"/>
                </a:lnTo>
                <a:lnTo>
                  <a:pt x="1216517" y="444500"/>
                </a:lnTo>
                <a:lnTo>
                  <a:pt x="1191883" y="469900"/>
                </a:lnTo>
                <a:lnTo>
                  <a:pt x="1160347" y="482600"/>
                </a:lnTo>
                <a:lnTo>
                  <a:pt x="1122527" y="495300"/>
                </a:lnTo>
                <a:lnTo>
                  <a:pt x="1079040" y="520700"/>
                </a:lnTo>
                <a:lnTo>
                  <a:pt x="1030503" y="533400"/>
                </a:lnTo>
                <a:lnTo>
                  <a:pt x="977535" y="546100"/>
                </a:lnTo>
                <a:lnTo>
                  <a:pt x="920752" y="558800"/>
                </a:lnTo>
                <a:lnTo>
                  <a:pt x="860772" y="571500"/>
                </a:lnTo>
                <a:lnTo>
                  <a:pt x="733689" y="596900"/>
                </a:lnTo>
                <a:lnTo>
                  <a:pt x="469583" y="596900"/>
                </a:lnTo>
                <a:lnTo>
                  <a:pt x="420186" y="609600"/>
                </a:lnTo>
                <a:lnTo>
                  <a:pt x="367577" y="635000"/>
                </a:lnTo>
                <a:lnTo>
                  <a:pt x="317250" y="673100"/>
                </a:lnTo>
                <a:lnTo>
                  <a:pt x="274682" y="723900"/>
                </a:lnTo>
                <a:lnTo>
                  <a:pt x="258019" y="762000"/>
                </a:lnTo>
                <a:lnTo>
                  <a:pt x="245350" y="800100"/>
                </a:lnTo>
                <a:lnTo>
                  <a:pt x="237359" y="838200"/>
                </a:lnTo>
                <a:lnTo>
                  <a:pt x="234731" y="889000"/>
                </a:lnTo>
                <a:lnTo>
                  <a:pt x="238151" y="927100"/>
                </a:lnTo>
                <a:lnTo>
                  <a:pt x="248303" y="977900"/>
                </a:lnTo>
                <a:lnTo>
                  <a:pt x="265872" y="1028700"/>
                </a:lnTo>
                <a:lnTo>
                  <a:pt x="291544" y="1092200"/>
                </a:lnTo>
                <a:lnTo>
                  <a:pt x="326001" y="1143000"/>
                </a:lnTo>
                <a:lnTo>
                  <a:pt x="327308" y="1155700"/>
                </a:lnTo>
                <a:lnTo>
                  <a:pt x="1281715" y="1155700"/>
                </a:lnTo>
                <a:lnTo>
                  <a:pt x="1284271" y="1143000"/>
                </a:lnTo>
                <a:lnTo>
                  <a:pt x="1294484" y="1079500"/>
                </a:lnTo>
                <a:lnTo>
                  <a:pt x="1295698" y="1066800"/>
                </a:lnTo>
                <a:lnTo>
                  <a:pt x="1299160" y="1054100"/>
                </a:lnTo>
                <a:lnTo>
                  <a:pt x="1304602" y="1054100"/>
                </a:lnTo>
                <a:lnTo>
                  <a:pt x="1319204" y="1041400"/>
                </a:lnTo>
                <a:lnTo>
                  <a:pt x="1333447" y="1016000"/>
                </a:lnTo>
                <a:lnTo>
                  <a:pt x="1347291" y="1003300"/>
                </a:lnTo>
                <a:lnTo>
                  <a:pt x="1360696" y="977900"/>
                </a:lnTo>
                <a:lnTo>
                  <a:pt x="1637675" y="977900"/>
                </a:lnTo>
                <a:lnTo>
                  <a:pt x="1630603" y="965200"/>
                </a:lnTo>
                <a:lnTo>
                  <a:pt x="1621886" y="914400"/>
                </a:lnTo>
                <a:lnTo>
                  <a:pt x="1613045" y="850900"/>
                </a:lnTo>
                <a:lnTo>
                  <a:pt x="1602307" y="800100"/>
                </a:lnTo>
                <a:lnTo>
                  <a:pt x="1587900" y="749300"/>
                </a:lnTo>
                <a:lnTo>
                  <a:pt x="1587025" y="749300"/>
                </a:lnTo>
                <a:lnTo>
                  <a:pt x="1589263" y="736600"/>
                </a:lnTo>
                <a:lnTo>
                  <a:pt x="1600845" y="736600"/>
                </a:lnTo>
                <a:lnTo>
                  <a:pt x="1654091" y="723900"/>
                </a:lnTo>
                <a:lnTo>
                  <a:pt x="1696247" y="698500"/>
                </a:lnTo>
                <a:lnTo>
                  <a:pt x="1728041" y="660400"/>
                </a:lnTo>
                <a:lnTo>
                  <a:pt x="1750201" y="622300"/>
                </a:lnTo>
                <a:lnTo>
                  <a:pt x="1763456" y="584200"/>
                </a:lnTo>
                <a:lnTo>
                  <a:pt x="1768533" y="546100"/>
                </a:lnTo>
                <a:lnTo>
                  <a:pt x="1776713" y="508000"/>
                </a:lnTo>
                <a:lnTo>
                  <a:pt x="1795332" y="469900"/>
                </a:lnTo>
                <a:lnTo>
                  <a:pt x="1819526" y="419100"/>
                </a:lnTo>
                <a:lnTo>
                  <a:pt x="1844431" y="381000"/>
                </a:lnTo>
                <a:lnTo>
                  <a:pt x="1865183" y="330200"/>
                </a:lnTo>
                <a:lnTo>
                  <a:pt x="1876917" y="279400"/>
                </a:lnTo>
                <a:lnTo>
                  <a:pt x="1874770" y="228600"/>
                </a:lnTo>
                <a:lnTo>
                  <a:pt x="1864948" y="203200"/>
                </a:lnTo>
                <a:lnTo>
                  <a:pt x="1849564" y="165100"/>
                </a:lnTo>
                <a:lnTo>
                  <a:pt x="1828655" y="139700"/>
                </a:lnTo>
                <a:lnTo>
                  <a:pt x="1802258" y="101600"/>
                </a:lnTo>
                <a:lnTo>
                  <a:pt x="1770413" y="76200"/>
                </a:lnTo>
                <a:lnTo>
                  <a:pt x="1733155" y="50800"/>
                </a:lnTo>
                <a:lnTo>
                  <a:pt x="1690524" y="25400"/>
                </a:lnTo>
                <a:lnTo>
                  <a:pt x="1642557" y="12700"/>
                </a:lnTo>
                <a:lnTo>
                  <a:pt x="1589291" y="0"/>
                </a:lnTo>
                <a:close/>
              </a:path>
              <a:path w="1903095" h="1422400">
                <a:moveTo>
                  <a:pt x="705537" y="571500"/>
                </a:moveTo>
                <a:lnTo>
                  <a:pt x="596035" y="571500"/>
                </a:lnTo>
                <a:lnTo>
                  <a:pt x="581476" y="584200"/>
                </a:lnTo>
                <a:lnTo>
                  <a:pt x="575396" y="596900"/>
                </a:lnTo>
                <a:lnTo>
                  <a:pt x="721015" y="596900"/>
                </a:lnTo>
                <a:lnTo>
                  <a:pt x="715524" y="584200"/>
                </a:lnTo>
                <a:lnTo>
                  <a:pt x="711073" y="584200"/>
                </a:lnTo>
                <a:lnTo>
                  <a:pt x="705537" y="571500"/>
                </a:lnTo>
                <a:close/>
              </a:path>
              <a:path w="1903095" h="1422400">
                <a:moveTo>
                  <a:pt x="694227" y="558800"/>
                </a:moveTo>
                <a:lnTo>
                  <a:pt x="636629" y="558800"/>
                </a:lnTo>
                <a:lnTo>
                  <a:pt x="613840" y="571500"/>
                </a:lnTo>
                <a:lnTo>
                  <a:pt x="699921" y="571500"/>
                </a:lnTo>
                <a:lnTo>
                  <a:pt x="694227" y="558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">
            <a:extLst>
              <a:ext uri="{FF2B5EF4-FFF2-40B4-BE49-F238E27FC236}">
                <a16:creationId xmlns:a16="http://schemas.microsoft.com/office/drawing/2014/main" id="{6288C4AF-A4B2-36B3-7B13-6EC3879D85D2}"/>
              </a:ext>
            </a:extLst>
          </p:cNvPr>
          <p:cNvSpPr/>
          <p:nvPr/>
        </p:nvSpPr>
        <p:spPr>
          <a:xfrm>
            <a:off x="5786359" y="4002574"/>
            <a:ext cx="880589" cy="1192021"/>
          </a:xfrm>
          <a:custGeom>
            <a:avLst/>
            <a:gdLst/>
            <a:ahLst/>
            <a:cxnLst/>
            <a:rect l="l" t="t" r="r" b="b"/>
            <a:pathLst>
              <a:path w="1707515" h="2311400">
                <a:moveTo>
                  <a:pt x="1460128" y="2298700"/>
                </a:moveTo>
                <a:lnTo>
                  <a:pt x="1352134" y="2298700"/>
                </a:lnTo>
                <a:lnTo>
                  <a:pt x="1357968" y="2311400"/>
                </a:lnTo>
                <a:lnTo>
                  <a:pt x="1449947" y="2311400"/>
                </a:lnTo>
                <a:lnTo>
                  <a:pt x="1460128" y="2298700"/>
                </a:lnTo>
                <a:close/>
              </a:path>
              <a:path w="1707515" h="2311400">
                <a:moveTo>
                  <a:pt x="1483967" y="2273300"/>
                </a:moveTo>
                <a:lnTo>
                  <a:pt x="1342890" y="2273300"/>
                </a:lnTo>
                <a:lnTo>
                  <a:pt x="1344989" y="2286000"/>
                </a:lnTo>
                <a:lnTo>
                  <a:pt x="1347939" y="2298700"/>
                </a:lnTo>
                <a:lnTo>
                  <a:pt x="1468952" y="2298700"/>
                </a:lnTo>
                <a:lnTo>
                  <a:pt x="1476173" y="2286000"/>
                </a:lnTo>
                <a:lnTo>
                  <a:pt x="1483967" y="2273300"/>
                </a:lnTo>
                <a:close/>
              </a:path>
              <a:path w="1707515" h="2311400">
                <a:moveTo>
                  <a:pt x="1698062" y="2159000"/>
                </a:moveTo>
                <a:lnTo>
                  <a:pt x="1324073" y="2159000"/>
                </a:lnTo>
                <a:lnTo>
                  <a:pt x="1326482" y="2171700"/>
                </a:lnTo>
                <a:lnTo>
                  <a:pt x="1324785" y="2171700"/>
                </a:lnTo>
                <a:lnTo>
                  <a:pt x="1321770" y="2184400"/>
                </a:lnTo>
                <a:lnTo>
                  <a:pt x="1320545" y="2184400"/>
                </a:lnTo>
                <a:lnTo>
                  <a:pt x="1321016" y="2209800"/>
                </a:lnTo>
                <a:lnTo>
                  <a:pt x="1322618" y="2222500"/>
                </a:lnTo>
                <a:lnTo>
                  <a:pt x="1324785" y="2235200"/>
                </a:lnTo>
                <a:lnTo>
                  <a:pt x="1328345" y="2247900"/>
                </a:lnTo>
                <a:lnTo>
                  <a:pt x="1338577" y="2273300"/>
                </a:lnTo>
                <a:lnTo>
                  <a:pt x="1493330" y="2273300"/>
                </a:lnTo>
                <a:lnTo>
                  <a:pt x="1504954" y="2260600"/>
                </a:lnTo>
                <a:lnTo>
                  <a:pt x="1562348" y="2260600"/>
                </a:lnTo>
                <a:lnTo>
                  <a:pt x="1590788" y="2247900"/>
                </a:lnTo>
                <a:lnTo>
                  <a:pt x="1627061" y="2235200"/>
                </a:lnTo>
                <a:lnTo>
                  <a:pt x="1660261" y="2209800"/>
                </a:lnTo>
                <a:lnTo>
                  <a:pt x="1685543" y="2184400"/>
                </a:lnTo>
                <a:lnTo>
                  <a:pt x="1698062" y="2159000"/>
                </a:lnTo>
                <a:close/>
              </a:path>
              <a:path w="1707515" h="2311400">
                <a:moveTo>
                  <a:pt x="677943" y="1828800"/>
                </a:moveTo>
                <a:lnTo>
                  <a:pt x="39076" y="1828800"/>
                </a:lnTo>
                <a:lnTo>
                  <a:pt x="24752" y="1879600"/>
                </a:lnTo>
                <a:lnTo>
                  <a:pt x="22132" y="1879600"/>
                </a:lnTo>
                <a:lnTo>
                  <a:pt x="21528" y="1892300"/>
                </a:lnTo>
                <a:lnTo>
                  <a:pt x="22960" y="1905000"/>
                </a:lnTo>
                <a:lnTo>
                  <a:pt x="26448" y="1917700"/>
                </a:lnTo>
                <a:lnTo>
                  <a:pt x="29374" y="1930400"/>
                </a:lnTo>
                <a:lnTo>
                  <a:pt x="31289" y="1943100"/>
                </a:lnTo>
                <a:lnTo>
                  <a:pt x="31397" y="1955800"/>
                </a:lnTo>
                <a:lnTo>
                  <a:pt x="28898" y="1968500"/>
                </a:lnTo>
                <a:lnTo>
                  <a:pt x="23721" y="1981200"/>
                </a:lnTo>
                <a:lnTo>
                  <a:pt x="16905" y="1981200"/>
                </a:lnTo>
                <a:lnTo>
                  <a:pt x="9298" y="2006600"/>
                </a:lnTo>
                <a:lnTo>
                  <a:pt x="1747" y="2032000"/>
                </a:lnTo>
                <a:lnTo>
                  <a:pt x="0" y="2070100"/>
                </a:lnTo>
                <a:lnTo>
                  <a:pt x="6331" y="2108200"/>
                </a:lnTo>
                <a:lnTo>
                  <a:pt x="15038" y="2146300"/>
                </a:lnTo>
                <a:lnTo>
                  <a:pt x="20417" y="2159000"/>
                </a:lnTo>
                <a:lnTo>
                  <a:pt x="25883" y="2171700"/>
                </a:lnTo>
                <a:lnTo>
                  <a:pt x="37004" y="2171700"/>
                </a:lnTo>
                <a:lnTo>
                  <a:pt x="52651" y="2184400"/>
                </a:lnTo>
                <a:lnTo>
                  <a:pt x="71693" y="2171700"/>
                </a:lnTo>
                <a:lnTo>
                  <a:pt x="85899" y="2159000"/>
                </a:lnTo>
                <a:lnTo>
                  <a:pt x="92087" y="2146300"/>
                </a:lnTo>
                <a:lnTo>
                  <a:pt x="95335" y="2120900"/>
                </a:lnTo>
                <a:lnTo>
                  <a:pt x="100718" y="2095500"/>
                </a:lnTo>
                <a:lnTo>
                  <a:pt x="109643" y="2070100"/>
                </a:lnTo>
                <a:lnTo>
                  <a:pt x="119233" y="2057400"/>
                </a:lnTo>
                <a:lnTo>
                  <a:pt x="128144" y="2044700"/>
                </a:lnTo>
                <a:lnTo>
                  <a:pt x="135031" y="2019300"/>
                </a:lnTo>
                <a:lnTo>
                  <a:pt x="152305" y="2006600"/>
                </a:lnTo>
                <a:lnTo>
                  <a:pt x="180845" y="1981200"/>
                </a:lnTo>
                <a:lnTo>
                  <a:pt x="208818" y="1968500"/>
                </a:lnTo>
                <a:lnTo>
                  <a:pt x="224390" y="1943100"/>
                </a:lnTo>
                <a:lnTo>
                  <a:pt x="273865" y="1930400"/>
                </a:lnTo>
                <a:lnTo>
                  <a:pt x="391194" y="1905000"/>
                </a:lnTo>
                <a:lnTo>
                  <a:pt x="445692" y="1892300"/>
                </a:lnTo>
                <a:lnTo>
                  <a:pt x="488507" y="1879600"/>
                </a:lnTo>
                <a:lnTo>
                  <a:pt x="548183" y="1866900"/>
                </a:lnTo>
                <a:lnTo>
                  <a:pt x="618888" y="1854200"/>
                </a:lnTo>
                <a:lnTo>
                  <a:pt x="677943" y="1828800"/>
                </a:lnTo>
                <a:close/>
              </a:path>
              <a:path w="1707515" h="2311400">
                <a:moveTo>
                  <a:pt x="1331571" y="1651000"/>
                </a:moveTo>
                <a:lnTo>
                  <a:pt x="1191355" y="1651000"/>
                </a:lnTo>
                <a:lnTo>
                  <a:pt x="1190748" y="1663700"/>
                </a:lnTo>
                <a:lnTo>
                  <a:pt x="1186470" y="1689100"/>
                </a:lnTo>
                <a:lnTo>
                  <a:pt x="1185883" y="1739900"/>
                </a:lnTo>
                <a:lnTo>
                  <a:pt x="1189707" y="1778000"/>
                </a:lnTo>
                <a:lnTo>
                  <a:pt x="1198664" y="1828800"/>
                </a:lnTo>
                <a:lnTo>
                  <a:pt x="1222957" y="1905000"/>
                </a:lnTo>
                <a:lnTo>
                  <a:pt x="1251472" y="1968500"/>
                </a:lnTo>
                <a:lnTo>
                  <a:pt x="1277386" y="2006600"/>
                </a:lnTo>
                <a:lnTo>
                  <a:pt x="1293875" y="2032000"/>
                </a:lnTo>
                <a:lnTo>
                  <a:pt x="1305955" y="2057400"/>
                </a:lnTo>
                <a:lnTo>
                  <a:pt x="1314890" y="2082800"/>
                </a:lnTo>
                <a:lnTo>
                  <a:pt x="1320433" y="2108200"/>
                </a:lnTo>
                <a:lnTo>
                  <a:pt x="1322335" y="2108200"/>
                </a:lnTo>
                <a:lnTo>
                  <a:pt x="1325402" y="2120900"/>
                </a:lnTo>
                <a:lnTo>
                  <a:pt x="1327444" y="2133600"/>
                </a:lnTo>
                <a:lnTo>
                  <a:pt x="1328580" y="2146300"/>
                </a:lnTo>
                <a:lnTo>
                  <a:pt x="1328859" y="2146300"/>
                </a:lnTo>
                <a:lnTo>
                  <a:pt x="1327047" y="2159000"/>
                </a:lnTo>
                <a:lnTo>
                  <a:pt x="1703818" y="2159000"/>
                </a:lnTo>
                <a:lnTo>
                  <a:pt x="1706979" y="2146300"/>
                </a:lnTo>
                <a:lnTo>
                  <a:pt x="1705506" y="2133600"/>
                </a:lnTo>
                <a:lnTo>
                  <a:pt x="1553217" y="2133600"/>
                </a:lnTo>
                <a:lnTo>
                  <a:pt x="1534503" y="2120900"/>
                </a:lnTo>
                <a:lnTo>
                  <a:pt x="1497275" y="2120900"/>
                </a:lnTo>
                <a:lnTo>
                  <a:pt x="1477885" y="2108200"/>
                </a:lnTo>
                <a:lnTo>
                  <a:pt x="1451473" y="2095500"/>
                </a:lnTo>
                <a:lnTo>
                  <a:pt x="1435641" y="2095500"/>
                </a:lnTo>
                <a:lnTo>
                  <a:pt x="1416489" y="1993900"/>
                </a:lnTo>
                <a:lnTo>
                  <a:pt x="1403961" y="1930400"/>
                </a:lnTo>
                <a:lnTo>
                  <a:pt x="1392847" y="1879600"/>
                </a:lnTo>
                <a:lnTo>
                  <a:pt x="1385684" y="1841500"/>
                </a:lnTo>
                <a:lnTo>
                  <a:pt x="1369569" y="1778000"/>
                </a:lnTo>
                <a:lnTo>
                  <a:pt x="1352258" y="1727200"/>
                </a:lnTo>
                <a:lnTo>
                  <a:pt x="1338226" y="1676400"/>
                </a:lnTo>
                <a:lnTo>
                  <a:pt x="1331947" y="1663700"/>
                </a:lnTo>
                <a:lnTo>
                  <a:pt x="1331571" y="1651000"/>
                </a:lnTo>
                <a:close/>
              </a:path>
              <a:path w="1707515" h="2311400">
                <a:moveTo>
                  <a:pt x="1691465" y="2108200"/>
                </a:moveTo>
                <a:lnTo>
                  <a:pt x="1649062" y="2108200"/>
                </a:lnTo>
                <a:lnTo>
                  <a:pt x="1624746" y="2120900"/>
                </a:lnTo>
                <a:lnTo>
                  <a:pt x="1598515" y="2133600"/>
                </a:lnTo>
                <a:lnTo>
                  <a:pt x="1705506" y="2133600"/>
                </a:lnTo>
                <a:lnTo>
                  <a:pt x="1704033" y="2120900"/>
                </a:lnTo>
                <a:lnTo>
                  <a:pt x="1691465" y="2108200"/>
                </a:lnTo>
                <a:close/>
              </a:path>
              <a:path w="1707515" h="2311400">
                <a:moveTo>
                  <a:pt x="145397" y="1803400"/>
                </a:moveTo>
                <a:lnTo>
                  <a:pt x="55631" y="1803400"/>
                </a:lnTo>
                <a:lnTo>
                  <a:pt x="47881" y="1816100"/>
                </a:lnTo>
                <a:lnTo>
                  <a:pt x="42846" y="1828800"/>
                </a:lnTo>
                <a:lnTo>
                  <a:pt x="194233" y="1828800"/>
                </a:lnTo>
                <a:lnTo>
                  <a:pt x="183206" y="1816100"/>
                </a:lnTo>
                <a:lnTo>
                  <a:pt x="161849" y="1816100"/>
                </a:lnTo>
                <a:lnTo>
                  <a:pt x="145397" y="1803400"/>
                </a:lnTo>
                <a:close/>
              </a:path>
              <a:path w="1707515" h="2311400">
                <a:moveTo>
                  <a:pt x="1071336" y="1244600"/>
                </a:moveTo>
                <a:lnTo>
                  <a:pt x="624995" y="1244600"/>
                </a:lnTo>
                <a:lnTo>
                  <a:pt x="625453" y="1257300"/>
                </a:lnTo>
                <a:lnTo>
                  <a:pt x="628314" y="1270000"/>
                </a:lnTo>
                <a:lnTo>
                  <a:pt x="633100" y="1282700"/>
                </a:lnTo>
                <a:lnTo>
                  <a:pt x="639330" y="1282700"/>
                </a:lnTo>
                <a:lnTo>
                  <a:pt x="638819" y="1320800"/>
                </a:lnTo>
                <a:lnTo>
                  <a:pt x="638764" y="1333500"/>
                </a:lnTo>
                <a:lnTo>
                  <a:pt x="639950" y="1384300"/>
                </a:lnTo>
                <a:lnTo>
                  <a:pt x="640020" y="1397000"/>
                </a:lnTo>
                <a:lnTo>
                  <a:pt x="622767" y="1498600"/>
                </a:lnTo>
                <a:lnTo>
                  <a:pt x="601396" y="1562100"/>
                </a:lnTo>
                <a:lnTo>
                  <a:pt x="582401" y="1600200"/>
                </a:lnTo>
                <a:lnTo>
                  <a:pt x="572965" y="1612900"/>
                </a:lnTo>
                <a:lnTo>
                  <a:pt x="569950" y="1612900"/>
                </a:lnTo>
                <a:lnTo>
                  <a:pt x="564557" y="1625600"/>
                </a:lnTo>
                <a:lnTo>
                  <a:pt x="566369" y="1638300"/>
                </a:lnTo>
                <a:lnTo>
                  <a:pt x="571165" y="1638300"/>
                </a:lnTo>
                <a:lnTo>
                  <a:pt x="578507" y="1651000"/>
                </a:lnTo>
                <a:lnTo>
                  <a:pt x="587322" y="1651000"/>
                </a:lnTo>
                <a:lnTo>
                  <a:pt x="596535" y="1663700"/>
                </a:lnTo>
                <a:lnTo>
                  <a:pt x="606222" y="1663700"/>
                </a:lnTo>
                <a:lnTo>
                  <a:pt x="612543" y="1676400"/>
                </a:lnTo>
                <a:lnTo>
                  <a:pt x="619529" y="1676400"/>
                </a:lnTo>
                <a:lnTo>
                  <a:pt x="617645" y="1689100"/>
                </a:lnTo>
                <a:lnTo>
                  <a:pt x="575841" y="1689100"/>
                </a:lnTo>
                <a:lnTo>
                  <a:pt x="541371" y="1701800"/>
                </a:lnTo>
                <a:lnTo>
                  <a:pt x="504979" y="1714500"/>
                </a:lnTo>
                <a:lnTo>
                  <a:pt x="465136" y="1714500"/>
                </a:lnTo>
                <a:lnTo>
                  <a:pt x="417990" y="1739900"/>
                </a:lnTo>
                <a:lnTo>
                  <a:pt x="376957" y="1765300"/>
                </a:lnTo>
                <a:lnTo>
                  <a:pt x="338806" y="1778000"/>
                </a:lnTo>
                <a:lnTo>
                  <a:pt x="300304" y="1803400"/>
                </a:lnTo>
                <a:lnTo>
                  <a:pt x="258216" y="1816100"/>
                </a:lnTo>
                <a:lnTo>
                  <a:pt x="209312" y="1828800"/>
                </a:lnTo>
                <a:lnTo>
                  <a:pt x="715788" y="1828800"/>
                </a:lnTo>
                <a:lnTo>
                  <a:pt x="721884" y="1816100"/>
                </a:lnTo>
                <a:lnTo>
                  <a:pt x="727558" y="1816100"/>
                </a:lnTo>
                <a:lnTo>
                  <a:pt x="736635" y="1803400"/>
                </a:lnTo>
                <a:lnTo>
                  <a:pt x="745482" y="1803400"/>
                </a:lnTo>
                <a:lnTo>
                  <a:pt x="752294" y="1790700"/>
                </a:lnTo>
                <a:lnTo>
                  <a:pt x="755263" y="1790700"/>
                </a:lnTo>
                <a:lnTo>
                  <a:pt x="778080" y="1752600"/>
                </a:lnTo>
                <a:lnTo>
                  <a:pt x="799473" y="1752600"/>
                </a:lnTo>
                <a:lnTo>
                  <a:pt x="811173" y="1739900"/>
                </a:lnTo>
                <a:lnTo>
                  <a:pt x="818612" y="1739900"/>
                </a:lnTo>
                <a:lnTo>
                  <a:pt x="844946" y="1689100"/>
                </a:lnTo>
                <a:lnTo>
                  <a:pt x="877317" y="1625600"/>
                </a:lnTo>
                <a:lnTo>
                  <a:pt x="905503" y="1574800"/>
                </a:lnTo>
                <a:lnTo>
                  <a:pt x="919279" y="1562100"/>
                </a:lnTo>
                <a:lnTo>
                  <a:pt x="922696" y="1549400"/>
                </a:lnTo>
                <a:lnTo>
                  <a:pt x="1313288" y="1549400"/>
                </a:lnTo>
                <a:lnTo>
                  <a:pt x="1304807" y="1536700"/>
                </a:lnTo>
                <a:lnTo>
                  <a:pt x="1302439" y="1524000"/>
                </a:lnTo>
                <a:lnTo>
                  <a:pt x="1295829" y="1511300"/>
                </a:lnTo>
                <a:lnTo>
                  <a:pt x="1288429" y="1498600"/>
                </a:lnTo>
                <a:lnTo>
                  <a:pt x="1283687" y="1485900"/>
                </a:lnTo>
                <a:lnTo>
                  <a:pt x="1259836" y="1460500"/>
                </a:lnTo>
                <a:lnTo>
                  <a:pt x="1231791" y="1422400"/>
                </a:lnTo>
                <a:lnTo>
                  <a:pt x="1199674" y="1397000"/>
                </a:lnTo>
                <a:lnTo>
                  <a:pt x="1163607" y="1358900"/>
                </a:lnTo>
                <a:lnTo>
                  <a:pt x="1134082" y="1320800"/>
                </a:lnTo>
                <a:lnTo>
                  <a:pt x="1106554" y="1295400"/>
                </a:lnTo>
                <a:lnTo>
                  <a:pt x="1081629" y="1270000"/>
                </a:lnTo>
                <a:lnTo>
                  <a:pt x="1059914" y="1257300"/>
                </a:lnTo>
                <a:lnTo>
                  <a:pt x="1071336" y="1244600"/>
                </a:lnTo>
                <a:close/>
              </a:path>
              <a:path w="1707515" h="2311400">
                <a:moveTo>
                  <a:pt x="1313288" y="1549400"/>
                </a:moveTo>
                <a:lnTo>
                  <a:pt x="936808" y="1549400"/>
                </a:lnTo>
                <a:lnTo>
                  <a:pt x="944312" y="1562100"/>
                </a:lnTo>
                <a:lnTo>
                  <a:pt x="960134" y="1574800"/>
                </a:lnTo>
                <a:lnTo>
                  <a:pt x="983759" y="1600200"/>
                </a:lnTo>
                <a:lnTo>
                  <a:pt x="1014669" y="1625600"/>
                </a:lnTo>
                <a:lnTo>
                  <a:pt x="1056033" y="1663700"/>
                </a:lnTo>
                <a:lnTo>
                  <a:pt x="1089117" y="1701800"/>
                </a:lnTo>
                <a:lnTo>
                  <a:pt x="1111796" y="1714500"/>
                </a:lnTo>
                <a:lnTo>
                  <a:pt x="1137003" y="1714500"/>
                </a:lnTo>
                <a:lnTo>
                  <a:pt x="1155026" y="1689100"/>
                </a:lnTo>
                <a:lnTo>
                  <a:pt x="1171919" y="1663700"/>
                </a:lnTo>
                <a:lnTo>
                  <a:pt x="1183586" y="1651000"/>
                </a:lnTo>
                <a:lnTo>
                  <a:pt x="1331571" y="1651000"/>
                </a:lnTo>
                <a:lnTo>
                  <a:pt x="1331194" y="1638300"/>
                </a:lnTo>
                <a:lnTo>
                  <a:pt x="1331838" y="1625600"/>
                </a:lnTo>
                <a:lnTo>
                  <a:pt x="1332819" y="1612900"/>
                </a:lnTo>
                <a:lnTo>
                  <a:pt x="1333078" y="1600200"/>
                </a:lnTo>
                <a:lnTo>
                  <a:pt x="1332109" y="1587500"/>
                </a:lnTo>
                <a:lnTo>
                  <a:pt x="1329293" y="1574800"/>
                </a:lnTo>
                <a:lnTo>
                  <a:pt x="1323422" y="1562100"/>
                </a:lnTo>
                <a:lnTo>
                  <a:pt x="1313288" y="1549400"/>
                </a:lnTo>
                <a:close/>
              </a:path>
              <a:path w="1707515" h="2311400">
                <a:moveTo>
                  <a:pt x="1068395" y="469900"/>
                </a:moveTo>
                <a:lnTo>
                  <a:pt x="861972" y="469900"/>
                </a:lnTo>
                <a:lnTo>
                  <a:pt x="848649" y="482600"/>
                </a:lnTo>
                <a:lnTo>
                  <a:pt x="822609" y="495300"/>
                </a:lnTo>
                <a:lnTo>
                  <a:pt x="786133" y="520700"/>
                </a:lnTo>
                <a:lnTo>
                  <a:pt x="741500" y="558800"/>
                </a:lnTo>
                <a:lnTo>
                  <a:pt x="690988" y="596900"/>
                </a:lnTo>
                <a:lnTo>
                  <a:pt x="636878" y="647700"/>
                </a:lnTo>
                <a:lnTo>
                  <a:pt x="580881" y="698500"/>
                </a:lnTo>
                <a:lnTo>
                  <a:pt x="577866" y="698500"/>
                </a:lnTo>
                <a:lnTo>
                  <a:pt x="566282" y="711200"/>
                </a:lnTo>
                <a:lnTo>
                  <a:pt x="545859" y="736600"/>
                </a:lnTo>
                <a:lnTo>
                  <a:pt x="525888" y="762000"/>
                </a:lnTo>
                <a:lnTo>
                  <a:pt x="515658" y="774700"/>
                </a:lnTo>
                <a:lnTo>
                  <a:pt x="516496" y="812800"/>
                </a:lnTo>
                <a:lnTo>
                  <a:pt x="521874" y="850900"/>
                </a:lnTo>
                <a:lnTo>
                  <a:pt x="530646" y="889000"/>
                </a:lnTo>
                <a:lnTo>
                  <a:pt x="541668" y="939800"/>
                </a:lnTo>
                <a:lnTo>
                  <a:pt x="557912" y="1003300"/>
                </a:lnTo>
                <a:lnTo>
                  <a:pt x="575282" y="1066800"/>
                </a:lnTo>
                <a:lnTo>
                  <a:pt x="588807" y="1104900"/>
                </a:lnTo>
                <a:lnTo>
                  <a:pt x="593520" y="1143000"/>
                </a:lnTo>
                <a:lnTo>
                  <a:pt x="591731" y="1155700"/>
                </a:lnTo>
                <a:lnTo>
                  <a:pt x="588749" y="1168400"/>
                </a:lnTo>
                <a:lnTo>
                  <a:pt x="586786" y="1181100"/>
                </a:lnTo>
                <a:lnTo>
                  <a:pt x="588054" y="1193800"/>
                </a:lnTo>
                <a:lnTo>
                  <a:pt x="597728" y="1219200"/>
                </a:lnTo>
                <a:lnTo>
                  <a:pt x="610145" y="1231900"/>
                </a:lnTo>
                <a:lnTo>
                  <a:pt x="620752" y="1244600"/>
                </a:lnTo>
                <a:lnTo>
                  <a:pt x="1090721" y="1244600"/>
                </a:lnTo>
                <a:lnTo>
                  <a:pt x="1109314" y="1231900"/>
                </a:lnTo>
                <a:lnTo>
                  <a:pt x="1118362" y="1231900"/>
                </a:lnTo>
                <a:lnTo>
                  <a:pt x="1118405" y="1219200"/>
                </a:lnTo>
                <a:lnTo>
                  <a:pt x="1118680" y="1206500"/>
                </a:lnTo>
                <a:lnTo>
                  <a:pt x="1119409" y="1168400"/>
                </a:lnTo>
                <a:lnTo>
                  <a:pt x="1120532" y="1117600"/>
                </a:lnTo>
                <a:lnTo>
                  <a:pt x="670240" y="1117600"/>
                </a:lnTo>
                <a:lnTo>
                  <a:pt x="667832" y="1104900"/>
                </a:lnTo>
                <a:lnTo>
                  <a:pt x="664774" y="1104900"/>
                </a:lnTo>
                <a:lnTo>
                  <a:pt x="662306" y="1092200"/>
                </a:lnTo>
                <a:lnTo>
                  <a:pt x="657329" y="1054100"/>
                </a:lnTo>
                <a:lnTo>
                  <a:pt x="653483" y="1003300"/>
                </a:lnTo>
                <a:lnTo>
                  <a:pt x="654408" y="952500"/>
                </a:lnTo>
                <a:lnTo>
                  <a:pt x="655580" y="914400"/>
                </a:lnTo>
                <a:lnTo>
                  <a:pt x="653316" y="876300"/>
                </a:lnTo>
                <a:lnTo>
                  <a:pt x="649808" y="850900"/>
                </a:lnTo>
                <a:lnTo>
                  <a:pt x="647246" y="825500"/>
                </a:lnTo>
                <a:lnTo>
                  <a:pt x="689621" y="825500"/>
                </a:lnTo>
                <a:lnTo>
                  <a:pt x="703724" y="812800"/>
                </a:lnTo>
                <a:lnTo>
                  <a:pt x="723371" y="787400"/>
                </a:lnTo>
                <a:lnTo>
                  <a:pt x="732835" y="787400"/>
                </a:lnTo>
                <a:lnTo>
                  <a:pt x="734939" y="774700"/>
                </a:lnTo>
                <a:lnTo>
                  <a:pt x="1228830" y="774700"/>
                </a:lnTo>
                <a:lnTo>
                  <a:pt x="1225258" y="762000"/>
                </a:lnTo>
                <a:lnTo>
                  <a:pt x="1219798" y="749300"/>
                </a:lnTo>
                <a:lnTo>
                  <a:pt x="1209475" y="711200"/>
                </a:lnTo>
                <a:lnTo>
                  <a:pt x="1191313" y="673100"/>
                </a:lnTo>
                <a:lnTo>
                  <a:pt x="1185179" y="647700"/>
                </a:lnTo>
                <a:lnTo>
                  <a:pt x="1173352" y="609600"/>
                </a:lnTo>
                <a:lnTo>
                  <a:pt x="1160278" y="571500"/>
                </a:lnTo>
                <a:lnTo>
                  <a:pt x="1150403" y="546100"/>
                </a:lnTo>
                <a:lnTo>
                  <a:pt x="1147909" y="533400"/>
                </a:lnTo>
                <a:lnTo>
                  <a:pt x="1144451" y="533400"/>
                </a:lnTo>
                <a:lnTo>
                  <a:pt x="1137937" y="520700"/>
                </a:lnTo>
                <a:lnTo>
                  <a:pt x="1126278" y="508000"/>
                </a:lnTo>
                <a:lnTo>
                  <a:pt x="1113976" y="508000"/>
                </a:lnTo>
                <a:lnTo>
                  <a:pt x="1098542" y="495300"/>
                </a:lnTo>
                <a:lnTo>
                  <a:pt x="1065233" y="495300"/>
                </a:lnTo>
                <a:lnTo>
                  <a:pt x="1064783" y="482600"/>
                </a:lnTo>
                <a:lnTo>
                  <a:pt x="1068395" y="469900"/>
                </a:lnTo>
                <a:close/>
              </a:path>
              <a:path w="1707515" h="2311400">
                <a:moveTo>
                  <a:pt x="1228830" y="774700"/>
                </a:moveTo>
                <a:lnTo>
                  <a:pt x="738185" y="774700"/>
                </a:lnTo>
                <a:lnTo>
                  <a:pt x="738343" y="787400"/>
                </a:lnTo>
                <a:lnTo>
                  <a:pt x="737735" y="787400"/>
                </a:lnTo>
                <a:lnTo>
                  <a:pt x="730314" y="800100"/>
                </a:lnTo>
                <a:lnTo>
                  <a:pt x="723669" y="825500"/>
                </a:lnTo>
                <a:lnTo>
                  <a:pt x="716798" y="850900"/>
                </a:lnTo>
                <a:lnTo>
                  <a:pt x="700015" y="927100"/>
                </a:lnTo>
                <a:lnTo>
                  <a:pt x="694391" y="977900"/>
                </a:lnTo>
                <a:lnTo>
                  <a:pt x="691257" y="1028700"/>
                </a:lnTo>
                <a:lnTo>
                  <a:pt x="690040" y="1066800"/>
                </a:lnTo>
                <a:lnTo>
                  <a:pt x="688387" y="1079500"/>
                </a:lnTo>
                <a:lnTo>
                  <a:pt x="683533" y="1104900"/>
                </a:lnTo>
                <a:lnTo>
                  <a:pt x="676982" y="1117600"/>
                </a:lnTo>
                <a:lnTo>
                  <a:pt x="1120532" y="1117600"/>
                </a:lnTo>
                <a:lnTo>
                  <a:pt x="1120813" y="1104900"/>
                </a:lnTo>
                <a:lnTo>
                  <a:pt x="1124441" y="1016000"/>
                </a:lnTo>
                <a:lnTo>
                  <a:pt x="1129482" y="965200"/>
                </a:lnTo>
                <a:lnTo>
                  <a:pt x="1133959" y="927100"/>
                </a:lnTo>
                <a:lnTo>
                  <a:pt x="1135891" y="927100"/>
                </a:lnTo>
                <a:lnTo>
                  <a:pt x="1137702" y="914400"/>
                </a:lnTo>
                <a:lnTo>
                  <a:pt x="1461317" y="914400"/>
                </a:lnTo>
                <a:lnTo>
                  <a:pt x="1530465" y="901700"/>
                </a:lnTo>
                <a:lnTo>
                  <a:pt x="1566555" y="901700"/>
                </a:lnTo>
                <a:lnTo>
                  <a:pt x="1577577" y="889000"/>
                </a:lnTo>
                <a:lnTo>
                  <a:pt x="1612487" y="889000"/>
                </a:lnTo>
                <a:lnTo>
                  <a:pt x="1625174" y="876300"/>
                </a:lnTo>
                <a:lnTo>
                  <a:pt x="1634148" y="876300"/>
                </a:lnTo>
                <a:lnTo>
                  <a:pt x="1648853" y="863600"/>
                </a:lnTo>
                <a:lnTo>
                  <a:pt x="1653605" y="850900"/>
                </a:lnTo>
                <a:lnTo>
                  <a:pt x="1653154" y="838200"/>
                </a:lnTo>
                <a:lnTo>
                  <a:pt x="1258431" y="838200"/>
                </a:lnTo>
                <a:lnTo>
                  <a:pt x="1228830" y="774700"/>
                </a:lnTo>
                <a:close/>
              </a:path>
              <a:path w="1707515" h="2311400">
                <a:moveTo>
                  <a:pt x="1373611" y="939800"/>
                </a:moveTo>
                <a:lnTo>
                  <a:pt x="1166581" y="939800"/>
                </a:lnTo>
                <a:lnTo>
                  <a:pt x="1170801" y="952500"/>
                </a:lnTo>
                <a:lnTo>
                  <a:pt x="1172088" y="952500"/>
                </a:lnTo>
                <a:lnTo>
                  <a:pt x="1180962" y="965200"/>
                </a:lnTo>
                <a:lnTo>
                  <a:pt x="1194691" y="977900"/>
                </a:lnTo>
                <a:lnTo>
                  <a:pt x="1243499" y="977900"/>
                </a:lnTo>
                <a:lnTo>
                  <a:pt x="1278034" y="965200"/>
                </a:lnTo>
                <a:lnTo>
                  <a:pt x="1324445" y="952500"/>
                </a:lnTo>
                <a:lnTo>
                  <a:pt x="1373611" y="939800"/>
                </a:lnTo>
                <a:close/>
              </a:path>
              <a:path w="1707515" h="2311400">
                <a:moveTo>
                  <a:pt x="1461317" y="914400"/>
                </a:moveTo>
                <a:lnTo>
                  <a:pt x="1153419" y="914400"/>
                </a:lnTo>
                <a:lnTo>
                  <a:pt x="1163000" y="939800"/>
                </a:lnTo>
                <a:lnTo>
                  <a:pt x="1413818" y="939800"/>
                </a:lnTo>
                <a:lnTo>
                  <a:pt x="1461317" y="914400"/>
                </a:lnTo>
                <a:close/>
              </a:path>
              <a:path w="1707515" h="2311400">
                <a:moveTo>
                  <a:pt x="689621" y="825500"/>
                </a:moveTo>
                <a:lnTo>
                  <a:pt x="650827" y="825500"/>
                </a:lnTo>
                <a:lnTo>
                  <a:pt x="656858" y="838200"/>
                </a:lnTo>
                <a:lnTo>
                  <a:pt x="664209" y="838200"/>
                </a:lnTo>
                <a:lnTo>
                  <a:pt x="670240" y="850900"/>
                </a:lnTo>
                <a:lnTo>
                  <a:pt x="675517" y="838200"/>
                </a:lnTo>
                <a:lnTo>
                  <a:pt x="689621" y="825500"/>
                </a:lnTo>
                <a:close/>
              </a:path>
              <a:path w="1707515" h="2311400">
                <a:moveTo>
                  <a:pt x="1650341" y="762000"/>
                </a:moveTo>
                <a:lnTo>
                  <a:pt x="1564810" y="762000"/>
                </a:lnTo>
                <a:lnTo>
                  <a:pt x="1557051" y="774700"/>
                </a:lnTo>
                <a:lnTo>
                  <a:pt x="1528015" y="774700"/>
                </a:lnTo>
                <a:lnTo>
                  <a:pt x="1523540" y="787400"/>
                </a:lnTo>
                <a:lnTo>
                  <a:pt x="1519851" y="800100"/>
                </a:lnTo>
                <a:lnTo>
                  <a:pt x="1516616" y="812800"/>
                </a:lnTo>
                <a:lnTo>
                  <a:pt x="1513502" y="812800"/>
                </a:lnTo>
                <a:lnTo>
                  <a:pt x="1500656" y="825500"/>
                </a:lnTo>
                <a:lnTo>
                  <a:pt x="1472213" y="825500"/>
                </a:lnTo>
                <a:lnTo>
                  <a:pt x="1425672" y="838200"/>
                </a:lnTo>
                <a:lnTo>
                  <a:pt x="1653154" y="838200"/>
                </a:lnTo>
                <a:lnTo>
                  <a:pt x="1652252" y="825500"/>
                </a:lnTo>
                <a:lnTo>
                  <a:pt x="1652121" y="812800"/>
                </a:lnTo>
                <a:lnTo>
                  <a:pt x="1651251" y="800100"/>
                </a:lnTo>
                <a:lnTo>
                  <a:pt x="1650268" y="787400"/>
                </a:lnTo>
                <a:lnTo>
                  <a:pt x="1650429" y="787400"/>
                </a:lnTo>
                <a:lnTo>
                  <a:pt x="1651176" y="774700"/>
                </a:lnTo>
                <a:lnTo>
                  <a:pt x="1650341" y="762000"/>
                </a:lnTo>
                <a:close/>
              </a:path>
              <a:path w="1707515" h="2311400">
                <a:moveTo>
                  <a:pt x="1634128" y="749300"/>
                </a:moveTo>
                <a:lnTo>
                  <a:pt x="1614185" y="762000"/>
                </a:lnTo>
                <a:lnTo>
                  <a:pt x="1646221" y="762000"/>
                </a:lnTo>
                <a:lnTo>
                  <a:pt x="1634128" y="749300"/>
                </a:lnTo>
                <a:close/>
              </a:path>
              <a:path w="1707515" h="2311400">
                <a:moveTo>
                  <a:pt x="1172134" y="469900"/>
                </a:moveTo>
                <a:lnTo>
                  <a:pt x="1111755" y="469900"/>
                </a:lnTo>
                <a:lnTo>
                  <a:pt x="1123509" y="482600"/>
                </a:lnTo>
                <a:lnTo>
                  <a:pt x="1164172" y="482600"/>
                </a:lnTo>
                <a:lnTo>
                  <a:pt x="1172134" y="469900"/>
                </a:lnTo>
                <a:close/>
              </a:path>
              <a:path w="1707515" h="2311400">
                <a:moveTo>
                  <a:pt x="1183086" y="457200"/>
                </a:moveTo>
                <a:lnTo>
                  <a:pt x="870380" y="457200"/>
                </a:lnTo>
                <a:lnTo>
                  <a:pt x="866192" y="469900"/>
                </a:lnTo>
                <a:lnTo>
                  <a:pt x="1178571" y="469900"/>
                </a:lnTo>
                <a:lnTo>
                  <a:pt x="1183086" y="457200"/>
                </a:lnTo>
                <a:close/>
              </a:path>
              <a:path w="1707515" h="2311400">
                <a:moveTo>
                  <a:pt x="1207155" y="419100"/>
                </a:moveTo>
                <a:lnTo>
                  <a:pt x="907217" y="419100"/>
                </a:lnTo>
                <a:lnTo>
                  <a:pt x="906442" y="431800"/>
                </a:lnTo>
                <a:lnTo>
                  <a:pt x="905104" y="444500"/>
                </a:lnTo>
                <a:lnTo>
                  <a:pt x="903315" y="457200"/>
                </a:lnTo>
                <a:lnTo>
                  <a:pt x="1185282" y="457200"/>
                </a:lnTo>
                <a:lnTo>
                  <a:pt x="1185889" y="444500"/>
                </a:lnTo>
                <a:lnTo>
                  <a:pt x="1186486" y="444500"/>
                </a:lnTo>
                <a:lnTo>
                  <a:pt x="1188297" y="431800"/>
                </a:lnTo>
                <a:lnTo>
                  <a:pt x="1201721" y="431800"/>
                </a:lnTo>
                <a:lnTo>
                  <a:pt x="1207155" y="419100"/>
                </a:lnTo>
                <a:close/>
              </a:path>
              <a:path w="1707515" h="2311400">
                <a:moveTo>
                  <a:pt x="1009769" y="0"/>
                </a:moveTo>
                <a:lnTo>
                  <a:pt x="961076" y="0"/>
                </a:lnTo>
                <a:lnTo>
                  <a:pt x="958493" y="12700"/>
                </a:lnTo>
                <a:lnTo>
                  <a:pt x="898170" y="12700"/>
                </a:lnTo>
                <a:lnTo>
                  <a:pt x="878619" y="25400"/>
                </a:lnTo>
                <a:lnTo>
                  <a:pt x="854349" y="38100"/>
                </a:lnTo>
                <a:lnTo>
                  <a:pt x="829883" y="76200"/>
                </a:lnTo>
                <a:lnTo>
                  <a:pt x="809740" y="114300"/>
                </a:lnTo>
                <a:lnTo>
                  <a:pt x="798441" y="165100"/>
                </a:lnTo>
                <a:lnTo>
                  <a:pt x="800508" y="228600"/>
                </a:lnTo>
                <a:lnTo>
                  <a:pt x="812737" y="279400"/>
                </a:lnTo>
                <a:lnTo>
                  <a:pt x="832351" y="317500"/>
                </a:lnTo>
                <a:lnTo>
                  <a:pt x="856829" y="342900"/>
                </a:lnTo>
                <a:lnTo>
                  <a:pt x="883647" y="368300"/>
                </a:lnTo>
                <a:lnTo>
                  <a:pt x="894203" y="393700"/>
                </a:lnTo>
                <a:lnTo>
                  <a:pt x="901542" y="406400"/>
                </a:lnTo>
                <a:lnTo>
                  <a:pt x="905825" y="419100"/>
                </a:lnTo>
                <a:lnTo>
                  <a:pt x="1213257" y="419100"/>
                </a:lnTo>
                <a:lnTo>
                  <a:pt x="1211434" y="406400"/>
                </a:lnTo>
                <a:lnTo>
                  <a:pt x="1209417" y="406400"/>
                </a:lnTo>
                <a:lnTo>
                  <a:pt x="1206998" y="393700"/>
                </a:lnTo>
                <a:lnTo>
                  <a:pt x="1220914" y="393700"/>
                </a:lnTo>
                <a:lnTo>
                  <a:pt x="1220914" y="381000"/>
                </a:lnTo>
                <a:lnTo>
                  <a:pt x="1217972" y="381000"/>
                </a:lnTo>
                <a:lnTo>
                  <a:pt x="1216768" y="368300"/>
                </a:lnTo>
                <a:lnTo>
                  <a:pt x="1216160" y="368300"/>
                </a:lnTo>
                <a:lnTo>
                  <a:pt x="1213784" y="355600"/>
                </a:lnTo>
                <a:lnTo>
                  <a:pt x="1233657" y="355600"/>
                </a:lnTo>
                <a:lnTo>
                  <a:pt x="1237877" y="342900"/>
                </a:lnTo>
                <a:lnTo>
                  <a:pt x="1238976" y="342900"/>
                </a:lnTo>
                <a:lnTo>
                  <a:pt x="1237634" y="330200"/>
                </a:lnTo>
                <a:lnTo>
                  <a:pt x="1235047" y="330200"/>
                </a:lnTo>
                <a:lnTo>
                  <a:pt x="1232411" y="317500"/>
                </a:lnTo>
                <a:lnTo>
                  <a:pt x="1225134" y="317500"/>
                </a:lnTo>
                <a:lnTo>
                  <a:pt x="1223930" y="304800"/>
                </a:lnTo>
                <a:lnTo>
                  <a:pt x="1216653" y="304800"/>
                </a:lnTo>
                <a:lnTo>
                  <a:pt x="1215448" y="292100"/>
                </a:lnTo>
                <a:lnTo>
                  <a:pt x="1210768" y="292100"/>
                </a:lnTo>
                <a:lnTo>
                  <a:pt x="1209564" y="279400"/>
                </a:lnTo>
                <a:lnTo>
                  <a:pt x="1208203" y="279400"/>
                </a:lnTo>
                <a:lnTo>
                  <a:pt x="1212433" y="266700"/>
                </a:lnTo>
                <a:lnTo>
                  <a:pt x="1216045" y="254000"/>
                </a:lnTo>
                <a:lnTo>
                  <a:pt x="1219103" y="254000"/>
                </a:lnTo>
                <a:lnTo>
                  <a:pt x="1220914" y="241300"/>
                </a:lnTo>
                <a:lnTo>
                  <a:pt x="1222535" y="241300"/>
                </a:lnTo>
                <a:lnTo>
                  <a:pt x="1224381" y="228600"/>
                </a:lnTo>
                <a:lnTo>
                  <a:pt x="1226002" y="228600"/>
                </a:lnTo>
                <a:lnTo>
                  <a:pt x="1226945" y="215900"/>
                </a:lnTo>
                <a:lnTo>
                  <a:pt x="1227405" y="215900"/>
                </a:lnTo>
                <a:lnTo>
                  <a:pt x="1227417" y="203200"/>
                </a:lnTo>
                <a:lnTo>
                  <a:pt x="1226298" y="190500"/>
                </a:lnTo>
                <a:lnTo>
                  <a:pt x="1223364" y="177800"/>
                </a:lnTo>
                <a:lnTo>
                  <a:pt x="1219389" y="165100"/>
                </a:lnTo>
                <a:lnTo>
                  <a:pt x="1215032" y="165100"/>
                </a:lnTo>
                <a:lnTo>
                  <a:pt x="1210790" y="152400"/>
                </a:lnTo>
                <a:lnTo>
                  <a:pt x="1207155" y="152400"/>
                </a:lnTo>
                <a:lnTo>
                  <a:pt x="1210184" y="139700"/>
                </a:lnTo>
                <a:lnTo>
                  <a:pt x="1215633" y="139700"/>
                </a:lnTo>
                <a:lnTo>
                  <a:pt x="1219387" y="127000"/>
                </a:lnTo>
                <a:lnTo>
                  <a:pt x="1204249" y="88900"/>
                </a:lnTo>
                <a:lnTo>
                  <a:pt x="1173973" y="63500"/>
                </a:lnTo>
                <a:lnTo>
                  <a:pt x="1149078" y="50800"/>
                </a:lnTo>
                <a:lnTo>
                  <a:pt x="1120146" y="25400"/>
                </a:lnTo>
                <a:lnTo>
                  <a:pt x="1077077" y="12700"/>
                </a:lnTo>
                <a:lnTo>
                  <a:pt x="10097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6">
            <a:extLst>
              <a:ext uri="{FF2B5EF4-FFF2-40B4-BE49-F238E27FC236}">
                <a16:creationId xmlns:a16="http://schemas.microsoft.com/office/drawing/2014/main" id="{10EE4334-D511-F945-110D-199A7A61C8EA}"/>
              </a:ext>
            </a:extLst>
          </p:cNvPr>
          <p:cNvSpPr/>
          <p:nvPr/>
        </p:nvSpPr>
        <p:spPr>
          <a:xfrm>
            <a:off x="7986621" y="3432757"/>
            <a:ext cx="816403" cy="1761833"/>
          </a:xfrm>
          <a:custGeom>
            <a:avLst/>
            <a:gdLst/>
            <a:ahLst/>
            <a:cxnLst/>
            <a:rect l="l" t="t" r="r" b="b"/>
            <a:pathLst>
              <a:path w="1583055" h="3416300">
                <a:moveTo>
                  <a:pt x="945603" y="1143000"/>
                </a:moveTo>
                <a:lnTo>
                  <a:pt x="485972" y="1143000"/>
                </a:lnTo>
                <a:lnTo>
                  <a:pt x="490073" y="1168400"/>
                </a:lnTo>
                <a:lnTo>
                  <a:pt x="492549" y="1206500"/>
                </a:lnTo>
                <a:lnTo>
                  <a:pt x="492446" y="1219200"/>
                </a:lnTo>
                <a:lnTo>
                  <a:pt x="492343" y="1231900"/>
                </a:lnTo>
                <a:lnTo>
                  <a:pt x="492240" y="1244600"/>
                </a:lnTo>
                <a:lnTo>
                  <a:pt x="487574" y="1295400"/>
                </a:lnTo>
                <a:lnTo>
                  <a:pt x="471984" y="1371600"/>
                </a:lnTo>
                <a:lnTo>
                  <a:pt x="448951" y="1422400"/>
                </a:lnTo>
                <a:lnTo>
                  <a:pt x="424805" y="1473200"/>
                </a:lnTo>
                <a:lnTo>
                  <a:pt x="405880" y="1511300"/>
                </a:lnTo>
                <a:lnTo>
                  <a:pt x="398508" y="1524000"/>
                </a:lnTo>
                <a:lnTo>
                  <a:pt x="405461" y="1536700"/>
                </a:lnTo>
                <a:lnTo>
                  <a:pt x="399177" y="1562100"/>
                </a:lnTo>
                <a:lnTo>
                  <a:pt x="391899" y="1574800"/>
                </a:lnTo>
                <a:lnTo>
                  <a:pt x="385583" y="1600200"/>
                </a:lnTo>
                <a:lnTo>
                  <a:pt x="382184" y="1638300"/>
                </a:lnTo>
                <a:lnTo>
                  <a:pt x="386202" y="1714500"/>
                </a:lnTo>
                <a:lnTo>
                  <a:pt x="397541" y="1765300"/>
                </a:lnTo>
                <a:lnTo>
                  <a:pt x="409362" y="1816100"/>
                </a:lnTo>
                <a:lnTo>
                  <a:pt x="414822" y="1828800"/>
                </a:lnTo>
                <a:lnTo>
                  <a:pt x="412182" y="1854200"/>
                </a:lnTo>
                <a:lnTo>
                  <a:pt x="405253" y="1905000"/>
                </a:lnTo>
                <a:lnTo>
                  <a:pt x="395525" y="1955800"/>
                </a:lnTo>
                <a:lnTo>
                  <a:pt x="384488" y="2032000"/>
                </a:lnTo>
                <a:lnTo>
                  <a:pt x="373630" y="2095500"/>
                </a:lnTo>
                <a:lnTo>
                  <a:pt x="370936" y="2133600"/>
                </a:lnTo>
                <a:lnTo>
                  <a:pt x="368318" y="2184400"/>
                </a:lnTo>
                <a:lnTo>
                  <a:pt x="364990" y="2247900"/>
                </a:lnTo>
                <a:lnTo>
                  <a:pt x="360163" y="2324100"/>
                </a:lnTo>
                <a:lnTo>
                  <a:pt x="353051" y="2374900"/>
                </a:lnTo>
                <a:lnTo>
                  <a:pt x="342866" y="2425700"/>
                </a:lnTo>
                <a:lnTo>
                  <a:pt x="328351" y="2451100"/>
                </a:lnTo>
                <a:lnTo>
                  <a:pt x="307433" y="2489200"/>
                </a:lnTo>
                <a:lnTo>
                  <a:pt x="281710" y="2527300"/>
                </a:lnTo>
                <a:lnTo>
                  <a:pt x="252780" y="2578100"/>
                </a:lnTo>
                <a:lnTo>
                  <a:pt x="222242" y="2654300"/>
                </a:lnTo>
                <a:lnTo>
                  <a:pt x="206503" y="2705100"/>
                </a:lnTo>
                <a:lnTo>
                  <a:pt x="187070" y="2768600"/>
                </a:lnTo>
                <a:lnTo>
                  <a:pt x="165388" y="2832100"/>
                </a:lnTo>
                <a:lnTo>
                  <a:pt x="142902" y="2895600"/>
                </a:lnTo>
                <a:lnTo>
                  <a:pt x="101296" y="3009900"/>
                </a:lnTo>
                <a:lnTo>
                  <a:pt x="85066" y="3060700"/>
                </a:lnTo>
                <a:lnTo>
                  <a:pt x="73813" y="3098800"/>
                </a:lnTo>
                <a:lnTo>
                  <a:pt x="68979" y="3111500"/>
                </a:lnTo>
                <a:lnTo>
                  <a:pt x="67262" y="3111500"/>
                </a:lnTo>
                <a:lnTo>
                  <a:pt x="79408" y="3124200"/>
                </a:lnTo>
                <a:lnTo>
                  <a:pt x="72363" y="3136900"/>
                </a:lnTo>
                <a:lnTo>
                  <a:pt x="58466" y="3149600"/>
                </a:lnTo>
                <a:lnTo>
                  <a:pt x="42803" y="3162300"/>
                </a:lnTo>
                <a:lnTo>
                  <a:pt x="30457" y="3175000"/>
                </a:lnTo>
                <a:lnTo>
                  <a:pt x="17284" y="3200400"/>
                </a:lnTo>
                <a:lnTo>
                  <a:pt x="9677" y="3213100"/>
                </a:lnTo>
                <a:lnTo>
                  <a:pt x="5440" y="3225800"/>
                </a:lnTo>
                <a:lnTo>
                  <a:pt x="2374" y="3251200"/>
                </a:lnTo>
                <a:lnTo>
                  <a:pt x="0" y="3263900"/>
                </a:lnTo>
                <a:lnTo>
                  <a:pt x="161" y="3276600"/>
                </a:lnTo>
                <a:lnTo>
                  <a:pt x="4172" y="3276600"/>
                </a:lnTo>
                <a:lnTo>
                  <a:pt x="13347" y="3289300"/>
                </a:lnTo>
                <a:lnTo>
                  <a:pt x="30624" y="3302000"/>
                </a:lnTo>
                <a:lnTo>
                  <a:pt x="78338" y="3327400"/>
                </a:lnTo>
                <a:lnTo>
                  <a:pt x="94654" y="3327400"/>
                </a:lnTo>
                <a:lnTo>
                  <a:pt x="126685" y="3340100"/>
                </a:lnTo>
                <a:lnTo>
                  <a:pt x="162033" y="3365500"/>
                </a:lnTo>
                <a:lnTo>
                  <a:pt x="196256" y="3390900"/>
                </a:lnTo>
                <a:lnTo>
                  <a:pt x="224912" y="3403600"/>
                </a:lnTo>
                <a:lnTo>
                  <a:pt x="246791" y="3416300"/>
                </a:lnTo>
                <a:lnTo>
                  <a:pt x="443171" y="3416300"/>
                </a:lnTo>
                <a:lnTo>
                  <a:pt x="444369" y="3403600"/>
                </a:lnTo>
                <a:lnTo>
                  <a:pt x="439690" y="3390900"/>
                </a:lnTo>
                <a:lnTo>
                  <a:pt x="423069" y="3378200"/>
                </a:lnTo>
                <a:lnTo>
                  <a:pt x="363128" y="3352800"/>
                </a:lnTo>
                <a:lnTo>
                  <a:pt x="347955" y="3340100"/>
                </a:lnTo>
                <a:lnTo>
                  <a:pt x="326206" y="3327400"/>
                </a:lnTo>
                <a:lnTo>
                  <a:pt x="301731" y="3289300"/>
                </a:lnTo>
                <a:lnTo>
                  <a:pt x="277901" y="3263900"/>
                </a:lnTo>
                <a:lnTo>
                  <a:pt x="258083" y="3238500"/>
                </a:lnTo>
                <a:lnTo>
                  <a:pt x="248022" y="3225800"/>
                </a:lnTo>
                <a:lnTo>
                  <a:pt x="237191" y="3213100"/>
                </a:lnTo>
                <a:lnTo>
                  <a:pt x="227645" y="3213100"/>
                </a:lnTo>
                <a:lnTo>
                  <a:pt x="221435" y="3200400"/>
                </a:lnTo>
                <a:lnTo>
                  <a:pt x="221212" y="3187700"/>
                </a:lnTo>
                <a:lnTo>
                  <a:pt x="222321" y="3175000"/>
                </a:lnTo>
                <a:lnTo>
                  <a:pt x="223590" y="3162300"/>
                </a:lnTo>
                <a:lnTo>
                  <a:pt x="247719" y="3162300"/>
                </a:lnTo>
                <a:lnTo>
                  <a:pt x="256853" y="3136900"/>
                </a:lnTo>
                <a:lnTo>
                  <a:pt x="269678" y="3111500"/>
                </a:lnTo>
                <a:lnTo>
                  <a:pt x="285632" y="3086100"/>
                </a:lnTo>
                <a:lnTo>
                  <a:pt x="306556" y="3048000"/>
                </a:lnTo>
                <a:lnTo>
                  <a:pt x="321632" y="3022600"/>
                </a:lnTo>
                <a:lnTo>
                  <a:pt x="334143" y="2997200"/>
                </a:lnTo>
                <a:lnTo>
                  <a:pt x="347371" y="2959100"/>
                </a:lnTo>
                <a:lnTo>
                  <a:pt x="364598" y="2933700"/>
                </a:lnTo>
                <a:lnTo>
                  <a:pt x="389108" y="2882900"/>
                </a:lnTo>
                <a:lnTo>
                  <a:pt x="424183" y="2806700"/>
                </a:lnTo>
                <a:lnTo>
                  <a:pt x="445719" y="2768600"/>
                </a:lnTo>
                <a:lnTo>
                  <a:pt x="472217" y="2717800"/>
                </a:lnTo>
                <a:lnTo>
                  <a:pt x="527143" y="2616200"/>
                </a:lnTo>
                <a:lnTo>
                  <a:pt x="549090" y="2578100"/>
                </a:lnTo>
                <a:lnTo>
                  <a:pt x="566301" y="2540000"/>
                </a:lnTo>
                <a:lnTo>
                  <a:pt x="589079" y="2489200"/>
                </a:lnTo>
                <a:lnTo>
                  <a:pt x="612657" y="2425700"/>
                </a:lnTo>
                <a:lnTo>
                  <a:pt x="632271" y="2387600"/>
                </a:lnTo>
                <a:lnTo>
                  <a:pt x="642028" y="2362200"/>
                </a:lnTo>
                <a:lnTo>
                  <a:pt x="656363" y="2311400"/>
                </a:lnTo>
                <a:lnTo>
                  <a:pt x="672908" y="2260600"/>
                </a:lnTo>
                <a:lnTo>
                  <a:pt x="689296" y="2209800"/>
                </a:lnTo>
                <a:lnTo>
                  <a:pt x="703159" y="2146300"/>
                </a:lnTo>
                <a:lnTo>
                  <a:pt x="1095075" y="2146300"/>
                </a:lnTo>
                <a:lnTo>
                  <a:pt x="1090687" y="2133600"/>
                </a:lnTo>
                <a:lnTo>
                  <a:pt x="1071086" y="2082800"/>
                </a:lnTo>
                <a:lnTo>
                  <a:pt x="1049796" y="2032000"/>
                </a:lnTo>
                <a:lnTo>
                  <a:pt x="1027172" y="1968500"/>
                </a:lnTo>
                <a:lnTo>
                  <a:pt x="1003569" y="1905000"/>
                </a:lnTo>
                <a:lnTo>
                  <a:pt x="979342" y="1854200"/>
                </a:lnTo>
                <a:lnTo>
                  <a:pt x="954848" y="1790700"/>
                </a:lnTo>
                <a:lnTo>
                  <a:pt x="933131" y="1752600"/>
                </a:lnTo>
                <a:lnTo>
                  <a:pt x="911570" y="1701800"/>
                </a:lnTo>
                <a:lnTo>
                  <a:pt x="892388" y="1651000"/>
                </a:lnTo>
                <a:lnTo>
                  <a:pt x="877808" y="1600200"/>
                </a:lnTo>
                <a:lnTo>
                  <a:pt x="870054" y="1536700"/>
                </a:lnTo>
                <a:lnTo>
                  <a:pt x="870122" y="1498600"/>
                </a:lnTo>
                <a:lnTo>
                  <a:pt x="873028" y="1460500"/>
                </a:lnTo>
                <a:lnTo>
                  <a:pt x="877057" y="1435100"/>
                </a:lnTo>
                <a:lnTo>
                  <a:pt x="880494" y="1409700"/>
                </a:lnTo>
                <a:lnTo>
                  <a:pt x="885040" y="1384300"/>
                </a:lnTo>
                <a:lnTo>
                  <a:pt x="890041" y="1358900"/>
                </a:lnTo>
                <a:lnTo>
                  <a:pt x="894079" y="1333500"/>
                </a:lnTo>
                <a:lnTo>
                  <a:pt x="1111782" y="1333500"/>
                </a:lnTo>
                <a:lnTo>
                  <a:pt x="1070719" y="1295400"/>
                </a:lnTo>
                <a:lnTo>
                  <a:pt x="1038718" y="1257300"/>
                </a:lnTo>
                <a:lnTo>
                  <a:pt x="1014738" y="1244600"/>
                </a:lnTo>
                <a:lnTo>
                  <a:pt x="997739" y="1219200"/>
                </a:lnTo>
                <a:lnTo>
                  <a:pt x="986679" y="1219200"/>
                </a:lnTo>
                <a:lnTo>
                  <a:pt x="976144" y="1206500"/>
                </a:lnTo>
                <a:lnTo>
                  <a:pt x="965358" y="1193800"/>
                </a:lnTo>
                <a:lnTo>
                  <a:pt x="954732" y="1168400"/>
                </a:lnTo>
                <a:lnTo>
                  <a:pt x="944680" y="1155700"/>
                </a:lnTo>
                <a:lnTo>
                  <a:pt x="945603" y="1143000"/>
                </a:lnTo>
                <a:close/>
              </a:path>
              <a:path w="1583055" h="3416300">
                <a:moveTo>
                  <a:pt x="1318301" y="3225800"/>
                </a:moveTo>
                <a:lnTo>
                  <a:pt x="1135736" y="3225800"/>
                </a:lnTo>
                <a:lnTo>
                  <a:pt x="1137291" y="3238500"/>
                </a:lnTo>
                <a:lnTo>
                  <a:pt x="1138365" y="3263900"/>
                </a:lnTo>
                <a:lnTo>
                  <a:pt x="1138067" y="3276600"/>
                </a:lnTo>
                <a:lnTo>
                  <a:pt x="1136081" y="3302000"/>
                </a:lnTo>
                <a:lnTo>
                  <a:pt x="1134405" y="3314700"/>
                </a:lnTo>
                <a:lnTo>
                  <a:pt x="1133691" y="3327400"/>
                </a:lnTo>
                <a:lnTo>
                  <a:pt x="1138797" y="3378200"/>
                </a:lnTo>
                <a:lnTo>
                  <a:pt x="1165344" y="3416300"/>
                </a:lnTo>
                <a:lnTo>
                  <a:pt x="1252916" y="3416300"/>
                </a:lnTo>
                <a:lnTo>
                  <a:pt x="1258643" y="3403600"/>
                </a:lnTo>
                <a:lnTo>
                  <a:pt x="1266135" y="3403600"/>
                </a:lnTo>
                <a:lnTo>
                  <a:pt x="1275812" y="3390900"/>
                </a:lnTo>
                <a:lnTo>
                  <a:pt x="1411158" y="3390900"/>
                </a:lnTo>
                <a:lnTo>
                  <a:pt x="1455783" y="3378200"/>
                </a:lnTo>
                <a:lnTo>
                  <a:pt x="1541144" y="3340100"/>
                </a:lnTo>
                <a:lnTo>
                  <a:pt x="1582603" y="3302000"/>
                </a:lnTo>
                <a:lnTo>
                  <a:pt x="1582762" y="3276600"/>
                </a:lnTo>
                <a:lnTo>
                  <a:pt x="1519986" y="3276600"/>
                </a:lnTo>
                <a:lnTo>
                  <a:pt x="1497554" y="3263900"/>
                </a:lnTo>
                <a:lnTo>
                  <a:pt x="1420061" y="3263900"/>
                </a:lnTo>
                <a:lnTo>
                  <a:pt x="1375215" y="3251200"/>
                </a:lnTo>
                <a:lnTo>
                  <a:pt x="1340009" y="3238500"/>
                </a:lnTo>
                <a:lnTo>
                  <a:pt x="1325433" y="3238500"/>
                </a:lnTo>
                <a:lnTo>
                  <a:pt x="1318301" y="3225800"/>
                </a:lnTo>
                <a:close/>
              </a:path>
              <a:path w="1583055" h="3416300">
                <a:moveTo>
                  <a:pt x="1569499" y="3263900"/>
                </a:moveTo>
                <a:lnTo>
                  <a:pt x="1540264" y="3263900"/>
                </a:lnTo>
                <a:lnTo>
                  <a:pt x="1519986" y="3276600"/>
                </a:lnTo>
                <a:lnTo>
                  <a:pt x="1582762" y="3276600"/>
                </a:lnTo>
                <a:lnTo>
                  <a:pt x="1569499" y="3263900"/>
                </a:lnTo>
                <a:close/>
              </a:path>
              <a:path w="1583055" h="3416300">
                <a:moveTo>
                  <a:pt x="1299779" y="3213100"/>
                </a:moveTo>
                <a:lnTo>
                  <a:pt x="1111534" y="3213100"/>
                </a:lnTo>
                <a:lnTo>
                  <a:pt x="1111639" y="3225800"/>
                </a:lnTo>
                <a:lnTo>
                  <a:pt x="1308282" y="3225800"/>
                </a:lnTo>
                <a:lnTo>
                  <a:pt x="1299779" y="3213100"/>
                </a:lnTo>
                <a:close/>
              </a:path>
              <a:path w="1583055" h="3416300">
                <a:moveTo>
                  <a:pt x="1095075" y="2146300"/>
                </a:moveTo>
                <a:lnTo>
                  <a:pt x="714724" y="2146300"/>
                </a:lnTo>
                <a:lnTo>
                  <a:pt x="722143" y="2159000"/>
                </a:lnTo>
                <a:lnTo>
                  <a:pt x="732651" y="2184400"/>
                </a:lnTo>
                <a:lnTo>
                  <a:pt x="754988" y="2209800"/>
                </a:lnTo>
                <a:lnTo>
                  <a:pt x="785281" y="2247900"/>
                </a:lnTo>
                <a:lnTo>
                  <a:pt x="854249" y="2349500"/>
                </a:lnTo>
                <a:lnTo>
                  <a:pt x="885179" y="2400300"/>
                </a:lnTo>
                <a:lnTo>
                  <a:pt x="908577" y="2438400"/>
                </a:lnTo>
                <a:lnTo>
                  <a:pt x="917276" y="2463800"/>
                </a:lnTo>
                <a:lnTo>
                  <a:pt x="924863" y="2476500"/>
                </a:lnTo>
                <a:lnTo>
                  <a:pt x="930524" y="2501900"/>
                </a:lnTo>
                <a:lnTo>
                  <a:pt x="933445" y="2514600"/>
                </a:lnTo>
                <a:lnTo>
                  <a:pt x="942929" y="2641600"/>
                </a:lnTo>
                <a:lnTo>
                  <a:pt x="947595" y="2692400"/>
                </a:lnTo>
                <a:lnTo>
                  <a:pt x="953161" y="2730500"/>
                </a:lnTo>
                <a:lnTo>
                  <a:pt x="960341" y="2781300"/>
                </a:lnTo>
                <a:lnTo>
                  <a:pt x="969848" y="2819400"/>
                </a:lnTo>
                <a:lnTo>
                  <a:pt x="999154" y="2908300"/>
                </a:lnTo>
                <a:lnTo>
                  <a:pt x="1020572" y="2959100"/>
                </a:lnTo>
                <a:lnTo>
                  <a:pt x="1044095" y="3035300"/>
                </a:lnTo>
                <a:lnTo>
                  <a:pt x="1087230" y="3149600"/>
                </a:lnTo>
                <a:lnTo>
                  <a:pt x="1101730" y="3187700"/>
                </a:lnTo>
                <a:lnTo>
                  <a:pt x="1108110" y="3213100"/>
                </a:lnTo>
                <a:lnTo>
                  <a:pt x="1297214" y="3213100"/>
                </a:lnTo>
                <a:lnTo>
                  <a:pt x="1294056" y="3200400"/>
                </a:lnTo>
                <a:lnTo>
                  <a:pt x="1288654" y="3187700"/>
                </a:lnTo>
                <a:lnTo>
                  <a:pt x="1283252" y="3187700"/>
                </a:lnTo>
                <a:lnTo>
                  <a:pt x="1280094" y="3175000"/>
                </a:lnTo>
                <a:lnTo>
                  <a:pt x="1295497" y="3175000"/>
                </a:lnTo>
                <a:lnTo>
                  <a:pt x="1292932" y="3162300"/>
                </a:lnTo>
                <a:lnTo>
                  <a:pt x="1290935" y="3149600"/>
                </a:lnTo>
                <a:lnTo>
                  <a:pt x="1286732" y="3124200"/>
                </a:lnTo>
                <a:lnTo>
                  <a:pt x="1280632" y="3098800"/>
                </a:lnTo>
                <a:lnTo>
                  <a:pt x="1272946" y="3048000"/>
                </a:lnTo>
                <a:lnTo>
                  <a:pt x="1263984" y="2997200"/>
                </a:lnTo>
                <a:lnTo>
                  <a:pt x="1254055" y="2946400"/>
                </a:lnTo>
                <a:lnTo>
                  <a:pt x="1243470" y="2882900"/>
                </a:lnTo>
                <a:lnTo>
                  <a:pt x="1232538" y="2819400"/>
                </a:lnTo>
                <a:lnTo>
                  <a:pt x="1221570" y="2755900"/>
                </a:lnTo>
                <a:lnTo>
                  <a:pt x="1210875" y="2692400"/>
                </a:lnTo>
                <a:lnTo>
                  <a:pt x="1200764" y="2628900"/>
                </a:lnTo>
                <a:lnTo>
                  <a:pt x="1191546" y="2565400"/>
                </a:lnTo>
                <a:lnTo>
                  <a:pt x="1183532" y="2514600"/>
                </a:lnTo>
                <a:lnTo>
                  <a:pt x="1180819" y="2501900"/>
                </a:lnTo>
                <a:lnTo>
                  <a:pt x="1177923" y="2476500"/>
                </a:lnTo>
                <a:lnTo>
                  <a:pt x="1175025" y="2463800"/>
                </a:lnTo>
                <a:lnTo>
                  <a:pt x="1172307" y="2451100"/>
                </a:lnTo>
                <a:lnTo>
                  <a:pt x="1168000" y="2413000"/>
                </a:lnTo>
                <a:lnTo>
                  <a:pt x="1164174" y="2374900"/>
                </a:lnTo>
                <a:lnTo>
                  <a:pt x="1159064" y="2336800"/>
                </a:lnTo>
                <a:lnTo>
                  <a:pt x="1150904" y="2311400"/>
                </a:lnTo>
                <a:lnTo>
                  <a:pt x="1145083" y="2286000"/>
                </a:lnTo>
                <a:lnTo>
                  <a:pt x="1135795" y="2260600"/>
                </a:lnTo>
                <a:lnTo>
                  <a:pt x="1123397" y="2222500"/>
                </a:lnTo>
                <a:lnTo>
                  <a:pt x="1108242" y="2184400"/>
                </a:lnTo>
                <a:lnTo>
                  <a:pt x="1095075" y="2146300"/>
                </a:lnTo>
                <a:close/>
              </a:path>
              <a:path w="1583055" h="3416300">
                <a:moveTo>
                  <a:pt x="262227" y="1930400"/>
                </a:moveTo>
                <a:lnTo>
                  <a:pt x="179271" y="1930400"/>
                </a:lnTo>
                <a:lnTo>
                  <a:pt x="186400" y="1943100"/>
                </a:lnTo>
                <a:lnTo>
                  <a:pt x="204605" y="1943100"/>
                </a:lnTo>
                <a:lnTo>
                  <a:pt x="209404" y="1955800"/>
                </a:lnTo>
                <a:lnTo>
                  <a:pt x="222113" y="1968500"/>
                </a:lnTo>
                <a:lnTo>
                  <a:pt x="252995" y="1968500"/>
                </a:lnTo>
                <a:lnTo>
                  <a:pt x="258731" y="1943100"/>
                </a:lnTo>
                <a:lnTo>
                  <a:pt x="262227" y="1930400"/>
                </a:lnTo>
                <a:close/>
              </a:path>
              <a:path w="1583055" h="3416300">
                <a:moveTo>
                  <a:pt x="300878" y="1917700"/>
                </a:moveTo>
                <a:lnTo>
                  <a:pt x="268512" y="1917700"/>
                </a:lnTo>
                <a:lnTo>
                  <a:pt x="275858" y="1930400"/>
                </a:lnTo>
                <a:lnTo>
                  <a:pt x="285017" y="1943100"/>
                </a:lnTo>
                <a:lnTo>
                  <a:pt x="294016" y="1943100"/>
                </a:lnTo>
                <a:lnTo>
                  <a:pt x="300878" y="1930400"/>
                </a:lnTo>
                <a:lnTo>
                  <a:pt x="301599" y="1930400"/>
                </a:lnTo>
                <a:lnTo>
                  <a:pt x="300878" y="1917700"/>
                </a:lnTo>
                <a:close/>
              </a:path>
              <a:path w="1583055" h="3416300">
                <a:moveTo>
                  <a:pt x="821166" y="0"/>
                </a:moveTo>
                <a:lnTo>
                  <a:pt x="690799" y="0"/>
                </a:lnTo>
                <a:lnTo>
                  <a:pt x="679348" y="12700"/>
                </a:lnTo>
                <a:lnTo>
                  <a:pt x="603633" y="12700"/>
                </a:lnTo>
                <a:lnTo>
                  <a:pt x="582536" y="25400"/>
                </a:lnTo>
                <a:lnTo>
                  <a:pt x="556403" y="50800"/>
                </a:lnTo>
                <a:lnTo>
                  <a:pt x="527371" y="76200"/>
                </a:lnTo>
                <a:lnTo>
                  <a:pt x="497576" y="127000"/>
                </a:lnTo>
                <a:lnTo>
                  <a:pt x="469155" y="177800"/>
                </a:lnTo>
                <a:lnTo>
                  <a:pt x="444244" y="241300"/>
                </a:lnTo>
                <a:lnTo>
                  <a:pt x="424979" y="317500"/>
                </a:lnTo>
                <a:lnTo>
                  <a:pt x="415675" y="393700"/>
                </a:lnTo>
                <a:lnTo>
                  <a:pt x="413429" y="431800"/>
                </a:lnTo>
                <a:lnTo>
                  <a:pt x="410540" y="469900"/>
                </a:lnTo>
                <a:lnTo>
                  <a:pt x="399304" y="508000"/>
                </a:lnTo>
                <a:lnTo>
                  <a:pt x="383124" y="558800"/>
                </a:lnTo>
                <a:lnTo>
                  <a:pt x="369994" y="596900"/>
                </a:lnTo>
                <a:lnTo>
                  <a:pt x="362961" y="647700"/>
                </a:lnTo>
                <a:lnTo>
                  <a:pt x="365075" y="698500"/>
                </a:lnTo>
                <a:lnTo>
                  <a:pt x="375314" y="723900"/>
                </a:lnTo>
                <a:lnTo>
                  <a:pt x="391172" y="762000"/>
                </a:lnTo>
                <a:lnTo>
                  <a:pt x="405749" y="774700"/>
                </a:lnTo>
                <a:lnTo>
                  <a:pt x="412142" y="787400"/>
                </a:lnTo>
                <a:lnTo>
                  <a:pt x="395593" y="825500"/>
                </a:lnTo>
                <a:lnTo>
                  <a:pt x="378436" y="863600"/>
                </a:lnTo>
                <a:lnTo>
                  <a:pt x="361262" y="927100"/>
                </a:lnTo>
                <a:lnTo>
                  <a:pt x="344661" y="977900"/>
                </a:lnTo>
                <a:lnTo>
                  <a:pt x="329223" y="1041400"/>
                </a:lnTo>
                <a:lnTo>
                  <a:pt x="315540" y="1092200"/>
                </a:lnTo>
                <a:lnTo>
                  <a:pt x="304202" y="1143000"/>
                </a:lnTo>
                <a:lnTo>
                  <a:pt x="295800" y="1168400"/>
                </a:lnTo>
                <a:lnTo>
                  <a:pt x="289161" y="1206500"/>
                </a:lnTo>
                <a:lnTo>
                  <a:pt x="282646" y="1231900"/>
                </a:lnTo>
                <a:lnTo>
                  <a:pt x="276135" y="1270000"/>
                </a:lnTo>
                <a:lnTo>
                  <a:pt x="269505" y="1308100"/>
                </a:lnTo>
                <a:lnTo>
                  <a:pt x="262634" y="1358900"/>
                </a:lnTo>
                <a:lnTo>
                  <a:pt x="255401" y="1422400"/>
                </a:lnTo>
                <a:lnTo>
                  <a:pt x="247684" y="1498600"/>
                </a:lnTo>
                <a:lnTo>
                  <a:pt x="239361" y="1587500"/>
                </a:lnTo>
                <a:lnTo>
                  <a:pt x="236445" y="1612900"/>
                </a:lnTo>
                <a:lnTo>
                  <a:pt x="228044" y="1663700"/>
                </a:lnTo>
                <a:lnTo>
                  <a:pt x="213608" y="1701800"/>
                </a:lnTo>
                <a:lnTo>
                  <a:pt x="182566" y="1727200"/>
                </a:lnTo>
                <a:lnTo>
                  <a:pt x="170086" y="1752600"/>
                </a:lnTo>
                <a:lnTo>
                  <a:pt x="163193" y="1778000"/>
                </a:lnTo>
                <a:lnTo>
                  <a:pt x="156122" y="1803400"/>
                </a:lnTo>
                <a:lnTo>
                  <a:pt x="150015" y="1828800"/>
                </a:lnTo>
                <a:lnTo>
                  <a:pt x="146014" y="1854200"/>
                </a:lnTo>
                <a:lnTo>
                  <a:pt x="145528" y="1866900"/>
                </a:lnTo>
                <a:lnTo>
                  <a:pt x="146519" y="1879600"/>
                </a:lnTo>
                <a:lnTo>
                  <a:pt x="148794" y="1879600"/>
                </a:lnTo>
                <a:lnTo>
                  <a:pt x="152160" y="1892300"/>
                </a:lnTo>
                <a:lnTo>
                  <a:pt x="154673" y="1905000"/>
                </a:lnTo>
                <a:lnTo>
                  <a:pt x="169280" y="1905000"/>
                </a:lnTo>
                <a:lnTo>
                  <a:pt x="170148" y="1917700"/>
                </a:lnTo>
                <a:lnTo>
                  <a:pt x="173666" y="1930400"/>
                </a:lnTo>
                <a:lnTo>
                  <a:pt x="264118" y="1930400"/>
                </a:lnTo>
                <a:lnTo>
                  <a:pt x="265036" y="1917700"/>
                </a:lnTo>
                <a:lnTo>
                  <a:pt x="300156" y="1917700"/>
                </a:lnTo>
                <a:lnTo>
                  <a:pt x="300878" y="1905000"/>
                </a:lnTo>
                <a:lnTo>
                  <a:pt x="303372" y="1892300"/>
                </a:lnTo>
                <a:lnTo>
                  <a:pt x="307964" y="1879600"/>
                </a:lnTo>
                <a:lnTo>
                  <a:pt x="314163" y="1841500"/>
                </a:lnTo>
                <a:lnTo>
                  <a:pt x="321474" y="1816100"/>
                </a:lnTo>
                <a:lnTo>
                  <a:pt x="326163" y="1778000"/>
                </a:lnTo>
                <a:lnTo>
                  <a:pt x="326207" y="1752600"/>
                </a:lnTo>
                <a:lnTo>
                  <a:pt x="323683" y="1714500"/>
                </a:lnTo>
                <a:lnTo>
                  <a:pt x="320668" y="1689100"/>
                </a:lnTo>
                <a:lnTo>
                  <a:pt x="324458" y="1663700"/>
                </a:lnTo>
                <a:lnTo>
                  <a:pt x="335488" y="1625600"/>
                </a:lnTo>
                <a:lnTo>
                  <a:pt x="349406" y="1574800"/>
                </a:lnTo>
                <a:lnTo>
                  <a:pt x="361860" y="1536700"/>
                </a:lnTo>
                <a:lnTo>
                  <a:pt x="371562" y="1498600"/>
                </a:lnTo>
                <a:lnTo>
                  <a:pt x="383286" y="1447800"/>
                </a:lnTo>
                <a:lnTo>
                  <a:pt x="395616" y="1397000"/>
                </a:lnTo>
                <a:lnTo>
                  <a:pt x="407135" y="1346200"/>
                </a:lnTo>
                <a:lnTo>
                  <a:pt x="416424" y="1295400"/>
                </a:lnTo>
                <a:lnTo>
                  <a:pt x="430178" y="1244600"/>
                </a:lnTo>
                <a:lnTo>
                  <a:pt x="449270" y="1206500"/>
                </a:lnTo>
                <a:lnTo>
                  <a:pt x="469326" y="1168400"/>
                </a:lnTo>
                <a:lnTo>
                  <a:pt x="485972" y="1143000"/>
                </a:lnTo>
                <a:lnTo>
                  <a:pt x="945603" y="1143000"/>
                </a:lnTo>
                <a:lnTo>
                  <a:pt x="946526" y="1130300"/>
                </a:lnTo>
                <a:lnTo>
                  <a:pt x="951743" y="1104900"/>
                </a:lnTo>
                <a:lnTo>
                  <a:pt x="959850" y="1054100"/>
                </a:lnTo>
                <a:lnTo>
                  <a:pt x="970365" y="1028700"/>
                </a:lnTo>
                <a:lnTo>
                  <a:pt x="975310" y="1003300"/>
                </a:lnTo>
                <a:lnTo>
                  <a:pt x="978491" y="990600"/>
                </a:lnTo>
                <a:lnTo>
                  <a:pt x="979748" y="965200"/>
                </a:lnTo>
                <a:lnTo>
                  <a:pt x="975263" y="927100"/>
                </a:lnTo>
                <a:lnTo>
                  <a:pt x="952439" y="889000"/>
                </a:lnTo>
                <a:lnTo>
                  <a:pt x="927623" y="863600"/>
                </a:lnTo>
                <a:lnTo>
                  <a:pt x="903650" y="825500"/>
                </a:lnTo>
                <a:lnTo>
                  <a:pt x="879199" y="800100"/>
                </a:lnTo>
                <a:lnTo>
                  <a:pt x="852945" y="774700"/>
                </a:lnTo>
                <a:lnTo>
                  <a:pt x="846630" y="762000"/>
                </a:lnTo>
                <a:lnTo>
                  <a:pt x="836465" y="749300"/>
                </a:lnTo>
                <a:lnTo>
                  <a:pt x="825980" y="723900"/>
                </a:lnTo>
                <a:lnTo>
                  <a:pt x="818705" y="711200"/>
                </a:lnTo>
                <a:lnTo>
                  <a:pt x="811771" y="685800"/>
                </a:lnTo>
                <a:lnTo>
                  <a:pt x="804797" y="673100"/>
                </a:lnTo>
                <a:lnTo>
                  <a:pt x="795417" y="647700"/>
                </a:lnTo>
                <a:lnTo>
                  <a:pt x="781261" y="635000"/>
                </a:lnTo>
                <a:lnTo>
                  <a:pt x="777837" y="622300"/>
                </a:lnTo>
                <a:lnTo>
                  <a:pt x="771733" y="622300"/>
                </a:lnTo>
                <a:lnTo>
                  <a:pt x="770026" y="609600"/>
                </a:lnTo>
                <a:lnTo>
                  <a:pt x="767816" y="596900"/>
                </a:lnTo>
                <a:lnTo>
                  <a:pt x="769116" y="584200"/>
                </a:lnTo>
                <a:lnTo>
                  <a:pt x="772342" y="571500"/>
                </a:lnTo>
                <a:lnTo>
                  <a:pt x="775911" y="546100"/>
                </a:lnTo>
                <a:lnTo>
                  <a:pt x="780828" y="533400"/>
                </a:lnTo>
                <a:lnTo>
                  <a:pt x="786316" y="520700"/>
                </a:lnTo>
                <a:lnTo>
                  <a:pt x="793889" y="508000"/>
                </a:lnTo>
                <a:lnTo>
                  <a:pt x="805062" y="495300"/>
                </a:lnTo>
                <a:lnTo>
                  <a:pt x="809383" y="482600"/>
                </a:lnTo>
                <a:lnTo>
                  <a:pt x="910341" y="482600"/>
                </a:lnTo>
                <a:lnTo>
                  <a:pt x="918205" y="469900"/>
                </a:lnTo>
                <a:lnTo>
                  <a:pt x="921254" y="457200"/>
                </a:lnTo>
                <a:lnTo>
                  <a:pt x="921414" y="444500"/>
                </a:lnTo>
                <a:lnTo>
                  <a:pt x="923715" y="431800"/>
                </a:lnTo>
                <a:lnTo>
                  <a:pt x="930187" y="419100"/>
                </a:lnTo>
                <a:lnTo>
                  <a:pt x="934411" y="406400"/>
                </a:lnTo>
                <a:lnTo>
                  <a:pt x="929969" y="393700"/>
                </a:lnTo>
                <a:lnTo>
                  <a:pt x="936633" y="393700"/>
                </a:lnTo>
                <a:lnTo>
                  <a:pt x="941333" y="381000"/>
                </a:lnTo>
                <a:lnTo>
                  <a:pt x="942010" y="381000"/>
                </a:lnTo>
                <a:lnTo>
                  <a:pt x="940096" y="355600"/>
                </a:lnTo>
                <a:lnTo>
                  <a:pt x="940830" y="355600"/>
                </a:lnTo>
                <a:lnTo>
                  <a:pt x="944293" y="342900"/>
                </a:lnTo>
                <a:lnTo>
                  <a:pt x="950565" y="342900"/>
                </a:lnTo>
                <a:lnTo>
                  <a:pt x="962740" y="330200"/>
                </a:lnTo>
                <a:lnTo>
                  <a:pt x="968918" y="317500"/>
                </a:lnTo>
                <a:lnTo>
                  <a:pt x="969798" y="317500"/>
                </a:lnTo>
                <a:lnTo>
                  <a:pt x="966083" y="304800"/>
                </a:lnTo>
                <a:lnTo>
                  <a:pt x="961189" y="292100"/>
                </a:lnTo>
                <a:lnTo>
                  <a:pt x="951982" y="292100"/>
                </a:lnTo>
                <a:lnTo>
                  <a:pt x="947089" y="279400"/>
                </a:lnTo>
                <a:lnTo>
                  <a:pt x="941958" y="279400"/>
                </a:lnTo>
                <a:lnTo>
                  <a:pt x="937832" y="266700"/>
                </a:lnTo>
                <a:lnTo>
                  <a:pt x="936126" y="266700"/>
                </a:lnTo>
                <a:lnTo>
                  <a:pt x="933714" y="241300"/>
                </a:lnTo>
                <a:lnTo>
                  <a:pt x="934120" y="215900"/>
                </a:lnTo>
                <a:lnTo>
                  <a:pt x="935328" y="203200"/>
                </a:lnTo>
                <a:lnTo>
                  <a:pt x="935319" y="177800"/>
                </a:lnTo>
                <a:lnTo>
                  <a:pt x="931125" y="139700"/>
                </a:lnTo>
                <a:lnTo>
                  <a:pt x="924274" y="127000"/>
                </a:lnTo>
                <a:lnTo>
                  <a:pt x="915657" y="101600"/>
                </a:lnTo>
                <a:lnTo>
                  <a:pt x="906168" y="88900"/>
                </a:lnTo>
                <a:lnTo>
                  <a:pt x="905856" y="76200"/>
                </a:lnTo>
                <a:lnTo>
                  <a:pt x="904913" y="63500"/>
                </a:lnTo>
                <a:lnTo>
                  <a:pt x="903328" y="63500"/>
                </a:lnTo>
                <a:lnTo>
                  <a:pt x="901090" y="50800"/>
                </a:lnTo>
                <a:lnTo>
                  <a:pt x="879370" y="25400"/>
                </a:lnTo>
                <a:lnTo>
                  <a:pt x="851873" y="12700"/>
                </a:lnTo>
                <a:lnTo>
                  <a:pt x="821166" y="0"/>
                </a:lnTo>
                <a:close/>
              </a:path>
              <a:path w="1583055" h="3416300">
                <a:moveTo>
                  <a:pt x="1400147" y="1663700"/>
                </a:moveTo>
                <a:lnTo>
                  <a:pt x="1296795" y="1663700"/>
                </a:lnTo>
                <a:lnTo>
                  <a:pt x="1301497" y="1676400"/>
                </a:lnTo>
                <a:lnTo>
                  <a:pt x="1310723" y="1689100"/>
                </a:lnTo>
                <a:lnTo>
                  <a:pt x="1325887" y="1689100"/>
                </a:lnTo>
                <a:lnTo>
                  <a:pt x="1341694" y="1701800"/>
                </a:lnTo>
                <a:lnTo>
                  <a:pt x="1368828" y="1701800"/>
                </a:lnTo>
                <a:lnTo>
                  <a:pt x="1385049" y="1676400"/>
                </a:lnTo>
                <a:lnTo>
                  <a:pt x="1400147" y="1663700"/>
                </a:lnTo>
                <a:close/>
              </a:path>
              <a:path w="1583055" h="3416300">
                <a:moveTo>
                  <a:pt x="1419834" y="1651000"/>
                </a:moveTo>
                <a:lnTo>
                  <a:pt x="1278430" y="1651000"/>
                </a:lnTo>
                <a:lnTo>
                  <a:pt x="1289538" y="1663700"/>
                </a:lnTo>
                <a:lnTo>
                  <a:pt x="1412760" y="1663700"/>
                </a:lnTo>
                <a:lnTo>
                  <a:pt x="1419834" y="1651000"/>
                </a:lnTo>
                <a:close/>
              </a:path>
              <a:path w="1583055" h="3416300">
                <a:moveTo>
                  <a:pt x="1111782" y="1333500"/>
                </a:moveTo>
                <a:lnTo>
                  <a:pt x="898493" y="1333500"/>
                </a:lnTo>
                <a:lnTo>
                  <a:pt x="904177" y="1346200"/>
                </a:lnTo>
                <a:lnTo>
                  <a:pt x="914723" y="1358900"/>
                </a:lnTo>
                <a:lnTo>
                  <a:pt x="925453" y="1371600"/>
                </a:lnTo>
                <a:lnTo>
                  <a:pt x="933264" y="1384300"/>
                </a:lnTo>
                <a:lnTo>
                  <a:pt x="955654" y="1397000"/>
                </a:lnTo>
                <a:lnTo>
                  <a:pt x="992683" y="1422400"/>
                </a:lnTo>
                <a:lnTo>
                  <a:pt x="1045047" y="1460500"/>
                </a:lnTo>
                <a:lnTo>
                  <a:pt x="1102975" y="1498600"/>
                </a:lnTo>
                <a:lnTo>
                  <a:pt x="1156695" y="1536700"/>
                </a:lnTo>
                <a:lnTo>
                  <a:pt x="1196434" y="1562100"/>
                </a:lnTo>
                <a:lnTo>
                  <a:pt x="1212421" y="1574800"/>
                </a:lnTo>
                <a:lnTo>
                  <a:pt x="1217308" y="1587500"/>
                </a:lnTo>
                <a:lnTo>
                  <a:pt x="1228312" y="1612900"/>
                </a:lnTo>
                <a:lnTo>
                  <a:pt x="1243809" y="1625600"/>
                </a:lnTo>
                <a:lnTo>
                  <a:pt x="1262179" y="1651000"/>
                </a:lnTo>
                <a:lnTo>
                  <a:pt x="1426348" y="1651000"/>
                </a:lnTo>
                <a:lnTo>
                  <a:pt x="1431418" y="1638300"/>
                </a:lnTo>
                <a:lnTo>
                  <a:pt x="1434163" y="1625600"/>
                </a:lnTo>
                <a:lnTo>
                  <a:pt x="1434434" y="1612900"/>
                </a:lnTo>
                <a:lnTo>
                  <a:pt x="1433113" y="1600200"/>
                </a:lnTo>
                <a:lnTo>
                  <a:pt x="1428906" y="1587500"/>
                </a:lnTo>
                <a:lnTo>
                  <a:pt x="1420519" y="1574800"/>
                </a:lnTo>
                <a:lnTo>
                  <a:pt x="1407308" y="1562100"/>
                </a:lnTo>
                <a:lnTo>
                  <a:pt x="1391923" y="1549400"/>
                </a:lnTo>
                <a:lnTo>
                  <a:pt x="1376060" y="1549400"/>
                </a:lnTo>
                <a:lnTo>
                  <a:pt x="1361411" y="1536700"/>
                </a:lnTo>
                <a:lnTo>
                  <a:pt x="1347863" y="1536700"/>
                </a:lnTo>
                <a:lnTo>
                  <a:pt x="1331289" y="1524000"/>
                </a:lnTo>
                <a:lnTo>
                  <a:pt x="1311185" y="1524000"/>
                </a:lnTo>
                <a:lnTo>
                  <a:pt x="1287047" y="1511300"/>
                </a:lnTo>
                <a:lnTo>
                  <a:pt x="1269328" y="1498600"/>
                </a:lnTo>
                <a:lnTo>
                  <a:pt x="1255191" y="1485900"/>
                </a:lnTo>
                <a:lnTo>
                  <a:pt x="1241534" y="1473200"/>
                </a:lnTo>
                <a:lnTo>
                  <a:pt x="1225258" y="1460500"/>
                </a:lnTo>
                <a:lnTo>
                  <a:pt x="1162949" y="1384300"/>
                </a:lnTo>
                <a:lnTo>
                  <a:pt x="1111782" y="1333500"/>
                </a:lnTo>
                <a:close/>
              </a:path>
              <a:path w="1583055" h="3416300">
                <a:moveTo>
                  <a:pt x="655207" y="0"/>
                </a:moveTo>
                <a:lnTo>
                  <a:pt x="629669" y="0"/>
                </a:lnTo>
                <a:lnTo>
                  <a:pt x="617559" y="12700"/>
                </a:lnTo>
                <a:lnTo>
                  <a:pt x="667317" y="12700"/>
                </a:lnTo>
                <a:lnTo>
                  <a:pt x="6552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25">
            <a:extLst>
              <a:ext uri="{FF2B5EF4-FFF2-40B4-BE49-F238E27FC236}">
                <a16:creationId xmlns:a16="http://schemas.microsoft.com/office/drawing/2014/main" id="{99090803-2FEF-D51C-D859-97F7EB624E47}"/>
              </a:ext>
            </a:extLst>
          </p:cNvPr>
          <p:cNvSpPr txBox="1"/>
          <p:nvPr/>
        </p:nvSpPr>
        <p:spPr>
          <a:xfrm>
            <a:off x="7432272" y="5170004"/>
            <a:ext cx="3570496" cy="131378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800" spc="7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Do</a:t>
            </a:r>
            <a:r>
              <a:rPr sz="800" spc="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We</a:t>
            </a:r>
            <a:r>
              <a:rPr sz="800" spc="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26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Have</a:t>
            </a:r>
            <a:r>
              <a:rPr sz="800" spc="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Brain</a:t>
            </a:r>
            <a:r>
              <a:rPr sz="800" spc="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to</a:t>
            </a:r>
            <a:r>
              <a:rPr sz="800" spc="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57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Spare?</a:t>
            </a:r>
            <a:r>
              <a:rPr sz="800" spc="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[Drachman</a:t>
            </a:r>
            <a:r>
              <a:rPr sz="800" spc="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26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DA,</a:t>
            </a:r>
            <a:r>
              <a:rPr sz="800" spc="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Neurology</a:t>
            </a:r>
            <a:r>
              <a:rPr sz="800" spc="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2004]</a:t>
            </a:r>
            <a:endParaRPr sz="8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78" name="Google Shape;114;p21">
            <a:extLst>
              <a:ext uri="{FF2B5EF4-FFF2-40B4-BE49-F238E27FC236}">
                <a16:creationId xmlns:a16="http://schemas.microsoft.com/office/drawing/2014/main" id="{8EEAE04F-86CE-DCA5-4A17-E7DC17A7A922}"/>
              </a:ext>
            </a:extLst>
          </p:cNvPr>
          <p:cNvSpPr txBox="1"/>
          <p:nvPr/>
        </p:nvSpPr>
        <p:spPr>
          <a:xfrm>
            <a:off x="5582940" y="5376525"/>
            <a:ext cx="4807361" cy="112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r"/>
            <a:r>
              <a:rPr lang="en" sz="800" dirty="0">
                <a:solidFill>
                  <a:schemeClr val="bg1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C. A. Walsh, “Peter </a:t>
            </a:r>
            <a:r>
              <a:rPr lang="en" sz="800" dirty="0" err="1">
                <a:solidFill>
                  <a:schemeClr val="bg1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Huttenlocher</a:t>
            </a:r>
            <a:r>
              <a:rPr lang="en" sz="800" dirty="0">
                <a:solidFill>
                  <a:schemeClr val="bg1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(1931-2013),” Nature, 2013</a:t>
            </a:r>
            <a:endParaRPr sz="800" dirty="0">
              <a:solidFill>
                <a:schemeClr val="bg1">
                  <a:lumMod val="50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5020DEE-89A7-690B-56CD-37D8F377E744}"/>
              </a:ext>
            </a:extLst>
          </p:cNvPr>
          <p:cNvGrpSpPr/>
          <p:nvPr/>
        </p:nvGrpSpPr>
        <p:grpSpPr>
          <a:xfrm>
            <a:off x="367941" y="916910"/>
            <a:ext cx="9609841" cy="2420335"/>
            <a:chOff x="367941" y="916910"/>
            <a:chExt cx="9609841" cy="2420335"/>
          </a:xfrm>
        </p:grpSpPr>
        <p:grpSp>
          <p:nvGrpSpPr>
            <p:cNvPr id="56" name="object 7">
              <a:extLst>
                <a:ext uri="{FF2B5EF4-FFF2-40B4-BE49-F238E27FC236}">
                  <a16:creationId xmlns:a16="http://schemas.microsoft.com/office/drawing/2014/main" id="{A14BA2AC-1D60-6E5D-4F94-F68931961324}"/>
                </a:ext>
              </a:extLst>
            </p:cNvPr>
            <p:cNvGrpSpPr/>
            <p:nvPr/>
          </p:nvGrpSpPr>
          <p:grpSpPr>
            <a:xfrm>
              <a:off x="1365494" y="1471672"/>
              <a:ext cx="7611250" cy="1550282"/>
              <a:chOff x="2647775" y="2853576"/>
              <a:chExt cx="14758669" cy="3006090"/>
            </a:xfrm>
          </p:grpSpPr>
          <p:sp>
            <p:nvSpPr>
              <p:cNvPr id="57" name="object 8">
                <a:extLst>
                  <a:ext uri="{FF2B5EF4-FFF2-40B4-BE49-F238E27FC236}">
                    <a16:creationId xmlns:a16="http://schemas.microsoft.com/office/drawing/2014/main" id="{40ED2B73-A66E-BA58-28AE-F09CE34A83A2}"/>
                  </a:ext>
                </a:extLst>
              </p:cNvPr>
              <p:cNvSpPr/>
              <p:nvPr/>
            </p:nvSpPr>
            <p:spPr>
              <a:xfrm>
                <a:off x="2698036" y="5809301"/>
                <a:ext cx="1461833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4618335">
                    <a:moveTo>
                      <a:pt x="0" y="0"/>
                    </a:moveTo>
                    <a:lnTo>
                      <a:pt x="14607502" y="0"/>
                    </a:lnTo>
                    <a:lnTo>
                      <a:pt x="14617973" y="0"/>
                    </a:lnTo>
                  </a:path>
                </a:pathLst>
              </a:custGeom>
              <a:ln w="2094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9">
                <a:extLst>
                  <a:ext uri="{FF2B5EF4-FFF2-40B4-BE49-F238E27FC236}">
                    <a16:creationId xmlns:a16="http://schemas.microsoft.com/office/drawing/2014/main" id="{C0BA880F-76AD-5A07-8069-B66EFE57CB9C}"/>
                  </a:ext>
                </a:extLst>
              </p:cNvPr>
              <p:cNvSpPr/>
              <p:nvPr/>
            </p:nvSpPr>
            <p:spPr>
              <a:xfrm>
                <a:off x="17305546" y="5759041"/>
                <a:ext cx="100965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w="100965" h="100964">
                    <a:moveTo>
                      <a:pt x="0" y="0"/>
                    </a:moveTo>
                    <a:lnTo>
                      <a:pt x="0" y="100520"/>
                    </a:lnTo>
                    <a:lnTo>
                      <a:pt x="100520" y="502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10">
                <a:extLst>
                  <a:ext uri="{FF2B5EF4-FFF2-40B4-BE49-F238E27FC236}">
                    <a16:creationId xmlns:a16="http://schemas.microsoft.com/office/drawing/2014/main" id="{24A068ED-2D04-A9F0-B817-E6527A354815}"/>
                  </a:ext>
                </a:extLst>
              </p:cNvPr>
              <p:cNvSpPr/>
              <p:nvPr/>
            </p:nvSpPr>
            <p:spPr>
              <a:xfrm>
                <a:off x="2698036" y="2943625"/>
                <a:ext cx="0" cy="2876550"/>
              </a:xfrm>
              <a:custGeom>
                <a:avLst/>
                <a:gdLst/>
                <a:ahLst/>
                <a:cxnLst/>
                <a:rect l="l" t="t" r="r" b="b"/>
                <a:pathLst>
                  <a:path h="2876550">
                    <a:moveTo>
                      <a:pt x="0" y="2875981"/>
                    </a:moveTo>
                    <a:lnTo>
                      <a:pt x="0" y="10470"/>
                    </a:lnTo>
                    <a:lnTo>
                      <a:pt x="0" y="0"/>
                    </a:lnTo>
                  </a:path>
                </a:pathLst>
              </a:custGeom>
              <a:ln w="2094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11">
                <a:extLst>
                  <a:ext uri="{FF2B5EF4-FFF2-40B4-BE49-F238E27FC236}">
                    <a16:creationId xmlns:a16="http://schemas.microsoft.com/office/drawing/2014/main" id="{AC8F6A98-68D8-6BA9-834A-876DBCE69869}"/>
                  </a:ext>
                </a:extLst>
              </p:cNvPr>
              <p:cNvSpPr/>
              <p:nvPr/>
            </p:nvSpPr>
            <p:spPr>
              <a:xfrm>
                <a:off x="2647775" y="2853576"/>
                <a:ext cx="100965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w="100964" h="100964">
                    <a:moveTo>
                      <a:pt x="50260" y="0"/>
                    </a:moveTo>
                    <a:lnTo>
                      <a:pt x="0" y="100520"/>
                    </a:lnTo>
                    <a:lnTo>
                      <a:pt x="100520" y="100520"/>
                    </a:lnTo>
                    <a:lnTo>
                      <a:pt x="5026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12">
                <a:extLst>
                  <a:ext uri="{FF2B5EF4-FFF2-40B4-BE49-F238E27FC236}">
                    <a16:creationId xmlns:a16="http://schemas.microsoft.com/office/drawing/2014/main" id="{E74AF4D6-BE10-B472-5212-57860398E7DC}"/>
                  </a:ext>
                </a:extLst>
              </p:cNvPr>
              <p:cNvSpPr/>
              <p:nvPr/>
            </p:nvSpPr>
            <p:spPr>
              <a:xfrm>
                <a:off x="2900601" y="2989339"/>
                <a:ext cx="13312775" cy="2696210"/>
              </a:xfrm>
              <a:custGeom>
                <a:avLst/>
                <a:gdLst/>
                <a:ahLst/>
                <a:cxnLst/>
                <a:rect l="l" t="t" r="r" b="b"/>
                <a:pathLst>
                  <a:path w="13312775" h="2696210">
                    <a:moveTo>
                      <a:pt x="0" y="2695994"/>
                    </a:moveTo>
                    <a:lnTo>
                      <a:pt x="4897480" y="0"/>
                    </a:lnTo>
                    <a:lnTo>
                      <a:pt x="7298714" y="169438"/>
                    </a:lnTo>
                    <a:lnTo>
                      <a:pt x="9520802" y="1141491"/>
                    </a:lnTo>
                    <a:lnTo>
                      <a:pt x="13312254" y="1458494"/>
                    </a:lnTo>
                  </a:path>
                </a:pathLst>
              </a:custGeom>
              <a:ln w="2094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13">
                <a:extLst>
                  <a:ext uri="{FF2B5EF4-FFF2-40B4-BE49-F238E27FC236}">
                    <a16:creationId xmlns:a16="http://schemas.microsoft.com/office/drawing/2014/main" id="{6F10DF12-9850-DF2F-A10F-5FCC9E5EA9AE}"/>
                  </a:ext>
                </a:extLst>
              </p:cNvPr>
              <p:cNvSpPr/>
              <p:nvPr/>
            </p:nvSpPr>
            <p:spPr>
              <a:xfrm>
                <a:off x="4524914" y="4685395"/>
                <a:ext cx="2727325" cy="994410"/>
              </a:xfrm>
              <a:custGeom>
                <a:avLst/>
                <a:gdLst/>
                <a:ahLst/>
                <a:cxnLst/>
                <a:rect l="l" t="t" r="r" b="b"/>
                <a:pathLst>
                  <a:path w="2727325" h="994410">
                    <a:moveTo>
                      <a:pt x="2726869" y="0"/>
                    </a:moveTo>
                    <a:lnTo>
                      <a:pt x="0" y="0"/>
                    </a:lnTo>
                    <a:lnTo>
                      <a:pt x="0" y="994270"/>
                    </a:lnTo>
                    <a:lnTo>
                      <a:pt x="2726869" y="994270"/>
                    </a:lnTo>
                    <a:lnTo>
                      <a:pt x="2726869" y="0"/>
                    </a:lnTo>
                    <a:close/>
                  </a:path>
                </a:pathLst>
              </a:custGeom>
              <a:solidFill>
                <a:srgbClr val="FFFFFF">
                  <a:alpha val="599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3" name="object 14">
              <a:extLst>
                <a:ext uri="{FF2B5EF4-FFF2-40B4-BE49-F238E27FC236}">
                  <a16:creationId xmlns:a16="http://schemas.microsoft.com/office/drawing/2014/main" id="{97652A65-2B57-5D6E-7FD7-7C88FE3D19DA}"/>
                </a:ext>
              </a:extLst>
            </p:cNvPr>
            <p:cNvSpPr txBox="1"/>
            <p:nvPr/>
          </p:nvSpPr>
          <p:spPr>
            <a:xfrm>
              <a:off x="9137130" y="2854000"/>
              <a:ext cx="485322" cy="268214"/>
            </a:xfrm>
            <a:prstGeom prst="rect">
              <a:avLst/>
            </a:prstGeom>
          </p:spPr>
          <p:txBody>
            <a:bodyPr vert="horz" wrap="square" lIns="0" tIns="6222" rIns="0" bIns="0" rtlCol="0">
              <a:spAutoFit/>
            </a:bodyPr>
            <a:lstStyle/>
            <a:p>
              <a:pPr marL="6549">
                <a:spcBef>
                  <a:spcPts val="49"/>
                </a:spcBef>
              </a:pPr>
              <a:r>
                <a:rPr sz="1702" spc="-21" dirty="0">
                  <a:latin typeface="Trebuchet MS"/>
                  <a:cs typeface="Trebuchet MS"/>
                </a:rPr>
                <a:t>Time</a:t>
              </a:r>
              <a:endParaRPr sz="1702">
                <a:latin typeface="Trebuchet MS"/>
                <a:cs typeface="Trebuchet MS"/>
              </a:endParaRPr>
            </a:p>
          </p:txBody>
        </p:sp>
        <p:sp>
          <p:nvSpPr>
            <p:cNvPr id="67" name="object 15">
              <a:extLst>
                <a:ext uri="{FF2B5EF4-FFF2-40B4-BE49-F238E27FC236}">
                  <a16:creationId xmlns:a16="http://schemas.microsoft.com/office/drawing/2014/main" id="{81E60576-CC5F-B33D-363D-52AC3348003E}"/>
                </a:ext>
              </a:extLst>
            </p:cNvPr>
            <p:cNvSpPr txBox="1"/>
            <p:nvPr/>
          </p:nvSpPr>
          <p:spPr>
            <a:xfrm>
              <a:off x="367941" y="1079113"/>
              <a:ext cx="2041827" cy="268214"/>
            </a:xfrm>
            <a:prstGeom prst="rect">
              <a:avLst/>
            </a:prstGeom>
          </p:spPr>
          <p:txBody>
            <a:bodyPr vert="horz" wrap="square" lIns="0" tIns="6222" rIns="0" bIns="0" rtlCol="0">
              <a:spAutoFit/>
            </a:bodyPr>
            <a:lstStyle/>
            <a:p>
              <a:pPr marL="6549">
                <a:spcBef>
                  <a:spcPts val="49"/>
                </a:spcBef>
              </a:pPr>
              <a:r>
                <a:rPr sz="1702" dirty="0">
                  <a:latin typeface="Trebuchet MS"/>
                  <a:cs typeface="Trebuchet MS"/>
                </a:rPr>
                <a:t>Number</a:t>
              </a:r>
              <a:r>
                <a:rPr sz="1702" spc="-21" dirty="0">
                  <a:latin typeface="Trebuchet MS"/>
                  <a:cs typeface="Trebuchet MS"/>
                </a:rPr>
                <a:t> </a:t>
              </a:r>
              <a:r>
                <a:rPr sz="1702" dirty="0">
                  <a:latin typeface="Trebuchet MS"/>
                  <a:cs typeface="Trebuchet MS"/>
                </a:rPr>
                <a:t>of</a:t>
              </a:r>
              <a:r>
                <a:rPr sz="1702" spc="-21" dirty="0">
                  <a:latin typeface="Trebuchet MS"/>
                  <a:cs typeface="Trebuchet MS"/>
                </a:rPr>
                <a:t> </a:t>
              </a:r>
              <a:r>
                <a:rPr sz="1702" spc="77" dirty="0">
                  <a:latin typeface="Trebuchet MS"/>
                  <a:cs typeface="Trebuchet MS"/>
                </a:rPr>
                <a:t>Synapses</a:t>
              </a:r>
              <a:endParaRPr sz="1702" dirty="0">
                <a:latin typeface="Trebuchet MS"/>
                <a:cs typeface="Trebuchet MS"/>
              </a:endParaRPr>
            </a:p>
          </p:txBody>
        </p:sp>
        <p:sp>
          <p:nvSpPr>
            <p:cNvPr id="68" name="object 16">
              <a:extLst>
                <a:ext uri="{FF2B5EF4-FFF2-40B4-BE49-F238E27FC236}">
                  <a16:creationId xmlns:a16="http://schemas.microsoft.com/office/drawing/2014/main" id="{7A1E8DC5-A036-FED8-0891-44E1F531B478}"/>
                </a:ext>
              </a:extLst>
            </p:cNvPr>
            <p:cNvSpPr txBox="1"/>
            <p:nvPr/>
          </p:nvSpPr>
          <p:spPr>
            <a:xfrm>
              <a:off x="1437877" y="3069031"/>
              <a:ext cx="896963" cy="268214"/>
            </a:xfrm>
            <a:prstGeom prst="rect">
              <a:avLst/>
            </a:prstGeom>
          </p:spPr>
          <p:txBody>
            <a:bodyPr vert="horz" wrap="square" lIns="0" tIns="6222" rIns="0" bIns="0" rtlCol="0">
              <a:spAutoFit/>
            </a:bodyPr>
            <a:lstStyle/>
            <a:p>
              <a:pPr marL="6549">
                <a:spcBef>
                  <a:spcPts val="49"/>
                </a:spcBef>
              </a:pPr>
              <a:r>
                <a:rPr sz="1702" spc="23" dirty="0">
                  <a:latin typeface="Trebuchet MS"/>
                  <a:cs typeface="Trebuchet MS"/>
                </a:rPr>
                <a:t>Newborn</a:t>
              </a:r>
              <a:endParaRPr sz="1702">
                <a:latin typeface="Trebuchet MS"/>
                <a:cs typeface="Trebuchet MS"/>
              </a:endParaRPr>
            </a:p>
          </p:txBody>
        </p:sp>
        <p:sp>
          <p:nvSpPr>
            <p:cNvPr id="69" name="object 17">
              <a:extLst>
                <a:ext uri="{FF2B5EF4-FFF2-40B4-BE49-F238E27FC236}">
                  <a16:creationId xmlns:a16="http://schemas.microsoft.com/office/drawing/2014/main" id="{AC7772B1-E685-744E-45FD-4CDCD8704E31}"/>
                </a:ext>
              </a:extLst>
            </p:cNvPr>
            <p:cNvSpPr txBox="1"/>
            <p:nvPr/>
          </p:nvSpPr>
          <p:spPr>
            <a:xfrm>
              <a:off x="3416292" y="3069031"/>
              <a:ext cx="1277493" cy="268214"/>
            </a:xfrm>
            <a:prstGeom prst="rect">
              <a:avLst/>
            </a:prstGeom>
          </p:spPr>
          <p:txBody>
            <a:bodyPr vert="horz" wrap="square" lIns="0" tIns="6222" rIns="0" bIns="0" rtlCol="0">
              <a:spAutoFit/>
            </a:bodyPr>
            <a:lstStyle/>
            <a:p>
              <a:pPr marL="6549">
                <a:spcBef>
                  <a:spcPts val="49"/>
                </a:spcBef>
              </a:pPr>
              <a:r>
                <a:rPr sz="1702" spc="44" dirty="0">
                  <a:latin typeface="Trebuchet MS"/>
                  <a:cs typeface="Trebuchet MS"/>
                </a:rPr>
                <a:t>2-</a:t>
              </a:r>
              <a:r>
                <a:rPr sz="1702" spc="52" dirty="0">
                  <a:latin typeface="Trebuchet MS"/>
                  <a:cs typeface="Trebuchet MS"/>
                </a:rPr>
                <a:t>4</a:t>
              </a:r>
              <a:r>
                <a:rPr sz="1702" spc="-21" dirty="0">
                  <a:latin typeface="Trebuchet MS"/>
                  <a:cs typeface="Trebuchet MS"/>
                </a:rPr>
                <a:t> </a:t>
              </a:r>
              <a:r>
                <a:rPr sz="1702" dirty="0">
                  <a:latin typeface="Trebuchet MS"/>
                  <a:cs typeface="Trebuchet MS"/>
                </a:rPr>
                <a:t>years</a:t>
              </a:r>
              <a:r>
                <a:rPr sz="1702" spc="-18" dirty="0">
                  <a:latin typeface="Trebuchet MS"/>
                  <a:cs typeface="Trebuchet MS"/>
                </a:rPr>
                <a:t> </a:t>
              </a:r>
              <a:r>
                <a:rPr sz="1702" spc="-13" dirty="0">
                  <a:latin typeface="Trebuchet MS"/>
                  <a:cs typeface="Trebuchet MS"/>
                </a:rPr>
                <a:t>old</a:t>
              </a:r>
              <a:endParaRPr sz="1702">
                <a:latin typeface="Trebuchet MS"/>
                <a:cs typeface="Trebuchet MS"/>
              </a:endParaRPr>
            </a:p>
          </p:txBody>
        </p:sp>
        <p:sp>
          <p:nvSpPr>
            <p:cNvPr id="70" name="object 18">
              <a:extLst>
                <a:ext uri="{FF2B5EF4-FFF2-40B4-BE49-F238E27FC236}">
                  <a16:creationId xmlns:a16="http://schemas.microsoft.com/office/drawing/2014/main" id="{69634D31-8625-3AFA-7453-532447B6362C}"/>
                </a:ext>
              </a:extLst>
            </p:cNvPr>
            <p:cNvSpPr txBox="1"/>
            <p:nvPr/>
          </p:nvSpPr>
          <p:spPr>
            <a:xfrm>
              <a:off x="8133758" y="3069031"/>
              <a:ext cx="517416" cy="268214"/>
            </a:xfrm>
            <a:prstGeom prst="rect">
              <a:avLst/>
            </a:prstGeom>
          </p:spPr>
          <p:txBody>
            <a:bodyPr vert="horz" wrap="square" lIns="0" tIns="6222" rIns="0" bIns="0" rtlCol="0">
              <a:spAutoFit/>
            </a:bodyPr>
            <a:lstStyle/>
            <a:p>
              <a:pPr marL="6549">
                <a:spcBef>
                  <a:spcPts val="49"/>
                </a:spcBef>
              </a:pPr>
              <a:r>
                <a:rPr sz="1702" spc="-13" dirty="0">
                  <a:latin typeface="Trebuchet MS"/>
                  <a:cs typeface="Trebuchet MS"/>
                </a:rPr>
                <a:t>Adult</a:t>
              </a:r>
              <a:endParaRPr sz="1702">
                <a:latin typeface="Trebuchet MS"/>
                <a:cs typeface="Trebuchet MS"/>
              </a:endParaRPr>
            </a:p>
          </p:txBody>
        </p:sp>
        <p:sp>
          <p:nvSpPr>
            <p:cNvPr id="71" name="object 19">
              <a:extLst>
                <a:ext uri="{FF2B5EF4-FFF2-40B4-BE49-F238E27FC236}">
                  <a16:creationId xmlns:a16="http://schemas.microsoft.com/office/drawing/2014/main" id="{30146055-5334-4515-2348-9044AF301BB1}"/>
                </a:ext>
              </a:extLst>
            </p:cNvPr>
            <p:cNvSpPr txBox="1"/>
            <p:nvPr/>
          </p:nvSpPr>
          <p:spPr>
            <a:xfrm>
              <a:off x="5775296" y="3069031"/>
              <a:ext cx="1261446" cy="268214"/>
            </a:xfrm>
            <a:prstGeom prst="rect">
              <a:avLst/>
            </a:prstGeom>
          </p:spPr>
          <p:txBody>
            <a:bodyPr vert="horz" wrap="square" lIns="0" tIns="6222" rIns="0" bIns="0" rtlCol="0">
              <a:spAutoFit/>
            </a:bodyPr>
            <a:lstStyle/>
            <a:p>
              <a:pPr marL="6549">
                <a:spcBef>
                  <a:spcPts val="49"/>
                </a:spcBef>
              </a:pPr>
              <a:r>
                <a:rPr sz="1702" spc="21" dirty="0">
                  <a:latin typeface="Trebuchet MS"/>
                  <a:cs typeface="Trebuchet MS"/>
                </a:rPr>
                <a:t>Adolescence</a:t>
              </a:r>
              <a:endParaRPr sz="1702">
                <a:latin typeface="Trebuchet MS"/>
                <a:cs typeface="Trebuchet MS"/>
              </a:endParaRPr>
            </a:p>
          </p:txBody>
        </p:sp>
        <p:sp>
          <p:nvSpPr>
            <p:cNvPr id="72" name="object 20">
              <a:extLst>
                <a:ext uri="{FF2B5EF4-FFF2-40B4-BE49-F238E27FC236}">
                  <a16:creationId xmlns:a16="http://schemas.microsoft.com/office/drawing/2014/main" id="{CD769523-1619-3A01-6850-71A6DB3F3B9E}"/>
                </a:ext>
              </a:extLst>
            </p:cNvPr>
            <p:cNvSpPr txBox="1"/>
            <p:nvPr/>
          </p:nvSpPr>
          <p:spPr>
            <a:xfrm>
              <a:off x="4072712" y="1012812"/>
              <a:ext cx="1592029" cy="241643"/>
            </a:xfrm>
            <a:prstGeom prst="rect">
              <a:avLst/>
            </a:prstGeom>
          </p:spPr>
          <p:txBody>
            <a:bodyPr vert="horz" wrap="square" lIns="0" tIns="7531" rIns="0" bIns="0" rtlCol="0">
              <a:spAutoFit/>
            </a:bodyPr>
            <a:lstStyle/>
            <a:p>
              <a:pPr marL="6549">
                <a:spcBef>
                  <a:spcPts val="59"/>
                </a:spcBef>
              </a:pPr>
              <a:r>
                <a:rPr sz="1521" b="1" dirty="0">
                  <a:solidFill>
                    <a:srgbClr val="A31F34"/>
                  </a:solidFill>
                  <a:latin typeface="Arial"/>
                  <a:cs typeface="Arial"/>
                </a:rPr>
                <a:t>15000</a:t>
              </a:r>
              <a:r>
                <a:rPr sz="1521" b="1" spc="3" dirty="0">
                  <a:solidFill>
                    <a:srgbClr val="A31F34"/>
                  </a:solidFill>
                  <a:latin typeface="Arial"/>
                  <a:cs typeface="Arial"/>
                </a:rPr>
                <a:t> </a:t>
              </a:r>
              <a:r>
                <a:rPr sz="1521" b="1" spc="-5" dirty="0">
                  <a:solidFill>
                    <a:srgbClr val="A31F34"/>
                  </a:solidFill>
                  <a:latin typeface="Arial"/>
                  <a:cs typeface="Arial"/>
                </a:rPr>
                <a:t>synapses</a:t>
              </a:r>
              <a:endParaRPr sz="1521" dirty="0">
                <a:latin typeface="Arial"/>
                <a:cs typeface="Arial"/>
              </a:endParaRPr>
            </a:p>
          </p:txBody>
        </p:sp>
        <p:sp>
          <p:nvSpPr>
            <p:cNvPr id="73" name="object 21">
              <a:extLst>
                <a:ext uri="{FF2B5EF4-FFF2-40B4-BE49-F238E27FC236}">
                  <a16:creationId xmlns:a16="http://schemas.microsoft.com/office/drawing/2014/main" id="{2A8A5DDE-54D0-F61E-12A2-AADC3206FAA2}"/>
                </a:ext>
              </a:extLst>
            </p:cNvPr>
            <p:cNvSpPr txBox="1"/>
            <p:nvPr/>
          </p:nvSpPr>
          <p:spPr>
            <a:xfrm>
              <a:off x="2335512" y="2426793"/>
              <a:ext cx="1397022" cy="475681"/>
            </a:xfrm>
            <a:prstGeom prst="rect">
              <a:avLst/>
            </a:prstGeom>
          </p:spPr>
          <p:txBody>
            <a:bodyPr vert="horz" wrap="square" lIns="0" tIns="7531" rIns="0" bIns="0" rtlCol="0">
              <a:spAutoFit/>
            </a:bodyPr>
            <a:lstStyle/>
            <a:p>
              <a:pPr marL="19648">
                <a:spcBef>
                  <a:spcPts val="59"/>
                </a:spcBef>
              </a:pPr>
              <a:r>
                <a:rPr sz="1521" b="1" dirty="0">
                  <a:solidFill>
                    <a:srgbClr val="A31F34"/>
                  </a:solidFill>
                  <a:latin typeface="Arial"/>
                  <a:cs typeface="Arial"/>
                </a:rPr>
                <a:t>2500</a:t>
              </a:r>
              <a:r>
                <a:rPr sz="1521" b="1" spc="3" dirty="0">
                  <a:solidFill>
                    <a:srgbClr val="A31F34"/>
                  </a:solidFill>
                  <a:latin typeface="Arial"/>
                  <a:cs typeface="Arial"/>
                </a:rPr>
                <a:t> </a:t>
              </a:r>
              <a:r>
                <a:rPr sz="1521" b="1" spc="-5" dirty="0">
                  <a:solidFill>
                    <a:srgbClr val="A31F34"/>
                  </a:solidFill>
                  <a:latin typeface="Arial"/>
                  <a:cs typeface="Arial"/>
                </a:rPr>
                <a:t>synapses</a:t>
              </a:r>
              <a:endParaRPr sz="1521">
                <a:latin typeface="Arial"/>
                <a:cs typeface="Arial"/>
              </a:endParaRPr>
            </a:p>
            <a:p>
              <a:pPr marL="19648">
                <a:spcBef>
                  <a:spcPts val="46"/>
                </a:spcBef>
              </a:pPr>
              <a:r>
                <a:rPr sz="1521" b="1" dirty="0">
                  <a:solidFill>
                    <a:srgbClr val="A31F34"/>
                  </a:solidFill>
                  <a:latin typeface="Arial"/>
                  <a:cs typeface="Arial"/>
                </a:rPr>
                <a:t>per</a:t>
              </a:r>
              <a:r>
                <a:rPr sz="1521" b="1" spc="-26" dirty="0">
                  <a:solidFill>
                    <a:srgbClr val="A31F34"/>
                  </a:solidFill>
                  <a:latin typeface="Arial"/>
                  <a:cs typeface="Arial"/>
                </a:rPr>
                <a:t> </a:t>
              </a:r>
              <a:r>
                <a:rPr sz="1521" b="1" dirty="0">
                  <a:solidFill>
                    <a:srgbClr val="A31F34"/>
                  </a:solidFill>
                  <a:latin typeface="Arial"/>
                  <a:cs typeface="Arial"/>
                </a:rPr>
                <a:t>neuron</a:t>
              </a:r>
              <a:r>
                <a:rPr sz="1521" b="1" spc="-23" dirty="0">
                  <a:solidFill>
                    <a:srgbClr val="A31F34"/>
                  </a:solidFill>
                  <a:latin typeface="Arial"/>
                  <a:cs typeface="Arial"/>
                </a:rPr>
                <a:t> </a:t>
              </a:r>
              <a:r>
                <a:rPr sz="1508" u="sng" spc="-19" baseline="27065" dirty="0">
                  <a:solidFill>
                    <a:srgbClr val="5E5E5E"/>
                  </a:solidFill>
                  <a:uFill>
                    <a:solidFill>
                      <a:srgbClr val="5E5E5E"/>
                    </a:solidFill>
                  </a:uFill>
                  <a:latin typeface="Trebuchet MS"/>
                  <a:cs typeface="Trebuchet MS"/>
                </a:rPr>
                <a:t>[1]</a:t>
              </a:r>
              <a:endParaRPr sz="1508" baseline="27065">
                <a:latin typeface="Trebuchet MS"/>
                <a:cs typeface="Trebuchet MS"/>
              </a:endParaRPr>
            </a:p>
          </p:txBody>
        </p:sp>
        <p:sp>
          <p:nvSpPr>
            <p:cNvPr id="74" name="object 22">
              <a:extLst>
                <a:ext uri="{FF2B5EF4-FFF2-40B4-BE49-F238E27FC236}">
                  <a16:creationId xmlns:a16="http://schemas.microsoft.com/office/drawing/2014/main" id="{4A307D1D-53B7-927E-9DA8-B3D392AEAF66}"/>
                </a:ext>
              </a:extLst>
            </p:cNvPr>
            <p:cNvSpPr txBox="1"/>
            <p:nvPr/>
          </p:nvSpPr>
          <p:spPr>
            <a:xfrm>
              <a:off x="4059614" y="1250410"/>
              <a:ext cx="1213635" cy="241643"/>
            </a:xfrm>
            <a:prstGeom prst="rect">
              <a:avLst/>
            </a:prstGeom>
          </p:spPr>
          <p:txBody>
            <a:bodyPr vert="horz" wrap="square" lIns="0" tIns="7531" rIns="0" bIns="0" rtlCol="0">
              <a:spAutoFit/>
            </a:bodyPr>
            <a:lstStyle/>
            <a:p>
              <a:pPr marL="19648">
                <a:spcBef>
                  <a:spcPts val="59"/>
                </a:spcBef>
              </a:pPr>
              <a:r>
                <a:rPr sz="1521" b="1" dirty="0">
                  <a:solidFill>
                    <a:srgbClr val="A31F34"/>
                  </a:solidFill>
                  <a:latin typeface="Arial"/>
                  <a:cs typeface="Arial"/>
                </a:rPr>
                <a:t>per</a:t>
              </a:r>
              <a:r>
                <a:rPr sz="1521" b="1" spc="39" dirty="0">
                  <a:solidFill>
                    <a:srgbClr val="A31F34"/>
                  </a:solidFill>
                  <a:latin typeface="Arial"/>
                  <a:cs typeface="Arial"/>
                </a:rPr>
                <a:t> </a:t>
              </a:r>
              <a:r>
                <a:rPr sz="1521" b="1" spc="-18" dirty="0">
                  <a:solidFill>
                    <a:srgbClr val="A31F34"/>
                  </a:solidFill>
                  <a:latin typeface="Arial"/>
                  <a:cs typeface="Arial"/>
                </a:rPr>
                <a:t>neuron</a:t>
              </a:r>
              <a:r>
                <a:rPr sz="1521" b="1" spc="-199" dirty="0">
                  <a:solidFill>
                    <a:srgbClr val="A31F34"/>
                  </a:solidFill>
                  <a:latin typeface="Arial"/>
                  <a:cs typeface="Arial"/>
                </a:rPr>
                <a:t> </a:t>
              </a:r>
              <a:r>
                <a:rPr sz="1508" u="sng" spc="-19" baseline="32763" dirty="0">
                  <a:solidFill>
                    <a:srgbClr val="5E5E5E"/>
                  </a:solidFill>
                  <a:uFill>
                    <a:solidFill>
                      <a:srgbClr val="5E5E5E"/>
                    </a:solidFill>
                  </a:uFill>
                  <a:latin typeface="Trebuchet MS"/>
                  <a:cs typeface="Trebuchet MS"/>
                </a:rPr>
                <a:t>[1]</a:t>
              </a:r>
              <a:endParaRPr sz="1508" baseline="32763" dirty="0">
                <a:latin typeface="Trebuchet MS"/>
                <a:cs typeface="Trebuchet MS"/>
              </a:endParaRPr>
            </a:p>
          </p:txBody>
        </p:sp>
        <p:sp>
          <p:nvSpPr>
            <p:cNvPr id="75" name="object 23">
              <a:extLst>
                <a:ext uri="{FF2B5EF4-FFF2-40B4-BE49-F238E27FC236}">
                  <a16:creationId xmlns:a16="http://schemas.microsoft.com/office/drawing/2014/main" id="{4A2B757C-6525-6E7A-4EC2-911B0A4D9485}"/>
                </a:ext>
              </a:extLst>
            </p:cNvPr>
            <p:cNvSpPr txBox="1"/>
            <p:nvPr/>
          </p:nvSpPr>
          <p:spPr>
            <a:xfrm>
              <a:off x="8580760" y="2040907"/>
              <a:ext cx="1397022" cy="475681"/>
            </a:xfrm>
            <a:prstGeom prst="rect">
              <a:avLst/>
            </a:prstGeom>
          </p:spPr>
          <p:txBody>
            <a:bodyPr vert="horz" wrap="square" lIns="0" tIns="7531" rIns="0" bIns="0" rtlCol="0">
              <a:spAutoFit/>
            </a:bodyPr>
            <a:lstStyle/>
            <a:p>
              <a:pPr marL="19648">
                <a:spcBef>
                  <a:spcPts val="59"/>
                </a:spcBef>
              </a:pPr>
              <a:r>
                <a:rPr sz="1521" b="1" dirty="0">
                  <a:solidFill>
                    <a:srgbClr val="A31F34"/>
                  </a:solidFill>
                  <a:latin typeface="Arial"/>
                  <a:cs typeface="Arial"/>
                </a:rPr>
                <a:t>7000</a:t>
              </a:r>
              <a:r>
                <a:rPr sz="1521" b="1" spc="3" dirty="0">
                  <a:solidFill>
                    <a:srgbClr val="A31F34"/>
                  </a:solidFill>
                  <a:latin typeface="Arial"/>
                  <a:cs typeface="Arial"/>
                </a:rPr>
                <a:t> </a:t>
              </a:r>
              <a:r>
                <a:rPr sz="1521" b="1" spc="-5" dirty="0">
                  <a:solidFill>
                    <a:srgbClr val="A31F34"/>
                  </a:solidFill>
                  <a:latin typeface="Arial"/>
                  <a:cs typeface="Arial"/>
                </a:rPr>
                <a:t>synapses</a:t>
              </a:r>
              <a:endParaRPr sz="1521">
                <a:latin typeface="Arial"/>
                <a:cs typeface="Arial"/>
              </a:endParaRPr>
            </a:p>
            <a:p>
              <a:pPr marL="19648">
                <a:spcBef>
                  <a:spcPts val="46"/>
                </a:spcBef>
              </a:pPr>
              <a:r>
                <a:rPr sz="1521" b="1" dirty="0">
                  <a:solidFill>
                    <a:srgbClr val="A31F34"/>
                  </a:solidFill>
                  <a:latin typeface="Arial"/>
                  <a:cs typeface="Arial"/>
                </a:rPr>
                <a:t>per</a:t>
              </a:r>
              <a:r>
                <a:rPr sz="1521" b="1" spc="36" dirty="0">
                  <a:solidFill>
                    <a:srgbClr val="A31F34"/>
                  </a:solidFill>
                  <a:latin typeface="Arial"/>
                  <a:cs typeface="Arial"/>
                </a:rPr>
                <a:t> </a:t>
              </a:r>
              <a:r>
                <a:rPr sz="1521" b="1" spc="-18" dirty="0">
                  <a:solidFill>
                    <a:srgbClr val="A31F34"/>
                  </a:solidFill>
                  <a:latin typeface="Arial"/>
                  <a:cs typeface="Arial"/>
                </a:rPr>
                <a:t>neuron</a:t>
              </a:r>
              <a:r>
                <a:rPr sz="1521" b="1" spc="-183" dirty="0">
                  <a:solidFill>
                    <a:srgbClr val="A31F34"/>
                  </a:solidFill>
                  <a:latin typeface="Arial"/>
                  <a:cs typeface="Arial"/>
                </a:rPr>
                <a:t> </a:t>
              </a:r>
              <a:r>
                <a:rPr sz="1508" u="sng" spc="-19" baseline="29914" dirty="0">
                  <a:solidFill>
                    <a:srgbClr val="5E5E5E"/>
                  </a:solidFill>
                  <a:uFill>
                    <a:solidFill>
                      <a:srgbClr val="5E5E5E"/>
                    </a:solidFill>
                  </a:uFill>
                  <a:latin typeface="Trebuchet MS"/>
                  <a:cs typeface="Trebuchet MS"/>
                </a:rPr>
                <a:t>[2]</a:t>
              </a:r>
              <a:endParaRPr sz="1508" baseline="29914">
                <a:latin typeface="Trebuchet MS"/>
                <a:cs typeface="Trebuchet MS"/>
              </a:endParaRPr>
            </a:p>
          </p:txBody>
        </p:sp>
        <p:pic>
          <p:nvPicPr>
            <p:cNvPr id="4" name="Google Shape;115;p21">
              <a:extLst>
                <a:ext uri="{FF2B5EF4-FFF2-40B4-BE49-F238E27FC236}">
                  <a16:creationId xmlns:a16="http://schemas.microsoft.com/office/drawing/2014/main" id="{085E9526-6CB6-DDC3-172E-14624CF263F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rcRect l="86125" t="14709" b="14482"/>
            <a:stretch/>
          </p:blipFill>
          <p:spPr>
            <a:xfrm>
              <a:off x="7853669" y="916910"/>
              <a:ext cx="646005" cy="1197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115;p21">
              <a:extLst>
                <a:ext uri="{FF2B5EF4-FFF2-40B4-BE49-F238E27FC236}">
                  <a16:creationId xmlns:a16="http://schemas.microsoft.com/office/drawing/2014/main" id="{5C5AE554-9B41-8C57-72D6-F4BCDDF40125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rcRect l="12897" t="14709" r="74439" b="14482"/>
            <a:stretch/>
          </p:blipFill>
          <p:spPr>
            <a:xfrm>
              <a:off x="1462191" y="1385247"/>
              <a:ext cx="589660" cy="1197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5;p21">
              <a:extLst>
                <a:ext uri="{FF2B5EF4-FFF2-40B4-BE49-F238E27FC236}">
                  <a16:creationId xmlns:a16="http://schemas.microsoft.com/office/drawing/2014/main" id="{9FE18561-2BE2-6C8F-8DC6-AFF8338DC9D3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rcRect l="55044" t="14709" r="30902" b="14482"/>
            <a:stretch/>
          </p:blipFill>
          <p:spPr>
            <a:xfrm>
              <a:off x="4366619" y="1661232"/>
              <a:ext cx="654329" cy="11972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5D460665-8B88-1E87-98AC-DE99715CBD0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C8FFF0-802A-C4CC-97EF-846D29DC46D1}"/>
              </a:ext>
            </a:extLst>
          </p:cNvPr>
          <p:cNvSpPr txBox="1"/>
          <p:nvPr/>
        </p:nvSpPr>
        <p:spPr>
          <a:xfrm>
            <a:off x="5197447" y="537233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4872518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2. Pruning 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Introduction</a:t>
            </a:r>
            <a:endParaRPr spc="-72" dirty="0"/>
          </a:p>
        </p:txBody>
      </p:sp>
      <p:sp>
        <p:nvSpPr>
          <p:cNvPr id="115" name="object 11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4</a:t>
            </a:fld>
            <a:endParaRPr spc="23" dirty="0"/>
          </a:p>
        </p:txBody>
      </p:sp>
      <p:sp>
        <p:nvSpPr>
          <p:cNvPr id="117" name="텍스트 개체 틀 116">
            <a:extLst>
              <a:ext uri="{FF2B5EF4-FFF2-40B4-BE49-F238E27FC236}">
                <a16:creationId xmlns:a16="http://schemas.microsoft.com/office/drawing/2014/main" id="{0B14532F-9713-8C31-C657-5D3A63CCD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2000" b="1" spc="62" dirty="0">
                <a:latin typeface="Arial"/>
                <a:cs typeface="Arial"/>
              </a:rPr>
              <a:t>Make</a:t>
            </a:r>
            <a:r>
              <a:rPr lang="en" altLang="ko-KR" sz="2000" b="1" spc="-39" dirty="0">
                <a:latin typeface="Arial"/>
                <a:cs typeface="Arial"/>
              </a:rPr>
              <a:t> </a:t>
            </a:r>
            <a:r>
              <a:rPr lang="en" altLang="ko-KR" sz="2000" b="1" dirty="0">
                <a:latin typeface="Arial"/>
                <a:cs typeface="Arial"/>
              </a:rPr>
              <a:t>neural</a:t>
            </a:r>
            <a:r>
              <a:rPr lang="en" altLang="ko-KR" sz="2000" b="1" spc="-36" dirty="0">
                <a:latin typeface="Arial"/>
                <a:cs typeface="Arial"/>
              </a:rPr>
              <a:t> </a:t>
            </a:r>
            <a:r>
              <a:rPr lang="en" altLang="ko-KR" sz="2000" b="1" dirty="0">
                <a:latin typeface="Arial"/>
                <a:cs typeface="Arial"/>
              </a:rPr>
              <a:t>network</a:t>
            </a:r>
            <a:r>
              <a:rPr lang="en" altLang="ko-KR" sz="2000" b="1" spc="-36" dirty="0">
                <a:latin typeface="Arial"/>
                <a:cs typeface="Arial"/>
              </a:rPr>
              <a:t> </a:t>
            </a:r>
            <a:r>
              <a:rPr lang="en" altLang="ko-KR" sz="2000" b="1" dirty="0">
                <a:latin typeface="Arial"/>
                <a:cs typeface="Arial"/>
              </a:rPr>
              <a:t>smaller</a:t>
            </a:r>
            <a:r>
              <a:rPr lang="en" altLang="ko-KR" sz="2000" b="1" spc="-36" dirty="0">
                <a:latin typeface="Arial"/>
                <a:cs typeface="Arial"/>
              </a:rPr>
              <a:t> </a:t>
            </a:r>
            <a:r>
              <a:rPr lang="en" altLang="ko-KR" sz="2000" b="1" dirty="0">
                <a:latin typeface="Arial"/>
                <a:cs typeface="Arial"/>
              </a:rPr>
              <a:t>by</a:t>
            </a:r>
            <a:r>
              <a:rPr lang="en" altLang="ko-KR" sz="2000" b="1" spc="-36" dirty="0">
                <a:latin typeface="Arial"/>
                <a:cs typeface="Arial"/>
              </a:rPr>
              <a:t> </a:t>
            </a:r>
            <a:r>
              <a:rPr lang="en" altLang="ko-KR" sz="2000" b="1" dirty="0">
                <a:latin typeface="Arial"/>
                <a:cs typeface="Arial"/>
              </a:rPr>
              <a:t>removing</a:t>
            </a:r>
            <a:r>
              <a:rPr lang="en" altLang="ko-KR" sz="2000" b="1" spc="-36" dirty="0">
                <a:latin typeface="Arial"/>
                <a:cs typeface="Arial"/>
              </a:rPr>
              <a:t> </a:t>
            </a:r>
            <a:r>
              <a:rPr lang="en" altLang="ko-KR" sz="2000" b="1" spc="-10" dirty="0">
                <a:latin typeface="Arial"/>
                <a:cs typeface="Arial"/>
              </a:rPr>
              <a:t>synapses</a:t>
            </a:r>
            <a:r>
              <a:rPr lang="en" altLang="ko-KR" sz="2000" b="1" spc="-36" dirty="0">
                <a:latin typeface="Arial"/>
                <a:cs typeface="Arial"/>
              </a:rPr>
              <a:t> </a:t>
            </a:r>
            <a:r>
              <a:rPr lang="en" altLang="ko-KR" sz="2000" b="1" dirty="0">
                <a:latin typeface="Arial"/>
                <a:cs typeface="Arial"/>
              </a:rPr>
              <a:t>and</a:t>
            </a:r>
            <a:r>
              <a:rPr lang="en" altLang="ko-KR" sz="2000" b="1" spc="-36" dirty="0">
                <a:latin typeface="Arial"/>
                <a:cs typeface="Arial"/>
              </a:rPr>
              <a:t> </a:t>
            </a:r>
            <a:r>
              <a:rPr lang="en" altLang="ko-KR" sz="2000" b="1" spc="-5" dirty="0">
                <a:latin typeface="Arial"/>
                <a:cs typeface="Arial"/>
              </a:rPr>
              <a:t>neurons</a:t>
            </a:r>
            <a:endParaRPr lang="en" altLang="ko-KR" sz="2000" dirty="0">
              <a:latin typeface="Arial"/>
              <a:cs typeface="Arial"/>
            </a:endParaRPr>
          </a:p>
          <a:p>
            <a:endParaRPr lang="ko-KR" altLang="en-US" dirty="0"/>
          </a:p>
        </p:txBody>
      </p:sp>
      <p:pic>
        <p:nvPicPr>
          <p:cNvPr id="116" name="그림 115">
            <a:extLst>
              <a:ext uri="{FF2B5EF4-FFF2-40B4-BE49-F238E27FC236}">
                <a16:creationId xmlns:a16="http://schemas.microsoft.com/office/drawing/2014/main" id="{B2A39732-013B-725A-B926-DFE938A12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440" y="1581773"/>
            <a:ext cx="6126601" cy="323328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374D20C7-67A7-36B0-2519-CEDC6880BF13}"/>
              </a:ext>
            </a:extLst>
          </p:cNvPr>
          <p:cNvSpPr txBox="1"/>
          <p:nvPr/>
        </p:nvSpPr>
        <p:spPr>
          <a:xfrm>
            <a:off x="4161683" y="5093219"/>
            <a:ext cx="6241020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Optimal Brain Damage [LeCun </a:t>
            </a:r>
            <a:r>
              <a:rPr lang="en" altLang="ko-KR" sz="800" i="1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et al.,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NeurIPS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 1989]</a:t>
            </a:r>
          </a:p>
          <a:p>
            <a:pPr algn="r"/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Learning Both Weights and Connections for Eﬃcient Neural Network [Han </a:t>
            </a:r>
            <a:r>
              <a:rPr lang="en" altLang="ko-KR" sz="800" i="1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et al.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NeurIPS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 2015]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F804A-503E-D16E-773B-0C05E44F9914}"/>
              </a:ext>
            </a:extLst>
          </p:cNvPr>
          <p:cNvSpPr txBox="1"/>
          <p:nvPr/>
        </p:nvSpPr>
        <p:spPr>
          <a:xfrm>
            <a:off x="5231387" y="535485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F6B6A-EC6F-829D-771F-DFDDCB40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Pruning – Introduction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8E2E89-EC0B-1809-43E6-1490E8295CD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ko-KR" dirty="0"/>
              <a:t>Iterative pruning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6D87D0-FAF6-2A0D-4B73-C3BCBD69F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9F0E8B-106B-2066-8BAD-922ECC980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781" y="1206147"/>
            <a:ext cx="7772400" cy="3420180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1D33FAE0-ADE3-3CF5-70EF-0545C56C237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0C45B-7183-D3BC-E4F9-C1976A5378F6}"/>
              </a:ext>
            </a:extLst>
          </p:cNvPr>
          <p:cNvSpPr txBox="1"/>
          <p:nvPr/>
        </p:nvSpPr>
        <p:spPr>
          <a:xfrm>
            <a:off x="5197447" y="5342142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65777426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40EC6-8030-F78C-E5EB-02ED3E596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Pruning – Introduction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B4E20D-F016-97D6-4BB8-3FF8220888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ko-KR" dirty="0"/>
              <a:t>Iterative pruning</a:t>
            </a:r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BAEFA4-6FC3-26A3-1D15-ACA6E5565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E01A4F-62C0-DA8F-B686-4905B26DB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781" y="1206147"/>
            <a:ext cx="7772400" cy="3420180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F26261AD-D775-AE83-3004-C62B5B9E58D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C127B-D79A-B428-98DB-5FD120723331}"/>
              </a:ext>
            </a:extLst>
          </p:cNvPr>
          <p:cNvSpPr txBox="1"/>
          <p:nvPr/>
        </p:nvSpPr>
        <p:spPr>
          <a:xfrm>
            <a:off x="5197447" y="5342142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83171960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B56E72-3C84-AAD3-A3AA-2FC5C3C78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Pruning – Introduction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8E3631-CDD9-C04D-9F7A-3715AC94689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ko-KR" dirty="0"/>
              <a:t>Iterative pruning</a:t>
            </a:r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635374-762E-CE06-CA7A-2936696BD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FFE5C9-C684-0E83-2A5B-3226F2554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781" y="1206147"/>
            <a:ext cx="7772400" cy="3420180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44ED79AD-3991-5361-7206-C57DFD47150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7D5C5-2857-BAC0-B8A7-20965B044C52}"/>
              </a:ext>
            </a:extLst>
          </p:cNvPr>
          <p:cNvSpPr txBox="1"/>
          <p:nvPr/>
        </p:nvSpPr>
        <p:spPr>
          <a:xfrm>
            <a:off x="5197447" y="5342142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147100154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E2F44-0195-EB3E-D703-E42AFCB4C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Pruning – Introduction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AA00C7-464F-E5A0-EC30-B8DA858F487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ko-KR" dirty="0"/>
              <a:t>Iterative pruning</a:t>
            </a:r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BC59B-2F07-8067-F630-FC27533C0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8D9058-B723-77BB-AFB8-2F8DE1F57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781" y="1206147"/>
            <a:ext cx="7772400" cy="3420180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3350ABFD-5ED8-1D72-F511-2F2C5C0FA88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A3A4F-FCD7-62C7-91A6-EA8A494944A9}"/>
              </a:ext>
            </a:extLst>
          </p:cNvPr>
          <p:cNvSpPr txBox="1"/>
          <p:nvPr/>
        </p:nvSpPr>
        <p:spPr>
          <a:xfrm>
            <a:off x="5197447" y="5342142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47914072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1A3C4-C9ED-5693-93AE-D0062CBB8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Pruning – Introduction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B4D370-6D83-1B49-5612-9CDBF2181A0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ko-KR" dirty="0"/>
              <a:t>Iterative pruning</a:t>
            </a:r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5491F6-5406-3056-677E-3E8D2E68C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Results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14A1D4-8519-37D6-87DE-06BF73418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511" y="1588597"/>
            <a:ext cx="7772400" cy="3708400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0B07715D-63E9-B019-1555-9592880C69A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AB0DB2-DCB2-BD65-456F-2AC216080B4B}"/>
              </a:ext>
            </a:extLst>
          </p:cNvPr>
          <p:cNvSpPr txBox="1"/>
          <p:nvPr/>
        </p:nvSpPr>
        <p:spPr>
          <a:xfrm>
            <a:off x="5197447" y="5342142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77162527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F69974A1-EA28-9EDA-C497-EDAC8D8F6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Pruning – </a:t>
            </a:r>
            <a:r>
              <a:rPr lang="en" altLang="ko-KR" spc="-80" dirty="0"/>
              <a:t>Granularity</a:t>
            </a:r>
            <a:endParaRPr lang="ko-KR" altLang="en-US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10</a:t>
            </a:fld>
            <a:endParaRPr spc="23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DFFBCCF-9885-783E-DAAC-30E97D44C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781702"/>
              </p:ext>
            </p:extLst>
          </p:nvPr>
        </p:nvGraphicFramePr>
        <p:xfrm>
          <a:off x="936896" y="1475743"/>
          <a:ext cx="2158736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24670" y="3804289"/>
            <a:ext cx="3443913" cy="1248959"/>
          </a:xfrm>
          <a:prstGeom prst="rect">
            <a:avLst/>
          </a:prstGeom>
        </p:spPr>
        <p:txBody>
          <a:bodyPr vert="horz" wrap="square" lIns="0" tIns="117565" rIns="0" bIns="0" rtlCol="0">
            <a:spAutoFit/>
          </a:bodyPr>
          <a:lstStyle/>
          <a:p>
            <a:pPr marL="56325">
              <a:lnSpc>
                <a:spcPct val="150000"/>
              </a:lnSpc>
            </a:pPr>
            <a:r>
              <a:rPr sz="1702" b="1" dirty="0">
                <a:latin typeface="Arial" panose="020B0604020202020204" pitchFamily="34" charset="0"/>
                <a:cs typeface="Arial" panose="020B0604020202020204" pitchFamily="34" charset="0"/>
              </a:rPr>
              <a:t>Fine-</a:t>
            </a:r>
            <a:r>
              <a:rPr sz="1702" b="1" spc="-5" dirty="0">
                <a:latin typeface="Arial" panose="020B0604020202020204" pitchFamily="34" charset="0"/>
                <a:cs typeface="Arial" panose="020B0604020202020204" pitchFamily="34" charset="0"/>
              </a:rPr>
              <a:t>grained/Unstructured</a:t>
            </a:r>
            <a:endParaRPr lang="en-US" sz="1702" b="1" spc="-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6325">
              <a:lnSpc>
                <a:spcPct val="150000"/>
              </a:lnSpc>
            </a:pPr>
            <a:r>
              <a:rPr lang="en-US" sz="1702" spc="4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702" spc="41" dirty="0"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sz="1702" spc="-54" dirty="0">
                <a:latin typeface="Arial" panose="020B0604020202020204" pitchFamily="34" charset="0"/>
                <a:cs typeface="Arial" panose="020B0604020202020204" pitchFamily="34" charset="0"/>
              </a:rPr>
              <a:t> flexible </a:t>
            </a:r>
            <a:r>
              <a:rPr sz="1702" dirty="0"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r>
              <a:rPr sz="1702" spc="-5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dirty="0"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  <a:r>
              <a:rPr sz="1702" spc="-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spc="-5" dirty="0">
                <a:latin typeface="Arial" panose="020B0604020202020204" pitchFamily="34" charset="0"/>
                <a:cs typeface="Arial" panose="020B0604020202020204" pitchFamily="34" charset="0"/>
              </a:rPr>
              <a:t>choice </a:t>
            </a:r>
            <a:r>
              <a:rPr lang="en-US" sz="1702" spc="-5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702" dirty="0">
                <a:latin typeface="Arial" panose="020B0604020202020204" pitchFamily="34" charset="0"/>
                <a:cs typeface="Arial" panose="020B0604020202020204" pitchFamily="34" charset="0"/>
              </a:rPr>
              <a:t>Hard</a:t>
            </a:r>
            <a:r>
              <a:rPr sz="1702" spc="-6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spc="-1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702" spc="-6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spc="-21" dirty="0">
                <a:latin typeface="Arial" panose="020B0604020202020204" pitchFamily="34" charset="0"/>
                <a:cs typeface="Arial" panose="020B0604020202020204" pitchFamily="34" charset="0"/>
              </a:rPr>
              <a:t>accelerate</a:t>
            </a:r>
            <a:r>
              <a:rPr sz="1702" spc="-5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spc="-28" dirty="0">
                <a:latin typeface="Arial" panose="020B0604020202020204" pitchFamily="34" charset="0"/>
                <a:cs typeface="Arial" panose="020B0604020202020204" pitchFamily="34" charset="0"/>
              </a:rPr>
              <a:t>(irregular)</a:t>
            </a:r>
            <a:endParaRPr sz="170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000071" y="1475743"/>
            <a:ext cx="286216" cy="286216"/>
            <a:chOff x="15512617" y="2748607"/>
            <a:chExt cx="554990" cy="554990"/>
          </a:xfrm>
        </p:grpSpPr>
        <p:sp>
          <p:nvSpPr>
            <p:cNvPr id="6" name="object 6"/>
            <p:cNvSpPr/>
            <p:nvPr/>
          </p:nvSpPr>
          <p:spPr>
            <a:xfrm>
              <a:off x="15528323" y="2764313"/>
              <a:ext cx="523875" cy="523875"/>
            </a:xfrm>
            <a:custGeom>
              <a:avLst/>
              <a:gdLst/>
              <a:ahLst/>
              <a:cxnLst/>
              <a:rect l="l" t="t" r="r" b="b"/>
              <a:pathLst>
                <a:path w="523875" h="523875">
                  <a:moveTo>
                    <a:pt x="523544" y="0"/>
                  </a:moveTo>
                  <a:lnTo>
                    <a:pt x="0" y="0"/>
                  </a:lnTo>
                  <a:lnTo>
                    <a:pt x="0" y="523544"/>
                  </a:lnTo>
                  <a:lnTo>
                    <a:pt x="523544" y="523544"/>
                  </a:lnTo>
                  <a:lnTo>
                    <a:pt x="523544" y="0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512617" y="2748607"/>
              <a:ext cx="554990" cy="554990"/>
            </a:xfrm>
            <a:custGeom>
              <a:avLst/>
              <a:gdLst/>
              <a:ahLst/>
              <a:cxnLst/>
              <a:rect l="l" t="t" r="r" b="b"/>
              <a:pathLst>
                <a:path w="554990" h="554989">
                  <a:moveTo>
                    <a:pt x="15706" y="0"/>
                  </a:moveTo>
                  <a:lnTo>
                    <a:pt x="15706" y="554956"/>
                  </a:lnTo>
                </a:path>
                <a:path w="554990" h="554989">
                  <a:moveTo>
                    <a:pt x="539250" y="0"/>
                  </a:moveTo>
                  <a:lnTo>
                    <a:pt x="539250" y="554956"/>
                  </a:lnTo>
                </a:path>
                <a:path w="554990" h="554989">
                  <a:moveTo>
                    <a:pt x="0" y="15706"/>
                  </a:moveTo>
                  <a:lnTo>
                    <a:pt x="554956" y="15706"/>
                  </a:lnTo>
                </a:path>
                <a:path w="554990" h="554989">
                  <a:moveTo>
                    <a:pt x="0" y="539250"/>
                  </a:moveTo>
                  <a:lnTo>
                    <a:pt x="554956" y="539250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389988" y="1324463"/>
            <a:ext cx="985382" cy="780929"/>
          </a:xfrm>
          <a:prstGeom prst="rect">
            <a:avLst/>
          </a:prstGeom>
        </p:spPr>
        <p:txBody>
          <a:bodyPr vert="horz" wrap="square" lIns="0" tIns="6550" rIns="0" bIns="0" rtlCol="0">
            <a:spAutoFit/>
          </a:bodyPr>
          <a:lstStyle/>
          <a:p>
            <a:pPr marL="6549" marR="2620">
              <a:lnSpc>
                <a:spcPct val="157700"/>
              </a:lnSpc>
              <a:spcBef>
                <a:spcPts val="52"/>
              </a:spcBef>
            </a:pPr>
            <a:r>
              <a:rPr sz="1702" spc="-5" dirty="0">
                <a:latin typeface="Trebuchet MS"/>
                <a:cs typeface="Trebuchet MS"/>
              </a:rPr>
              <a:t>Preserved Pruned</a:t>
            </a:r>
            <a:endParaRPr sz="1702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94670" y="1880741"/>
            <a:ext cx="302590" cy="286216"/>
          </a:xfrm>
          <a:custGeom>
            <a:avLst/>
            <a:gdLst/>
            <a:ahLst/>
            <a:cxnLst/>
            <a:rect l="l" t="t" r="r" b="b"/>
            <a:pathLst>
              <a:path w="586740" h="554989">
                <a:moveTo>
                  <a:pt x="15706" y="0"/>
                </a:moveTo>
                <a:lnTo>
                  <a:pt x="15706" y="554956"/>
                </a:lnTo>
              </a:path>
              <a:path w="586740" h="554989">
                <a:moveTo>
                  <a:pt x="570663" y="0"/>
                </a:moveTo>
                <a:lnTo>
                  <a:pt x="570663" y="554956"/>
                </a:lnTo>
              </a:path>
              <a:path w="586740" h="554989">
                <a:moveTo>
                  <a:pt x="0" y="15706"/>
                </a:moveTo>
                <a:lnTo>
                  <a:pt x="586369" y="15706"/>
                </a:lnTo>
              </a:path>
              <a:path w="586740" h="554989">
                <a:moveTo>
                  <a:pt x="0" y="539250"/>
                </a:moveTo>
                <a:lnTo>
                  <a:pt x="586369" y="539250"/>
                </a:lnTo>
              </a:path>
            </a:pathLst>
          </a:custGeom>
          <a:ln w="31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527443"/>
              </p:ext>
            </p:extLst>
          </p:nvPr>
        </p:nvGraphicFramePr>
        <p:xfrm>
          <a:off x="4598083" y="1475743"/>
          <a:ext cx="2158736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5042071" y="3807871"/>
            <a:ext cx="4221850" cy="1248959"/>
          </a:xfrm>
          <a:prstGeom prst="rect">
            <a:avLst/>
          </a:prstGeom>
        </p:spPr>
        <p:txBody>
          <a:bodyPr vert="horz" wrap="square" lIns="0" tIns="117565" rIns="0" bIns="0" rtlCol="0">
            <a:spAutoFit/>
          </a:bodyPr>
          <a:lstStyle/>
          <a:p>
            <a:pPr marR="39296" algn="ctr">
              <a:lnSpc>
                <a:spcPct val="150000"/>
              </a:lnSpc>
              <a:spcBef>
                <a:spcPts val="926"/>
              </a:spcBef>
            </a:pPr>
            <a:r>
              <a:rPr sz="1702" b="1" dirty="0">
                <a:latin typeface="Arial" panose="020B0604020202020204" pitchFamily="34" charset="0"/>
                <a:cs typeface="Arial" panose="020B0604020202020204" pitchFamily="34" charset="0"/>
              </a:rPr>
              <a:t>Coarse-</a:t>
            </a:r>
            <a:r>
              <a:rPr sz="1702" b="1" spc="-5" dirty="0">
                <a:latin typeface="Arial" panose="020B0604020202020204" pitchFamily="34" charset="0"/>
                <a:cs typeface="Arial" panose="020B0604020202020204" pitchFamily="34" charset="0"/>
              </a:rPr>
              <a:t>grained/Structured</a:t>
            </a:r>
            <a:endParaRPr sz="1702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549" marR="2620">
              <a:lnSpc>
                <a:spcPct val="150000"/>
              </a:lnSpc>
            </a:pPr>
            <a:r>
              <a:rPr lang="en-US" sz="1702" spc="93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702" spc="93" dirty="0">
                <a:latin typeface="Arial" panose="020B0604020202020204" pitchFamily="34" charset="0"/>
                <a:cs typeface="Arial" panose="020B0604020202020204" pitchFamily="34" charset="0"/>
              </a:rPr>
              <a:t>Less</a:t>
            </a:r>
            <a:r>
              <a:rPr sz="1702" spc="-4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spc="-54" dirty="0">
                <a:latin typeface="Arial" panose="020B0604020202020204" pitchFamily="34" charset="0"/>
                <a:cs typeface="Arial" panose="020B0604020202020204" pitchFamily="34" charset="0"/>
              </a:rPr>
              <a:t>flexible</a:t>
            </a:r>
            <a:r>
              <a:rPr sz="1702" spc="-3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dirty="0"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r>
              <a:rPr sz="1702" spc="-3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dirty="0"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  <a:r>
              <a:rPr sz="1702" spc="-3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dirty="0">
                <a:latin typeface="Arial" panose="020B0604020202020204" pitchFamily="34" charset="0"/>
                <a:cs typeface="Arial" panose="020B0604020202020204" pitchFamily="34" charset="0"/>
              </a:rPr>
              <a:t>choice</a:t>
            </a:r>
            <a:r>
              <a:rPr sz="1702" spc="-4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702" spc="-4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549" marR="2620">
              <a:lnSpc>
                <a:spcPct val="150000"/>
              </a:lnSpc>
            </a:pPr>
            <a:r>
              <a:rPr lang="en-US" sz="1702" spc="75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702" spc="75" dirty="0">
                <a:latin typeface="Arial" panose="020B0604020202020204" pitchFamily="34" charset="0"/>
                <a:cs typeface="Arial" panose="020B0604020202020204" pitchFamily="34" charset="0"/>
              </a:rPr>
              <a:t>Easy</a:t>
            </a:r>
            <a:r>
              <a:rPr sz="1702" spc="-9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spc="-1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702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spc="-21" dirty="0">
                <a:latin typeface="Arial" panose="020B0604020202020204" pitchFamily="34" charset="0"/>
                <a:cs typeface="Arial" panose="020B0604020202020204" pitchFamily="34" charset="0"/>
              </a:rPr>
              <a:t>accelerate</a:t>
            </a:r>
            <a:r>
              <a:rPr sz="1702" spc="-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spc="-85" dirty="0">
                <a:latin typeface="Arial" panose="020B0604020202020204" pitchFamily="34" charset="0"/>
                <a:cs typeface="Arial" panose="020B0604020202020204" pitchFamily="34" charset="0"/>
              </a:rPr>
              <a:t>(just</a:t>
            </a:r>
            <a:r>
              <a:rPr sz="1702" spc="-4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702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spc="-15" dirty="0">
                <a:latin typeface="Arial" panose="020B0604020202020204" pitchFamily="34" charset="0"/>
                <a:cs typeface="Arial" panose="020B0604020202020204" pitchFamily="34" charset="0"/>
              </a:rPr>
              <a:t>smaller</a:t>
            </a:r>
            <a:r>
              <a:rPr sz="1702" spc="-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2" spc="-5" dirty="0">
                <a:latin typeface="Arial" panose="020B0604020202020204" pitchFamily="34" charset="0"/>
                <a:cs typeface="Arial" panose="020B0604020202020204" pitchFamily="34" charset="0"/>
              </a:rPr>
              <a:t>matrix!)</a:t>
            </a:r>
            <a:endParaRPr sz="170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58100"/>
              </p:ext>
            </p:extLst>
          </p:nvPr>
        </p:nvGraphicFramePr>
        <p:xfrm>
          <a:off x="7492472" y="2280339"/>
          <a:ext cx="215873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98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6850204" y="2915701"/>
            <a:ext cx="567520" cy="91039"/>
            <a:chOff x="13282956" y="5540773"/>
            <a:chExt cx="1100455" cy="176530"/>
          </a:xfrm>
        </p:grpSpPr>
        <p:sp>
          <p:nvSpPr>
            <p:cNvPr id="15" name="object 15"/>
            <p:cNvSpPr/>
            <p:nvPr/>
          </p:nvSpPr>
          <p:spPr>
            <a:xfrm>
              <a:off x="13282956" y="5628729"/>
              <a:ext cx="945515" cy="0"/>
            </a:xfrm>
            <a:custGeom>
              <a:avLst/>
              <a:gdLst/>
              <a:ahLst/>
              <a:cxnLst/>
              <a:rect l="l" t="t" r="r" b="b"/>
              <a:pathLst>
                <a:path w="945515">
                  <a:moveTo>
                    <a:pt x="0" y="0"/>
                  </a:moveTo>
                  <a:lnTo>
                    <a:pt x="923955" y="0"/>
                  </a:lnTo>
                  <a:lnTo>
                    <a:pt x="944897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206918" y="5540773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0727693-B589-0A10-6CAA-AF5693AFE18F}"/>
              </a:ext>
            </a:extLst>
          </p:cNvPr>
          <p:cNvSpPr txBox="1"/>
          <p:nvPr/>
        </p:nvSpPr>
        <p:spPr>
          <a:xfrm>
            <a:off x="5197447" y="5342142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2. Pruning – </a:t>
            </a:r>
            <a:r>
              <a:rPr lang="en" altLang="ko-KR" spc="-80" dirty="0"/>
              <a:t>Granularity</a:t>
            </a:r>
            <a:endParaRPr kumimoji="1" lang="en" dirty="0"/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11</a:t>
            </a:fld>
            <a:endParaRPr spc="23" dirty="0"/>
          </a:p>
        </p:txBody>
      </p:sp>
      <p:sp>
        <p:nvSpPr>
          <p:cNvPr id="68" name="텍스트 개체 틀 67">
            <a:extLst>
              <a:ext uri="{FF2B5EF4-FFF2-40B4-BE49-F238E27FC236}">
                <a16:creationId xmlns:a16="http://schemas.microsoft.com/office/drawing/2014/main" id="{E08C791D-3F1B-1ECC-F667-54D9BC6B06B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sz="2400" b="1" dirty="0">
                <a:latin typeface="Arial"/>
                <a:cs typeface="Arial"/>
              </a:rPr>
              <a:t>The</a:t>
            </a:r>
            <a:r>
              <a:rPr lang="en" altLang="ko-KR" sz="2400" b="1" spc="-15" dirty="0">
                <a:latin typeface="Arial"/>
                <a:cs typeface="Arial"/>
              </a:rPr>
              <a:t> </a:t>
            </a:r>
            <a:r>
              <a:rPr lang="en" altLang="ko-KR" sz="2400" b="1" dirty="0">
                <a:latin typeface="Arial"/>
                <a:cs typeface="Arial"/>
              </a:rPr>
              <a:t>case</a:t>
            </a:r>
            <a:r>
              <a:rPr lang="en" altLang="ko-KR" sz="2400" b="1" spc="-13" dirty="0">
                <a:latin typeface="Arial"/>
                <a:cs typeface="Arial"/>
              </a:rPr>
              <a:t> </a:t>
            </a:r>
            <a:r>
              <a:rPr lang="en" altLang="ko-KR" sz="2400" b="1" dirty="0">
                <a:latin typeface="Arial"/>
                <a:cs typeface="Arial"/>
              </a:rPr>
              <a:t>of</a:t>
            </a:r>
            <a:r>
              <a:rPr lang="en" altLang="ko-KR" sz="2400" b="1" spc="-13" dirty="0">
                <a:latin typeface="Arial"/>
                <a:cs typeface="Arial"/>
              </a:rPr>
              <a:t> convolutional </a:t>
            </a:r>
            <a:r>
              <a:rPr lang="en" altLang="ko-KR" sz="2400" b="1" spc="-5" dirty="0">
                <a:latin typeface="Arial"/>
                <a:cs typeface="Arial"/>
              </a:rPr>
              <a:t>layers</a:t>
            </a:r>
            <a:endParaRPr lang="en" altLang="ko-KR" sz="2400" dirty="0">
              <a:latin typeface="Arial"/>
              <a:cs typeface="Arial"/>
            </a:endParaRPr>
          </a:p>
          <a:p>
            <a:endParaRPr lang="ko-KR" altLang="en-US" dirty="0"/>
          </a:p>
        </p:txBody>
      </p:sp>
      <p:sp>
        <p:nvSpPr>
          <p:cNvPr id="67" name="텍스트 개체 틀 66">
            <a:extLst>
              <a:ext uri="{FF2B5EF4-FFF2-40B4-BE49-F238E27FC236}">
                <a16:creationId xmlns:a16="http://schemas.microsoft.com/office/drawing/2014/main" id="{07D0FC24-381E-8DA1-3DDF-4D46177F7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2400" spc="90" dirty="0">
                <a:latin typeface="Arial" panose="020B0604020202020204" pitchFamily="34" charset="0"/>
                <a:cs typeface="Arial" panose="020B0604020202020204" pitchFamily="34" charset="0"/>
              </a:rPr>
              <a:t>Some</a:t>
            </a:r>
            <a:r>
              <a:rPr lang="en" altLang="ko-KR" sz="2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" altLang="ko-KR" sz="2400" spc="-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ko-KR" sz="2400" spc="-36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" altLang="ko-KR" sz="2400" spc="-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commonly</a:t>
            </a:r>
            <a:r>
              <a:rPr lang="en" altLang="ko-KR" sz="2400" spc="-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ko-KR" sz="2400" spc="52" dirty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en" altLang="ko-KR" sz="2400" spc="-3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r>
              <a:rPr lang="en" altLang="ko-KR" sz="2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ko-KR" sz="2400" spc="-23" dirty="0">
                <a:latin typeface="Arial" panose="020B0604020202020204" pitchFamily="34" charset="0"/>
                <a:cs typeface="Arial" panose="020B0604020202020204" pitchFamily="34" charset="0"/>
              </a:rPr>
              <a:t>granularities</a:t>
            </a:r>
            <a:endParaRPr lang="en" altLang="ko-K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755535"/>
              </p:ext>
            </p:extLst>
          </p:nvPr>
        </p:nvGraphicFramePr>
        <p:xfrm>
          <a:off x="1008446" y="1882640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951483"/>
              </p:ext>
            </p:extLst>
          </p:nvPr>
        </p:nvGraphicFramePr>
        <p:xfrm>
          <a:off x="1699644" y="1882640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855208"/>
              </p:ext>
            </p:extLst>
          </p:nvPr>
        </p:nvGraphicFramePr>
        <p:xfrm>
          <a:off x="1008446" y="2520336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03582"/>
              </p:ext>
            </p:extLst>
          </p:nvPr>
        </p:nvGraphicFramePr>
        <p:xfrm>
          <a:off x="1699644" y="2520336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078366"/>
              </p:ext>
            </p:extLst>
          </p:nvPr>
        </p:nvGraphicFramePr>
        <p:xfrm>
          <a:off x="1008446" y="3149932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963495"/>
              </p:ext>
            </p:extLst>
          </p:nvPr>
        </p:nvGraphicFramePr>
        <p:xfrm>
          <a:off x="1699644" y="3149932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963123"/>
              </p:ext>
            </p:extLst>
          </p:nvPr>
        </p:nvGraphicFramePr>
        <p:xfrm>
          <a:off x="2790440" y="1886690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488656"/>
              </p:ext>
            </p:extLst>
          </p:nvPr>
        </p:nvGraphicFramePr>
        <p:xfrm>
          <a:off x="3481637" y="1886690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561174"/>
              </p:ext>
            </p:extLst>
          </p:nvPr>
        </p:nvGraphicFramePr>
        <p:xfrm>
          <a:off x="2790440" y="2524385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92478"/>
              </p:ext>
            </p:extLst>
          </p:nvPr>
        </p:nvGraphicFramePr>
        <p:xfrm>
          <a:off x="3481637" y="2524385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488608"/>
              </p:ext>
            </p:extLst>
          </p:nvPr>
        </p:nvGraphicFramePr>
        <p:xfrm>
          <a:off x="2790440" y="3153982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941198"/>
              </p:ext>
            </p:extLst>
          </p:nvPr>
        </p:nvGraphicFramePr>
        <p:xfrm>
          <a:off x="3481637" y="3153982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08115"/>
              </p:ext>
            </p:extLst>
          </p:nvPr>
        </p:nvGraphicFramePr>
        <p:xfrm>
          <a:off x="4565683" y="1892058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492429"/>
              </p:ext>
            </p:extLst>
          </p:nvPr>
        </p:nvGraphicFramePr>
        <p:xfrm>
          <a:off x="5256881" y="1892058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99967"/>
              </p:ext>
            </p:extLst>
          </p:nvPr>
        </p:nvGraphicFramePr>
        <p:xfrm>
          <a:off x="4565683" y="2534656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65740"/>
              </p:ext>
            </p:extLst>
          </p:nvPr>
        </p:nvGraphicFramePr>
        <p:xfrm>
          <a:off x="5256881" y="2534656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549483"/>
              </p:ext>
            </p:extLst>
          </p:nvPr>
        </p:nvGraphicFramePr>
        <p:xfrm>
          <a:off x="4565683" y="3161054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403067"/>
              </p:ext>
            </p:extLst>
          </p:nvPr>
        </p:nvGraphicFramePr>
        <p:xfrm>
          <a:off x="5256881" y="3161054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541162"/>
              </p:ext>
            </p:extLst>
          </p:nvPr>
        </p:nvGraphicFramePr>
        <p:xfrm>
          <a:off x="6330127" y="1898503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224866"/>
              </p:ext>
            </p:extLst>
          </p:nvPr>
        </p:nvGraphicFramePr>
        <p:xfrm>
          <a:off x="7021324" y="1898503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16123"/>
              </p:ext>
            </p:extLst>
          </p:nvPr>
        </p:nvGraphicFramePr>
        <p:xfrm>
          <a:off x="6330127" y="2536198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object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334474"/>
              </p:ext>
            </p:extLst>
          </p:nvPr>
        </p:nvGraphicFramePr>
        <p:xfrm>
          <a:off x="7021324" y="2536198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" name="objec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45375"/>
              </p:ext>
            </p:extLst>
          </p:nvPr>
        </p:nvGraphicFramePr>
        <p:xfrm>
          <a:off x="6330127" y="3165795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" name="object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516224"/>
              </p:ext>
            </p:extLst>
          </p:nvPr>
        </p:nvGraphicFramePr>
        <p:xfrm>
          <a:off x="7021324" y="3165795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object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068064"/>
              </p:ext>
            </p:extLst>
          </p:nvPr>
        </p:nvGraphicFramePr>
        <p:xfrm>
          <a:off x="8112120" y="1902553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object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96030"/>
              </p:ext>
            </p:extLst>
          </p:nvPr>
        </p:nvGraphicFramePr>
        <p:xfrm>
          <a:off x="8803318" y="1902553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object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864697"/>
              </p:ext>
            </p:extLst>
          </p:nvPr>
        </p:nvGraphicFramePr>
        <p:xfrm>
          <a:off x="8112120" y="2540248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761859"/>
              </p:ext>
            </p:extLst>
          </p:nvPr>
        </p:nvGraphicFramePr>
        <p:xfrm>
          <a:off x="8803318" y="2540248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" name="object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463775"/>
              </p:ext>
            </p:extLst>
          </p:nvPr>
        </p:nvGraphicFramePr>
        <p:xfrm>
          <a:off x="8112120" y="3169845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517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" name="object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018016"/>
              </p:ext>
            </p:extLst>
          </p:nvPr>
        </p:nvGraphicFramePr>
        <p:xfrm>
          <a:off x="8803318" y="3169845"/>
          <a:ext cx="540339" cy="539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6" name="object 46"/>
          <p:cNvGrpSpPr/>
          <p:nvPr/>
        </p:nvGrpSpPr>
        <p:grpSpPr>
          <a:xfrm>
            <a:off x="8832420" y="845487"/>
            <a:ext cx="178476" cy="178476"/>
            <a:chOff x="13326327" y="2000843"/>
            <a:chExt cx="346075" cy="346075"/>
          </a:xfrm>
        </p:grpSpPr>
        <p:sp>
          <p:nvSpPr>
            <p:cNvPr id="47" name="object 47"/>
            <p:cNvSpPr/>
            <p:nvPr/>
          </p:nvSpPr>
          <p:spPr>
            <a:xfrm>
              <a:off x="13342033" y="2016550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314126" y="0"/>
                  </a:moveTo>
                  <a:lnTo>
                    <a:pt x="0" y="0"/>
                  </a:lnTo>
                  <a:lnTo>
                    <a:pt x="0" y="314126"/>
                  </a:lnTo>
                  <a:lnTo>
                    <a:pt x="314126" y="314126"/>
                  </a:lnTo>
                  <a:lnTo>
                    <a:pt x="314126" y="0"/>
                  </a:lnTo>
                  <a:close/>
                </a:path>
              </a:pathLst>
            </a:custGeom>
            <a:solidFill>
              <a:srgbClr val="A31F34"/>
            </a:solidFill>
          </p:spPr>
          <p:txBody>
            <a:bodyPr wrap="square" lIns="0" tIns="0" rIns="0" bIns="0" rtlCol="0"/>
            <a:lstStyle/>
            <a:p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13326327" y="2000843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15706" y="0"/>
                  </a:moveTo>
                  <a:lnTo>
                    <a:pt x="15706" y="345539"/>
                  </a:lnTo>
                </a:path>
                <a:path w="346075" h="346075">
                  <a:moveTo>
                    <a:pt x="329832" y="0"/>
                  </a:moveTo>
                  <a:lnTo>
                    <a:pt x="329832" y="345539"/>
                  </a:lnTo>
                </a:path>
                <a:path w="346075" h="346075">
                  <a:moveTo>
                    <a:pt x="0" y="15706"/>
                  </a:moveTo>
                  <a:lnTo>
                    <a:pt x="345539" y="15706"/>
                  </a:lnTo>
                </a:path>
                <a:path w="346075" h="346075">
                  <a:moveTo>
                    <a:pt x="0" y="329832"/>
                  </a:moveTo>
                  <a:lnTo>
                    <a:pt x="345539" y="329832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9" name="object 49"/>
          <p:cNvSpPr/>
          <p:nvPr/>
        </p:nvSpPr>
        <p:spPr>
          <a:xfrm>
            <a:off x="8824320" y="1228881"/>
            <a:ext cx="194522" cy="178476"/>
          </a:xfrm>
          <a:custGeom>
            <a:avLst/>
            <a:gdLst/>
            <a:ahLst/>
            <a:cxnLst/>
            <a:rect l="l" t="t" r="r" b="b"/>
            <a:pathLst>
              <a:path w="377190" h="346075">
                <a:moveTo>
                  <a:pt x="15706" y="0"/>
                </a:moveTo>
                <a:lnTo>
                  <a:pt x="15706" y="345539"/>
                </a:lnTo>
              </a:path>
              <a:path w="377190" h="346075">
                <a:moveTo>
                  <a:pt x="361245" y="0"/>
                </a:moveTo>
                <a:lnTo>
                  <a:pt x="361245" y="345539"/>
                </a:lnTo>
              </a:path>
              <a:path w="377190" h="346075">
                <a:moveTo>
                  <a:pt x="0" y="15706"/>
                </a:moveTo>
                <a:lnTo>
                  <a:pt x="376951" y="15706"/>
                </a:lnTo>
              </a:path>
              <a:path w="377190" h="346075">
                <a:moveTo>
                  <a:pt x="0" y="329832"/>
                </a:moveTo>
                <a:lnTo>
                  <a:pt x="376951" y="329832"/>
                </a:lnTo>
              </a:path>
            </a:pathLst>
          </a:custGeom>
          <a:ln w="31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101091" y="806836"/>
            <a:ext cx="863888" cy="628072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400" spc="-5" dirty="0">
                <a:latin typeface="Arial" panose="020B0604020202020204" pitchFamily="34" charset="0"/>
                <a:cs typeface="Arial" panose="020B0604020202020204" pitchFamily="34" charset="0"/>
              </a:rPr>
              <a:t>Preserved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549">
              <a:spcBef>
                <a:spcPts val="1256"/>
              </a:spcBef>
            </a:pPr>
            <a:r>
              <a:rPr sz="1400" spc="-5" dirty="0">
                <a:latin typeface="Arial" panose="020B0604020202020204" pitchFamily="34" charset="0"/>
                <a:cs typeface="Arial" panose="020B0604020202020204" pitchFamily="34" charset="0"/>
              </a:rPr>
              <a:t>Pruned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17557" y="3835175"/>
            <a:ext cx="1229353" cy="498725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242327" marR="2620" indent="-236105">
              <a:spcBef>
                <a:spcPts val="49"/>
              </a:spcBef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Fine-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grained Pruning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715526" y="3835175"/>
            <a:ext cx="1397350" cy="498725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 marR="2620" algn="ctr">
              <a:spcBef>
                <a:spcPts val="49"/>
              </a:spcBef>
            </a:pP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Pattern-</a:t>
            </a:r>
            <a:r>
              <a:rPr sz="1600" spc="39" dirty="0">
                <a:latin typeface="Arial" panose="020B0604020202020204" pitchFamily="34" charset="0"/>
                <a:cs typeface="Arial" panose="020B0604020202020204" pitchFamily="34" charset="0"/>
              </a:rPr>
              <a:t>based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615402" y="3835175"/>
            <a:ext cx="1137332" cy="498725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196482" marR="2620" indent="-190260">
              <a:spcBef>
                <a:spcPts val="49"/>
              </a:spcBef>
            </a:pPr>
            <a:r>
              <a:rPr sz="1600" spc="-41" dirty="0">
                <a:latin typeface="Arial" panose="020B0604020202020204" pitchFamily="34" charset="0"/>
                <a:cs typeface="Arial" panose="020B0604020202020204" pitchFamily="34" charset="0"/>
              </a:rPr>
              <a:t>Vector-</a:t>
            </a:r>
            <a:r>
              <a:rPr sz="1600" spc="-54" dirty="0">
                <a:latin typeface="Arial" panose="020B0604020202020204" pitchFamily="34" charset="0"/>
                <a:cs typeface="Arial" panose="020B0604020202020204" pitchFamily="34" charset="0"/>
              </a:rPr>
              <a:t>level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83436" y="3835175"/>
            <a:ext cx="1153051" cy="498725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204341" marR="2620" indent="-198119">
              <a:spcBef>
                <a:spcPts val="49"/>
              </a:spcBef>
            </a:pPr>
            <a:r>
              <a:rPr sz="1600" spc="-21" dirty="0">
                <a:latin typeface="Arial" panose="020B0604020202020204" pitchFamily="34" charset="0"/>
                <a:cs typeface="Arial" panose="020B0604020202020204" pitchFamily="34" charset="0"/>
              </a:rPr>
              <a:t>Kernel-</a:t>
            </a:r>
            <a:r>
              <a:rPr sz="1600" spc="-39" dirty="0">
                <a:latin typeface="Arial" panose="020B0604020202020204" pitchFamily="34" charset="0"/>
                <a:cs typeface="Arial" panose="020B0604020202020204" pitchFamily="34" charset="0"/>
              </a:rPr>
              <a:t>level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071228" y="3835175"/>
            <a:ext cx="1329234" cy="498725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292430" marR="2620" indent="-286208">
              <a:spcBef>
                <a:spcPts val="49"/>
              </a:spcBef>
            </a:pPr>
            <a:r>
              <a:rPr sz="1600" spc="-13" dirty="0">
                <a:latin typeface="Arial" panose="020B0604020202020204" pitchFamily="34" charset="0"/>
                <a:cs typeface="Arial" panose="020B0604020202020204" pitchFamily="34" charset="0"/>
              </a:rPr>
              <a:t>Channel-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level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Pruning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248535" y="1615800"/>
            <a:ext cx="5871031" cy="71390"/>
            <a:chOff x="4360045" y="4359456"/>
            <a:chExt cx="11384280" cy="138430"/>
          </a:xfrm>
        </p:grpSpPr>
        <p:sp>
          <p:nvSpPr>
            <p:cNvPr id="57" name="object 57"/>
            <p:cNvSpPr/>
            <p:nvPr/>
          </p:nvSpPr>
          <p:spPr>
            <a:xfrm>
              <a:off x="4482554" y="4428564"/>
              <a:ext cx="11139170" cy="0"/>
            </a:xfrm>
            <a:custGeom>
              <a:avLst/>
              <a:gdLst/>
              <a:ahLst/>
              <a:cxnLst/>
              <a:rect l="l" t="t" r="r" b="b"/>
              <a:pathLst>
                <a:path w="11139169">
                  <a:moveTo>
                    <a:pt x="0" y="0"/>
                  </a:moveTo>
                  <a:lnTo>
                    <a:pt x="15706" y="0"/>
                  </a:lnTo>
                  <a:lnTo>
                    <a:pt x="11123284" y="0"/>
                  </a:lnTo>
                  <a:lnTo>
                    <a:pt x="11138990" y="0"/>
                  </a:lnTo>
                </a:path>
              </a:pathLst>
            </a:custGeom>
            <a:ln w="3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360037" y="4359458"/>
              <a:ext cx="11384280" cy="138430"/>
            </a:xfrm>
            <a:custGeom>
              <a:avLst/>
              <a:gdLst/>
              <a:ahLst/>
              <a:cxnLst/>
              <a:rect l="l" t="t" r="r" b="b"/>
              <a:pathLst>
                <a:path w="11384280" h="138429">
                  <a:moveTo>
                    <a:pt x="138214" y="0"/>
                  </a:moveTo>
                  <a:lnTo>
                    <a:pt x="0" y="69113"/>
                  </a:lnTo>
                  <a:lnTo>
                    <a:pt x="138214" y="138214"/>
                  </a:lnTo>
                  <a:lnTo>
                    <a:pt x="138214" y="0"/>
                  </a:lnTo>
                  <a:close/>
                </a:path>
                <a:path w="11384280" h="138429">
                  <a:moveTo>
                    <a:pt x="11384013" y="69113"/>
                  </a:moveTo>
                  <a:lnTo>
                    <a:pt x="11245799" y="0"/>
                  </a:lnTo>
                  <a:lnTo>
                    <a:pt x="11245799" y="138214"/>
                  </a:lnTo>
                  <a:lnTo>
                    <a:pt x="11384013" y="691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1226968" y="1509460"/>
            <a:ext cx="805269" cy="252504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1600" spc="-39" dirty="0">
                <a:latin typeface="Arial" panose="020B0604020202020204" pitchFamily="34" charset="0"/>
                <a:cs typeface="Arial" panose="020B0604020202020204" pitchFamily="34" charset="0"/>
              </a:rPr>
              <a:t>Irregular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894738" y="5217772"/>
            <a:ext cx="7500235" cy="125756"/>
          </a:xfrm>
          <a:prstGeom prst="rect">
            <a:avLst/>
          </a:prstGeom>
        </p:spPr>
        <p:txBody>
          <a:bodyPr vert="horz" wrap="square" lIns="0" tIns="2620" rIns="0" bIns="0" rtlCol="0">
            <a:spAutoFit/>
          </a:bodyPr>
          <a:lstStyle/>
          <a:p>
            <a:pPr marL="2284755">
              <a:spcBef>
                <a:spcPts val="21"/>
              </a:spcBef>
            </a:pP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Exploring</a:t>
            </a:r>
            <a:r>
              <a:rPr sz="800" spc="-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the</a:t>
            </a:r>
            <a:r>
              <a:rPr sz="800" spc="-1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granularity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of</a:t>
            </a:r>
            <a:r>
              <a:rPr sz="800" spc="-1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sparsity</a:t>
            </a:r>
            <a:r>
              <a:rPr sz="800" spc="-1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in</a:t>
            </a:r>
            <a:r>
              <a:rPr sz="800" spc="-1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convolutional</a:t>
            </a:r>
            <a:r>
              <a:rPr sz="800" spc="-1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neural</a:t>
            </a:r>
            <a:r>
              <a:rPr sz="800" spc="-1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networks</a:t>
            </a:r>
            <a:r>
              <a:rPr sz="800" spc="-1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3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[Mao</a:t>
            </a:r>
            <a:r>
              <a:rPr sz="800" spc="-1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i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et</a:t>
            </a:r>
            <a:r>
              <a:rPr sz="800" i="1" spc="1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800" i="1" spc="-23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al.</a:t>
            </a:r>
            <a:r>
              <a:rPr sz="800" spc="-2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,</a:t>
            </a:r>
            <a:r>
              <a:rPr sz="800" spc="-13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54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CVPR-</a:t>
            </a:r>
            <a:r>
              <a:rPr sz="800" spc="46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W]</a:t>
            </a:r>
            <a:endParaRPr sz="10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354617" y="1509460"/>
            <a:ext cx="757130" cy="252504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Regular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object 4">
            <a:extLst>
              <a:ext uri="{FF2B5EF4-FFF2-40B4-BE49-F238E27FC236}">
                <a16:creationId xmlns:a16="http://schemas.microsoft.com/office/drawing/2014/main" id="{50E382BC-3338-C806-9C43-CFEE33E85E17}"/>
              </a:ext>
            </a:extLst>
          </p:cNvPr>
          <p:cNvSpPr txBox="1"/>
          <p:nvPr/>
        </p:nvSpPr>
        <p:spPr>
          <a:xfrm>
            <a:off x="-4690635" y="4723068"/>
            <a:ext cx="106103" cy="1174828"/>
          </a:xfrm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lnSpc>
                <a:spcPts val="2401"/>
              </a:lnSpc>
              <a:spcBef>
                <a:spcPts val="54"/>
              </a:spcBef>
            </a:pPr>
            <a:r>
              <a:rPr sz="2089" spc="-400" dirty="0">
                <a:latin typeface="Trebuchet MS"/>
                <a:cs typeface="Trebuchet MS"/>
              </a:rPr>
              <a:t>•</a:t>
            </a:r>
            <a:endParaRPr sz="2089">
              <a:latin typeface="Trebuchet MS"/>
              <a:cs typeface="Trebuchet MS"/>
            </a:endParaRPr>
          </a:p>
          <a:p>
            <a:pPr marL="6549">
              <a:lnSpc>
                <a:spcPts val="2401"/>
              </a:lnSpc>
            </a:pPr>
            <a:r>
              <a:rPr sz="2089" spc="-400" dirty="0">
                <a:latin typeface="Trebuchet MS"/>
                <a:cs typeface="Trebuchet MS"/>
              </a:rPr>
              <a:t>•</a:t>
            </a:r>
            <a:endParaRPr sz="2089">
              <a:latin typeface="Trebuchet MS"/>
              <a:cs typeface="Trebuchet MS"/>
            </a:endParaRPr>
          </a:p>
          <a:p>
            <a:pPr marL="6549">
              <a:spcBef>
                <a:spcPts val="1831"/>
              </a:spcBef>
            </a:pPr>
            <a:r>
              <a:rPr sz="2089" spc="-400" dirty="0">
                <a:latin typeface="Trebuchet MS"/>
                <a:cs typeface="Trebuchet MS"/>
              </a:rPr>
              <a:t>•</a:t>
            </a:r>
            <a:endParaRPr sz="2089">
              <a:latin typeface="Trebuchet MS"/>
              <a:cs typeface="Trebuchet MS"/>
            </a:endParaRPr>
          </a:p>
        </p:txBody>
      </p:sp>
      <p:sp>
        <p:nvSpPr>
          <p:cNvPr id="66" name="object 5">
            <a:extLst>
              <a:ext uri="{FF2B5EF4-FFF2-40B4-BE49-F238E27FC236}">
                <a16:creationId xmlns:a16="http://schemas.microsoft.com/office/drawing/2014/main" id="{22A0692B-51F0-8475-A928-7DC1007C8C33}"/>
              </a:ext>
            </a:extLst>
          </p:cNvPr>
          <p:cNvSpPr txBox="1"/>
          <p:nvPr/>
        </p:nvSpPr>
        <p:spPr>
          <a:xfrm>
            <a:off x="106606" y="4454152"/>
            <a:ext cx="3874819" cy="977738"/>
          </a:xfrm>
          <a:prstGeom prst="rect">
            <a:avLst/>
          </a:prstGeom>
        </p:spPr>
        <p:txBody>
          <a:bodyPr vert="horz" wrap="square" lIns="0" tIns="38642" rIns="0" bIns="0" rtlCol="0">
            <a:spAutoFit/>
          </a:bodyPr>
          <a:lstStyle/>
          <a:p>
            <a:pPr marL="6549" marR="2620">
              <a:spcBef>
                <a:spcPts val="255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Usually</a:t>
            </a:r>
            <a:r>
              <a:rPr sz="1400" spc="-3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36" dirty="0">
                <a:latin typeface="Arial" panose="020B0604020202020204" pitchFamily="34" charset="0"/>
                <a:cs typeface="Arial" panose="020B0604020202020204" pitchFamily="34" charset="0"/>
              </a:rPr>
              <a:t>larger </a:t>
            </a:r>
            <a:r>
              <a:rPr sz="1400" spc="31" dirty="0">
                <a:latin typeface="Arial" panose="020B0604020202020204" pitchFamily="34" charset="0"/>
                <a:cs typeface="Arial" panose="020B0604020202020204" pitchFamily="34" charset="0"/>
              </a:rPr>
              <a:t>compression</a:t>
            </a:r>
            <a:r>
              <a:rPr sz="1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52" dirty="0">
                <a:latin typeface="Arial" panose="020B0604020202020204" pitchFamily="34" charset="0"/>
                <a:cs typeface="Arial" panose="020B0604020202020204" pitchFamily="34" charset="0"/>
              </a:rPr>
              <a:t>ratio</a:t>
            </a:r>
            <a:r>
              <a:rPr sz="1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spc="-3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549" marR="2620">
              <a:spcBef>
                <a:spcPts val="255"/>
              </a:spcBef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since</a:t>
            </a:r>
            <a:r>
              <a:rPr sz="1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sz="1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26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sz="1400" spc="-3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54" dirty="0">
                <a:latin typeface="Arial" panose="020B0604020202020204" pitchFamily="34" charset="0"/>
                <a:cs typeface="Arial" panose="020B0604020202020204" pitchFamily="34" charset="0"/>
              </a:rPr>
              <a:t>flexibly</a:t>
            </a:r>
            <a:r>
              <a:rPr sz="1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31" dirty="0"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sz="1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39" dirty="0">
                <a:latin typeface="Arial" panose="020B0604020202020204" pitchFamily="34" charset="0"/>
                <a:cs typeface="Arial" panose="020B0604020202020204" pitchFamily="34" charset="0"/>
              </a:rPr>
              <a:t>“redundant”</a:t>
            </a:r>
            <a:r>
              <a:rPr sz="1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weights</a:t>
            </a:r>
            <a:r>
              <a:rPr sz="1400" spc="-3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spc="-3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549" marR="2620">
              <a:spcBef>
                <a:spcPts val="255"/>
              </a:spcBef>
            </a:pPr>
            <a:r>
              <a:rPr lang="en-US" sz="1400" spc="75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1400" spc="75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sz="1400" spc="-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41" dirty="0">
                <a:latin typeface="Arial" panose="020B0604020202020204" pitchFamily="34" charset="0"/>
                <a:cs typeface="Arial" panose="020B0604020202020204" pitchFamily="34" charset="0"/>
              </a:rPr>
              <a:t>deliver</a:t>
            </a:r>
            <a:r>
              <a:rPr sz="1400" spc="-5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44" dirty="0"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  <a:r>
              <a:rPr sz="1400" spc="-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36" dirty="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sz="1400" spc="-5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36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1400" spc="-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57" dirty="0">
                <a:latin typeface="Arial" panose="020B0604020202020204" pitchFamily="34" charset="0"/>
                <a:cs typeface="Arial" panose="020B0604020202020204" pitchFamily="34" charset="0"/>
              </a:rPr>
              <a:t>some</a:t>
            </a:r>
            <a:r>
              <a:rPr sz="1400" spc="-5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26" dirty="0">
                <a:latin typeface="Arial" panose="020B0604020202020204" pitchFamily="34" charset="0"/>
                <a:cs typeface="Arial" panose="020B0604020202020204" pitchFamily="34" charset="0"/>
              </a:rPr>
              <a:t>HW</a:t>
            </a:r>
            <a:br>
              <a:rPr lang="en-US" sz="1400" spc="26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2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5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sz="1400" spc="-5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sz="1400" spc="-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137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18A22-5A73-BCE5-2FFF-1E2E60D59F9C}"/>
              </a:ext>
            </a:extLst>
          </p:cNvPr>
          <p:cNvSpPr txBox="1"/>
          <p:nvPr/>
        </p:nvSpPr>
        <p:spPr>
          <a:xfrm>
            <a:off x="5197447" y="532577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kumimoji="1" lang="en-US" altLang="ko-KR" dirty="0"/>
              <a:t>2. Pruning – </a:t>
            </a:r>
            <a:r>
              <a:rPr lang="en" altLang="ko-KR" spc="-80" dirty="0"/>
              <a:t>Granularity</a:t>
            </a:r>
            <a:endParaRPr spc="-8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12</a:t>
            </a:fld>
            <a:endParaRPr spc="23" dirty="0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8D496E7D-FA58-6255-5975-EF1967FD07B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" altLang="ko-KR" dirty="0"/>
              <a:t>Pattern-based Pruning - N:M sparsity</a:t>
            </a:r>
          </a:p>
          <a:p>
            <a:endParaRPr lang="ko-KR" altLang="en-US" dirty="0"/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F0A6C705-35DD-7362-3793-805943F9A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265" y="946501"/>
            <a:ext cx="9993443" cy="2153251"/>
          </a:xfrm>
          <a:ln w="12700">
            <a:miter lim="400000"/>
          </a:ln>
        </p:spPr>
        <p:txBody>
          <a:bodyPr lIns="91424" tIns="91424" rIns="91424" bIns="91424">
            <a:normAutofit/>
          </a:bodyPr>
          <a:lstStyle/>
          <a:p>
            <a:r>
              <a:rPr kumimoji="1" lang="en" altLang="ko-KR" dirty="0"/>
              <a:t>Constrain to have at least 2 zeros in length-4 blocks</a:t>
            </a:r>
          </a:p>
          <a:p>
            <a:r>
              <a:rPr kumimoji="1" lang="en" altLang="ko-KR" dirty="0"/>
              <a:t>N:M sparsity means that in each contiguous M elements, N of them is pruned </a:t>
            </a:r>
          </a:p>
          <a:p>
            <a:r>
              <a:rPr kumimoji="1" lang="en" altLang="ko-KR" dirty="0"/>
              <a:t>A classic case is 2:4 sparsity (50% sparsity)</a:t>
            </a:r>
          </a:p>
          <a:p>
            <a:r>
              <a:rPr kumimoji="1" lang="en" altLang="ko-KR" dirty="0"/>
              <a:t>Supported by NVIDIA’s Ampere GPU Architecture, which delivers up to 2x speed up</a:t>
            </a:r>
          </a:p>
          <a:p>
            <a:pPr lvl="1"/>
            <a:endParaRPr kumimoji="1" lang="en" altLang="ko-KR" dirty="0"/>
          </a:p>
          <a:p>
            <a:endParaRPr kumimoji="1" lang="ko-KR" altLang="en-US" dirty="0"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636403"/>
              </p:ext>
            </p:extLst>
          </p:nvPr>
        </p:nvGraphicFramePr>
        <p:xfrm>
          <a:off x="3168655" y="3312931"/>
          <a:ext cx="1477580" cy="14775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6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46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46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46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0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CC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FD4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1599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4D0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0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37A4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CC7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6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CC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39A9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4D0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5AB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CC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4D0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0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1798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6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38AA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90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85C0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CC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4D0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CC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5AB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37A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6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179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CC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5AB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CC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179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5AB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CC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FD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6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CC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5AB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1CD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1694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5BD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68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35A1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8C1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6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35A1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0CB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1694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6BFA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38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0CB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5BD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59AD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6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6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4BC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56A98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38D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359A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57AA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ED0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7C0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6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BACF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56A6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ECA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37A2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8C1A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C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BC6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169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269244" y="4874011"/>
            <a:ext cx="1289282" cy="268214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1702" spc="54" dirty="0">
                <a:latin typeface="Trebuchet MS"/>
                <a:cs typeface="Trebuchet MS"/>
              </a:rPr>
              <a:t>Dense</a:t>
            </a:r>
            <a:r>
              <a:rPr sz="1702" spc="-41" dirty="0">
                <a:latin typeface="Trebuchet MS"/>
                <a:cs typeface="Trebuchet MS"/>
              </a:rPr>
              <a:t> </a:t>
            </a:r>
            <a:r>
              <a:rPr sz="1702" spc="-5" dirty="0">
                <a:latin typeface="Trebuchet MS"/>
                <a:cs typeface="Trebuchet MS"/>
              </a:rPr>
              <a:t>Matrix</a:t>
            </a:r>
            <a:endParaRPr sz="1702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17207" y="3993512"/>
            <a:ext cx="525930" cy="129681"/>
            <a:chOff x="7081534" y="7743576"/>
            <a:chExt cx="1019810" cy="251460"/>
          </a:xfrm>
        </p:grpSpPr>
        <p:sp>
          <p:nvSpPr>
            <p:cNvPr id="14" name="object 14"/>
            <p:cNvSpPr/>
            <p:nvPr/>
          </p:nvSpPr>
          <p:spPr>
            <a:xfrm>
              <a:off x="7081534" y="7869227"/>
              <a:ext cx="800100" cy="0"/>
            </a:xfrm>
            <a:custGeom>
              <a:avLst/>
              <a:gdLst/>
              <a:ahLst/>
              <a:cxnLst/>
              <a:rect l="l" t="t" r="r" b="b"/>
              <a:pathLst>
                <a:path w="800100">
                  <a:moveTo>
                    <a:pt x="0" y="0"/>
                  </a:moveTo>
                  <a:lnTo>
                    <a:pt x="768420" y="0"/>
                  </a:lnTo>
                  <a:lnTo>
                    <a:pt x="799832" y="0"/>
                  </a:lnTo>
                </a:path>
              </a:pathLst>
            </a:custGeom>
            <a:ln w="628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49953" y="7743576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59" h="251459">
                  <a:moveTo>
                    <a:pt x="0" y="0"/>
                  </a:moveTo>
                  <a:lnTo>
                    <a:pt x="0" y="251301"/>
                  </a:lnTo>
                  <a:lnTo>
                    <a:pt x="251301" y="125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3">
            <a:extLst>
              <a:ext uri="{FF2B5EF4-FFF2-40B4-BE49-F238E27FC236}">
                <a16:creationId xmlns:a16="http://schemas.microsoft.com/office/drawing/2014/main" id="{F61EDEF6-7B24-7AD5-BD37-1B96C9CFDC5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939" y="3312931"/>
            <a:ext cx="2811954" cy="1677428"/>
          </a:xfrm>
          <a:prstGeom prst="rect">
            <a:avLst/>
          </a:prstGeom>
        </p:spPr>
      </p:pic>
      <p:pic>
        <p:nvPicPr>
          <p:cNvPr id="27" name="object 4">
            <a:extLst>
              <a:ext uri="{FF2B5EF4-FFF2-40B4-BE49-F238E27FC236}">
                <a16:creationId xmlns:a16="http://schemas.microsoft.com/office/drawing/2014/main" id="{91E94B77-0701-48C1-053B-C10D3AAAC3C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939" y="3312930"/>
            <a:ext cx="658831" cy="511692"/>
          </a:xfrm>
          <a:prstGeom prst="rect">
            <a:avLst/>
          </a:prstGeom>
        </p:spPr>
      </p:pic>
      <p:pic>
        <p:nvPicPr>
          <p:cNvPr id="28" name="Google Shape;196;p32">
            <a:extLst>
              <a:ext uri="{FF2B5EF4-FFF2-40B4-BE49-F238E27FC236}">
                <a16:creationId xmlns:a16="http://schemas.microsoft.com/office/drawing/2014/main" id="{2F6B3FEF-09D1-9C48-F19F-A49900F8D92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2934" y="2943976"/>
            <a:ext cx="4548123" cy="235843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C287BD-109D-0E23-74CD-D787BF7D9AFD}"/>
              </a:ext>
            </a:extLst>
          </p:cNvPr>
          <p:cNvSpPr txBox="1"/>
          <p:nvPr/>
        </p:nvSpPr>
        <p:spPr>
          <a:xfrm>
            <a:off x="4839999" y="5354859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03663" tIns="103663" rIns="103663" bIns="103663" anchor="ctr" anchorCtr="0">
            <a:normAutofit fontScale="90000"/>
          </a:bodyPr>
          <a:lstStyle/>
          <a:p>
            <a:r>
              <a:rPr kumimoji="1" lang="en-US" altLang="ko-KR" dirty="0"/>
              <a:t>2. Pruning – </a:t>
            </a:r>
            <a:r>
              <a:rPr lang="en" altLang="ko-KR" spc="-80" dirty="0"/>
              <a:t>Granularity</a:t>
            </a:r>
            <a:endParaRPr kumimoji="1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6E35C0D-FE63-BFB7-D2DF-1A225739BE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" altLang="ko-KR" dirty="0"/>
              <a:t>Pattern-based Pruning - N:M sparsity </a:t>
            </a:r>
            <a:r>
              <a:rPr lang="en" altLang="ko-KR" dirty="0"/>
              <a:t>(NVIDIA)</a:t>
            </a:r>
            <a:endParaRPr lang="ko-KR" altLang="en-US" dirty="0"/>
          </a:p>
        </p:txBody>
      </p:sp>
      <p:sp>
        <p:nvSpPr>
          <p:cNvPr id="203" name="Google Shape;203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ln w="12700">
            <a:miter lim="400000"/>
          </a:ln>
        </p:spPr>
        <p:txBody>
          <a:bodyPr lIns="91424" tIns="91424" rIns="91424" bIns="91424">
            <a:normAutofit/>
          </a:bodyPr>
          <a:lstStyle/>
          <a:p>
            <a:r>
              <a:rPr kumimoji="1" lang="en" dirty="0"/>
              <a:t>Paired with specialized HW and engines (Sparse Tensor Cores, </a:t>
            </a:r>
            <a:r>
              <a:rPr kumimoji="1" lang="en" dirty="0" err="1"/>
              <a:t>TensorRT</a:t>
            </a:r>
            <a:r>
              <a:rPr kumimoji="1" lang="en" dirty="0"/>
              <a:t> 8.0)</a:t>
            </a:r>
          </a:p>
          <a:p>
            <a:r>
              <a:rPr kumimoji="1" lang="en" dirty="0"/>
              <a:t>The indices are used to mask out the inputs</a:t>
            </a:r>
          </a:p>
          <a:p>
            <a:r>
              <a:rPr kumimoji="1" lang="en" dirty="0"/>
              <a:t>Only 2 multiplications will be done out of four</a:t>
            </a:r>
          </a:p>
          <a:p>
            <a:endParaRPr kumimoji="1" dirty="0"/>
          </a:p>
        </p:txBody>
      </p:sp>
      <p:sp>
        <p:nvSpPr>
          <p:cNvPr id="204" name="Google Shape;204;p33"/>
          <p:cNvSpPr txBox="1"/>
          <p:nvPr/>
        </p:nvSpPr>
        <p:spPr>
          <a:xfrm>
            <a:off x="63912" y="5253189"/>
            <a:ext cx="10367963" cy="26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b" anchorCtr="0">
            <a:noAutofit/>
          </a:bodyPr>
          <a:lstStyle/>
          <a:p>
            <a:pPr algn="r" defTabSz="1036782" latinLnBrk="0">
              <a:buClr>
                <a:srgbClr val="000000"/>
              </a:buClr>
            </a:pPr>
            <a:r>
              <a:rPr lang="en" sz="800" kern="0" dirty="0">
                <a:solidFill>
                  <a:schemeClr val="bg1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Mishra et al., “Accelerating sparse deep neural networks,” </a:t>
            </a:r>
            <a:r>
              <a:rPr lang="en" sz="800" kern="0" dirty="0" err="1">
                <a:solidFill>
                  <a:schemeClr val="bg1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arXiv</a:t>
            </a:r>
            <a:r>
              <a:rPr lang="en" sz="800" kern="0" dirty="0">
                <a:solidFill>
                  <a:schemeClr val="bg1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2021.</a:t>
            </a:r>
            <a:endParaRPr sz="800" kern="0" dirty="0">
              <a:solidFill>
                <a:schemeClr val="bg1">
                  <a:lumMod val="50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5" name="Google Shape;2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827" y="2173357"/>
            <a:ext cx="5891395" cy="301051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FB80DD9B-D981-C2A6-0731-B431A6445E2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6F62B-9BA1-8942-2F5D-1A64F2D5D98A}"/>
              </a:ext>
            </a:extLst>
          </p:cNvPr>
          <p:cNvSpPr txBox="1"/>
          <p:nvPr/>
        </p:nvSpPr>
        <p:spPr>
          <a:xfrm>
            <a:off x="4839999" y="5367286"/>
            <a:ext cx="552796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“Machine Learning Hardware and Systems” Lecture (Fall 2024) by Prof. M. Abdelfattah (Cornell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Tech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A21A9-9F30-4C55-41CA-23D702BB2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Pruning – </a:t>
            </a:r>
            <a:r>
              <a:rPr lang="en" altLang="ko-KR" spc="-80" dirty="0"/>
              <a:t>Granularity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792811-DC4A-CB24-8E6D-A69011864C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ko-KR" dirty="0"/>
              <a:t>Channel-level pruning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16DE5E-29D2-24AE-9CA5-2EBCCBA4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18250F-ED35-88A6-A312-BEBE3B2A2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304" y="1410797"/>
            <a:ext cx="5156200" cy="3886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855AFE7-3876-F75E-F5AA-A6934DFC7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88" y="3268473"/>
            <a:ext cx="2787259" cy="18400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066770-74E6-5429-5BB7-A41464A27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88" y="1519047"/>
            <a:ext cx="2200406" cy="1733413"/>
          </a:xfrm>
          <a:prstGeom prst="rect">
            <a:avLst/>
          </a:prstGeom>
        </p:spPr>
      </p:pic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A943A7A9-9F8F-9573-507E-ED8E224B6B2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B6E8F9-217A-EB0F-85C1-60F99C66A7C1}"/>
              </a:ext>
            </a:extLst>
          </p:cNvPr>
          <p:cNvSpPr txBox="1"/>
          <p:nvPr/>
        </p:nvSpPr>
        <p:spPr>
          <a:xfrm>
            <a:off x="5197447" y="532577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409269691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03663" tIns="103663" rIns="103663" bIns="103663" rtlCol="0" anchor="ctr" anchorCtr="0">
            <a:normAutofit fontScale="90000"/>
          </a:bodyPr>
          <a:lstStyle/>
          <a:p>
            <a:r>
              <a:rPr kumimoji="1" lang="en-US" altLang="ko-KR" sz="3604" b="1" i="0" u="none" strike="noStrike" kern="0" cap="none" spc="0" normalizeH="0" baseline="0" noProof="0" dirty="0">
                <a:ln>
                  <a:noFill/>
                </a:ln>
                <a:solidFill>
                  <a:srgbClr val="11437A"/>
                </a:solidFill>
                <a:effectLst/>
                <a:uLnTx/>
                <a:uFillTx/>
                <a:latin typeface="Arial" panose="020B0604020202020204" pitchFamily="34" charset="0"/>
                <a:ea typeface="NanumGothic" panose="020D0604000000000000" pitchFamily="34" charset="-127"/>
                <a:cs typeface="Arial" panose="020B0604020202020204" pitchFamily="34" charset="0"/>
                <a:sym typeface="Raleway Bold"/>
              </a:rPr>
              <a:t>2. </a:t>
            </a:r>
            <a:r>
              <a:rPr kumimoji="1"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Pruning – C</a:t>
            </a:r>
            <a:r>
              <a:rPr kumimoji="1"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riterion</a:t>
            </a:r>
          </a:p>
        </p:txBody>
      </p:sp>
      <p:sp>
        <p:nvSpPr>
          <p:cNvPr id="170" name="Google Shape;170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03663" tIns="103663" rIns="103663" bIns="103663" rtlCol="0" anchor="t" anchorCtr="0">
            <a:noAutofit/>
          </a:bodyPr>
          <a:lstStyle/>
          <a:p>
            <a:pPr>
              <a:spcBef>
                <a:spcPts val="1361"/>
              </a:spcBef>
            </a:pPr>
            <a:r>
              <a:rPr lang="en" dirty="0"/>
              <a:t>Magnitude </a:t>
            </a:r>
            <a:endParaRPr dirty="0"/>
          </a:p>
          <a:p>
            <a:r>
              <a:rPr lang="en" dirty="0">
                <a:solidFill>
                  <a:schemeClr val="dk1"/>
                </a:solidFill>
              </a:rPr>
              <a:t>Scaling</a:t>
            </a:r>
          </a:p>
          <a:p>
            <a:r>
              <a:rPr lang="en" dirty="0">
                <a:solidFill>
                  <a:schemeClr val="dk1"/>
                </a:solidFill>
              </a:rPr>
              <a:t>Activation</a:t>
            </a:r>
            <a:endParaRPr dirty="0"/>
          </a:p>
          <a:p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Second-order Statistics 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Differentiable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Similarity-based merging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Regression</a:t>
            </a:r>
          </a:p>
          <a:p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… and so much more</a:t>
            </a:r>
          </a:p>
          <a:p>
            <a:pPr>
              <a:spcBef>
                <a:spcPts val="1361"/>
              </a:spcBef>
              <a:spcAft>
                <a:spcPts val="1361"/>
              </a:spcAft>
            </a:pPr>
            <a:endParaRPr lang="ko-KR" altLang="en-US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F6B856E-AEBA-E13D-ABF6-A09FD39FF9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265" y="28812"/>
            <a:ext cx="9993443" cy="492333"/>
          </a:xfrm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lang="en" spc="-93" dirty="0"/>
              <a:t>2. Pruning – Criterion</a:t>
            </a:r>
            <a:endParaRPr spc="-93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16</a:t>
            </a:fld>
            <a:endParaRPr spc="23" dirty="0"/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4C14E274-5F2A-43C9-D8A1-42E5AE3EB04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spc="-41" dirty="0"/>
              <a:t>Magnitude-</a:t>
            </a:r>
            <a:r>
              <a:rPr lang="en" altLang="ko-KR" dirty="0"/>
              <a:t>based</a:t>
            </a:r>
            <a:r>
              <a:rPr lang="en" altLang="ko-KR" spc="-186" dirty="0"/>
              <a:t> </a:t>
            </a:r>
            <a:r>
              <a:rPr lang="en" altLang="ko-KR" spc="-93" dirty="0"/>
              <a:t>Pruning</a:t>
            </a:r>
            <a:endParaRPr lang="ko-KR" altLang="en-US" dirty="0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82A0719E-087F-D103-53EF-2790A5D17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 w="12700">
            <a:miter lim="400000"/>
          </a:ln>
        </p:spPr>
        <p:txBody>
          <a:bodyPr lIns="91424" tIns="91424" rIns="91424" bIns="91424">
            <a:normAutofit/>
          </a:bodyPr>
          <a:lstStyle/>
          <a:p>
            <a:r>
              <a:rPr kumimoji="1" lang="en" altLang="ko-KR" dirty="0"/>
              <a:t>Magnitude-based pruning considers weights with larger absolute values are more important than other weights</a:t>
            </a:r>
          </a:p>
          <a:p>
            <a:pPr lvl="1"/>
            <a:r>
              <a:rPr lang="en" altLang="ko-KR" kern="1200" dirty="0"/>
              <a:t>For element-wise pruning,  </a:t>
            </a:r>
            <a:r>
              <a:rPr kumimoji="1" lang="en" altLang="ko-KR" dirty="0"/>
              <a:t>Importance = | W |</a:t>
            </a:r>
          </a:p>
          <a:p>
            <a:endParaRPr kumimoji="1" lang="ko-KR" altLang="en-US" dirty="0"/>
          </a:p>
        </p:txBody>
      </p:sp>
      <p:sp>
        <p:nvSpPr>
          <p:cNvPr id="4" name="object 4"/>
          <p:cNvSpPr txBox="1"/>
          <p:nvPr/>
        </p:nvSpPr>
        <p:spPr>
          <a:xfrm>
            <a:off x="528048" y="3063077"/>
            <a:ext cx="106103" cy="328442"/>
          </a:xfrm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sz="2089" b="1" spc="-26" dirty="0">
                <a:latin typeface="Arial"/>
                <a:cs typeface="Arial"/>
              </a:rPr>
              <a:t>•</a:t>
            </a:r>
            <a:endParaRPr sz="208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247" y="3094558"/>
            <a:ext cx="900565" cy="268214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1702" b="1" spc="-5" dirty="0">
                <a:latin typeface="Arial"/>
                <a:cs typeface="Arial"/>
              </a:rPr>
              <a:t>Example</a:t>
            </a:r>
            <a:endParaRPr sz="1702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624855"/>
              </p:ext>
            </p:extLst>
          </p:nvPr>
        </p:nvGraphicFramePr>
        <p:xfrm>
          <a:off x="826541" y="3516984"/>
          <a:ext cx="1080024" cy="1079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6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3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7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700" spc="50" dirty="0">
                          <a:latin typeface="Trebuchet MS"/>
                          <a:cs typeface="Trebuchet MS"/>
                        </a:rPr>
                        <a:t>2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6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1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7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700" spc="50" dirty="0">
                          <a:latin typeface="Trebuchet MS"/>
                          <a:cs typeface="Trebuchet MS"/>
                        </a:rPr>
                        <a:t>5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054156" y="4722499"/>
            <a:ext cx="650044" cy="241643"/>
          </a:xfrm>
          <a:prstGeom prst="rect">
            <a:avLst/>
          </a:prstGeom>
        </p:spPr>
        <p:txBody>
          <a:bodyPr vert="horz" wrap="square" lIns="0" tIns="7531" rIns="0" bIns="0" rtlCol="0">
            <a:spAutoFit/>
          </a:bodyPr>
          <a:lstStyle/>
          <a:p>
            <a:pPr marL="6549">
              <a:spcBef>
                <a:spcPts val="59"/>
              </a:spcBef>
            </a:pPr>
            <a:r>
              <a:rPr sz="1521" b="1" spc="-10" dirty="0">
                <a:latin typeface="Arial"/>
                <a:cs typeface="Arial"/>
              </a:rPr>
              <a:t>Weight</a:t>
            </a:r>
            <a:endParaRPr sz="1521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931600"/>
              </p:ext>
            </p:extLst>
          </p:nvPr>
        </p:nvGraphicFramePr>
        <p:xfrm>
          <a:off x="3753275" y="3525083"/>
          <a:ext cx="1080024" cy="1079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6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0" baseline="0" dirty="0">
                          <a:latin typeface="Trebuchet MS"/>
                          <a:cs typeface="Trebuchet MS"/>
                        </a:rPr>
                        <a:t>|3|</a:t>
                      </a:r>
                      <a:r>
                        <a:rPr lang="ko-KR" altLang="en-US" sz="1700" spc="0" baseline="0" dirty="0">
                          <a:latin typeface="Trebuchet MS"/>
                          <a:cs typeface="Trebuchet MS"/>
                        </a:rPr>
                        <a:t>                            </a:t>
                      </a:r>
                      <a:r>
                        <a:rPr lang="en-US" altLang="ko-KR" sz="1700" spc="0" baseline="0" dirty="0">
                          <a:latin typeface="Trebuchet MS"/>
                          <a:cs typeface="Trebuchet MS"/>
                        </a:rPr>
                        <a:t> </a:t>
                      </a:r>
                      <a:endParaRPr sz="1700" spc="0" baseline="0" dirty="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100" baseline="0" dirty="0">
                          <a:latin typeface="Trebuchet MS"/>
                          <a:cs typeface="Trebuchet MS"/>
                        </a:rPr>
                        <a:t>|-2|</a:t>
                      </a: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6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0" baseline="0" dirty="0">
                          <a:latin typeface="Trebuchet MS"/>
                          <a:cs typeface="Trebuchet MS"/>
                        </a:rPr>
                        <a:t>|1|</a:t>
                      </a:r>
                      <a:r>
                        <a:rPr lang="ko-KR" altLang="en-US" sz="1700" spc="0" baseline="0" dirty="0">
                          <a:latin typeface="Trebuchet MS"/>
                          <a:cs typeface="Trebuchet MS"/>
                        </a:rPr>
                        <a:t>       </a:t>
                      </a:r>
                      <a:endParaRPr sz="1700" spc="0" baseline="0" dirty="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100" baseline="0" dirty="0">
                          <a:latin typeface="Trebuchet MS"/>
                          <a:cs typeface="Trebuchet MS"/>
                        </a:rPr>
                        <a:t>|-5|</a:t>
                      </a: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642175" y="4722499"/>
            <a:ext cx="1078386" cy="241643"/>
          </a:xfrm>
          <a:prstGeom prst="rect">
            <a:avLst/>
          </a:prstGeom>
        </p:spPr>
        <p:txBody>
          <a:bodyPr vert="horz" wrap="square" lIns="0" tIns="7531" rIns="0" bIns="0" rtlCol="0">
            <a:spAutoFit/>
          </a:bodyPr>
          <a:lstStyle/>
          <a:p>
            <a:pPr marL="6549">
              <a:spcBef>
                <a:spcPts val="59"/>
              </a:spcBef>
            </a:pPr>
            <a:r>
              <a:rPr sz="1521" b="1" spc="-5" dirty="0">
                <a:latin typeface="Arial"/>
                <a:cs typeface="Arial"/>
              </a:rPr>
              <a:t>Importance</a:t>
            </a:r>
            <a:endParaRPr sz="152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52339" y="4047262"/>
            <a:ext cx="1571568" cy="52069"/>
            <a:chOff x="3979607" y="8456470"/>
            <a:chExt cx="3047365" cy="100965"/>
          </a:xfrm>
        </p:grpSpPr>
        <p:sp>
          <p:nvSpPr>
            <p:cNvPr id="11" name="object 11"/>
            <p:cNvSpPr/>
            <p:nvPr/>
          </p:nvSpPr>
          <p:spPr>
            <a:xfrm>
              <a:off x="3979607" y="8506730"/>
              <a:ext cx="2957195" cy="0"/>
            </a:xfrm>
            <a:custGeom>
              <a:avLst/>
              <a:gdLst/>
              <a:ahLst/>
              <a:cxnLst/>
              <a:rect l="l" t="t" r="r" b="b"/>
              <a:pathLst>
                <a:path w="2957195">
                  <a:moveTo>
                    <a:pt x="0" y="0"/>
                  </a:moveTo>
                  <a:lnTo>
                    <a:pt x="2946394" y="0"/>
                  </a:lnTo>
                  <a:lnTo>
                    <a:pt x="2956864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26001" y="8456470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176763" y="3717101"/>
            <a:ext cx="1317118" cy="696856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algn="ctr">
              <a:spcBef>
                <a:spcPts val="49"/>
              </a:spcBef>
            </a:pPr>
            <a:r>
              <a:rPr sz="1702" dirty="0">
                <a:latin typeface="Trebuchet MS"/>
                <a:cs typeface="Trebuchet MS"/>
              </a:rPr>
              <a:t>L1-</a:t>
            </a:r>
            <a:r>
              <a:rPr sz="1702" spc="18" dirty="0">
                <a:latin typeface="Trebuchet MS"/>
                <a:cs typeface="Trebuchet MS"/>
              </a:rPr>
              <a:t>norm</a:t>
            </a:r>
            <a:endParaRPr sz="1702">
              <a:latin typeface="Trebuchet MS"/>
              <a:cs typeface="Trebuchet MS"/>
            </a:endParaRPr>
          </a:p>
          <a:p>
            <a:pPr algn="ctr">
              <a:spcBef>
                <a:spcPts val="1331"/>
              </a:spcBef>
            </a:pPr>
            <a:r>
              <a:rPr sz="1702" spc="-13" dirty="0">
                <a:latin typeface="Trebuchet MS"/>
                <a:cs typeface="Trebuchet MS"/>
              </a:rPr>
              <a:t>Element-</a:t>
            </a:r>
            <a:r>
              <a:rPr sz="1702" spc="-10" dirty="0">
                <a:latin typeface="Trebuchet MS"/>
                <a:cs typeface="Trebuchet MS"/>
              </a:rPr>
              <a:t>wise</a:t>
            </a:r>
            <a:endParaRPr sz="1702">
              <a:latin typeface="Trebuchet MS"/>
              <a:cs typeface="Trebuchet MS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08794"/>
              </p:ext>
            </p:extLst>
          </p:nvPr>
        </p:nvGraphicFramePr>
        <p:xfrm>
          <a:off x="8437123" y="3516984"/>
          <a:ext cx="1080024" cy="1079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6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3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0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6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0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7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700" spc="50" dirty="0">
                          <a:latin typeface="Trebuchet MS"/>
                          <a:cs typeface="Trebuchet MS"/>
                        </a:rPr>
                        <a:t>5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8297518" y="4722499"/>
            <a:ext cx="1370169" cy="241643"/>
          </a:xfrm>
          <a:prstGeom prst="rect">
            <a:avLst/>
          </a:prstGeom>
        </p:spPr>
        <p:txBody>
          <a:bodyPr vert="horz" wrap="square" lIns="0" tIns="7531" rIns="0" bIns="0" rtlCol="0">
            <a:spAutoFit/>
          </a:bodyPr>
          <a:lstStyle/>
          <a:p>
            <a:pPr marL="6549">
              <a:spcBef>
                <a:spcPts val="59"/>
              </a:spcBef>
            </a:pPr>
            <a:r>
              <a:rPr sz="1521" b="1" dirty="0">
                <a:latin typeface="Arial"/>
                <a:cs typeface="Arial"/>
              </a:rPr>
              <a:t>Pruned</a:t>
            </a:r>
            <a:r>
              <a:rPr sz="1521" b="1" spc="3" dirty="0">
                <a:latin typeface="Arial"/>
                <a:cs typeface="Arial"/>
              </a:rPr>
              <a:t> </a:t>
            </a:r>
            <a:r>
              <a:rPr sz="1521" b="1" spc="-5" dirty="0">
                <a:latin typeface="Arial"/>
                <a:cs typeface="Arial"/>
              </a:rPr>
              <a:t>Weight</a:t>
            </a:r>
            <a:endParaRPr sz="1521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778501"/>
              </p:ext>
            </p:extLst>
          </p:nvPr>
        </p:nvGraphicFramePr>
        <p:xfrm>
          <a:off x="5518488" y="3525083"/>
          <a:ext cx="1080024" cy="1079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6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3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DB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2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6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1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5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DDB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6740239" y="4047262"/>
            <a:ext cx="1571568" cy="52069"/>
            <a:chOff x="13069727" y="8456470"/>
            <a:chExt cx="3047365" cy="100965"/>
          </a:xfrm>
        </p:grpSpPr>
        <p:sp>
          <p:nvSpPr>
            <p:cNvPr id="18" name="object 18"/>
            <p:cNvSpPr/>
            <p:nvPr/>
          </p:nvSpPr>
          <p:spPr>
            <a:xfrm>
              <a:off x="13069727" y="8506730"/>
              <a:ext cx="2957195" cy="0"/>
            </a:xfrm>
            <a:custGeom>
              <a:avLst/>
              <a:gdLst/>
              <a:ahLst/>
              <a:cxnLst/>
              <a:rect l="l" t="t" r="r" b="b"/>
              <a:pathLst>
                <a:path w="2957194">
                  <a:moveTo>
                    <a:pt x="0" y="0"/>
                  </a:moveTo>
                  <a:lnTo>
                    <a:pt x="2946394" y="0"/>
                  </a:lnTo>
                  <a:lnTo>
                    <a:pt x="2956864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016119" y="8456470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901C34B-78DE-8DBE-6863-C37357E494B8}"/>
              </a:ext>
            </a:extLst>
          </p:cNvPr>
          <p:cNvSpPr txBox="1"/>
          <p:nvPr/>
        </p:nvSpPr>
        <p:spPr>
          <a:xfrm>
            <a:off x="5197447" y="532577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lang="en" altLang="ko-KR" spc="-93" dirty="0"/>
              <a:t>2. Pruning – Criterion</a:t>
            </a:r>
            <a:endParaRPr spc="-93" dirty="0"/>
          </a:p>
        </p:txBody>
      </p:sp>
      <p:sp>
        <p:nvSpPr>
          <p:cNvPr id="38" name="텍스트 개체 틀 37">
            <a:extLst>
              <a:ext uri="{FF2B5EF4-FFF2-40B4-BE49-F238E27FC236}">
                <a16:creationId xmlns:a16="http://schemas.microsoft.com/office/drawing/2014/main" id="{D51B45C1-7689-8F88-214A-C481EBB2C0E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spc="-41" dirty="0"/>
              <a:t>Magnitude-</a:t>
            </a:r>
            <a:r>
              <a:rPr lang="en" altLang="ko-KR" dirty="0"/>
              <a:t>based</a:t>
            </a:r>
            <a:r>
              <a:rPr lang="en" altLang="ko-KR" spc="-186" dirty="0"/>
              <a:t> </a:t>
            </a:r>
            <a:r>
              <a:rPr lang="en" altLang="ko-KR" spc="-93" dirty="0"/>
              <a:t>Pruning</a:t>
            </a:r>
            <a:endParaRPr lang="ko-KR" altLang="en-US" dirty="0"/>
          </a:p>
        </p:txBody>
      </p:sp>
      <p:sp>
        <p:nvSpPr>
          <p:cNvPr id="37" name="텍스트 개체 틀 36">
            <a:extLst>
              <a:ext uri="{FF2B5EF4-FFF2-40B4-BE49-F238E27FC236}">
                <a16:creationId xmlns:a16="http://schemas.microsoft.com/office/drawing/2014/main" id="{CF5DB76B-3E22-5BAF-34F7-C2EFB6181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A heuristic pruning criterion</a:t>
            </a:r>
          </a:p>
          <a:p>
            <a:pPr lvl="1"/>
            <a:r>
              <a:rPr lang="en" altLang="ko-KR" dirty="0"/>
              <a:t>Magnitude-based pruning considers weights with larger absolute values are more important than other weights</a:t>
            </a:r>
          </a:p>
          <a:p>
            <a:pPr lvl="1"/>
            <a:r>
              <a:rPr lang="en" altLang="ko-KR" dirty="0"/>
              <a:t>Magnitude is also known as </a:t>
            </a:r>
            <a:r>
              <a:rPr lang="en" altLang="ko-KR" dirty="0" err="1"/>
              <a:t>Lp</a:t>
            </a:r>
            <a:r>
              <a:rPr lang="en" altLang="ko-KR" dirty="0"/>
              <a:t>-norm defined as,</a:t>
            </a:r>
          </a:p>
          <a:p>
            <a:endParaRPr lang="ko-KR" altLang="en-US" dirty="0"/>
          </a:p>
        </p:txBody>
      </p:sp>
      <p:sp>
        <p:nvSpPr>
          <p:cNvPr id="8" name="object 8"/>
          <p:cNvSpPr txBox="1"/>
          <p:nvPr/>
        </p:nvSpPr>
        <p:spPr>
          <a:xfrm>
            <a:off x="528048" y="3376977"/>
            <a:ext cx="106103" cy="328442"/>
          </a:xfrm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sz="2089" b="1" spc="-26" dirty="0">
                <a:latin typeface="Arial"/>
                <a:cs typeface="Arial"/>
              </a:rPr>
              <a:t>•</a:t>
            </a:r>
            <a:endParaRPr sz="2089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247" y="3408458"/>
            <a:ext cx="900565" cy="268214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1702" b="1" spc="-5" dirty="0">
                <a:latin typeface="Arial"/>
                <a:cs typeface="Arial"/>
              </a:rPr>
              <a:t>Example</a:t>
            </a:r>
            <a:endParaRPr sz="1702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28896" y="3831329"/>
          <a:ext cx="1080024" cy="1079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6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3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7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700" spc="50" dirty="0">
                          <a:latin typeface="Trebuchet MS"/>
                          <a:cs typeface="Trebuchet MS"/>
                        </a:rPr>
                        <a:t>2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6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1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7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700" spc="50" dirty="0">
                          <a:latin typeface="Trebuchet MS"/>
                          <a:cs typeface="Trebuchet MS"/>
                        </a:rPr>
                        <a:t>5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054156" y="5036399"/>
            <a:ext cx="650044" cy="241643"/>
          </a:xfrm>
          <a:prstGeom prst="rect">
            <a:avLst/>
          </a:prstGeom>
        </p:spPr>
        <p:txBody>
          <a:bodyPr vert="horz" wrap="square" lIns="0" tIns="7531" rIns="0" bIns="0" rtlCol="0">
            <a:spAutoFit/>
          </a:bodyPr>
          <a:lstStyle/>
          <a:p>
            <a:pPr marL="6549">
              <a:spcBef>
                <a:spcPts val="59"/>
              </a:spcBef>
            </a:pPr>
            <a:r>
              <a:rPr sz="1521" b="1" spc="-10" dirty="0">
                <a:latin typeface="Arial"/>
                <a:cs typeface="Arial"/>
              </a:rPr>
              <a:t>Weight</a:t>
            </a:r>
            <a:endParaRPr sz="1521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29777" y="3870971"/>
            <a:ext cx="247901" cy="165049"/>
          </a:xfrm>
          <a:custGeom>
            <a:avLst/>
            <a:gdLst/>
            <a:ahLst/>
            <a:cxnLst/>
            <a:rect l="l" t="t" r="r" b="b"/>
            <a:pathLst>
              <a:path w="480695" h="320040">
                <a:moveTo>
                  <a:pt x="56562" y="166828"/>
                </a:moveTo>
                <a:lnTo>
                  <a:pt x="26464" y="166828"/>
                </a:lnTo>
                <a:lnTo>
                  <a:pt x="31652" y="170460"/>
                </a:lnTo>
                <a:lnTo>
                  <a:pt x="36063" y="182135"/>
                </a:lnTo>
                <a:lnTo>
                  <a:pt x="88472" y="319646"/>
                </a:lnTo>
                <a:lnTo>
                  <a:pt x="96776" y="319646"/>
                </a:lnTo>
                <a:lnTo>
                  <a:pt x="113486" y="276576"/>
                </a:lnTo>
                <a:lnTo>
                  <a:pt x="98332" y="276576"/>
                </a:lnTo>
                <a:lnTo>
                  <a:pt x="56562" y="166828"/>
                </a:lnTo>
                <a:close/>
              </a:path>
              <a:path w="480695" h="320040">
                <a:moveTo>
                  <a:pt x="206784" y="0"/>
                </a:moveTo>
                <a:lnTo>
                  <a:pt x="99369" y="276576"/>
                </a:lnTo>
                <a:lnTo>
                  <a:pt x="113486" y="276576"/>
                </a:lnTo>
                <a:lnTo>
                  <a:pt x="214150" y="17124"/>
                </a:lnTo>
                <a:lnTo>
                  <a:pt x="206784" y="17124"/>
                </a:lnTo>
                <a:lnTo>
                  <a:pt x="206784" y="0"/>
                </a:lnTo>
                <a:close/>
              </a:path>
              <a:path w="480695" h="320040">
                <a:moveTo>
                  <a:pt x="45403" y="137509"/>
                </a:moveTo>
                <a:lnTo>
                  <a:pt x="40474" y="137509"/>
                </a:lnTo>
                <a:lnTo>
                  <a:pt x="0" y="169682"/>
                </a:lnTo>
                <a:lnTo>
                  <a:pt x="3112" y="174871"/>
                </a:lnTo>
                <a:lnTo>
                  <a:pt x="8820" y="169682"/>
                </a:lnTo>
                <a:lnTo>
                  <a:pt x="15567" y="166828"/>
                </a:lnTo>
                <a:lnTo>
                  <a:pt x="56562" y="166828"/>
                </a:lnTo>
                <a:lnTo>
                  <a:pt x="45403" y="137509"/>
                </a:lnTo>
                <a:close/>
              </a:path>
              <a:path w="480695" h="320040">
                <a:moveTo>
                  <a:pt x="220794" y="0"/>
                </a:moveTo>
                <a:lnTo>
                  <a:pt x="206784" y="0"/>
                </a:lnTo>
                <a:lnTo>
                  <a:pt x="206784" y="17124"/>
                </a:lnTo>
                <a:lnTo>
                  <a:pt x="214150" y="17124"/>
                </a:lnTo>
                <a:lnTo>
                  <a:pt x="220794" y="0"/>
                </a:lnTo>
                <a:close/>
              </a:path>
              <a:path w="480695" h="320040">
                <a:moveTo>
                  <a:pt x="480247" y="0"/>
                </a:moveTo>
                <a:lnTo>
                  <a:pt x="220794" y="0"/>
                </a:lnTo>
                <a:lnTo>
                  <a:pt x="214150" y="17124"/>
                </a:lnTo>
                <a:lnTo>
                  <a:pt x="480247" y="17124"/>
                </a:lnTo>
                <a:lnTo>
                  <a:pt x="480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043644" y="3858434"/>
            <a:ext cx="140488" cy="168626"/>
          </a:xfrm>
          <a:prstGeom prst="rect">
            <a:avLst/>
          </a:prstGeom>
        </p:spPr>
        <p:txBody>
          <a:bodyPr vert="horz" wrap="square" lIns="0" tIns="5895" rIns="0" bIns="0" rtlCol="0">
            <a:spAutoFit/>
          </a:bodyPr>
          <a:lstStyle/>
          <a:p>
            <a:pPr>
              <a:spcBef>
                <a:spcPts val="46"/>
              </a:spcBef>
            </a:pPr>
            <a:r>
              <a:rPr sz="1057" spc="-46" dirty="0">
                <a:latin typeface="Cambria"/>
                <a:cs typeface="Cambria"/>
              </a:rPr>
              <a:t>13</a:t>
            </a:r>
            <a:endParaRPr sz="1057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29777" y="4111550"/>
            <a:ext cx="907442" cy="247246"/>
          </a:xfrm>
          <a:custGeom>
            <a:avLst/>
            <a:gdLst/>
            <a:ahLst/>
            <a:cxnLst/>
            <a:rect l="l" t="t" r="r" b="b"/>
            <a:pathLst>
              <a:path w="1759584" h="479425">
                <a:moveTo>
                  <a:pt x="58545" y="266718"/>
                </a:moveTo>
                <a:lnTo>
                  <a:pt x="29058" y="266718"/>
                </a:lnTo>
                <a:lnTo>
                  <a:pt x="33209" y="272426"/>
                </a:lnTo>
                <a:lnTo>
                  <a:pt x="36841" y="284360"/>
                </a:lnTo>
                <a:lnTo>
                  <a:pt x="96776" y="479210"/>
                </a:lnTo>
                <a:lnTo>
                  <a:pt x="107673" y="479210"/>
                </a:lnTo>
                <a:lnTo>
                  <a:pt x="123541" y="427060"/>
                </a:lnTo>
                <a:lnTo>
                  <a:pt x="107931" y="427060"/>
                </a:lnTo>
                <a:lnTo>
                  <a:pt x="58545" y="266718"/>
                </a:lnTo>
                <a:close/>
              </a:path>
              <a:path w="1759584" h="479425">
                <a:moveTo>
                  <a:pt x="238696" y="0"/>
                </a:moveTo>
                <a:lnTo>
                  <a:pt x="108969" y="427060"/>
                </a:lnTo>
                <a:lnTo>
                  <a:pt x="123541" y="427060"/>
                </a:lnTo>
                <a:lnTo>
                  <a:pt x="248275" y="17124"/>
                </a:lnTo>
                <a:lnTo>
                  <a:pt x="238696" y="17124"/>
                </a:lnTo>
                <a:lnTo>
                  <a:pt x="238696" y="0"/>
                </a:lnTo>
                <a:close/>
              </a:path>
              <a:path w="1759584" h="479425">
                <a:moveTo>
                  <a:pt x="49036" y="235843"/>
                </a:moveTo>
                <a:lnTo>
                  <a:pt x="42549" y="235843"/>
                </a:lnTo>
                <a:lnTo>
                  <a:pt x="0" y="268534"/>
                </a:lnTo>
                <a:lnTo>
                  <a:pt x="3112" y="273723"/>
                </a:lnTo>
                <a:lnTo>
                  <a:pt x="9340" y="268793"/>
                </a:lnTo>
                <a:lnTo>
                  <a:pt x="15826" y="266718"/>
                </a:lnTo>
                <a:lnTo>
                  <a:pt x="58545" y="266718"/>
                </a:lnTo>
                <a:lnTo>
                  <a:pt x="49036" y="235843"/>
                </a:lnTo>
                <a:close/>
              </a:path>
              <a:path w="1759584" h="479425">
                <a:moveTo>
                  <a:pt x="253485" y="0"/>
                </a:moveTo>
                <a:lnTo>
                  <a:pt x="238696" y="0"/>
                </a:lnTo>
                <a:lnTo>
                  <a:pt x="238696" y="17124"/>
                </a:lnTo>
                <a:lnTo>
                  <a:pt x="248275" y="17124"/>
                </a:lnTo>
                <a:lnTo>
                  <a:pt x="253485" y="0"/>
                </a:lnTo>
                <a:close/>
              </a:path>
              <a:path w="1759584" h="479425">
                <a:moveTo>
                  <a:pt x="1759467" y="0"/>
                </a:moveTo>
                <a:lnTo>
                  <a:pt x="253485" y="0"/>
                </a:lnTo>
                <a:lnTo>
                  <a:pt x="248275" y="17124"/>
                </a:lnTo>
                <a:lnTo>
                  <a:pt x="1759467" y="17124"/>
                </a:lnTo>
                <a:lnTo>
                  <a:pt x="1759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87854" y="4145205"/>
            <a:ext cx="1060702" cy="168626"/>
          </a:xfrm>
          <a:prstGeom prst="rect">
            <a:avLst/>
          </a:prstGeom>
        </p:spPr>
        <p:txBody>
          <a:bodyPr vert="horz" wrap="square" lIns="0" tIns="5895" rIns="0" bIns="0" rtlCol="0">
            <a:spAutoFit/>
          </a:bodyPr>
          <a:lstStyle/>
          <a:p>
            <a:pPr marL="13099">
              <a:spcBef>
                <a:spcPts val="46"/>
              </a:spcBef>
              <a:tabLst>
                <a:tab pos="287191" algn="l"/>
              </a:tabLst>
            </a:pPr>
            <a:r>
              <a:rPr sz="1057" spc="108" dirty="0">
                <a:latin typeface="Cambria"/>
                <a:cs typeface="Cambria"/>
              </a:rPr>
              <a:t>=</a:t>
            </a:r>
            <a:r>
              <a:rPr sz="1057" dirty="0">
                <a:latin typeface="Cambria"/>
                <a:cs typeface="Cambria"/>
              </a:rPr>
              <a:t>	|</a:t>
            </a:r>
            <a:r>
              <a:rPr sz="1057" spc="-116" dirty="0">
                <a:latin typeface="Cambria"/>
                <a:cs typeface="Cambria"/>
              </a:rPr>
              <a:t> </a:t>
            </a:r>
            <a:r>
              <a:rPr sz="1057" spc="-70" dirty="0">
                <a:latin typeface="Cambria"/>
                <a:cs typeface="Cambria"/>
              </a:rPr>
              <a:t>3</a:t>
            </a:r>
            <a:r>
              <a:rPr sz="1057" spc="-116" dirty="0">
                <a:latin typeface="Cambria"/>
                <a:cs typeface="Cambria"/>
              </a:rPr>
              <a:t> </a:t>
            </a:r>
            <a:r>
              <a:rPr sz="1057" dirty="0">
                <a:latin typeface="Cambria"/>
                <a:cs typeface="Cambria"/>
              </a:rPr>
              <a:t>|</a:t>
            </a:r>
            <a:r>
              <a:rPr sz="1122" baseline="34482" dirty="0">
                <a:latin typeface="Cambria"/>
                <a:cs typeface="Cambria"/>
              </a:rPr>
              <a:t>2</a:t>
            </a:r>
            <a:r>
              <a:rPr sz="1122" spc="77" baseline="34482" dirty="0">
                <a:latin typeface="Cambria"/>
                <a:cs typeface="Cambria"/>
              </a:rPr>
              <a:t> </a:t>
            </a:r>
            <a:r>
              <a:rPr sz="1057" spc="134" dirty="0">
                <a:latin typeface="Cambria"/>
                <a:cs typeface="Cambria"/>
              </a:rPr>
              <a:t>+</a:t>
            </a:r>
            <a:r>
              <a:rPr sz="1057" spc="-5" dirty="0">
                <a:latin typeface="Cambria"/>
                <a:cs typeface="Cambria"/>
              </a:rPr>
              <a:t> </a:t>
            </a:r>
            <a:r>
              <a:rPr sz="1057" dirty="0">
                <a:latin typeface="Cambria"/>
                <a:cs typeface="Cambria"/>
              </a:rPr>
              <a:t>|</a:t>
            </a:r>
            <a:r>
              <a:rPr sz="1057" spc="-5" dirty="0">
                <a:latin typeface="Cambria"/>
                <a:cs typeface="Cambria"/>
              </a:rPr>
              <a:t> </a:t>
            </a:r>
            <a:r>
              <a:rPr sz="1057" spc="134" dirty="0">
                <a:latin typeface="Cambria"/>
                <a:cs typeface="Cambria"/>
              </a:rPr>
              <a:t>−</a:t>
            </a:r>
            <a:r>
              <a:rPr sz="1057" spc="-5" dirty="0">
                <a:latin typeface="Cambria"/>
                <a:cs typeface="Cambria"/>
              </a:rPr>
              <a:t> </a:t>
            </a:r>
            <a:r>
              <a:rPr sz="1057" spc="-70" dirty="0">
                <a:latin typeface="Cambria"/>
                <a:cs typeface="Cambria"/>
              </a:rPr>
              <a:t>2</a:t>
            </a:r>
            <a:r>
              <a:rPr sz="1057" spc="-116" dirty="0">
                <a:latin typeface="Cambria"/>
                <a:cs typeface="Cambria"/>
              </a:rPr>
              <a:t> </a:t>
            </a:r>
            <a:r>
              <a:rPr sz="1057" spc="-13" dirty="0">
                <a:latin typeface="Cambria"/>
                <a:cs typeface="Cambria"/>
              </a:rPr>
              <a:t>|</a:t>
            </a:r>
            <a:r>
              <a:rPr sz="1122" spc="-19" baseline="34482" dirty="0">
                <a:latin typeface="Cambria"/>
                <a:cs typeface="Cambria"/>
              </a:rPr>
              <a:t>2</a:t>
            </a:r>
            <a:endParaRPr sz="1122" baseline="34482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29777" y="4410969"/>
            <a:ext cx="247901" cy="165049"/>
          </a:xfrm>
          <a:custGeom>
            <a:avLst/>
            <a:gdLst/>
            <a:ahLst/>
            <a:cxnLst/>
            <a:rect l="l" t="t" r="r" b="b"/>
            <a:pathLst>
              <a:path w="480695" h="320040">
                <a:moveTo>
                  <a:pt x="56562" y="166828"/>
                </a:moveTo>
                <a:lnTo>
                  <a:pt x="26464" y="166828"/>
                </a:lnTo>
                <a:lnTo>
                  <a:pt x="31652" y="170460"/>
                </a:lnTo>
                <a:lnTo>
                  <a:pt x="36063" y="182135"/>
                </a:lnTo>
                <a:lnTo>
                  <a:pt x="88472" y="319646"/>
                </a:lnTo>
                <a:lnTo>
                  <a:pt x="96776" y="319646"/>
                </a:lnTo>
                <a:lnTo>
                  <a:pt x="113486" y="276576"/>
                </a:lnTo>
                <a:lnTo>
                  <a:pt x="98332" y="276576"/>
                </a:lnTo>
                <a:lnTo>
                  <a:pt x="56562" y="166828"/>
                </a:lnTo>
                <a:close/>
              </a:path>
              <a:path w="480695" h="320040">
                <a:moveTo>
                  <a:pt x="206784" y="0"/>
                </a:moveTo>
                <a:lnTo>
                  <a:pt x="99369" y="276576"/>
                </a:lnTo>
                <a:lnTo>
                  <a:pt x="113486" y="276576"/>
                </a:lnTo>
                <a:lnTo>
                  <a:pt x="214150" y="17124"/>
                </a:lnTo>
                <a:lnTo>
                  <a:pt x="206784" y="17124"/>
                </a:lnTo>
                <a:lnTo>
                  <a:pt x="206784" y="0"/>
                </a:lnTo>
                <a:close/>
              </a:path>
              <a:path w="480695" h="320040">
                <a:moveTo>
                  <a:pt x="45403" y="137509"/>
                </a:moveTo>
                <a:lnTo>
                  <a:pt x="40474" y="137509"/>
                </a:lnTo>
                <a:lnTo>
                  <a:pt x="0" y="169682"/>
                </a:lnTo>
                <a:lnTo>
                  <a:pt x="3112" y="174871"/>
                </a:lnTo>
                <a:lnTo>
                  <a:pt x="8820" y="169682"/>
                </a:lnTo>
                <a:lnTo>
                  <a:pt x="15567" y="166828"/>
                </a:lnTo>
                <a:lnTo>
                  <a:pt x="56562" y="166828"/>
                </a:lnTo>
                <a:lnTo>
                  <a:pt x="45403" y="137509"/>
                </a:lnTo>
                <a:close/>
              </a:path>
              <a:path w="480695" h="320040">
                <a:moveTo>
                  <a:pt x="220794" y="0"/>
                </a:moveTo>
                <a:lnTo>
                  <a:pt x="206784" y="0"/>
                </a:lnTo>
                <a:lnTo>
                  <a:pt x="206784" y="17124"/>
                </a:lnTo>
                <a:lnTo>
                  <a:pt x="214150" y="17124"/>
                </a:lnTo>
                <a:lnTo>
                  <a:pt x="220794" y="0"/>
                </a:lnTo>
                <a:close/>
              </a:path>
              <a:path w="480695" h="320040">
                <a:moveTo>
                  <a:pt x="480247" y="0"/>
                </a:moveTo>
                <a:lnTo>
                  <a:pt x="220794" y="0"/>
                </a:lnTo>
                <a:lnTo>
                  <a:pt x="214150" y="17124"/>
                </a:lnTo>
                <a:lnTo>
                  <a:pt x="480247" y="17124"/>
                </a:lnTo>
                <a:lnTo>
                  <a:pt x="480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043644" y="4398967"/>
            <a:ext cx="140488" cy="168626"/>
          </a:xfrm>
          <a:prstGeom prst="rect">
            <a:avLst/>
          </a:prstGeom>
        </p:spPr>
        <p:txBody>
          <a:bodyPr vert="horz" wrap="square" lIns="0" tIns="5895" rIns="0" bIns="0" rtlCol="0">
            <a:spAutoFit/>
          </a:bodyPr>
          <a:lstStyle/>
          <a:p>
            <a:pPr>
              <a:spcBef>
                <a:spcPts val="46"/>
              </a:spcBef>
            </a:pPr>
            <a:r>
              <a:rPr sz="1057" spc="-46" dirty="0">
                <a:latin typeface="Cambria"/>
                <a:cs typeface="Cambria"/>
              </a:rPr>
              <a:t>26</a:t>
            </a:r>
            <a:endParaRPr sz="1057">
              <a:latin typeface="Cambria"/>
              <a:cs typeface="Cambr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29777" y="4651548"/>
            <a:ext cx="907442" cy="247246"/>
          </a:xfrm>
          <a:custGeom>
            <a:avLst/>
            <a:gdLst/>
            <a:ahLst/>
            <a:cxnLst/>
            <a:rect l="l" t="t" r="r" b="b"/>
            <a:pathLst>
              <a:path w="1759584" h="479425">
                <a:moveTo>
                  <a:pt x="58545" y="266718"/>
                </a:moveTo>
                <a:lnTo>
                  <a:pt x="29058" y="266718"/>
                </a:lnTo>
                <a:lnTo>
                  <a:pt x="33209" y="272426"/>
                </a:lnTo>
                <a:lnTo>
                  <a:pt x="36841" y="284360"/>
                </a:lnTo>
                <a:lnTo>
                  <a:pt x="96776" y="479210"/>
                </a:lnTo>
                <a:lnTo>
                  <a:pt x="107673" y="479210"/>
                </a:lnTo>
                <a:lnTo>
                  <a:pt x="123541" y="427060"/>
                </a:lnTo>
                <a:lnTo>
                  <a:pt x="107931" y="427060"/>
                </a:lnTo>
                <a:lnTo>
                  <a:pt x="58545" y="266718"/>
                </a:lnTo>
                <a:close/>
              </a:path>
              <a:path w="1759584" h="479425">
                <a:moveTo>
                  <a:pt x="238696" y="0"/>
                </a:moveTo>
                <a:lnTo>
                  <a:pt x="108969" y="427060"/>
                </a:lnTo>
                <a:lnTo>
                  <a:pt x="123541" y="427060"/>
                </a:lnTo>
                <a:lnTo>
                  <a:pt x="248275" y="17124"/>
                </a:lnTo>
                <a:lnTo>
                  <a:pt x="238696" y="17124"/>
                </a:lnTo>
                <a:lnTo>
                  <a:pt x="238696" y="0"/>
                </a:lnTo>
                <a:close/>
              </a:path>
              <a:path w="1759584" h="479425">
                <a:moveTo>
                  <a:pt x="49036" y="235843"/>
                </a:moveTo>
                <a:lnTo>
                  <a:pt x="42549" y="235843"/>
                </a:lnTo>
                <a:lnTo>
                  <a:pt x="0" y="268534"/>
                </a:lnTo>
                <a:lnTo>
                  <a:pt x="3112" y="273723"/>
                </a:lnTo>
                <a:lnTo>
                  <a:pt x="9340" y="268793"/>
                </a:lnTo>
                <a:lnTo>
                  <a:pt x="15826" y="266718"/>
                </a:lnTo>
                <a:lnTo>
                  <a:pt x="58545" y="266718"/>
                </a:lnTo>
                <a:lnTo>
                  <a:pt x="49036" y="235843"/>
                </a:lnTo>
                <a:close/>
              </a:path>
              <a:path w="1759584" h="479425">
                <a:moveTo>
                  <a:pt x="253485" y="0"/>
                </a:moveTo>
                <a:lnTo>
                  <a:pt x="238696" y="0"/>
                </a:lnTo>
                <a:lnTo>
                  <a:pt x="238696" y="17124"/>
                </a:lnTo>
                <a:lnTo>
                  <a:pt x="248275" y="17124"/>
                </a:lnTo>
                <a:lnTo>
                  <a:pt x="253485" y="0"/>
                </a:lnTo>
                <a:close/>
              </a:path>
              <a:path w="1759584" h="479425">
                <a:moveTo>
                  <a:pt x="1759467" y="0"/>
                </a:moveTo>
                <a:lnTo>
                  <a:pt x="253485" y="0"/>
                </a:lnTo>
                <a:lnTo>
                  <a:pt x="248275" y="17124"/>
                </a:lnTo>
                <a:lnTo>
                  <a:pt x="1759467" y="17124"/>
                </a:lnTo>
                <a:lnTo>
                  <a:pt x="17594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787854" y="4685203"/>
            <a:ext cx="1060702" cy="168626"/>
          </a:xfrm>
          <a:prstGeom prst="rect">
            <a:avLst/>
          </a:prstGeom>
        </p:spPr>
        <p:txBody>
          <a:bodyPr vert="horz" wrap="square" lIns="0" tIns="5895" rIns="0" bIns="0" rtlCol="0">
            <a:spAutoFit/>
          </a:bodyPr>
          <a:lstStyle/>
          <a:p>
            <a:pPr marL="13099">
              <a:spcBef>
                <a:spcPts val="46"/>
              </a:spcBef>
              <a:tabLst>
                <a:tab pos="287191" algn="l"/>
              </a:tabLst>
            </a:pPr>
            <a:r>
              <a:rPr sz="1057" spc="108" dirty="0">
                <a:latin typeface="Cambria"/>
                <a:cs typeface="Cambria"/>
              </a:rPr>
              <a:t>=</a:t>
            </a:r>
            <a:r>
              <a:rPr sz="1057" dirty="0">
                <a:latin typeface="Cambria"/>
                <a:cs typeface="Cambria"/>
              </a:rPr>
              <a:t>	|</a:t>
            </a:r>
            <a:r>
              <a:rPr sz="1057" spc="-116" dirty="0">
                <a:latin typeface="Cambria"/>
                <a:cs typeface="Cambria"/>
              </a:rPr>
              <a:t> </a:t>
            </a:r>
            <a:r>
              <a:rPr sz="1057" spc="-70" dirty="0">
                <a:latin typeface="Cambria"/>
                <a:cs typeface="Cambria"/>
              </a:rPr>
              <a:t>1</a:t>
            </a:r>
            <a:r>
              <a:rPr sz="1057" spc="-116" dirty="0">
                <a:latin typeface="Cambria"/>
                <a:cs typeface="Cambria"/>
              </a:rPr>
              <a:t> </a:t>
            </a:r>
            <a:r>
              <a:rPr sz="1057" dirty="0">
                <a:latin typeface="Cambria"/>
                <a:cs typeface="Cambria"/>
              </a:rPr>
              <a:t>|</a:t>
            </a:r>
            <a:r>
              <a:rPr sz="1122" baseline="34482" dirty="0">
                <a:latin typeface="Cambria"/>
                <a:cs typeface="Cambria"/>
              </a:rPr>
              <a:t>2</a:t>
            </a:r>
            <a:r>
              <a:rPr sz="1122" spc="77" baseline="34482" dirty="0">
                <a:latin typeface="Cambria"/>
                <a:cs typeface="Cambria"/>
              </a:rPr>
              <a:t> </a:t>
            </a:r>
            <a:r>
              <a:rPr sz="1057" spc="134" dirty="0">
                <a:latin typeface="Cambria"/>
                <a:cs typeface="Cambria"/>
              </a:rPr>
              <a:t>+</a:t>
            </a:r>
            <a:r>
              <a:rPr sz="1057" spc="-5" dirty="0">
                <a:latin typeface="Cambria"/>
                <a:cs typeface="Cambria"/>
              </a:rPr>
              <a:t> </a:t>
            </a:r>
            <a:r>
              <a:rPr sz="1057" dirty="0">
                <a:latin typeface="Cambria"/>
                <a:cs typeface="Cambria"/>
              </a:rPr>
              <a:t>|</a:t>
            </a:r>
            <a:r>
              <a:rPr sz="1057" spc="-5" dirty="0">
                <a:latin typeface="Cambria"/>
                <a:cs typeface="Cambria"/>
              </a:rPr>
              <a:t> </a:t>
            </a:r>
            <a:r>
              <a:rPr sz="1057" spc="134" dirty="0">
                <a:latin typeface="Cambria"/>
                <a:cs typeface="Cambria"/>
              </a:rPr>
              <a:t>−</a:t>
            </a:r>
            <a:r>
              <a:rPr sz="1057" spc="-5" dirty="0">
                <a:latin typeface="Cambria"/>
                <a:cs typeface="Cambria"/>
              </a:rPr>
              <a:t> </a:t>
            </a:r>
            <a:r>
              <a:rPr sz="1057" spc="-70" dirty="0">
                <a:latin typeface="Cambria"/>
                <a:cs typeface="Cambria"/>
              </a:rPr>
              <a:t>5</a:t>
            </a:r>
            <a:r>
              <a:rPr sz="1057" spc="-116" dirty="0">
                <a:latin typeface="Cambria"/>
                <a:cs typeface="Cambria"/>
              </a:rPr>
              <a:t> </a:t>
            </a:r>
            <a:r>
              <a:rPr sz="1057" spc="-13" dirty="0">
                <a:latin typeface="Cambria"/>
                <a:cs typeface="Cambria"/>
              </a:rPr>
              <a:t>|</a:t>
            </a:r>
            <a:r>
              <a:rPr sz="1122" spc="-19" baseline="34482" dirty="0">
                <a:latin typeface="Cambria"/>
                <a:cs typeface="Cambria"/>
              </a:rPr>
              <a:t>2</a:t>
            </a:r>
            <a:endParaRPr sz="1122" baseline="34482">
              <a:latin typeface="Cambria"/>
              <a:cs typeface="Cambri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55686" y="3836729"/>
            <a:ext cx="1096397" cy="1096397"/>
          </a:xfrm>
          <a:custGeom>
            <a:avLst/>
            <a:gdLst/>
            <a:ahLst/>
            <a:cxnLst/>
            <a:rect l="l" t="t" r="r" b="b"/>
            <a:pathLst>
              <a:path w="2125979" h="2125979">
                <a:moveTo>
                  <a:pt x="0" y="1062794"/>
                </a:moveTo>
                <a:lnTo>
                  <a:pt x="2125589" y="1062794"/>
                </a:lnTo>
              </a:path>
              <a:path w="2125979" h="2125979">
                <a:moveTo>
                  <a:pt x="15706" y="0"/>
                </a:moveTo>
                <a:lnTo>
                  <a:pt x="15706" y="2125589"/>
                </a:lnTo>
              </a:path>
              <a:path w="2125979" h="2125979">
                <a:moveTo>
                  <a:pt x="2109883" y="0"/>
                </a:moveTo>
                <a:lnTo>
                  <a:pt x="2109883" y="2125589"/>
                </a:lnTo>
              </a:path>
              <a:path w="2125979" h="2125979">
                <a:moveTo>
                  <a:pt x="0" y="15706"/>
                </a:moveTo>
                <a:lnTo>
                  <a:pt x="2125589" y="15706"/>
                </a:lnTo>
              </a:path>
              <a:path w="2125979" h="2125979">
                <a:moveTo>
                  <a:pt x="0" y="2109883"/>
                </a:moveTo>
                <a:lnTo>
                  <a:pt x="2125589" y="2109883"/>
                </a:lnTo>
              </a:path>
            </a:pathLst>
          </a:custGeom>
          <a:ln w="314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642175" y="5036399"/>
            <a:ext cx="1078386" cy="241643"/>
          </a:xfrm>
          <a:prstGeom prst="rect">
            <a:avLst/>
          </a:prstGeom>
        </p:spPr>
        <p:txBody>
          <a:bodyPr vert="horz" wrap="square" lIns="0" tIns="7531" rIns="0" bIns="0" rtlCol="0">
            <a:spAutoFit/>
          </a:bodyPr>
          <a:lstStyle/>
          <a:p>
            <a:pPr marL="6549">
              <a:spcBef>
                <a:spcPts val="59"/>
              </a:spcBef>
            </a:pPr>
            <a:r>
              <a:rPr sz="1521" b="1" spc="-5" dirty="0">
                <a:latin typeface="Arial"/>
                <a:cs typeface="Arial"/>
              </a:rPr>
              <a:t>Importance</a:t>
            </a:r>
            <a:endParaRPr sz="1521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8437468" y="3831329"/>
          <a:ext cx="1080024" cy="1079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6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0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0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6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50" dirty="0">
                          <a:latin typeface="Trebuchet MS"/>
                          <a:cs typeface="Trebuchet MS"/>
                        </a:rPr>
                        <a:t>1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r>
                        <a:rPr sz="1700" spc="7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700" spc="50" dirty="0">
                          <a:latin typeface="Trebuchet MS"/>
                          <a:cs typeface="Trebuchet MS"/>
                        </a:rPr>
                        <a:t>5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33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8297518" y="5036399"/>
            <a:ext cx="1370169" cy="241643"/>
          </a:xfrm>
          <a:prstGeom prst="rect">
            <a:avLst/>
          </a:prstGeom>
        </p:spPr>
        <p:txBody>
          <a:bodyPr vert="horz" wrap="square" lIns="0" tIns="7531" rIns="0" bIns="0" rtlCol="0">
            <a:spAutoFit/>
          </a:bodyPr>
          <a:lstStyle/>
          <a:p>
            <a:pPr marL="6549">
              <a:spcBef>
                <a:spcPts val="59"/>
              </a:spcBef>
            </a:pPr>
            <a:r>
              <a:rPr sz="1521" b="1" dirty="0">
                <a:latin typeface="Arial"/>
                <a:cs typeface="Arial"/>
              </a:rPr>
              <a:t>Pruned</a:t>
            </a:r>
            <a:r>
              <a:rPr sz="1521" b="1" spc="3" dirty="0">
                <a:latin typeface="Arial"/>
                <a:cs typeface="Arial"/>
              </a:rPr>
              <a:t> </a:t>
            </a:r>
            <a:r>
              <a:rPr sz="1521" b="1" spc="-5" dirty="0">
                <a:latin typeface="Arial"/>
                <a:cs typeface="Arial"/>
              </a:rPr>
              <a:t>Weight</a:t>
            </a:r>
            <a:endParaRPr sz="1521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24180" y="3844829"/>
            <a:ext cx="1080023" cy="397178"/>
          </a:xfrm>
          <a:prstGeom prst="rect">
            <a:avLst/>
          </a:prstGeom>
          <a:ln w="31412">
            <a:solidFill>
              <a:srgbClr val="000000"/>
            </a:solidFill>
          </a:ln>
        </p:spPr>
        <p:txBody>
          <a:bodyPr vert="horz" wrap="square" lIns="0" tIns="133939" rIns="0" bIns="0" rtlCol="0">
            <a:spAutoFit/>
          </a:bodyPr>
          <a:lstStyle/>
          <a:p>
            <a:pPr algn="ctr">
              <a:spcBef>
                <a:spcPts val="1055"/>
              </a:spcBef>
            </a:pPr>
            <a:r>
              <a:rPr sz="1702" spc="28" dirty="0">
                <a:latin typeface="Trebuchet MS"/>
                <a:cs typeface="Trebuchet MS"/>
              </a:rPr>
              <a:t>√13</a:t>
            </a:r>
            <a:endParaRPr sz="1702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24180" y="4384827"/>
            <a:ext cx="1080023" cy="397178"/>
          </a:xfrm>
          <a:prstGeom prst="rect">
            <a:avLst/>
          </a:prstGeom>
          <a:solidFill>
            <a:srgbClr val="DDB0B9"/>
          </a:solidFill>
          <a:ln w="31412">
            <a:solidFill>
              <a:srgbClr val="000000"/>
            </a:solidFill>
          </a:ln>
        </p:spPr>
        <p:txBody>
          <a:bodyPr vert="horz" wrap="square" lIns="0" tIns="133939" rIns="0" bIns="0" rtlCol="0">
            <a:spAutoFit/>
          </a:bodyPr>
          <a:lstStyle/>
          <a:p>
            <a:pPr algn="ctr">
              <a:spcBef>
                <a:spcPts val="1055"/>
              </a:spcBef>
            </a:pPr>
            <a:r>
              <a:rPr sz="1702" spc="28" dirty="0">
                <a:latin typeface="Trebuchet MS"/>
                <a:cs typeface="Trebuchet MS"/>
              </a:rPr>
              <a:t>√26</a:t>
            </a:r>
            <a:endParaRPr sz="1702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052339" y="4361162"/>
            <a:ext cx="1571568" cy="52069"/>
            <a:chOff x="3979607" y="8456470"/>
            <a:chExt cx="3047365" cy="100965"/>
          </a:xfrm>
        </p:grpSpPr>
        <p:sp>
          <p:nvSpPr>
            <p:cNvPr id="27" name="object 27"/>
            <p:cNvSpPr/>
            <p:nvPr/>
          </p:nvSpPr>
          <p:spPr>
            <a:xfrm>
              <a:off x="3979607" y="8506730"/>
              <a:ext cx="2957195" cy="0"/>
            </a:xfrm>
            <a:custGeom>
              <a:avLst/>
              <a:gdLst/>
              <a:ahLst/>
              <a:cxnLst/>
              <a:rect l="l" t="t" r="r" b="b"/>
              <a:pathLst>
                <a:path w="2957195">
                  <a:moveTo>
                    <a:pt x="0" y="0"/>
                  </a:moveTo>
                  <a:lnTo>
                    <a:pt x="2946394" y="0"/>
                  </a:lnTo>
                  <a:lnTo>
                    <a:pt x="2956864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26001" y="8456470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416523" y="4031002"/>
            <a:ext cx="837689" cy="268214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1702" dirty="0">
                <a:latin typeface="Trebuchet MS"/>
                <a:cs typeface="Trebuchet MS"/>
              </a:rPr>
              <a:t>L2-</a:t>
            </a:r>
            <a:r>
              <a:rPr sz="1702" spc="18" dirty="0">
                <a:latin typeface="Trebuchet MS"/>
                <a:cs typeface="Trebuchet MS"/>
              </a:rPr>
              <a:t>norm</a:t>
            </a:r>
            <a:endParaRPr sz="1702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51074" y="4459200"/>
            <a:ext cx="968681" cy="268214"/>
          </a:xfrm>
          <a:prstGeom prst="rect">
            <a:avLst/>
          </a:prstGeom>
        </p:spPr>
        <p:txBody>
          <a:bodyPr vert="horz" wrap="square" lIns="0" tIns="6222" rIns="0" bIns="0" rtlCol="0">
            <a:spAutoFit/>
          </a:bodyPr>
          <a:lstStyle/>
          <a:p>
            <a:pPr marL="6549">
              <a:spcBef>
                <a:spcPts val="49"/>
              </a:spcBef>
            </a:pPr>
            <a:r>
              <a:rPr sz="1702" spc="46" dirty="0">
                <a:latin typeface="Trebuchet MS"/>
                <a:cs typeface="Trebuchet MS"/>
              </a:rPr>
              <a:t>Row-</a:t>
            </a:r>
            <a:r>
              <a:rPr sz="1702" spc="31" dirty="0">
                <a:latin typeface="Trebuchet MS"/>
                <a:cs typeface="Trebuchet MS"/>
              </a:rPr>
              <a:t>wise</a:t>
            </a:r>
            <a:endParaRPr sz="1702">
              <a:latin typeface="Trebuchet MS"/>
              <a:cs typeface="Trebuchet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740239" y="4361162"/>
            <a:ext cx="1571568" cy="52069"/>
            <a:chOff x="13069727" y="8456470"/>
            <a:chExt cx="3047365" cy="100965"/>
          </a:xfrm>
        </p:grpSpPr>
        <p:sp>
          <p:nvSpPr>
            <p:cNvPr id="32" name="object 32"/>
            <p:cNvSpPr/>
            <p:nvPr/>
          </p:nvSpPr>
          <p:spPr>
            <a:xfrm>
              <a:off x="13069727" y="8506730"/>
              <a:ext cx="2957195" cy="0"/>
            </a:xfrm>
            <a:custGeom>
              <a:avLst/>
              <a:gdLst/>
              <a:ahLst/>
              <a:cxnLst/>
              <a:rect l="l" t="t" r="r" b="b"/>
              <a:pathLst>
                <a:path w="2957194">
                  <a:moveTo>
                    <a:pt x="0" y="0"/>
                  </a:moveTo>
                  <a:lnTo>
                    <a:pt x="2946394" y="0"/>
                  </a:lnTo>
                  <a:lnTo>
                    <a:pt x="2956864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6016119" y="8456470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0007714" y="5633061"/>
            <a:ext cx="157517" cy="156770"/>
          </a:xfrm>
          <a:prstGeom prst="rect">
            <a:avLst/>
          </a:prstGeom>
        </p:spPr>
        <p:txBody>
          <a:bodyPr vert="horz" wrap="square" lIns="0" tIns="1965" rIns="0" bIns="0" rtlCol="0">
            <a:spAutoFit/>
          </a:bodyPr>
          <a:lstStyle/>
          <a:p>
            <a:pPr marL="6549">
              <a:spcBef>
                <a:spcPts val="15"/>
              </a:spcBef>
            </a:pPr>
            <a:r>
              <a:rPr sz="1006" spc="23" dirty="0">
                <a:solidFill>
                  <a:srgbClr val="FFFFFF"/>
                </a:solidFill>
                <a:latin typeface="Trebuchet MS"/>
                <a:cs typeface="Trebuchet MS"/>
              </a:rPr>
              <a:t>53</a:t>
            </a:r>
            <a:endParaRPr sz="1006">
              <a:latin typeface="Trebuchet MS"/>
              <a:cs typeface="Trebuchet MS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61B9CA84-7836-4CF3-7CF4-496716D00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3" y="2396430"/>
            <a:ext cx="6236561" cy="908755"/>
          </a:xfrm>
          <a:prstGeom prst="rect">
            <a:avLst/>
          </a:prstGeom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E5757B05-8124-C896-3FDA-7D5698020EA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1E07C0-2EFA-E68D-5EAD-F37777044EB5}"/>
              </a:ext>
            </a:extLst>
          </p:cNvPr>
          <p:cNvSpPr txBox="1"/>
          <p:nvPr/>
        </p:nvSpPr>
        <p:spPr>
          <a:xfrm>
            <a:off x="5197447" y="532577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lang="en" altLang="ko-KR" spc="-93" dirty="0"/>
              <a:t>2. Pruning – Criterion</a:t>
            </a:r>
            <a:endParaRPr spc="-70" dirty="0"/>
          </a:p>
        </p:txBody>
      </p:sp>
      <p:sp>
        <p:nvSpPr>
          <p:cNvPr id="89" name="object 89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 vert="horz" wrap="square" lIns="0" tIns="1965" rIns="0" bIns="0" rtlCol="0">
            <a:spAutoFit/>
          </a:bodyPr>
          <a:lstStyle/>
          <a:p>
            <a:pPr marL="19648">
              <a:spcBef>
                <a:spcPts val="15"/>
              </a:spcBef>
            </a:pPr>
            <a:fld id="{81D60167-4931-47E6-BA6A-407CBD079E47}" type="slidenum">
              <a:rPr spc="23" dirty="0"/>
              <a:pPr marL="19648">
                <a:spcBef>
                  <a:spcPts val="15"/>
                </a:spcBef>
              </a:pPr>
              <a:t>18</a:t>
            </a:fld>
            <a:endParaRPr spc="23" dirty="0"/>
          </a:p>
        </p:txBody>
      </p:sp>
      <p:sp>
        <p:nvSpPr>
          <p:cNvPr id="91" name="텍스트 개체 틀 90">
            <a:extLst>
              <a:ext uri="{FF2B5EF4-FFF2-40B4-BE49-F238E27FC236}">
                <a16:creationId xmlns:a16="http://schemas.microsoft.com/office/drawing/2014/main" id="{F10C4DA5-4D48-503B-34AA-DB780F56E2A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spc="-75" dirty="0"/>
              <a:t>Scaling-</a:t>
            </a:r>
            <a:r>
              <a:rPr lang="en" altLang="ko-KR" spc="-49" dirty="0"/>
              <a:t>based</a:t>
            </a:r>
            <a:r>
              <a:rPr lang="en" altLang="ko-KR" spc="-199" dirty="0"/>
              <a:t> </a:t>
            </a:r>
            <a:r>
              <a:rPr lang="en" altLang="ko-KR" spc="-70" dirty="0"/>
              <a:t>Pruning</a:t>
            </a:r>
            <a:endParaRPr lang="ko-KR" altLang="en-US" dirty="0"/>
          </a:p>
        </p:txBody>
      </p:sp>
      <p:sp>
        <p:nvSpPr>
          <p:cNvPr id="90" name="텍스트 개체 틀 89">
            <a:extLst>
              <a:ext uri="{FF2B5EF4-FFF2-40B4-BE49-F238E27FC236}">
                <a16:creationId xmlns:a16="http://schemas.microsoft.com/office/drawing/2014/main" id="{3A789875-BA80-CF19-021C-BC24A5400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265" y="946501"/>
            <a:ext cx="9993443" cy="1637526"/>
          </a:xfrm>
        </p:spPr>
        <p:txBody>
          <a:bodyPr>
            <a:normAutofit fontScale="92500" lnSpcReduction="10000"/>
          </a:bodyPr>
          <a:lstStyle/>
          <a:p>
            <a:r>
              <a:rPr lang="en" altLang="ko-KR" dirty="0"/>
              <a:t>Pruning criterion for filter pruning</a:t>
            </a:r>
          </a:p>
          <a:p>
            <a:pPr lvl="1"/>
            <a:r>
              <a:rPr lang="en" altLang="ko-KR" dirty="0"/>
              <a:t>A scaling factor is associated with each filter (i.e., output channel) in convolutional layers</a:t>
            </a:r>
          </a:p>
          <a:p>
            <a:pPr lvl="2"/>
            <a:r>
              <a:rPr lang="en" altLang="ko-KR" dirty="0"/>
              <a:t>The scaling factor is multiplied to the output of that channel </a:t>
            </a:r>
          </a:p>
          <a:p>
            <a:pPr lvl="2"/>
            <a:r>
              <a:rPr lang="en" altLang="ko-KR" dirty="0"/>
              <a:t>The scaling factors are trainable parameters</a:t>
            </a:r>
          </a:p>
          <a:p>
            <a:pPr lvl="1"/>
            <a:r>
              <a:rPr lang="en" altLang="ko-KR" dirty="0"/>
              <a:t>The filters/output channels with small scaling factor magnitude will be pruned</a:t>
            </a:r>
          </a:p>
          <a:p>
            <a:pPr lvl="1"/>
            <a:endParaRPr lang="en" altLang="ko-KR" dirty="0"/>
          </a:p>
          <a:p>
            <a:endParaRPr lang="ko-KR" altLang="en-US" dirty="0"/>
          </a:p>
        </p:txBody>
      </p:sp>
      <p:sp>
        <p:nvSpPr>
          <p:cNvPr id="8" name="object 8"/>
          <p:cNvSpPr/>
          <p:nvPr/>
        </p:nvSpPr>
        <p:spPr>
          <a:xfrm>
            <a:off x="5669979" y="2930995"/>
            <a:ext cx="1331854" cy="397559"/>
          </a:xfrm>
          <a:custGeom>
            <a:avLst/>
            <a:gdLst/>
            <a:ahLst/>
            <a:cxnLst/>
            <a:rect l="l" t="t" r="r" b="b"/>
            <a:pathLst>
              <a:path w="2582544" h="770889">
                <a:moveTo>
                  <a:pt x="2035655" y="269746"/>
                </a:moveTo>
                <a:lnTo>
                  <a:pt x="4177" y="269746"/>
                </a:lnTo>
                <a:lnTo>
                  <a:pt x="0" y="271793"/>
                </a:lnTo>
                <a:lnTo>
                  <a:pt x="0" y="768658"/>
                </a:lnTo>
                <a:lnTo>
                  <a:pt x="4115" y="770705"/>
                </a:lnTo>
                <a:lnTo>
                  <a:pt x="2035655" y="770705"/>
                </a:lnTo>
                <a:lnTo>
                  <a:pt x="2039770" y="768658"/>
                </a:lnTo>
                <a:lnTo>
                  <a:pt x="2039770" y="271793"/>
                </a:lnTo>
                <a:lnTo>
                  <a:pt x="2035655" y="269746"/>
                </a:lnTo>
                <a:close/>
              </a:path>
              <a:path w="2582544" h="770889">
                <a:moveTo>
                  <a:pt x="2576968" y="21603"/>
                </a:moveTo>
                <a:lnTo>
                  <a:pt x="2574759" y="21760"/>
                </a:lnTo>
                <a:lnTo>
                  <a:pt x="2093894" y="260987"/>
                </a:lnTo>
                <a:lnTo>
                  <a:pt x="2091412" y="263994"/>
                </a:lnTo>
                <a:lnTo>
                  <a:pt x="2091412" y="753640"/>
                </a:lnTo>
                <a:lnTo>
                  <a:pt x="2097339" y="754909"/>
                </a:lnTo>
                <a:lnTo>
                  <a:pt x="2579523" y="515031"/>
                </a:lnTo>
                <a:lnTo>
                  <a:pt x="2581994" y="512069"/>
                </a:lnTo>
                <a:lnTo>
                  <a:pt x="2581994" y="23229"/>
                </a:lnTo>
                <a:lnTo>
                  <a:pt x="2580560" y="22350"/>
                </a:lnTo>
                <a:lnTo>
                  <a:pt x="2576968" y="21603"/>
                </a:lnTo>
                <a:close/>
              </a:path>
              <a:path w="2582544" h="770889">
                <a:moveTo>
                  <a:pt x="2537556" y="0"/>
                </a:moveTo>
                <a:lnTo>
                  <a:pt x="519743" y="0"/>
                </a:lnTo>
                <a:lnTo>
                  <a:pt x="513931" y="1260"/>
                </a:lnTo>
                <a:lnTo>
                  <a:pt x="30993" y="241383"/>
                </a:lnTo>
                <a:lnTo>
                  <a:pt x="33328" y="244056"/>
                </a:lnTo>
                <a:lnTo>
                  <a:pt x="2051204" y="244056"/>
                </a:lnTo>
                <a:lnTo>
                  <a:pt x="2057445" y="242824"/>
                </a:lnTo>
                <a:lnTo>
                  <a:pt x="2539891" y="2809"/>
                </a:lnTo>
                <a:lnTo>
                  <a:pt x="2537556" y="0"/>
                </a:lnTo>
                <a:close/>
              </a:path>
            </a:pathLst>
          </a:custGeom>
          <a:solidFill>
            <a:srgbClr val="008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27675" y="3081736"/>
            <a:ext cx="557696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Filter</a:t>
            </a:r>
            <a:r>
              <a:rPr sz="1341" spc="152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-26" dirty="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69979" y="4250938"/>
            <a:ext cx="1331854" cy="397559"/>
          </a:xfrm>
          <a:custGeom>
            <a:avLst/>
            <a:gdLst/>
            <a:ahLst/>
            <a:cxnLst/>
            <a:rect l="l" t="t" r="r" b="b"/>
            <a:pathLst>
              <a:path w="2582544" h="770890">
                <a:moveTo>
                  <a:pt x="2035655" y="269746"/>
                </a:moveTo>
                <a:lnTo>
                  <a:pt x="4177" y="269746"/>
                </a:lnTo>
                <a:lnTo>
                  <a:pt x="0" y="271793"/>
                </a:lnTo>
                <a:lnTo>
                  <a:pt x="0" y="768658"/>
                </a:lnTo>
                <a:lnTo>
                  <a:pt x="4115" y="770705"/>
                </a:lnTo>
                <a:lnTo>
                  <a:pt x="2035655" y="770705"/>
                </a:lnTo>
                <a:lnTo>
                  <a:pt x="2039770" y="768658"/>
                </a:lnTo>
                <a:lnTo>
                  <a:pt x="2039770" y="271793"/>
                </a:lnTo>
                <a:lnTo>
                  <a:pt x="2035655" y="269746"/>
                </a:lnTo>
                <a:close/>
              </a:path>
              <a:path w="2582544" h="770890">
                <a:moveTo>
                  <a:pt x="2576968" y="21603"/>
                </a:moveTo>
                <a:lnTo>
                  <a:pt x="2574759" y="21759"/>
                </a:lnTo>
                <a:lnTo>
                  <a:pt x="2093894" y="260987"/>
                </a:lnTo>
                <a:lnTo>
                  <a:pt x="2091412" y="263994"/>
                </a:lnTo>
                <a:lnTo>
                  <a:pt x="2091412" y="753640"/>
                </a:lnTo>
                <a:lnTo>
                  <a:pt x="2097339" y="754909"/>
                </a:lnTo>
                <a:lnTo>
                  <a:pt x="2579523" y="515031"/>
                </a:lnTo>
                <a:lnTo>
                  <a:pt x="2581994" y="512069"/>
                </a:lnTo>
                <a:lnTo>
                  <a:pt x="2581994" y="23228"/>
                </a:lnTo>
                <a:lnTo>
                  <a:pt x="2580560" y="22350"/>
                </a:lnTo>
                <a:lnTo>
                  <a:pt x="2576968" y="21603"/>
                </a:lnTo>
                <a:close/>
              </a:path>
              <a:path w="2582544" h="770890">
                <a:moveTo>
                  <a:pt x="2537556" y="0"/>
                </a:moveTo>
                <a:lnTo>
                  <a:pt x="519743" y="0"/>
                </a:lnTo>
                <a:lnTo>
                  <a:pt x="513931" y="1259"/>
                </a:lnTo>
                <a:lnTo>
                  <a:pt x="30993" y="241383"/>
                </a:lnTo>
                <a:lnTo>
                  <a:pt x="33328" y="244056"/>
                </a:lnTo>
                <a:lnTo>
                  <a:pt x="2051204" y="244056"/>
                </a:lnTo>
                <a:lnTo>
                  <a:pt x="2057445" y="242824"/>
                </a:lnTo>
                <a:lnTo>
                  <a:pt x="2539891" y="2809"/>
                </a:lnTo>
                <a:lnTo>
                  <a:pt x="2537556" y="0"/>
                </a:lnTo>
                <a:close/>
              </a:path>
            </a:pathLst>
          </a:custGeom>
          <a:solidFill>
            <a:srgbClr val="008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31685" y="4401679"/>
            <a:ext cx="749598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Filter</a:t>
            </a:r>
            <a:r>
              <a:rPr sz="1341" spc="157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34" dirty="0">
                <a:solidFill>
                  <a:srgbClr val="FFFFFF"/>
                </a:solidFill>
                <a:latin typeface="Arial MT"/>
                <a:cs typeface="Arial MT"/>
              </a:rPr>
              <a:t>N-</a:t>
            </a:r>
            <a:r>
              <a:rPr sz="1341" spc="1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341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412199" y="2968247"/>
            <a:ext cx="778088" cy="1764126"/>
            <a:chOff x="14372697" y="5385032"/>
            <a:chExt cx="1508760" cy="3420745"/>
          </a:xfrm>
        </p:grpSpPr>
        <p:sp>
          <p:nvSpPr>
            <p:cNvPr id="13" name="object 13"/>
            <p:cNvSpPr/>
            <p:nvPr/>
          </p:nvSpPr>
          <p:spPr>
            <a:xfrm>
              <a:off x="14383175" y="5395510"/>
              <a:ext cx="1487805" cy="3399790"/>
            </a:xfrm>
            <a:custGeom>
              <a:avLst/>
              <a:gdLst/>
              <a:ahLst/>
              <a:cxnLst/>
              <a:rect l="l" t="t" r="r" b="b"/>
              <a:pathLst>
                <a:path w="1487805" h="3399790">
                  <a:moveTo>
                    <a:pt x="341014" y="0"/>
                  </a:moveTo>
                  <a:lnTo>
                    <a:pt x="1146184" y="0"/>
                  </a:lnTo>
                  <a:lnTo>
                    <a:pt x="1214045" y="261"/>
                  </a:lnTo>
                  <a:lnTo>
                    <a:pt x="1268771" y="2088"/>
                  </a:lnTo>
                  <a:lnTo>
                    <a:pt x="1312239" y="7050"/>
                  </a:lnTo>
                  <a:lnTo>
                    <a:pt x="1387116" y="36857"/>
                  </a:lnTo>
                  <a:lnTo>
                    <a:pt x="1422169" y="65029"/>
                  </a:lnTo>
                  <a:lnTo>
                    <a:pt x="1450341" y="100082"/>
                  </a:lnTo>
                  <a:lnTo>
                    <a:pt x="1470488" y="140873"/>
                  </a:lnTo>
                  <a:lnTo>
                    <a:pt x="1485110" y="218428"/>
                  </a:lnTo>
                  <a:lnTo>
                    <a:pt x="1486938" y="273154"/>
                  </a:lnTo>
                  <a:lnTo>
                    <a:pt x="1487199" y="341014"/>
                  </a:lnTo>
                  <a:lnTo>
                    <a:pt x="1487199" y="3058211"/>
                  </a:lnTo>
                  <a:lnTo>
                    <a:pt x="1486938" y="3126071"/>
                  </a:lnTo>
                  <a:lnTo>
                    <a:pt x="1485110" y="3180797"/>
                  </a:lnTo>
                  <a:lnTo>
                    <a:pt x="1480149" y="3224265"/>
                  </a:lnTo>
                  <a:lnTo>
                    <a:pt x="1450341" y="3299142"/>
                  </a:lnTo>
                  <a:lnTo>
                    <a:pt x="1422169" y="3334196"/>
                  </a:lnTo>
                  <a:lnTo>
                    <a:pt x="1387116" y="3362368"/>
                  </a:lnTo>
                  <a:lnTo>
                    <a:pt x="1346325" y="3382514"/>
                  </a:lnTo>
                  <a:lnTo>
                    <a:pt x="1268771" y="3397137"/>
                  </a:lnTo>
                  <a:lnTo>
                    <a:pt x="1214045" y="3398965"/>
                  </a:lnTo>
                  <a:lnTo>
                    <a:pt x="1146184" y="3399226"/>
                  </a:lnTo>
                  <a:lnTo>
                    <a:pt x="341014" y="3399226"/>
                  </a:lnTo>
                  <a:lnTo>
                    <a:pt x="273154" y="3398965"/>
                  </a:lnTo>
                  <a:lnTo>
                    <a:pt x="218428" y="3397137"/>
                  </a:lnTo>
                  <a:lnTo>
                    <a:pt x="174960" y="3392176"/>
                  </a:lnTo>
                  <a:lnTo>
                    <a:pt x="100082" y="3362368"/>
                  </a:lnTo>
                  <a:lnTo>
                    <a:pt x="65029" y="3334196"/>
                  </a:lnTo>
                  <a:lnTo>
                    <a:pt x="36857" y="3299142"/>
                  </a:lnTo>
                  <a:lnTo>
                    <a:pt x="16711" y="3258352"/>
                  </a:lnTo>
                  <a:lnTo>
                    <a:pt x="2088" y="3180797"/>
                  </a:lnTo>
                  <a:lnTo>
                    <a:pt x="261" y="3126071"/>
                  </a:lnTo>
                  <a:lnTo>
                    <a:pt x="0" y="3058211"/>
                  </a:lnTo>
                  <a:lnTo>
                    <a:pt x="0" y="341014"/>
                  </a:lnTo>
                  <a:lnTo>
                    <a:pt x="261" y="273154"/>
                  </a:lnTo>
                  <a:lnTo>
                    <a:pt x="2088" y="218428"/>
                  </a:lnTo>
                  <a:lnTo>
                    <a:pt x="7050" y="174960"/>
                  </a:lnTo>
                  <a:lnTo>
                    <a:pt x="36857" y="100082"/>
                  </a:lnTo>
                  <a:lnTo>
                    <a:pt x="65029" y="65029"/>
                  </a:lnTo>
                  <a:lnTo>
                    <a:pt x="100082" y="36857"/>
                  </a:lnTo>
                  <a:lnTo>
                    <a:pt x="140873" y="16711"/>
                  </a:lnTo>
                  <a:lnTo>
                    <a:pt x="218428" y="2088"/>
                  </a:lnTo>
                  <a:lnTo>
                    <a:pt x="273154" y="261"/>
                  </a:lnTo>
                  <a:lnTo>
                    <a:pt x="341014" y="0"/>
                  </a:lnTo>
                  <a:close/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525232" y="5534704"/>
              <a:ext cx="327025" cy="1472565"/>
            </a:xfrm>
            <a:custGeom>
              <a:avLst/>
              <a:gdLst/>
              <a:ahLst/>
              <a:cxnLst/>
              <a:rect l="l" t="t" r="r" b="b"/>
              <a:pathLst>
                <a:path w="327025" h="1472565">
                  <a:moveTo>
                    <a:pt x="326910" y="1308785"/>
                  </a:moveTo>
                  <a:lnTo>
                    <a:pt x="321056" y="1265389"/>
                  </a:lnTo>
                  <a:lnTo>
                    <a:pt x="314934" y="1250911"/>
                  </a:lnTo>
                  <a:lnTo>
                    <a:pt x="314934" y="1308785"/>
                  </a:lnTo>
                  <a:lnTo>
                    <a:pt x="312940" y="1333347"/>
                  </a:lnTo>
                  <a:lnTo>
                    <a:pt x="307174" y="1356664"/>
                  </a:lnTo>
                  <a:lnTo>
                    <a:pt x="297967" y="1378407"/>
                  </a:lnTo>
                  <a:lnTo>
                    <a:pt x="285610" y="1398270"/>
                  </a:lnTo>
                  <a:lnTo>
                    <a:pt x="252920" y="1365592"/>
                  </a:lnTo>
                  <a:lnTo>
                    <a:pt x="252920" y="1430959"/>
                  </a:lnTo>
                  <a:lnTo>
                    <a:pt x="233057" y="1443316"/>
                  </a:lnTo>
                  <a:lnTo>
                    <a:pt x="211315" y="1452524"/>
                  </a:lnTo>
                  <a:lnTo>
                    <a:pt x="187998" y="1458290"/>
                  </a:lnTo>
                  <a:lnTo>
                    <a:pt x="163436" y="1460271"/>
                  </a:lnTo>
                  <a:lnTo>
                    <a:pt x="138874" y="1458290"/>
                  </a:lnTo>
                  <a:lnTo>
                    <a:pt x="115570" y="1452524"/>
                  </a:lnTo>
                  <a:lnTo>
                    <a:pt x="93840" y="1443316"/>
                  </a:lnTo>
                  <a:lnTo>
                    <a:pt x="73977" y="1430959"/>
                  </a:lnTo>
                  <a:lnTo>
                    <a:pt x="106654" y="1398270"/>
                  </a:lnTo>
                  <a:lnTo>
                    <a:pt x="163436" y="1341475"/>
                  </a:lnTo>
                  <a:lnTo>
                    <a:pt x="252920" y="1430959"/>
                  </a:lnTo>
                  <a:lnTo>
                    <a:pt x="252920" y="1365592"/>
                  </a:lnTo>
                  <a:lnTo>
                    <a:pt x="228803" y="1341475"/>
                  </a:lnTo>
                  <a:lnTo>
                    <a:pt x="196126" y="1308785"/>
                  </a:lnTo>
                  <a:lnTo>
                    <a:pt x="228790" y="1276134"/>
                  </a:lnTo>
                  <a:lnTo>
                    <a:pt x="285610" y="1219327"/>
                  </a:lnTo>
                  <a:lnTo>
                    <a:pt x="297967" y="1239189"/>
                  </a:lnTo>
                  <a:lnTo>
                    <a:pt x="307174" y="1260932"/>
                  </a:lnTo>
                  <a:lnTo>
                    <a:pt x="312940" y="1284236"/>
                  </a:lnTo>
                  <a:lnTo>
                    <a:pt x="314934" y="1308785"/>
                  </a:lnTo>
                  <a:lnTo>
                    <a:pt x="314934" y="1250911"/>
                  </a:lnTo>
                  <a:lnTo>
                    <a:pt x="304558" y="1226362"/>
                  </a:lnTo>
                  <a:lnTo>
                    <a:pt x="299123" y="1219327"/>
                  </a:lnTo>
                  <a:lnTo>
                    <a:pt x="278968" y="1193266"/>
                  </a:lnTo>
                  <a:lnTo>
                    <a:pt x="252920" y="1173137"/>
                  </a:lnTo>
                  <a:lnTo>
                    <a:pt x="252920" y="1186649"/>
                  </a:lnTo>
                  <a:lnTo>
                    <a:pt x="163436" y="1276134"/>
                  </a:lnTo>
                  <a:lnTo>
                    <a:pt x="130771" y="1243457"/>
                  </a:lnTo>
                  <a:lnTo>
                    <a:pt x="130771" y="1308785"/>
                  </a:lnTo>
                  <a:lnTo>
                    <a:pt x="41287" y="1398270"/>
                  </a:lnTo>
                  <a:lnTo>
                    <a:pt x="28943" y="1378407"/>
                  </a:lnTo>
                  <a:lnTo>
                    <a:pt x="19723" y="1356664"/>
                  </a:lnTo>
                  <a:lnTo>
                    <a:pt x="13970" y="1333347"/>
                  </a:lnTo>
                  <a:lnTo>
                    <a:pt x="11976" y="1308785"/>
                  </a:lnTo>
                  <a:lnTo>
                    <a:pt x="13970" y="1284236"/>
                  </a:lnTo>
                  <a:lnTo>
                    <a:pt x="19723" y="1260932"/>
                  </a:lnTo>
                  <a:lnTo>
                    <a:pt x="28943" y="1239189"/>
                  </a:lnTo>
                  <a:lnTo>
                    <a:pt x="41287" y="1219327"/>
                  </a:lnTo>
                  <a:lnTo>
                    <a:pt x="130771" y="1308785"/>
                  </a:lnTo>
                  <a:lnTo>
                    <a:pt x="130771" y="1243457"/>
                  </a:lnTo>
                  <a:lnTo>
                    <a:pt x="106654" y="1219327"/>
                  </a:lnTo>
                  <a:lnTo>
                    <a:pt x="73977" y="1186649"/>
                  </a:lnTo>
                  <a:lnTo>
                    <a:pt x="93840" y="1174292"/>
                  </a:lnTo>
                  <a:lnTo>
                    <a:pt x="115570" y="1165072"/>
                  </a:lnTo>
                  <a:lnTo>
                    <a:pt x="138874" y="1159319"/>
                  </a:lnTo>
                  <a:lnTo>
                    <a:pt x="163436" y="1157325"/>
                  </a:lnTo>
                  <a:lnTo>
                    <a:pt x="187998" y="1159319"/>
                  </a:lnTo>
                  <a:lnTo>
                    <a:pt x="211315" y="1165072"/>
                  </a:lnTo>
                  <a:lnTo>
                    <a:pt x="233057" y="1174292"/>
                  </a:lnTo>
                  <a:lnTo>
                    <a:pt x="252920" y="1186649"/>
                  </a:lnTo>
                  <a:lnTo>
                    <a:pt x="252920" y="1173137"/>
                  </a:lnTo>
                  <a:lnTo>
                    <a:pt x="245872" y="1167688"/>
                  </a:lnTo>
                  <a:lnTo>
                    <a:pt x="221361" y="1157325"/>
                  </a:lnTo>
                  <a:lnTo>
                    <a:pt x="206844" y="1151191"/>
                  </a:lnTo>
                  <a:lnTo>
                    <a:pt x="163436" y="1145349"/>
                  </a:lnTo>
                  <a:lnTo>
                    <a:pt x="120027" y="1151191"/>
                  </a:lnTo>
                  <a:lnTo>
                    <a:pt x="81000" y="1167688"/>
                  </a:lnTo>
                  <a:lnTo>
                    <a:pt x="47917" y="1193266"/>
                  </a:lnTo>
                  <a:lnTo>
                    <a:pt x="22339" y="1226362"/>
                  </a:lnTo>
                  <a:lnTo>
                    <a:pt x="5842" y="1265389"/>
                  </a:lnTo>
                  <a:lnTo>
                    <a:pt x="0" y="1308785"/>
                  </a:lnTo>
                  <a:lnTo>
                    <a:pt x="5842" y="1352194"/>
                  </a:lnTo>
                  <a:lnTo>
                    <a:pt x="22339" y="1391234"/>
                  </a:lnTo>
                  <a:lnTo>
                    <a:pt x="47917" y="1424330"/>
                  </a:lnTo>
                  <a:lnTo>
                    <a:pt x="81000" y="1449908"/>
                  </a:lnTo>
                  <a:lnTo>
                    <a:pt x="120027" y="1466405"/>
                  </a:lnTo>
                  <a:lnTo>
                    <a:pt x="163436" y="1472260"/>
                  </a:lnTo>
                  <a:lnTo>
                    <a:pt x="206844" y="1466405"/>
                  </a:lnTo>
                  <a:lnTo>
                    <a:pt x="221348" y="1460271"/>
                  </a:lnTo>
                  <a:lnTo>
                    <a:pt x="245872" y="1449908"/>
                  </a:lnTo>
                  <a:lnTo>
                    <a:pt x="278968" y="1424330"/>
                  </a:lnTo>
                  <a:lnTo>
                    <a:pt x="299110" y="1398270"/>
                  </a:lnTo>
                  <a:lnTo>
                    <a:pt x="304558" y="1391234"/>
                  </a:lnTo>
                  <a:lnTo>
                    <a:pt x="321056" y="1352194"/>
                  </a:lnTo>
                  <a:lnTo>
                    <a:pt x="326910" y="1308785"/>
                  </a:lnTo>
                  <a:close/>
                </a:path>
                <a:path w="327025" h="1472565">
                  <a:moveTo>
                    <a:pt x="326910" y="163436"/>
                  </a:moveTo>
                  <a:lnTo>
                    <a:pt x="321056" y="120040"/>
                  </a:lnTo>
                  <a:lnTo>
                    <a:pt x="314934" y="105562"/>
                  </a:lnTo>
                  <a:lnTo>
                    <a:pt x="314934" y="163436"/>
                  </a:lnTo>
                  <a:lnTo>
                    <a:pt x="312940" y="187998"/>
                  </a:lnTo>
                  <a:lnTo>
                    <a:pt x="307174" y="211315"/>
                  </a:lnTo>
                  <a:lnTo>
                    <a:pt x="297967" y="233057"/>
                  </a:lnTo>
                  <a:lnTo>
                    <a:pt x="285610" y="252920"/>
                  </a:lnTo>
                  <a:lnTo>
                    <a:pt x="252920" y="220243"/>
                  </a:lnTo>
                  <a:lnTo>
                    <a:pt x="252920" y="285610"/>
                  </a:lnTo>
                  <a:lnTo>
                    <a:pt x="233057" y="297967"/>
                  </a:lnTo>
                  <a:lnTo>
                    <a:pt x="211315" y="307174"/>
                  </a:lnTo>
                  <a:lnTo>
                    <a:pt x="187998" y="312940"/>
                  </a:lnTo>
                  <a:lnTo>
                    <a:pt x="163436" y="314921"/>
                  </a:lnTo>
                  <a:lnTo>
                    <a:pt x="138874" y="312940"/>
                  </a:lnTo>
                  <a:lnTo>
                    <a:pt x="115570" y="307174"/>
                  </a:lnTo>
                  <a:lnTo>
                    <a:pt x="93840" y="297967"/>
                  </a:lnTo>
                  <a:lnTo>
                    <a:pt x="73977" y="285610"/>
                  </a:lnTo>
                  <a:lnTo>
                    <a:pt x="106654" y="252920"/>
                  </a:lnTo>
                  <a:lnTo>
                    <a:pt x="163436" y="196126"/>
                  </a:lnTo>
                  <a:lnTo>
                    <a:pt x="252920" y="285610"/>
                  </a:lnTo>
                  <a:lnTo>
                    <a:pt x="252920" y="220243"/>
                  </a:lnTo>
                  <a:lnTo>
                    <a:pt x="228803" y="196126"/>
                  </a:lnTo>
                  <a:lnTo>
                    <a:pt x="196126" y="163436"/>
                  </a:lnTo>
                  <a:lnTo>
                    <a:pt x="228790" y="130784"/>
                  </a:lnTo>
                  <a:lnTo>
                    <a:pt x="285610" y="73977"/>
                  </a:lnTo>
                  <a:lnTo>
                    <a:pt x="297967" y="93840"/>
                  </a:lnTo>
                  <a:lnTo>
                    <a:pt x="307174" y="115570"/>
                  </a:lnTo>
                  <a:lnTo>
                    <a:pt x="312940" y="138874"/>
                  </a:lnTo>
                  <a:lnTo>
                    <a:pt x="314934" y="163436"/>
                  </a:lnTo>
                  <a:lnTo>
                    <a:pt x="314934" y="105562"/>
                  </a:lnTo>
                  <a:lnTo>
                    <a:pt x="304558" y="81000"/>
                  </a:lnTo>
                  <a:lnTo>
                    <a:pt x="299123" y="73977"/>
                  </a:lnTo>
                  <a:lnTo>
                    <a:pt x="278968" y="47917"/>
                  </a:lnTo>
                  <a:lnTo>
                    <a:pt x="252920" y="27787"/>
                  </a:lnTo>
                  <a:lnTo>
                    <a:pt x="252920" y="41300"/>
                  </a:lnTo>
                  <a:lnTo>
                    <a:pt x="163436" y="130784"/>
                  </a:lnTo>
                  <a:lnTo>
                    <a:pt x="130771" y="98107"/>
                  </a:lnTo>
                  <a:lnTo>
                    <a:pt x="130771" y="163436"/>
                  </a:lnTo>
                  <a:lnTo>
                    <a:pt x="41287" y="252920"/>
                  </a:lnTo>
                  <a:lnTo>
                    <a:pt x="28943" y="233057"/>
                  </a:lnTo>
                  <a:lnTo>
                    <a:pt x="19723" y="211315"/>
                  </a:lnTo>
                  <a:lnTo>
                    <a:pt x="13970" y="187998"/>
                  </a:lnTo>
                  <a:lnTo>
                    <a:pt x="11976" y="163436"/>
                  </a:lnTo>
                  <a:lnTo>
                    <a:pt x="13970" y="138874"/>
                  </a:lnTo>
                  <a:lnTo>
                    <a:pt x="19723" y="115570"/>
                  </a:lnTo>
                  <a:lnTo>
                    <a:pt x="28943" y="93840"/>
                  </a:lnTo>
                  <a:lnTo>
                    <a:pt x="41287" y="73977"/>
                  </a:lnTo>
                  <a:lnTo>
                    <a:pt x="130771" y="163436"/>
                  </a:lnTo>
                  <a:lnTo>
                    <a:pt x="130771" y="98107"/>
                  </a:lnTo>
                  <a:lnTo>
                    <a:pt x="106654" y="73977"/>
                  </a:lnTo>
                  <a:lnTo>
                    <a:pt x="73977" y="41300"/>
                  </a:lnTo>
                  <a:lnTo>
                    <a:pt x="93840" y="28943"/>
                  </a:lnTo>
                  <a:lnTo>
                    <a:pt x="115570" y="19723"/>
                  </a:lnTo>
                  <a:lnTo>
                    <a:pt x="138874" y="13970"/>
                  </a:lnTo>
                  <a:lnTo>
                    <a:pt x="163436" y="11976"/>
                  </a:lnTo>
                  <a:lnTo>
                    <a:pt x="187998" y="13970"/>
                  </a:lnTo>
                  <a:lnTo>
                    <a:pt x="211315" y="19723"/>
                  </a:lnTo>
                  <a:lnTo>
                    <a:pt x="233057" y="28943"/>
                  </a:lnTo>
                  <a:lnTo>
                    <a:pt x="252920" y="41300"/>
                  </a:lnTo>
                  <a:lnTo>
                    <a:pt x="252920" y="27787"/>
                  </a:lnTo>
                  <a:lnTo>
                    <a:pt x="245872" y="22339"/>
                  </a:lnTo>
                  <a:lnTo>
                    <a:pt x="221361" y="11976"/>
                  </a:lnTo>
                  <a:lnTo>
                    <a:pt x="206844" y="5842"/>
                  </a:lnTo>
                  <a:lnTo>
                    <a:pt x="163436" y="0"/>
                  </a:lnTo>
                  <a:lnTo>
                    <a:pt x="120027" y="5842"/>
                  </a:lnTo>
                  <a:lnTo>
                    <a:pt x="81000" y="22339"/>
                  </a:lnTo>
                  <a:lnTo>
                    <a:pt x="47917" y="47917"/>
                  </a:lnTo>
                  <a:lnTo>
                    <a:pt x="22339" y="81000"/>
                  </a:lnTo>
                  <a:lnTo>
                    <a:pt x="5842" y="120040"/>
                  </a:lnTo>
                  <a:lnTo>
                    <a:pt x="0" y="163436"/>
                  </a:lnTo>
                  <a:lnTo>
                    <a:pt x="5842" y="206844"/>
                  </a:lnTo>
                  <a:lnTo>
                    <a:pt x="22339" y="245884"/>
                  </a:lnTo>
                  <a:lnTo>
                    <a:pt x="47917" y="278968"/>
                  </a:lnTo>
                  <a:lnTo>
                    <a:pt x="81000" y="304558"/>
                  </a:lnTo>
                  <a:lnTo>
                    <a:pt x="120027" y="321056"/>
                  </a:lnTo>
                  <a:lnTo>
                    <a:pt x="163436" y="326910"/>
                  </a:lnTo>
                  <a:lnTo>
                    <a:pt x="206844" y="321056"/>
                  </a:lnTo>
                  <a:lnTo>
                    <a:pt x="221348" y="314921"/>
                  </a:lnTo>
                  <a:lnTo>
                    <a:pt x="245872" y="304558"/>
                  </a:lnTo>
                  <a:lnTo>
                    <a:pt x="278968" y="278968"/>
                  </a:lnTo>
                  <a:lnTo>
                    <a:pt x="299110" y="252920"/>
                  </a:lnTo>
                  <a:lnTo>
                    <a:pt x="304558" y="245884"/>
                  </a:lnTo>
                  <a:lnTo>
                    <a:pt x="321056" y="206844"/>
                  </a:lnTo>
                  <a:lnTo>
                    <a:pt x="326910" y="163436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786437" y="3633132"/>
            <a:ext cx="265584" cy="163053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1006" spc="-10" dirty="0">
                <a:latin typeface="Trebuchet MS"/>
                <a:cs typeface="Trebuchet MS"/>
              </a:rPr>
              <a:t>0.82</a:t>
            </a:r>
            <a:endParaRPr sz="1006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60485" y="3082453"/>
            <a:ext cx="293093" cy="91039"/>
            <a:chOff x="13690703" y="5606483"/>
            <a:chExt cx="568325" cy="176530"/>
          </a:xfrm>
        </p:grpSpPr>
        <p:sp>
          <p:nvSpPr>
            <p:cNvPr id="17" name="object 17"/>
            <p:cNvSpPr/>
            <p:nvPr/>
          </p:nvSpPr>
          <p:spPr>
            <a:xfrm>
              <a:off x="13690703" y="5694439"/>
              <a:ext cx="412750" cy="0"/>
            </a:xfrm>
            <a:custGeom>
              <a:avLst/>
              <a:gdLst/>
              <a:ahLst/>
              <a:cxnLst/>
              <a:rect l="l" t="t" r="r" b="b"/>
              <a:pathLst>
                <a:path w="412750">
                  <a:moveTo>
                    <a:pt x="0" y="0"/>
                  </a:moveTo>
                  <a:lnTo>
                    <a:pt x="391802" y="0"/>
                  </a:lnTo>
                  <a:lnTo>
                    <a:pt x="412744" y="0"/>
                  </a:lnTo>
                </a:path>
              </a:pathLst>
            </a:custGeom>
            <a:ln w="41883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082503" y="5606483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060485" y="3676953"/>
            <a:ext cx="293093" cy="91039"/>
            <a:chOff x="13690703" y="6759255"/>
            <a:chExt cx="568325" cy="176530"/>
          </a:xfrm>
        </p:grpSpPr>
        <p:sp>
          <p:nvSpPr>
            <p:cNvPr id="20" name="object 20"/>
            <p:cNvSpPr/>
            <p:nvPr/>
          </p:nvSpPr>
          <p:spPr>
            <a:xfrm>
              <a:off x="13690703" y="6847211"/>
              <a:ext cx="412750" cy="0"/>
            </a:xfrm>
            <a:custGeom>
              <a:avLst/>
              <a:gdLst/>
              <a:ahLst/>
              <a:cxnLst/>
              <a:rect l="l" t="t" r="r" b="b"/>
              <a:pathLst>
                <a:path w="412750">
                  <a:moveTo>
                    <a:pt x="0" y="0"/>
                  </a:moveTo>
                  <a:lnTo>
                    <a:pt x="391802" y="0"/>
                  </a:lnTo>
                  <a:lnTo>
                    <a:pt x="412744" y="0"/>
                  </a:lnTo>
                </a:path>
              </a:pathLst>
            </a:custGeom>
            <a:ln w="41883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082503" y="6759255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5669979" y="3521668"/>
            <a:ext cx="1331854" cy="397559"/>
          </a:xfrm>
          <a:custGeom>
            <a:avLst/>
            <a:gdLst/>
            <a:ahLst/>
            <a:cxnLst/>
            <a:rect l="l" t="t" r="r" b="b"/>
            <a:pathLst>
              <a:path w="2582544" h="770890">
                <a:moveTo>
                  <a:pt x="2035655" y="269746"/>
                </a:moveTo>
                <a:lnTo>
                  <a:pt x="4177" y="269746"/>
                </a:lnTo>
                <a:lnTo>
                  <a:pt x="0" y="271793"/>
                </a:lnTo>
                <a:lnTo>
                  <a:pt x="0" y="768658"/>
                </a:lnTo>
                <a:lnTo>
                  <a:pt x="4115" y="770705"/>
                </a:lnTo>
                <a:lnTo>
                  <a:pt x="2035655" y="770705"/>
                </a:lnTo>
                <a:lnTo>
                  <a:pt x="2039770" y="768658"/>
                </a:lnTo>
                <a:lnTo>
                  <a:pt x="2039770" y="271793"/>
                </a:lnTo>
                <a:lnTo>
                  <a:pt x="2035655" y="269746"/>
                </a:lnTo>
                <a:close/>
              </a:path>
              <a:path w="2582544" h="770890">
                <a:moveTo>
                  <a:pt x="2576968" y="21603"/>
                </a:moveTo>
                <a:lnTo>
                  <a:pt x="2574759" y="21760"/>
                </a:lnTo>
                <a:lnTo>
                  <a:pt x="2093894" y="260987"/>
                </a:lnTo>
                <a:lnTo>
                  <a:pt x="2091412" y="263995"/>
                </a:lnTo>
                <a:lnTo>
                  <a:pt x="2091412" y="753641"/>
                </a:lnTo>
                <a:lnTo>
                  <a:pt x="2097339" y="754909"/>
                </a:lnTo>
                <a:lnTo>
                  <a:pt x="2579523" y="515032"/>
                </a:lnTo>
                <a:lnTo>
                  <a:pt x="2581994" y="512069"/>
                </a:lnTo>
                <a:lnTo>
                  <a:pt x="2581994" y="23229"/>
                </a:lnTo>
                <a:lnTo>
                  <a:pt x="2580560" y="22351"/>
                </a:lnTo>
                <a:lnTo>
                  <a:pt x="2576968" y="21603"/>
                </a:lnTo>
                <a:close/>
              </a:path>
              <a:path w="2582544" h="770890">
                <a:moveTo>
                  <a:pt x="2537556" y="0"/>
                </a:moveTo>
                <a:lnTo>
                  <a:pt x="519743" y="0"/>
                </a:lnTo>
                <a:lnTo>
                  <a:pt x="513931" y="1260"/>
                </a:lnTo>
                <a:lnTo>
                  <a:pt x="30993" y="241383"/>
                </a:lnTo>
                <a:lnTo>
                  <a:pt x="33328" y="244056"/>
                </a:lnTo>
                <a:lnTo>
                  <a:pt x="2051204" y="244056"/>
                </a:lnTo>
                <a:lnTo>
                  <a:pt x="2057445" y="242825"/>
                </a:lnTo>
                <a:lnTo>
                  <a:pt x="2539891" y="2810"/>
                </a:lnTo>
                <a:lnTo>
                  <a:pt x="2537556" y="0"/>
                </a:lnTo>
                <a:close/>
              </a:path>
            </a:pathLst>
          </a:custGeom>
          <a:solidFill>
            <a:srgbClr val="008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827675" y="3672408"/>
            <a:ext cx="557696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Filter</a:t>
            </a:r>
            <a:r>
              <a:rPr sz="1341" spc="152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-26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490863" y="4365373"/>
            <a:ext cx="168651" cy="168651"/>
          </a:xfrm>
          <a:custGeom>
            <a:avLst/>
            <a:gdLst/>
            <a:ahLst/>
            <a:cxnLst/>
            <a:rect l="l" t="t" r="r" b="b"/>
            <a:pathLst>
              <a:path w="327025" h="327025">
                <a:moveTo>
                  <a:pt x="163440" y="0"/>
                </a:moveTo>
                <a:lnTo>
                  <a:pt x="120037" y="5847"/>
                </a:lnTo>
                <a:lnTo>
                  <a:pt x="81007" y="22345"/>
                </a:lnTo>
                <a:lnTo>
                  <a:pt x="47920" y="47922"/>
                </a:lnTo>
                <a:lnTo>
                  <a:pt x="22343" y="81011"/>
                </a:lnTo>
                <a:lnTo>
                  <a:pt x="5847" y="120041"/>
                </a:lnTo>
                <a:lnTo>
                  <a:pt x="0" y="163444"/>
                </a:lnTo>
                <a:lnTo>
                  <a:pt x="5847" y="206849"/>
                </a:lnTo>
                <a:lnTo>
                  <a:pt x="22343" y="245884"/>
                </a:lnTo>
                <a:lnTo>
                  <a:pt x="47920" y="278979"/>
                </a:lnTo>
                <a:lnTo>
                  <a:pt x="81007" y="304562"/>
                </a:lnTo>
                <a:lnTo>
                  <a:pt x="120037" y="321064"/>
                </a:lnTo>
                <a:lnTo>
                  <a:pt x="163440" y="326914"/>
                </a:lnTo>
                <a:lnTo>
                  <a:pt x="206845" y="321064"/>
                </a:lnTo>
                <a:lnTo>
                  <a:pt x="221350" y="314932"/>
                </a:lnTo>
                <a:lnTo>
                  <a:pt x="163440" y="314932"/>
                </a:lnTo>
                <a:lnTo>
                  <a:pt x="138881" y="312942"/>
                </a:lnTo>
                <a:lnTo>
                  <a:pt x="115580" y="307183"/>
                </a:lnTo>
                <a:lnTo>
                  <a:pt x="93845" y="297968"/>
                </a:lnTo>
                <a:lnTo>
                  <a:pt x="73987" y="285614"/>
                </a:lnTo>
                <a:lnTo>
                  <a:pt x="106659" y="252930"/>
                </a:lnTo>
                <a:lnTo>
                  <a:pt x="41297" y="252930"/>
                </a:lnTo>
                <a:lnTo>
                  <a:pt x="28941" y="233067"/>
                </a:lnTo>
                <a:lnTo>
                  <a:pt x="19727" y="211321"/>
                </a:lnTo>
                <a:lnTo>
                  <a:pt x="13968" y="188008"/>
                </a:lnTo>
                <a:lnTo>
                  <a:pt x="11978" y="163444"/>
                </a:lnTo>
                <a:lnTo>
                  <a:pt x="13968" y="138885"/>
                </a:lnTo>
                <a:lnTo>
                  <a:pt x="19727" y="115581"/>
                </a:lnTo>
                <a:lnTo>
                  <a:pt x="28941" y="93844"/>
                </a:lnTo>
                <a:lnTo>
                  <a:pt x="41297" y="73985"/>
                </a:lnTo>
                <a:lnTo>
                  <a:pt x="106659" y="73985"/>
                </a:lnTo>
                <a:lnTo>
                  <a:pt x="73987" y="41301"/>
                </a:lnTo>
                <a:lnTo>
                  <a:pt x="93845" y="28946"/>
                </a:lnTo>
                <a:lnTo>
                  <a:pt x="115580" y="19732"/>
                </a:lnTo>
                <a:lnTo>
                  <a:pt x="138881" y="13972"/>
                </a:lnTo>
                <a:lnTo>
                  <a:pt x="163440" y="11982"/>
                </a:lnTo>
                <a:lnTo>
                  <a:pt x="221361" y="11982"/>
                </a:lnTo>
                <a:lnTo>
                  <a:pt x="206845" y="5847"/>
                </a:lnTo>
                <a:lnTo>
                  <a:pt x="163440" y="0"/>
                </a:lnTo>
                <a:close/>
              </a:path>
              <a:path w="327025" h="327025">
                <a:moveTo>
                  <a:pt x="228814" y="196129"/>
                </a:moveTo>
                <a:lnTo>
                  <a:pt x="163440" y="196129"/>
                </a:lnTo>
                <a:lnTo>
                  <a:pt x="252924" y="285614"/>
                </a:lnTo>
                <a:lnTo>
                  <a:pt x="233061" y="297968"/>
                </a:lnTo>
                <a:lnTo>
                  <a:pt x="211315" y="307183"/>
                </a:lnTo>
                <a:lnTo>
                  <a:pt x="188003" y="312942"/>
                </a:lnTo>
                <a:lnTo>
                  <a:pt x="163440" y="314932"/>
                </a:lnTo>
                <a:lnTo>
                  <a:pt x="221350" y="314932"/>
                </a:lnTo>
                <a:lnTo>
                  <a:pt x="245880" y="304562"/>
                </a:lnTo>
                <a:lnTo>
                  <a:pt x="278975" y="278979"/>
                </a:lnTo>
                <a:lnTo>
                  <a:pt x="299112" y="252930"/>
                </a:lnTo>
                <a:lnTo>
                  <a:pt x="285614" y="252930"/>
                </a:lnTo>
                <a:lnTo>
                  <a:pt x="228814" y="196129"/>
                </a:lnTo>
                <a:close/>
              </a:path>
              <a:path w="327025" h="327025">
                <a:moveTo>
                  <a:pt x="106659" y="73985"/>
                </a:moveTo>
                <a:lnTo>
                  <a:pt x="41297" y="73985"/>
                </a:lnTo>
                <a:lnTo>
                  <a:pt x="130781" y="163444"/>
                </a:lnTo>
                <a:lnTo>
                  <a:pt x="41297" y="252930"/>
                </a:lnTo>
                <a:lnTo>
                  <a:pt x="106659" y="252930"/>
                </a:lnTo>
                <a:lnTo>
                  <a:pt x="163440" y="196129"/>
                </a:lnTo>
                <a:lnTo>
                  <a:pt x="228814" y="196129"/>
                </a:lnTo>
                <a:lnTo>
                  <a:pt x="196130" y="163444"/>
                </a:lnTo>
                <a:lnTo>
                  <a:pt x="228796" y="130786"/>
                </a:lnTo>
                <a:lnTo>
                  <a:pt x="163440" y="130786"/>
                </a:lnTo>
                <a:lnTo>
                  <a:pt x="106659" y="73985"/>
                </a:lnTo>
                <a:close/>
              </a:path>
              <a:path w="327025" h="327025">
                <a:moveTo>
                  <a:pt x="299126" y="73985"/>
                </a:moveTo>
                <a:lnTo>
                  <a:pt x="285614" y="73985"/>
                </a:lnTo>
                <a:lnTo>
                  <a:pt x="297969" y="93844"/>
                </a:lnTo>
                <a:lnTo>
                  <a:pt x="307184" y="115581"/>
                </a:lnTo>
                <a:lnTo>
                  <a:pt x="312943" y="138885"/>
                </a:lnTo>
                <a:lnTo>
                  <a:pt x="314932" y="163444"/>
                </a:lnTo>
                <a:lnTo>
                  <a:pt x="312943" y="188008"/>
                </a:lnTo>
                <a:lnTo>
                  <a:pt x="307184" y="211321"/>
                </a:lnTo>
                <a:lnTo>
                  <a:pt x="297969" y="233067"/>
                </a:lnTo>
                <a:lnTo>
                  <a:pt x="285614" y="252930"/>
                </a:lnTo>
                <a:lnTo>
                  <a:pt x="299112" y="252930"/>
                </a:lnTo>
                <a:lnTo>
                  <a:pt x="304559" y="245884"/>
                </a:lnTo>
                <a:lnTo>
                  <a:pt x="321061" y="206849"/>
                </a:lnTo>
                <a:lnTo>
                  <a:pt x="326911" y="163444"/>
                </a:lnTo>
                <a:lnTo>
                  <a:pt x="321061" y="120041"/>
                </a:lnTo>
                <a:lnTo>
                  <a:pt x="304559" y="81011"/>
                </a:lnTo>
                <a:lnTo>
                  <a:pt x="299126" y="73985"/>
                </a:lnTo>
                <a:close/>
              </a:path>
              <a:path w="327025" h="327025">
                <a:moveTo>
                  <a:pt x="221361" y="11982"/>
                </a:moveTo>
                <a:lnTo>
                  <a:pt x="163440" y="11982"/>
                </a:lnTo>
                <a:lnTo>
                  <a:pt x="188005" y="13972"/>
                </a:lnTo>
                <a:lnTo>
                  <a:pt x="211317" y="19732"/>
                </a:lnTo>
                <a:lnTo>
                  <a:pt x="233062" y="28946"/>
                </a:lnTo>
                <a:lnTo>
                  <a:pt x="252924" y="41301"/>
                </a:lnTo>
                <a:lnTo>
                  <a:pt x="163440" y="130786"/>
                </a:lnTo>
                <a:lnTo>
                  <a:pt x="228796" y="130786"/>
                </a:lnTo>
                <a:lnTo>
                  <a:pt x="285614" y="73985"/>
                </a:lnTo>
                <a:lnTo>
                  <a:pt x="299126" y="73985"/>
                </a:lnTo>
                <a:lnTo>
                  <a:pt x="278975" y="47922"/>
                </a:lnTo>
                <a:lnTo>
                  <a:pt x="245880" y="22345"/>
                </a:lnTo>
                <a:lnTo>
                  <a:pt x="221361" y="11982"/>
                </a:lnTo>
                <a:close/>
              </a:path>
            </a:pathLst>
          </a:custGeom>
          <a:solidFill>
            <a:srgbClr val="008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786437" y="4362402"/>
            <a:ext cx="265584" cy="163053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1006" spc="-10" dirty="0">
                <a:latin typeface="Trebuchet MS"/>
                <a:cs typeface="Trebuchet MS"/>
              </a:rPr>
              <a:t>0.56</a:t>
            </a:r>
            <a:endParaRPr sz="1006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060485" y="4404310"/>
            <a:ext cx="293093" cy="91039"/>
            <a:chOff x="13690703" y="8169644"/>
            <a:chExt cx="568325" cy="176530"/>
          </a:xfrm>
        </p:grpSpPr>
        <p:sp>
          <p:nvSpPr>
            <p:cNvPr id="28" name="object 28"/>
            <p:cNvSpPr/>
            <p:nvPr/>
          </p:nvSpPr>
          <p:spPr>
            <a:xfrm>
              <a:off x="13690703" y="8257600"/>
              <a:ext cx="412750" cy="0"/>
            </a:xfrm>
            <a:custGeom>
              <a:avLst/>
              <a:gdLst/>
              <a:ahLst/>
              <a:cxnLst/>
              <a:rect l="l" t="t" r="r" b="b"/>
              <a:pathLst>
                <a:path w="412750">
                  <a:moveTo>
                    <a:pt x="0" y="0"/>
                  </a:moveTo>
                  <a:lnTo>
                    <a:pt x="391802" y="0"/>
                  </a:lnTo>
                  <a:lnTo>
                    <a:pt x="412744" y="0"/>
                  </a:lnTo>
                </a:path>
              </a:pathLst>
            </a:custGeom>
            <a:ln w="41883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082503" y="8169644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30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8379360" y="3006313"/>
            <a:ext cx="1585977" cy="292111"/>
          </a:xfrm>
          <a:custGeom>
            <a:avLst/>
            <a:gdLst/>
            <a:ahLst/>
            <a:cxnLst/>
            <a:rect l="l" t="t" r="r" b="b"/>
            <a:pathLst>
              <a:path w="3075305" h="566420">
                <a:moveTo>
                  <a:pt x="3074995" y="0"/>
                </a:moveTo>
                <a:lnTo>
                  <a:pt x="660398" y="0"/>
                </a:lnTo>
                <a:lnTo>
                  <a:pt x="0" y="566115"/>
                </a:lnTo>
                <a:lnTo>
                  <a:pt x="2414596" y="566115"/>
                </a:lnTo>
                <a:lnTo>
                  <a:pt x="3074995" y="0"/>
                </a:lnTo>
                <a:close/>
              </a:path>
            </a:pathLst>
          </a:custGeom>
          <a:solidFill>
            <a:srgbClr val="00A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768731" y="3035554"/>
            <a:ext cx="813456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Channel</a:t>
            </a:r>
            <a:r>
              <a:rPr sz="1341" spc="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-26" dirty="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79360" y="3574422"/>
            <a:ext cx="1585977" cy="292111"/>
          </a:xfrm>
          <a:custGeom>
            <a:avLst/>
            <a:gdLst/>
            <a:ahLst/>
            <a:cxnLst/>
            <a:rect l="l" t="t" r="r" b="b"/>
            <a:pathLst>
              <a:path w="3075305" h="566420">
                <a:moveTo>
                  <a:pt x="3074995" y="0"/>
                </a:moveTo>
                <a:lnTo>
                  <a:pt x="660398" y="0"/>
                </a:lnTo>
                <a:lnTo>
                  <a:pt x="0" y="566116"/>
                </a:lnTo>
                <a:lnTo>
                  <a:pt x="2414596" y="566116"/>
                </a:lnTo>
                <a:lnTo>
                  <a:pt x="3074995" y="0"/>
                </a:lnTo>
                <a:close/>
              </a:path>
            </a:pathLst>
          </a:custGeom>
          <a:solidFill>
            <a:srgbClr val="00A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768731" y="3603665"/>
            <a:ext cx="813456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Channel</a:t>
            </a:r>
            <a:r>
              <a:rPr sz="1341" spc="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-26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430428" y="4303693"/>
            <a:ext cx="1585977" cy="292111"/>
          </a:xfrm>
          <a:custGeom>
            <a:avLst/>
            <a:gdLst/>
            <a:ahLst/>
            <a:cxnLst/>
            <a:rect l="l" t="t" r="r" b="b"/>
            <a:pathLst>
              <a:path w="3075305" h="566420">
                <a:moveTo>
                  <a:pt x="3075005" y="0"/>
                </a:moveTo>
                <a:lnTo>
                  <a:pt x="660409" y="0"/>
                </a:lnTo>
                <a:lnTo>
                  <a:pt x="0" y="566115"/>
                </a:lnTo>
                <a:lnTo>
                  <a:pt x="2414596" y="566115"/>
                </a:lnTo>
                <a:lnTo>
                  <a:pt x="3075005" y="0"/>
                </a:lnTo>
                <a:close/>
              </a:path>
            </a:pathLst>
          </a:custGeom>
          <a:solidFill>
            <a:srgbClr val="00A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723815" y="4332934"/>
            <a:ext cx="1005358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Channel</a:t>
            </a:r>
            <a:r>
              <a:rPr sz="1341" spc="157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34" dirty="0">
                <a:solidFill>
                  <a:srgbClr val="FFFFFF"/>
                </a:solidFill>
                <a:latin typeface="Arial MT"/>
                <a:cs typeface="Arial MT"/>
              </a:rPr>
              <a:t>N-</a:t>
            </a:r>
            <a:r>
              <a:rPr sz="1341" spc="1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81625" y="2682214"/>
            <a:ext cx="508574" cy="189430"/>
          </a:xfrm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sz="1186" b="1" spc="-5" dirty="0">
                <a:latin typeface="Arial"/>
                <a:cs typeface="Arial"/>
              </a:rPr>
              <a:t>Weight</a:t>
            </a:r>
            <a:endParaRPr sz="1186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804576" y="2682214"/>
            <a:ext cx="735516" cy="189430"/>
          </a:xfrm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sz="1186" b="1" spc="-5" dirty="0">
                <a:latin typeface="Arial"/>
                <a:cs typeface="Arial"/>
              </a:rPr>
              <a:t>Activation</a:t>
            </a:r>
            <a:endParaRPr sz="1186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913982" y="3482765"/>
            <a:ext cx="540012" cy="397559"/>
          </a:xfrm>
          <a:custGeom>
            <a:avLst/>
            <a:gdLst/>
            <a:ahLst/>
            <a:cxnLst/>
            <a:rect l="l" t="t" r="r" b="b"/>
            <a:pathLst>
              <a:path w="1047115" h="770890">
                <a:moveTo>
                  <a:pt x="499682" y="0"/>
                </a:moveTo>
                <a:lnTo>
                  <a:pt x="499682" y="280859"/>
                </a:lnTo>
                <a:lnTo>
                  <a:pt x="0" y="280859"/>
                </a:lnTo>
                <a:lnTo>
                  <a:pt x="0" y="489845"/>
                </a:lnTo>
                <a:lnTo>
                  <a:pt x="499682" y="489845"/>
                </a:lnTo>
                <a:lnTo>
                  <a:pt x="499682" y="770705"/>
                </a:lnTo>
                <a:lnTo>
                  <a:pt x="1047088" y="385352"/>
                </a:lnTo>
                <a:lnTo>
                  <a:pt x="499682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85998" y="2939955"/>
            <a:ext cx="1331854" cy="397559"/>
          </a:xfrm>
          <a:custGeom>
            <a:avLst/>
            <a:gdLst/>
            <a:ahLst/>
            <a:cxnLst/>
            <a:rect l="l" t="t" r="r" b="b"/>
            <a:pathLst>
              <a:path w="2582545" h="770889">
                <a:moveTo>
                  <a:pt x="2035657" y="269746"/>
                </a:moveTo>
                <a:lnTo>
                  <a:pt x="4179" y="269746"/>
                </a:lnTo>
                <a:lnTo>
                  <a:pt x="0" y="271793"/>
                </a:lnTo>
                <a:lnTo>
                  <a:pt x="0" y="768658"/>
                </a:lnTo>
                <a:lnTo>
                  <a:pt x="4115" y="770705"/>
                </a:lnTo>
                <a:lnTo>
                  <a:pt x="2035657" y="770705"/>
                </a:lnTo>
                <a:lnTo>
                  <a:pt x="2039772" y="768658"/>
                </a:lnTo>
                <a:lnTo>
                  <a:pt x="2039772" y="271793"/>
                </a:lnTo>
                <a:lnTo>
                  <a:pt x="2035657" y="269746"/>
                </a:lnTo>
                <a:close/>
              </a:path>
              <a:path w="2582545" h="770889">
                <a:moveTo>
                  <a:pt x="2576963" y="21603"/>
                </a:moveTo>
                <a:lnTo>
                  <a:pt x="2574761" y="21760"/>
                </a:lnTo>
                <a:lnTo>
                  <a:pt x="2093889" y="260987"/>
                </a:lnTo>
                <a:lnTo>
                  <a:pt x="2091411" y="263994"/>
                </a:lnTo>
                <a:lnTo>
                  <a:pt x="2091412" y="753640"/>
                </a:lnTo>
                <a:lnTo>
                  <a:pt x="2097342" y="754909"/>
                </a:lnTo>
                <a:lnTo>
                  <a:pt x="2579521" y="515031"/>
                </a:lnTo>
                <a:lnTo>
                  <a:pt x="2581990" y="512069"/>
                </a:lnTo>
                <a:lnTo>
                  <a:pt x="2581990" y="23229"/>
                </a:lnTo>
                <a:lnTo>
                  <a:pt x="2580562" y="22350"/>
                </a:lnTo>
                <a:lnTo>
                  <a:pt x="2576963" y="21603"/>
                </a:lnTo>
                <a:close/>
              </a:path>
              <a:path w="2582545" h="770889">
                <a:moveTo>
                  <a:pt x="2537556" y="0"/>
                </a:moveTo>
                <a:lnTo>
                  <a:pt x="519746" y="0"/>
                </a:lnTo>
                <a:lnTo>
                  <a:pt x="513928" y="1259"/>
                </a:lnTo>
                <a:lnTo>
                  <a:pt x="30991" y="241383"/>
                </a:lnTo>
                <a:lnTo>
                  <a:pt x="33331" y="244056"/>
                </a:lnTo>
                <a:lnTo>
                  <a:pt x="2051205" y="244056"/>
                </a:lnTo>
                <a:lnTo>
                  <a:pt x="2057443" y="242824"/>
                </a:lnTo>
                <a:lnTo>
                  <a:pt x="2539896" y="2809"/>
                </a:lnTo>
                <a:lnTo>
                  <a:pt x="2537556" y="0"/>
                </a:lnTo>
                <a:close/>
              </a:path>
            </a:pathLst>
          </a:custGeom>
          <a:solidFill>
            <a:srgbClr val="008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43693" y="3090696"/>
            <a:ext cx="557696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Filter</a:t>
            </a:r>
            <a:r>
              <a:rPr sz="1341" spc="152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-26" dirty="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endParaRPr sz="1341" dirty="0">
              <a:latin typeface="Arial MT"/>
              <a:cs typeface="Arial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85998" y="3423045"/>
            <a:ext cx="1331854" cy="397559"/>
          </a:xfrm>
          <a:custGeom>
            <a:avLst/>
            <a:gdLst/>
            <a:ahLst/>
            <a:cxnLst/>
            <a:rect l="l" t="t" r="r" b="b"/>
            <a:pathLst>
              <a:path w="2582545" h="770890">
                <a:moveTo>
                  <a:pt x="2035657" y="269746"/>
                </a:moveTo>
                <a:lnTo>
                  <a:pt x="4179" y="269746"/>
                </a:lnTo>
                <a:lnTo>
                  <a:pt x="0" y="271793"/>
                </a:lnTo>
                <a:lnTo>
                  <a:pt x="0" y="768658"/>
                </a:lnTo>
                <a:lnTo>
                  <a:pt x="4115" y="770705"/>
                </a:lnTo>
                <a:lnTo>
                  <a:pt x="2035657" y="770705"/>
                </a:lnTo>
                <a:lnTo>
                  <a:pt x="2039772" y="768658"/>
                </a:lnTo>
                <a:lnTo>
                  <a:pt x="2039772" y="271793"/>
                </a:lnTo>
                <a:lnTo>
                  <a:pt x="2035657" y="269746"/>
                </a:lnTo>
                <a:close/>
              </a:path>
              <a:path w="2582545" h="770890">
                <a:moveTo>
                  <a:pt x="2576963" y="21603"/>
                </a:moveTo>
                <a:lnTo>
                  <a:pt x="2574761" y="21760"/>
                </a:lnTo>
                <a:lnTo>
                  <a:pt x="2093889" y="260987"/>
                </a:lnTo>
                <a:lnTo>
                  <a:pt x="2091411" y="263995"/>
                </a:lnTo>
                <a:lnTo>
                  <a:pt x="2091412" y="753641"/>
                </a:lnTo>
                <a:lnTo>
                  <a:pt x="2097342" y="754909"/>
                </a:lnTo>
                <a:lnTo>
                  <a:pt x="2579521" y="515031"/>
                </a:lnTo>
                <a:lnTo>
                  <a:pt x="2581990" y="512069"/>
                </a:lnTo>
                <a:lnTo>
                  <a:pt x="2581990" y="23229"/>
                </a:lnTo>
                <a:lnTo>
                  <a:pt x="2580562" y="22350"/>
                </a:lnTo>
                <a:lnTo>
                  <a:pt x="2576963" y="21603"/>
                </a:lnTo>
                <a:close/>
              </a:path>
              <a:path w="2582545" h="770890">
                <a:moveTo>
                  <a:pt x="2537556" y="0"/>
                </a:moveTo>
                <a:lnTo>
                  <a:pt x="519746" y="0"/>
                </a:lnTo>
                <a:lnTo>
                  <a:pt x="513928" y="1260"/>
                </a:lnTo>
                <a:lnTo>
                  <a:pt x="30991" y="241383"/>
                </a:lnTo>
                <a:lnTo>
                  <a:pt x="33331" y="244056"/>
                </a:lnTo>
                <a:lnTo>
                  <a:pt x="2051205" y="244056"/>
                </a:lnTo>
                <a:lnTo>
                  <a:pt x="2057443" y="242824"/>
                </a:lnTo>
                <a:lnTo>
                  <a:pt x="2539896" y="2809"/>
                </a:lnTo>
                <a:lnTo>
                  <a:pt x="2537556" y="0"/>
                </a:lnTo>
                <a:close/>
              </a:path>
            </a:pathLst>
          </a:custGeom>
          <a:solidFill>
            <a:srgbClr val="008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643693" y="3573786"/>
            <a:ext cx="557696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Filter</a:t>
            </a:r>
            <a:r>
              <a:rPr sz="1341" spc="152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-26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85998" y="5118495"/>
            <a:ext cx="1331854" cy="397559"/>
          </a:xfrm>
          <a:custGeom>
            <a:avLst/>
            <a:gdLst/>
            <a:ahLst/>
            <a:cxnLst/>
            <a:rect l="l" t="t" r="r" b="b"/>
            <a:pathLst>
              <a:path w="2582545" h="770890">
                <a:moveTo>
                  <a:pt x="2035657" y="269747"/>
                </a:moveTo>
                <a:lnTo>
                  <a:pt x="4179" y="269747"/>
                </a:lnTo>
                <a:lnTo>
                  <a:pt x="0" y="271794"/>
                </a:lnTo>
                <a:lnTo>
                  <a:pt x="0" y="768659"/>
                </a:lnTo>
                <a:lnTo>
                  <a:pt x="4115" y="770705"/>
                </a:lnTo>
                <a:lnTo>
                  <a:pt x="2035657" y="770705"/>
                </a:lnTo>
                <a:lnTo>
                  <a:pt x="2039772" y="768659"/>
                </a:lnTo>
                <a:lnTo>
                  <a:pt x="2039772" y="271794"/>
                </a:lnTo>
                <a:lnTo>
                  <a:pt x="2035657" y="269747"/>
                </a:lnTo>
                <a:close/>
              </a:path>
              <a:path w="2582545" h="770890">
                <a:moveTo>
                  <a:pt x="2576963" y="21604"/>
                </a:moveTo>
                <a:lnTo>
                  <a:pt x="2574761" y="21760"/>
                </a:lnTo>
                <a:lnTo>
                  <a:pt x="2093889" y="260988"/>
                </a:lnTo>
                <a:lnTo>
                  <a:pt x="2091411" y="263995"/>
                </a:lnTo>
                <a:lnTo>
                  <a:pt x="2091412" y="753642"/>
                </a:lnTo>
                <a:lnTo>
                  <a:pt x="2097342" y="754910"/>
                </a:lnTo>
                <a:lnTo>
                  <a:pt x="2579521" y="515032"/>
                </a:lnTo>
                <a:lnTo>
                  <a:pt x="2581990" y="512070"/>
                </a:lnTo>
                <a:lnTo>
                  <a:pt x="2581990" y="23229"/>
                </a:lnTo>
                <a:lnTo>
                  <a:pt x="2580562" y="22351"/>
                </a:lnTo>
                <a:lnTo>
                  <a:pt x="2576963" y="21604"/>
                </a:lnTo>
                <a:close/>
              </a:path>
              <a:path w="2582545" h="770890">
                <a:moveTo>
                  <a:pt x="2537556" y="0"/>
                </a:moveTo>
                <a:lnTo>
                  <a:pt x="519746" y="0"/>
                </a:lnTo>
                <a:lnTo>
                  <a:pt x="513928" y="1260"/>
                </a:lnTo>
                <a:lnTo>
                  <a:pt x="30991" y="241384"/>
                </a:lnTo>
                <a:lnTo>
                  <a:pt x="33331" y="244057"/>
                </a:lnTo>
                <a:lnTo>
                  <a:pt x="2051205" y="244057"/>
                </a:lnTo>
                <a:lnTo>
                  <a:pt x="2057443" y="242825"/>
                </a:lnTo>
                <a:lnTo>
                  <a:pt x="2539896" y="2810"/>
                </a:lnTo>
                <a:lnTo>
                  <a:pt x="2537556" y="0"/>
                </a:lnTo>
                <a:close/>
              </a:path>
            </a:pathLst>
          </a:custGeom>
          <a:solidFill>
            <a:srgbClr val="008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44"/>
          <p:cNvGrpSpPr/>
          <p:nvPr/>
        </p:nvGrpSpPr>
        <p:grpSpPr>
          <a:xfrm>
            <a:off x="2228216" y="2977208"/>
            <a:ext cx="778088" cy="2565465"/>
            <a:chOff x="4320645" y="5402407"/>
            <a:chExt cx="1508760" cy="4974590"/>
          </a:xfrm>
        </p:grpSpPr>
        <p:sp>
          <p:nvSpPr>
            <p:cNvPr id="45" name="object 45"/>
            <p:cNvSpPr/>
            <p:nvPr/>
          </p:nvSpPr>
          <p:spPr>
            <a:xfrm>
              <a:off x="4331123" y="5412885"/>
              <a:ext cx="1487805" cy="4953635"/>
            </a:xfrm>
            <a:custGeom>
              <a:avLst/>
              <a:gdLst/>
              <a:ahLst/>
              <a:cxnLst/>
              <a:rect l="l" t="t" r="r" b="b"/>
              <a:pathLst>
                <a:path w="1487804" h="4953634">
                  <a:moveTo>
                    <a:pt x="341014" y="0"/>
                  </a:moveTo>
                  <a:lnTo>
                    <a:pt x="1146184" y="0"/>
                  </a:lnTo>
                  <a:lnTo>
                    <a:pt x="1214045" y="261"/>
                  </a:lnTo>
                  <a:lnTo>
                    <a:pt x="1268771" y="2088"/>
                  </a:lnTo>
                  <a:lnTo>
                    <a:pt x="1312239" y="7050"/>
                  </a:lnTo>
                  <a:lnTo>
                    <a:pt x="1387116" y="36857"/>
                  </a:lnTo>
                  <a:lnTo>
                    <a:pt x="1422169" y="65029"/>
                  </a:lnTo>
                  <a:lnTo>
                    <a:pt x="1450341" y="100082"/>
                  </a:lnTo>
                  <a:lnTo>
                    <a:pt x="1470488" y="140873"/>
                  </a:lnTo>
                  <a:lnTo>
                    <a:pt x="1485110" y="218428"/>
                  </a:lnTo>
                  <a:lnTo>
                    <a:pt x="1486938" y="273154"/>
                  </a:lnTo>
                  <a:lnTo>
                    <a:pt x="1487199" y="341014"/>
                  </a:lnTo>
                  <a:lnTo>
                    <a:pt x="1487199" y="4612283"/>
                  </a:lnTo>
                  <a:lnTo>
                    <a:pt x="1486938" y="4680143"/>
                  </a:lnTo>
                  <a:lnTo>
                    <a:pt x="1485110" y="4734869"/>
                  </a:lnTo>
                  <a:lnTo>
                    <a:pt x="1480149" y="4778337"/>
                  </a:lnTo>
                  <a:lnTo>
                    <a:pt x="1450341" y="4853214"/>
                  </a:lnTo>
                  <a:lnTo>
                    <a:pt x="1422169" y="4888268"/>
                  </a:lnTo>
                  <a:lnTo>
                    <a:pt x="1387116" y="4916440"/>
                  </a:lnTo>
                  <a:lnTo>
                    <a:pt x="1346325" y="4936586"/>
                  </a:lnTo>
                  <a:lnTo>
                    <a:pt x="1268771" y="4951209"/>
                  </a:lnTo>
                  <a:lnTo>
                    <a:pt x="1214045" y="4953037"/>
                  </a:lnTo>
                  <a:lnTo>
                    <a:pt x="1146184" y="4953298"/>
                  </a:lnTo>
                  <a:lnTo>
                    <a:pt x="341014" y="4953298"/>
                  </a:lnTo>
                  <a:lnTo>
                    <a:pt x="273154" y="4953037"/>
                  </a:lnTo>
                  <a:lnTo>
                    <a:pt x="218428" y="4951209"/>
                  </a:lnTo>
                  <a:lnTo>
                    <a:pt x="174960" y="4946248"/>
                  </a:lnTo>
                  <a:lnTo>
                    <a:pt x="100082" y="4916440"/>
                  </a:lnTo>
                  <a:lnTo>
                    <a:pt x="65029" y="4888268"/>
                  </a:lnTo>
                  <a:lnTo>
                    <a:pt x="36857" y="4853214"/>
                  </a:lnTo>
                  <a:lnTo>
                    <a:pt x="16711" y="4812424"/>
                  </a:lnTo>
                  <a:lnTo>
                    <a:pt x="2088" y="4734869"/>
                  </a:lnTo>
                  <a:lnTo>
                    <a:pt x="261" y="4680143"/>
                  </a:lnTo>
                  <a:lnTo>
                    <a:pt x="0" y="4612283"/>
                  </a:lnTo>
                  <a:lnTo>
                    <a:pt x="0" y="341014"/>
                  </a:lnTo>
                  <a:lnTo>
                    <a:pt x="261" y="273154"/>
                  </a:lnTo>
                  <a:lnTo>
                    <a:pt x="2088" y="218428"/>
                  </a:lnTo>
                  <a:lnTo>
                    <a:pt x="7050" y="174960"/>
                  </a:lnTo>
                  <a:lnTo>
                    <a:pt x="36857" y="100082"/>
                  </a:lnTo>
                  <a:lnTo>
                    <a:pt x="65029" y="65029"/>
                  </a:lnTo>
                  <a:lnTo>
                    <a:pt x="100082" y="36857"/>
                  </a:lnTo>
                  <a:lnTo>
                    <a:pt x="140873" y="16711"/>
                  </a:lnTo>
                  <a:lnTo>
                    <a:pt x="218428" y="2088"/>
                  </a:lnTo>
                  <a:lnTo>
                    <a:pt x="273154" y="261"/>
                  </a:lnTo>
                  <a:lnTo>
                    <a:pt x="341014" y="0"/>
                  </a:lnTo>
                  <a:close/>
                </a:path>
              </a:pathLst>
            </a:custGeom>
            <a:ln w="20941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73180" y="5552067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163445" y="0"/>
                  </a:moveTo>
                  <a:lnTo>
                    <a:pt x="120042" y="5847"/>
                  </a:lnTo>
                  <a:lnTo>
                    <a:pt x="81011" y="22345"/>
                  </a:lnTo>
                  <a:lnTo>
                    <a:pt x="47923" y="47923"/>
                  </a:lnTo>
                  <a:lnTo>
                    <a:pt x="22345" y="81011"/>
                  </a:lnTo>
                  <a:lnTo>
                    <a:pt x="5847" y="120042"/>
                  </a:lnTo>
                  <a:lnTo>
                    <a:pt x="0" y="163445"/>
                  </a:lnTo>
                  <a:lnTo>
                    <a:pt x="5847" y="206849"/>
                  </a:lnTo>
                  <a:lnTo>
                    <a:pt x="22345" y="245884"/>
                  </a:lnTo>
                  <a:lnTo>
                    <a:pt x="47923" y="278979"/>
                  </a:lnTo>
                  <a:lnTo>
                    <a:pt x="81011" y="304563"/>
                  </a:lnTo>
                  <a:lnTo>
                    <a:pt x="120042" y="321065"/>
                  </a:lnTo>
                  <a:lnTo>
                    <a:pt x="163445" y="326915"/>
                  </a:lnTo>
                  <a:lnTo>
                    <a:pt x="206849" y="321065"/>
                  </a:lnTo>
                  <a:lnTo>
                    <a:pt x="221357" y="314932"/>
                  </a:lnTo>
                  <a:lnTo>
                    <a:pt x="163445" y="314932"/>
                  </a:lnTo>
                  <a:lnTo>
                    <a:pt x="138885" y="312942"/>
                  </a:lnTo>
                  <a:lnTo>
                    <a:pt x="115581" y="307183"/>
                  </a:lnTo>
                  <a:lnTo>
                    <a:pt x="93844" y="297968"/>
                  </a:lnTo>
                  <a:lnTo>
                    <a:pt x="73985" y="285614"/>
                  </a:lnTo>
                  <a:lnTo>
                    <a:pt x="106659" y="252930"/>
                  </a:lnTo>
                  <a:lnTo>
                    <a:pt x="41301" y="252930"/>
                  </a:lnTo>
                  <a:lnTo>
                    <a:pt x="28947" y="233067"/>
                  </a:lnTo>
                  <a:lnTo>
                    <a:pt x="19732" y="211321"/>
                  </a:lnTo>
                  <a:lnTo>
                    <a:pt x="13972" y="188008"/>
                  </a:lnTo>
                  <a:lnTo>
                    <a:pt x="11982" y="163445"/>
                  </a:lnTo>
                  <a:lnTo>
                    <a:pt x="13972" y="138885"/>
                  </a:lnTo>
                  <a:lnTo>
                    <a:pt x="19732" y="115581"/>
                  </a:lnTo>
                  <a:lnTo>
                    <a:pt x="28947" y="93844"/>
                  </a:lnTo>
                  <a:lnTo>
                    <a:pt x="41301" y="73985"/>
                  </a:lnTo>
                  <a:lnTo>
                    <a:pt x="106659" y="73985"/>
                  </a:lnTo>
                  <a:lnTo>
                    <a:pt x="73985" y="41301"/>
                  </a:lnTo>
                  <a:lnTo>
                    <a:pt x="93844" y="28946"/>
                  </a:lnTo>
                  <a:lnTo>
                    <a:pt x="115581" y="19732"/>
                  </a:lnTo>
                  <a:lnTo>
                    <a:pt x="138885" y="13972"/>
                  </a:lnTo>
                  <a:lnTo>
                    <a:pt x="163445" y="11982"/>
                  </a:lnTo>
                  <a:lnTo>
                    <a:pt x="221366" y="11982"/>
                  </a:lnTo>
                  <a:lnTo>
                    <a:pt x="206850" y="5847"/>
                  </a:lnTo>
                  <a:lnTo>
                    <a:pt x="163445" y="0"/>
                  </a:lnTo>
                  <a:close/>
                </a:path>
                <a:path w="327025" h="327025">
                  <a:moveTo>
                    <a:pt x="228812" y="196129"/>
                  </a:moveTo>
                  <a:lnTo>
                    <a:pt x="163445" y="196129"/>
                  </a:lnTo>
                  <a:lnTo>
                    <a:pt x="252930" y="285614"/>
                  </a:lnTo>
                  <a:lnTo>
                    <a:pt x="233067" y="297968"/>
                  </a:lnTo>
                  <a:lnTo>
                    <a:pt x="211321" y="307183"/>
                  </a:lnTo>
                  <a:lnTo>
                    <a:pt x="188008" y="312942"/>
                  </a:lnTo>
                  <a:lnTo>
                    <a:pt x="163445" y="314932"/>
                  </a:lnTo>
                  <a:lnTo>
                    <a:pt x="221357" y="314932"/>
                  </a:lnTo>
                  <a:lnTo>
                    <a:pt x="245884" y="304563"/>
                  </a:lnTo>
                  <a:lnTo>
                    <a:pt x="278979" y="278979"/>
                  </a:lnTo>
                  <a:lnTo>
                    <a:pt x="299117" y="252930"/>
                  </a:lnTo>
                  <a:lnTo>
                    <a:pt x="285614" y="252930"/>
                  </a:lnTo>
                  <a:lnTo>
                    <a:pt x="228812" y="196129"/>
                  </a:lnTo>
                  <a:close/>
                </a:path>
                <a:path w="327025" h="327025">
                  <a:moveTo>
                    <a:pt x="106659" y="73985"/>
                  </a:moveTo>
                  <a:lnTo>
                    <a:pt x="41301" y="73985"/>
                  </a:lnTo>
                  <a:lnTo>
                    <a:pt x="130786" y="163445"/>
                  </a:lnTo>
                  <a:lnTo>
                    <a:pt x="41301" y="252930"/>
                  </a:lnTo>
                  <a:lnTo>
                    <a:pt x="106659" y="252930"/>
                  </a:lnTo>
                  <a:lnTo>
                    <a:pt x="163445" y="196129"/>
                  </a:lnTo>
                  <a:lnTo>
                    <a:pt x="228812" y="196129"/>
                  </a:lnTo>
                  <a:lnTo>
                    <a:pt x="196129" y="163445"/>
                  </a:lnTo>
                  <a:lnTo>
                    <a:pt x="228796" y="130786"/>
                  </a:lnTo>
                  <a:lnTo>
                    <a:pt x="163445" y="130786"/>
                  </a:lnTo>
                  <a:lnTo>
                    <a:pt x="106659" y="73985"/>
                  </a:lnTo>
                  <a:close/>
                </a:path>
                <a:path w="327025" h="327025">
                  <a:moveTo>
                    <a:pt x="299131" y="73985"/>
                  </a:moveTo>
                  <a:lnTo>
                    <a:pt x="285614" y="73985"/>
                  </a:lnTo>
                  <a:lnTo>
                    <a:pt x="297969" y="93844"/>
                  </a:lnTo>
                  <a:lnTo>
                    <a:pt x="307183" y="115581"/>
                  </a:lnTo>
                  <a:lnTo>
                    <a:pt x="312943" y="138885"/>
                  </a:lnTo>
                  <a:lnTo>
                    <a:pt x="314932" y="163445"/>
                  </a:lnTo>
                  <a:lnTo>
                    <a:pt x="312943" y="188008"/>
                  </a:lnTo>
                  <a:lnTo>
                    <a:pt x="307183" y="211321"/>
                  </a:lnTo>
                  <a:lnTo>
                    <a:pt x="297969" y="233067"/>
                  </a:lnTo>
                  <a:lnTo>
                    <a:pt x="285614" y="252930"/>
                  </a:lnTo>
                  <a:lnTo>
                    <a:pt x="299117" y="252930"/>
                  </a:lnTo>
                  <a:lnTo>
                    <a:pt x="304563" y="245884"/>
                  </a:lnTo>
                  <a:lnTo>
                    <a:pt x="321065" y="206849"/>
                  </a:lnTo>
                  <a:lnTo>
                    <a:pt x="326915" y="163445"/>
                  </a:lnTo>
                  <a:lnTo>
                    <a:pt x="321065" y="120042"/>
                  </a:lnTo>
                  <a:lnTo>
                    <a:pt x="304563" y="81011"/>
                  </a:lnTo>
                  <a:lnTo>
                    <a:pt x="299131" y="73985"/>
                  </a:lnTo>
                  <a:close/>
                </a:path>
                <a:path w="327025" h="327025">
                  <a:moveTo>
                    <a:pt x="221366" y="11982"/>
                  </a:moveTo>
                  <a:lnTo>
                    <a:pt x="163445" y="11982"/>
                  </a:lnTo>
                  <a:lnTo>
                    <a:pt x="188010" y="13972"/>
                  </a:lnTo>
                  <a:lnTo>
                    <a:pt x="211321" y="19732"/>
                  </a:lnTo>
                  <a:lnTo>
                    <a:pt x="233067" y="28946"/>
                  </a:lnTo>
                  <a:lnTo>
                    <a:pt x="252930" y="41301"/>
                  </a:lnTo>
                  <a:lnTo>
                    <a:pt x="163445" y="130786"/>
                  </a:lnTo>
                  <a:lnTo>
                    <a:pt x="228796" y="130786"/>
                  </a:lnTo>
                  <a:lnTo>
                    <a:pt x="285614" y="73985"/>
                  </a:lnTo>
                  <a:lnTo>
                    <a:pt x="299131" y="73985"/>
                  </a:lnTo>
                  <a:lnTo>
                    <a:pt x="278980" y="47923"/>
                  </a:lnTo>
                  <a:lnTo>
                    <a:pt x="245885" y="22345"/>
                  </a:lnTo>
                  <a:lnTo>
                    <a:pt x="221366" y="11982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73168" y="6488817"/>
              <a:ext cx="327025" cy="1263650"/>
            </a:xfrm>
            <a:custGeom>
              <a:avLst/>
              <a:gdLst/>
              <a:ahLst/>
              <a:cxnLst/>
              <a:rect l="l" t="t" r="r" b="b"/>
              <a:pathLst>
                <a:path w="327025" h="1263650">
                  <a:moveTo>
                    <a:pt x="326923" y="1100188"/>
                  </a:moveTo>
                  <a:lnTo>
                    <a:pt x="321068" y="1056779"/>
                  </a:lnTo>
                  <a:lnTo>
                    <a:pt x="314934" y="1042276"/>
                  </a:lnTo>
                  <a:lnTo>
                    <a:pt x="314934" y="1100188"/>
                  </a:lnTo>
                  <a:lnTo>
                    <a:pt x="312953" y="1124750"/>
                  </a:lnTo>
                  <a:lnTo>
                    <a:pt x="307187" y="1148054"/>
                  </a:lnTo>
                  <a:lnTo>
                    <a:pt x="297980" y="1169809"/>
                  </a:lnTo>
                  <a:lnTo>
                    <a:pt x="285623" y="1189672"/>
                  </a:lnTo>
                  <a:lnTo>
                    <a:pt x="252933" y="1156982"/>
                  </a:lnTo>
                  <a:lnTo>
                    <a:pt x="252933" y="1222349"/>
                  </a:lnTo>
                  <a:lnTo>
                    <a:pt x="233070" y="1234706"/>
                  </a:lnTo>
                  <a:lnTo>
                    <a:pt x="211328" y="1243926"/>
                  </a:lnTo>
                  <a:lnTo>
                    <a:pt x="188010" y="1249680"/>
                  </a:lnTo>
                  <a:lnTo>
                    <a:pt x="163449" y="1251673"/>
                  </a:lnTo>
                  <a:lnTo>
                    <a:pt x="138887" y="1249680"/>
                  </a:lnTo>
                  <a:lnTo>
                    <a:pt x="115582" y="1243926"/>
                  </a:lnTo>
                  <a:lnTo>
                    <a:pt x="93853" y="1234706"/>
                  </a:lnTo>
                  <a:lnTo>
                    <a:pt x="73990" y="1222349"/>
                  </a:lnTo>
                  <a:lnTo>
                    <a:pt x="106667" y="1189672"/>
                  </a:lnTo>
                  <a:lnTo>
                    <a:pt x="163449" y="1132865"/>
                  </a:lnTo>
                  <a:lnTo>
                    <a:pt x="252933" y="1222349"/>
                  </a:lnTo>
                  <a:lnTo>
                    <a:pt x="252933" y="1156982"/>
                  </a:lnTo>
                  <a:lnTo>
                    <a:pt x="228815" y="1132865"/>
                  </a:lnTo>
                  <a:lnTo>
                    <a:pt x="196138" y="1100188"/>
                  </a:lnTo>
                  <a:lnTo>
                    <a:pt x="228803" y="1067523"/>
                  </a:lnTo>
                  <a:lnTo>
                    <a:pt x="285623" y="1010716"/>
                  </a:lnTo>
                  <a:lnTo>
                    <a:pt x="297980" y="1030579"/>
                  </a:lnTo>
                  <a:lnTo>
                    <a:pt x="307187" y="1052322"/>
                  </a:lnTo>
                  <a:lnTo>
                    <a:pt x="312953" y="1075626"/>
                  </a:lnTo>
                  <a:lnTo>
                    <a:pt x="314934" y="1100188"/>
                  </a:lnTo>
                  <a:lnTo>
                    <a:pt x="314934" y="1042276"/>
                  </a:lnTo>
                  <a:lnTo>
                    <a:pt x="304571" y="1017752"/>
                  </a:lnTo>
                  <a:lnTo>
                    <a:pt x="299135" y="1010716"/>
                  </a:lnTo>
                  <a:lnTo>
                    <a:pt x="278980" y="984656"/>
                  </a:lnTo>
                  <a:lnTo>
                    <a:pt x="252933" y="964526"/>
                  </a:lnTo>
                  <a:lnTo>
                    <a:pt x="252933" y="978039"/>
                  </a:lnTo>
                  <a:lnTo>
                    <a:pt x="163449" y="1067523"/>
                  </a:lnTo>
                  <a:lnTo>
                    <a:pt x="130797" y="1034859"/>
                  </a:lnTo>
                  <a:lnTo>
                    <a:pt x="130797" y="1100188"/>
                  </a:lnTo>
                  <a:lnTo>
                    <a:pt x="41313" y="1189672"/>
                  </a:lnTo>
                  <a:lnTo>
                    <a:pt x="28956" y="1169809"/>
                  </a:lnTo>
                  <a:lnTo>
                    <a:pt x="19735" y="1148054"/>
                  </a:lnTo>
                  <a:lnTo>
                    <a:pt x="13982" y="1124750"/>
                  </a:lnTo>
                  <a:lnTo>
                    <a:pt x="11988" y="1100188"/>
                  </a:lnTo>
                  <a:lnTo>
                    <a:pt x="13982" y="1075626"/>
                  </a:lnTo>
                  <a:lnTo>
                    <a:pt x="19735" y="1052322"/>
                  </a:lnTo>
                  <a:lnTo>
                    <a:pt x="28956" y="1030579"/>
                  </a:lnTo>
                  <a:lnTo>
                    <a:pt x="41313" y="1010716"/>
                  </a:lnTo>
                  <a:lnTo>
                    <a:pt x="130797" y="1100188"/>
                  </a:lnTo>
                  <a:lnTo>
                    <a:pt x="130797" y="1034859"/>
                  </a:lnTo>
                  <a:lnTo>
                    <a:pt x="106667" y="1010716"/>
                  </a:lnTo>
                  <a:lnTo>
                    <a:pt x="73990" y="978039"/>
                  </a:lnTo>
                  <a:lnTo>
                    <a:pt x="93853" y="965682"/>
                  </a:lnTo>
                  <a:lnTo>
                    <a:pt x="115582" y="956475"/>
                  </a:lnTo>
                  <a:lnTo>
                    <a:pt x="138887" y="950709"/>
                  </a:lnTo>
                  <a:lnTo>
                    <a:pt x="163449" y="948715"/>
                  </a:lnTo>
                  <a:lnTo>
                    <a:pt x="188010" y="950709"/>
                  </a:lnTo>
                  <a:lnTo>
                    <a:pt x="211328" y="956475"/>
                  </a:lnTo>
                  <a:lnTo>
                    <a:pt x="233070" y="965682"/>
                  </a:lnTo>
                  <a:lnTo>
                    <a:pt x="252933" y="978039"/>
                  </a:lnTo>
                  <a:lnTo>
                    <a:pt x="252933" y="964526"/>
                  </a:lnTo>
                  <a:lnTo>
                    <a:pt x="245897" y="959078"/>
                  </a:lnTo>
                  <a:lnTo>
                    <a:pt x="221373" y="948715"/>
                  </a:lnTo>
                  <a:lnTo>
                    <a:pt x="206857" y="942581"/>
                  </a:lnTo>
                  <a:lnTo>
                    <a:pt x="163449" y="936739"/>
                  </a:lnTo>
                  <a:lnTo>
                    <a:pt x="120053" y="942581"/>
                  </a:lnTo>
                  <a:lnTo>
                    <a:pt x="81013" y="959078"/>
                  </a:lnTo>
                  <a:lnTo>
                    <a:pt x="47929" y="984656"/>
                  </a:lnTo>
                  <a:lnTo>
                    <a:pt x="22352" y="1017752"/>
                  </a:lnTo>
                  <a:lnTo>
                    <a:pt x="5854" y="1056779"/>
                  </a:lnTo>
                  <a:lnTo>
                    <a:pt x="0" y="1100188"/>
                  </a:lnTo>
                  <a:lnTo>
                    <a:pt x="5854" y="1143584"/>
                  </a:lnTo>
                  <a:lnTo>
                    <a:pt x="22352" y="1182624"/>
                  </a:lnTo>
                  <a:lnTo>
                    <a:pt x="47929" y="1215720"/>
                  </a:lnTo>
                  <a:lnTo>
                    <a:pt x="81013" y="1241298"/>
                  </a:lnTo>
                  <a:lnTo>
                    <a:pt x="120053" y="1257808"/>
                  </a:lnTo>
                  <a:lnTo>
                    <a:pt x="163449" y="1263650"/>
                  </a:lnTo>
                  <a:lnTo>
                    <a:pt x="206857" y="1257808"/>
                  </a:lnTo>
                  <a:lnTo>
                    <a:pt x="221361" y="1251673"/>
                  </a:lnTo>
                  <a:lnTo>
                    <a:pt x="245897" y="1241298"/>
                  </a:lnTo>
                  <a:lnTo>
                    <a:pt x="278980" y="1215720"/>
                  </a:lnTo>
                  <a:lnTo>
                    <a:pt x="299123" y="1189672"/>
                  </a:lnTo>
                  <a:lnTo>
                    <a:pt x="304571" y="1182624"/>
                  </a:lnTo>
                  <a:lnTo>
                    <a:pt x="321068" y="1143584"/>
                  </a:lnTo>
                  <a:lnTo>
                    <a:pt x="326923" y="1100188"/>
                  </a:lnTo>
                  <a:close/>
                </a:path>
                <a:path w="327025" h="1263650">
                  <a:moveTo>
                    <a:pt x="326923" y="163436"/>
                  </a:moveTo>
                  <a:lnTo>
                    <a:pt x="321068" y="120040"/>
                  </a:lnTo>
                  <a:lnTo>
                    <a:pt x="314934" y="105537"/>
                  </a:lnTo>
                  <a:lnTo>
                    <a:pt x="314934" y="163436"/>
                  </a:lnTo>
                  <a:lnTo>
                    <a:pt x="312953" y="188010"/>
                  </a:lnTo>
                  <a:lnTo>
                    <a:pt x="307187" y="211315"/>
                  </a:lnTo>
                  <a:lnTo>
                    <a:pt x="297980" y="233070"/>
                  </a:lnTo>
                  <a:lnTo>
                    <a:pt x="285623" y="252933"/>
                  </a:lnTo>
                  <a:lnTo>
                    <a:pt x="252933" y="220243"/>
                  </a:lnTo>
                  <a:lnTo>
                    <a:pt x="252933" y="285610"/>
                  </a:lnTo>
                  <a:lnTo>
                    <a:pt x="233070" y="297967"/>
                  </a:lnTo>
                  <a:lnTo>
                    <a:pt x="211328" y="307174"/>
                  </a:lnTo>
                  <a:lnTo>
                    <a:pt x="188010" y="312940"/>
                  </a:lnTo>
                  <a:lnTo>
                    <a:pt x="163449" y="314934"/>
                  </a:lnTo>
                  <a:lnTo>
                    <a:pt x="138887" y="312940"/>
                  </a:lnTo>
                  <a:lnTo>
                    <a:pt x="115582" y="307174"/>
                  </a:lnTo>
                  <a:lnTo>
                    <a:pt x="93853" y="297967"/>
                  </a:lnTo>
                  <a:lnTo>
                    <a:pt x="73990" y="285610"/>
                  </a:lnTo>
                  <a:lnTo>
                    <a:pt x="106667" y="252933"/>
                  </a:lnTo>
                  <a:lnTo>
                    <a:pt x="163449" y="196126"/>
                  </a:lnTo>
                  <a:lnTo>
                    <a:pt x="252933" y="285610"/>
                  </a:lnTo>
                  <a:lnTo>
                    <a:pt x="252933" y="220243"/>
                  </a:lnTo>
                  <a:lnTo>
                    <a:pt x="228815" y="196126"/>
                  </a:lnTo>
                  <a:lnTo>
                    <a:pt x="196138" y="163436"/>
                  </a:lnTo>
                  <a:lnTo>
                    <a:pt x="228803" y="130784"/>
                  </a:lnTo>
                  <a:lnTo>
                    <a:pt x="285623" y="73977"/>
                  </a:lnTo>
                  <a:lnTo>
                    <a:pt x="297980" y="93840"/>
                  </a:lnTo>
                  <a:lnTo>
                    <a:pt x="307187" y="115582"/>
                  </a:lnTo>
                  <a:lnTo>
                    <a:pt x="312953" y="138887"/>
                  </a:lnTo>
                  <a:lnTo>
                    <a:pt x="314934" y="163436"/>
                  </a:lnTo>
                  <a:lnTo>
                    <a:pt x="314934" y="105537"/>
                  </a:lnTo>
                  <a:lnTo>
                    <a:pt x="304571" y="81013"/>
                  </a:lnTo>
                  <a:lnTo>
                    <a:pt x="299135" y="73977"/>
                  </a:lnTo>
                  <a:lnTo>
                    <a:pt x="278980" y="47917"/>
                  </a:lnTo>
                  <a:lnTo>
                    <a:pt x="252933" y="27787"/>
                  </a:lnTo>
                  <a:lnTo>
                    <a:pt x="252933" y="41300"/>
                  </a:lnTo>
                  <a:lnTo>
                    <a:pt x="163449" y="130784"/>
                  </a:lnTo>
                  <a:lnTo>
                    <a:pt x="130797" y="98120"/>
                  </a:lnTo>
                  <a:lnTo>
                    <a:pt x="130797" y="163436"/>
                  </a:lnTo>
                  <a:lnTo>
                    <a:pt x="41313" y="252933"/>
                  </a:lnTo>
                  <a:lnTo>
                    <a:pt x="28956" y="233070"/>
                  </a:lnTo>
                  <a:lnTo>
                    <a:pt x="19735" y="211315"/>
                  </a:lnTo>
                  <a:lnTo>
                    <a:pt x="13982" y="188010"/>
                  </a:lnTo>
                  <a:lnTo>
                    <a:pt x="11988" y="163436"/>
                  </a:lnTo>
                  <a:lnTo>
                    <a:pt x="13982" y="138887"/>
                  </a:lnTo>
                  <a:lnTo>
                    <a:pt x="19735" y="115582"/>
                  </a:lnTo>
                  <a:lnTo>
                    <a:pt x="28956" y="93840"/>
                  </a:lnTo>
                  <a:lnTo>
                    <a:pt x="41313" y="73977"/>
                  </a:lnTo>
                  <a:lnTo>
                    <a:pt x="130797" y="163436"/>
                  </a:lnTo>
                  <a:lnTo>
                    <a:pt x="130797" y="98120"/>
                  </a:lnTo>
                  <a:lnTo>
                    <a:pt x="106667" y="73977"/>
                  </a:lnTo>
                  <a:lnTo>
                    <a:pt x="73990" y="41300"/>
                  </a:lnTo>
                  <a:lnTo>
                    <a:pt x="93853" y="28943"/>
                  </a:lnTo>
                  <a:lnTo>
                    <a:pt x="115582" y="19723"/>
                  </a:lnTo>
                  <a:lnTo>
                    <a:pt x="138887" y="13970"/>
                  </a:lnTo>
                  <a:lnTo>
                    <a:pt x="163449" y="11976"/>
                  </a:lnTo>
                  <a:lnTo>
                    <a:pt x="188010" y="13970"/>
                  </a:lnTo>
                  <a:lnTo>
                    <a:pt x="211328" y="19723"/>
                  </a:lnTo>
                  <a:lnTo>
                    <a:pt x="233070" y="28943"/>
                  </a:lnTo>
                  <a:lnTo>
                    <a:pt x="252933" y="41300"/>
                  </a:lnTo>
                  <a:lnTo>
                    <a:pt x="252933" y="27787"/>
                  </a:lnTo>
                  <a:lnTo>
                    <a:pt x="245897" y="22339"/>
                  </a:lnTo>
                  <a:lnTo>
                    <a:pt x="221373" y="11976"/>
                  </a:lnTo>
                  <a:lnTo>
                    <a:pt x="206857" y="5842"/>
                  </a:lnTo>
                  <a:lnTo>
                    <a:pt x="163449" y="0"/>
                  </a:lnTo>
                  <a:lnTo>
                    <a:pt x="120053" y="5842"/>
                  </a:lnTo>
                  <a:lnTo>
                    <a:pt x="81013" y="22339"/>
                  </a:lnTo>
                  <a:lnTo>
                    <a:pt x="47929" y="47917"/>
                  </a:lnTo>
                  <a:lnTo>
                    <a:pt x="22352" y="81013"/>
                  </a:lnTo>
                  <a:lnTo>
                    <a:pt x="5854" y="120040"/>
                  </a:lnTo>
                  <a:lnTo>
                    <a:pt x="0" y="163436"/>
                  </a:lnTo>
                  <a:lnTo>
                    <a:pt x="5854" y="206844"/>
                  </a:lnTo>
                  <a:lnTo>
                    <a:pt x="22352" y="245884"/>
                  </a:lnTo>
                  <a:lnTo>
                    <a:pt x="47929" y="278980"/>
                  </a:lnTo>
                  <a:lnTo>
                    <a:pt x="81013" y="304558"/>
                  </a:lnTo>
                  <a:lnTo>
                    <a:pt x="120053" y="321068"/>
                  </a:lnTo>
                  <a:lnTo>
                    <a:pt x="163449" y="326910"/>
                  </a:lnTo>
                  <a:lnTo>
                    <a:pt x="206857" y="321068"/>
                  </a:lnTo>
                  <a:lnTo>
                    <a:pt x="221361" y="314934"/>
                  </a:lnTo>
                  <a:lnTo>
                    <a:pt x="245897" y="304558"/>
                  </a:lnTo>
                  <a:lnTo>
                    <a:pt x="278980" y="278980"/>
                  </a:lnTo>
                  <a:lnTo>
                    <a:pt x="299123" y="252933"/>
                  </a:lnTo>
                  <a:lnTo>
                    <a:pt x="304571" y="245884"/>
                  </a:lnTo>
                  <a:lnTo>
                    <a:pt x="321068" y="206844"/>
                  </a:lnTo>
                  <a:lnTo>
                    <a:pt x="326923" y="163436"/>
                  </a:lnTo>
                  <a:close/>
                </a:path>
              </a:pathLst>
            </a:custGeom>
            <a:solidFill>
              <a:srgbClr val="DDB0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73180" y="8362289"/>
              <a:ext cx="327025" cy="327025"/>
            </a:xfrm>
            <a:custGeom>
              <a:avLst/>
              <a:gdLst/>
              <a:ahLst/>
              <a:cxnLst/>
              <a:rect l="l" t="t" r="r" b="b"/>
              <a:pathLst>
                <a:path w="327025" h="327025">
                  <a:moveTo>
                    <a:pt x="163445" y="0"/>
                  </a:moveTo>
                  <a:lnTo>
                    <a:pt x="120042" y="5847"/>
                  </a:lnTo>
                  <a:lnTo>
                    <a:pt x="81011" y="22345"/>
                  </a:lnTo>
                  <a:lnTo>
                    <a:pt x="47923" y="47922"/>
                  </a:lnTo>
                  <a:lnTo>
                    <a:pt x="22345" y="81010"/>
                  </a:lnTo>
                  <a:lnTo>
                    <a:pt x="5847" y="120041"/>
                  </a:lnTo>
                  <a:lnTo>
                    <a:pt x="0" y="163444"/>
                  </a:lnTo>
                  <a:lnTo>
                    <a:pt x="5847" y="206849"/>
                  </a:lnTo>
                  <a:lnTo>
                    <a:pt x="22345" y="245884"/>
                  </a:lnTo>
                  <a:lnTo>
                    <a:pt x="47923" y="278979"/>
                  </a:lnTo>
                  <a:lnTo>
                    <a:pt x="81011" y="304562"/>
                  </a:lnTo>
                  <a:lnTo>
                    <a:pt x="120042" y="321064"/>
                  </a:lnTo>
                  <a:lnTo>
                    <a:pt x="163445" y="326914"/>
                  </a:lnTo>
                  <a:lnTo>
                    <a:pt x="206849" y="321064"/>
                  </a:lnTo>
                  <a:lnTo>
                    <a:pt x="221357" y="314931"/>
                  </a:lnTo>
                  <a:lnTo>
                    <a:pt x="163445" y="314931"/>
                  </a:lnTo>
                  <a:lnTo>
                    <a:pt x="138885" y="312942"/>
                  </a:lnTo>
                  <a:lnTo>
                    <a:pt x="115581" y="307182"/>
                  </a:lnTo>
                  <a:lnTo>
                    <a:pt x="93844" y="297968"/>
                  </a:lnTo>
                  <a:lnTo>
                    <a:pt x="73985" y="285613"/>
                  </a:lnTo>
                  <a:lnTo>
                    <a:pt x="106659" y="252929"/>
                  </a:lnTo>
                  <a:lnTo>
                    <a:pt x="41301" y="252929"/>
                  </a:lnTo>
                  <a:lnTo>
                    <a:pt x="28947" y="233066"/>
                  </a:lnTo>
                  <a:lnTo>
                    <a:pt x="19732" y="211320"/>
                  </a:lnTo>
                  <a:lnTo>
                    <a:pt x="13972" y="188007"/>
                  </a:lnTo>
                  <a:lnTo>
                    <a:pt x="11982" y="163444"/>
                  </a:lnTo>
                  <a:lnTo>
                    <a:pt x="13972" y="138884"/>
                  </a:lnTo>
                  <a:lnTo>
                    <a:pt x="19732" y="115580"/>
                  </a:lnTo>
                  <a:lnTo>
                    <a:pt x="28947" y="93843"/>
                  </a:lnTo>
                  <a:lnTo>
                    <a:pt x="41301" y="73984"/>
                  </a:lnTo>
                  <a:lnTo>
                    <a:pt x="106659" y="73984"/>
                  </a:lnTo>
                  <a:lnTo>
                    <a:pt x="73985" y="41300"/>
                  </a:lnTo>
                  <a:lnTo>
                    <a:pt x="93844" y="28945"/>
                  </a:lnTo>
                  <a:lnTo>
                    <a:pt x="115581" y="19731"/>
                  </a:lnTo>
                  <a:lnTo>
                    <a:pt x="138885" y="13971"/>
                  </a:lnTo>
                  <a:lnTo>
                    <a:pt x="163445" y="11981"/>
                  </a:lnTo>
                  <a:lnTo>
                    <a:pt x="221364" y="11981"/>
                  </a:lnTo>
                  <a:lnTo>
                    <a:pt x="206850" y="5847"/>
                  </a:lnTo>
                  <a:lnTo>
                    <a:pt x="163445" y="0"/>
                  </a:lnTo>
                  <a:close/>
                </a:path>
                <a:path w="327025" h="327025">
                  <a:moveTo>
                    <a:pt x="228812" y="196128"/>
                  </a:moveTo>
                  <a:lnTo>
                    <a:pt x="163445" y="196128"/>
                  </a:lnTo>
                  <a:lnTo>
                    <a:pt x="252930" y="285613"/>
                  </a:lnTo>
                  <a:lnTo>
                    <a:pt x="233067" y="297968"/>
                  </a:lnTo>
                  <a:lnTo>
                    <a:pt x="211321" y="307182"/>
                  </a:lnTo>
                  <a:lnTo>
                    <a:pt x="188008" y="312942"/>
                  </a:lnTo>
                  <a:lnTo>
                    <a:pt x="163445" y="314931"/>
                  </a:lnTo>
                  <a:lnTo>
                    <a:pt x="221357" y="314931"/>
                  </a:lnTo>
                  <a:lnTo>
                    <a:pt x="245884" y="304562"/>
                  </a:lnTo>
                  <a:lnTo>
                    <a:pt x="278979" y="278979"/>
                  </a:lnTo>
                  <a:lnTo>
                    <a:pt x="299117" y="252929"/>
                  </a:lnTo>
                  <a:lnTo>
                    <a:pt x="285614" y="252929"/>
                  </a:lnTo>
                  <a:lnTo>
                    <a:pt x="228812" y="196128"/>
                  </a:lnTo>
                  <a:close/>
                </a:path>
                <a:path w="327025" h="327025">
                  <a:moveTo>
                    <a:pt x="106659" y="73984"/>
                  </a:moveTo>
                  <a:lnTo>
                    <a:pt x="41301" y="73984"/>
                  </a:lnTo>
                  <a:lnTo>
                    <a:pt x="130786" y="163444"/>
                  </a:lnTo>
                  <a:lnTo>
                    <a:pt x="41301" y="252929"/>
                  </a:lnTo>
                  <a:lnTo>
                    <a:pt x="106659" y="252929"/>
                  </a:lnTo>
                  <a:lnTo>
                    <a:pt x="163445" y="196128"/>
                  </a:lnTo>
                  <a:lnTo>
                    <a:pt x="228812" y="196128"/>
                  </a:lnTo>
                  <a:lnTo>
                    <a:pt x="196129" y="163444"/>
                  </a:lnTo>
                  <a:lnTo>
                    <a:pt x="228796" y="130785"/>
                  </a:lnTo>
                  <a:lnTo>
                    <a:pt x="163445" y="130785"/>
                  </a:lnTo>
                  <a:lnTo>
                    <a:pt x="106659" y="73984"/>
                  </a:lnTo>
                  <a:close/>
                </a:path>
                <a:path w="327025" h="327025">
                  <a:moveTo>
                    <a:pt x="299130" y="73984"/>
                  </a:moveTo>
                  <a:lnTo>
                    <a:pt x="285614" y="73984"/>
                  </a:lnTo>
                  <a:lnTo>
                    <a:pt x="297969" y="93843"/>
                  </a:lnTo>
                  <a:lnTo>
                    <a:pt x="307183" y="115580"/>
                  </a:lnTo>
                  <a:lnTo>
                    <a:pt x="312943" y="138884"/>
                  </a:lnTo>
                  <a:lnTo>
                    <a:pt x="314932" y="163444"/>
                  </a:lnTo>
                  <a:lnTo>
                    <a:pt x="312943" y="188007"/>
                  </a:lnTo>
                  <a:lnTo>
                    <a:pt x="307183" y="211320"/>
                  </a:lnTo>
                  <a:lnTo>
                    <a:pt x="297969" y="233066"/>
                  </a:lnTo>
                  <a:lnTo>
                    <a:pt x="285614" y="252929"/>
                  </a:lnTo>
                  <a:lnTo>
                    <a:pt x="299117" y="252929"/>
                  </a:lnTo>
                  <a:lnTo>
                    <a:pt x="304563" y="245884"/>
                  </a:lnTo>
                  <a:lnTo>
                    <a:pt x="321065" y="206849"/>
                  </a:lnTo>
                  <a:lnTo>
                    <a:pt x="326915" y="163444"/>
                  </a:lnTo>
                  <a:lnTo>
                    <a:pt x="321065" y="120041"/>
                  </a:lnTo>
                  <a:lnTo>
                    <a:pt x="304563" y="81010"/>
                  </a:lnTo>
                  <a:lnTo>
                    <a:pt x="299130" y="73984"/>
                  </a:lnTo>
                  <a:close/>
                </a:path>
                <a:path w="327025" h="327025">
                  <a:moveTo>
                    <a:pt x="221364" y="11981"/>
                  </a:moveTo>
                  <a:lnTo>
                    <a:pt x="163445" y="11981"/>
                  </a:lnTo>
                  <a:lnTo>
                    <a:pt x="188010" y="13971"/>
                  </a:lnTo>
                  <a:lnTo>
                    <a:pt x="211322" y="19731"/>
                  </a:lnTo>
                  <a:lnTo>
                    <a:pt x="233067" y="28945"/>
                  </a:lnTo>
                  <a:lnTo>
                    <a:pt x="252930" y="41300"/>
                  </a:lnTo>
                  <a:lnTo>
                    <a:pt x="163445" y="130785"/>
                  </a:lnTo>
                  <a:lnTo>
                    <a:pt x="228796" y="130785"/>
                  </a:lnTo>
                  <a:lnTo>
                    <a:pt x="285614" y="73984"/>
                  </a:lnTo>
                  <a:lnTo>
                    <a:pt x="299130" y="73984"/>
                  </a:lnTo>
                  <a:lnTo>
                    <a:pt x="278980" y="47922"/>
                  </a:lnTo>
                  <a:lnTo>
                    <a:pt x="245885" y="22345"/>
                  </a:lnTo>
                  <a:lnTo>
                    <a:pt x="221364" y="11981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/>
          <p:nvPr/>
        </p:nvSpPr>
        <p:spPr>
          <a:xfrm>
            <a:off x="485998" y="3906135"/>
            <a:ext cx="1331854" cy="397559"/>
          </a:xfrm>
          <a:custGeom>
            <a:avLst/>
            <a:gdLst/>
            <a:ahLst/>
            <a:cxnLst/>
            <a:rect l="l" t="t" r="r" b="b"/>
            <a:pathLst>
              <a:path w="2582545" h="770890">
                <a:moveTo>
                  <a:pt x="2035657" y="269746"/>
                </a:moveTo>
                <a:lnTo>
                  <a:pt x="4179" y="269746"/>
                </a:lnTo>
                <a:lnTo>
                  <a:pt x="0" y="271794"/>
                </a:lnTo>
                <a:lnTo>
                  <a:pt x="0" y="768658"/>
                </a:lnTo>
                <a:lnTo>
                  <a:pt x="4115" y="770705"/>
                </a:lnTo>
                <a:lnTo>
                  <a:pt x="2035657" y="770705"/>
                </a:lnTo>
                <a:lnTo>
                  <a:pt x="2039772" y="768658"/>
                </a:lnTo>
                <a:lnTo>
                  <a:pt x="2039772" y="271794"/>
                </a:lnTo>
                <a:lnTo>
                  <a:pt x="2035657" y="269746"/>
                </a:lnTo>
                <a:close/>
              </a:path>
              <a:path w="2582545" h="770890">
                <a:moveTo>
                  <a:pt x="2576963" y="21603"/>
                </a:moveTo>
                <a:lnTo>
                  <a:pt x="2574761" y="21760"/>
                </a:lnTo>
                <a:lnTo>
                  <a:pt x="2093889" y="260988"/>
                </a:lnTo>
                <a:lnTo>
                  <a:pt x="2091411" y="263995"/>
                </a:lnTo>
                <a:lnTo>
                  <a:pt x="2091412" y="753641"/>
                </a:lnTo>
                <a:lnTo>
                  <a:pt x="2097342" y="754909"/>
                </a:lnTo>
                <a:lnTo>
                  <a:pt x="2579521" y="515032"/>
                </a:lnTo>
                <a:lnTo>
                  <a:pt x="2581990" y="512070"/>
                </a:lnTo>
                <a:lnTo>
                  <a:pt x="2581990" y="23229"/>
                </a:lnTo>
                <a:lnTo>
                  <a:pt x="2580562" y="22351"/>
                </a:lnTo>
                <a:lnTo>
                  <a:pt x="2576963" y="21603"/>
                </a:lnTo>
                <a:close/>
              </a:path>
              <a:path w="2582545" h="770890">
                <a:moveTo>
                  <a:pt x="2537556" y="0"/>
                </a:moveTo>
                <a:lnTo>
                  <a:pt x="519746" y="0"/>
                </a:lnTo>
                <a:lnTo>
                  <a:pt x="513928" y="1260"/>
                </a:lnTo>
                <a:lnTo>
                  <a:pt x="30991" y="241383"/>
                </a:lnTo>
                <a:lnTo>
                  <a:pt x="33331" y="244057"/>
                </a:lnTo>
                <a:lnTo>
                  <a:pt x="2051205" y="244057"/>
                </a:lnTo>
                <a:lnTo>
                  <a:pt x="2057443" y="242825"/>
                </a:lnTo>
                <a:lnTo>
                  <a:pt x="2539896" y="2810"/>
                </a:lnTo>
                <a:lnTo>
                  <a:pt x="2537556" y="0"/>
                </a:lnTo>
                <a:close/>
              </a:path>
            </a:pathLst>
          </a:custGeom>
          <a:solidFill>
            <a:srgbClr val="008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643693" y="4056876"/>
            <a:ext cx="557696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Filter</a:t>
            </a:r>
            <a:r>
              <a:rPr sz="1341" spc="152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-26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602457" y="3534509"/>
            <a:ext cx="265584" cy="163053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1006" spc="-10" dirty="0">
                <a:latin typeface="Trebuchet MS"/>
                <a:cs typeface="Trebuchet MS"/>
              </a:rPr>
              <a:t>0.10</a:t>
            </a:r>
            <a:endParaRPr sz="1006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602457" y="4017599"/>
            <a:ext cx="265584" cy="163053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1006" spc="-10" dirty="0">
                <a:latin typeface="Trebuchet MS"/>
                <a:cs typeface="Trebuchet MS"/>
              </a:rPr>
              <a:t>0.29</a:t>
            </a:r>
            <a:endParaRPr sz="1006">
              <a:latin typeface="Trebuchet MS"/>
              <a:cs typeface="Trebuchet M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602457" y="4500689"/>
            <a:ext cx="265584" cy="163053"/>
          </a:xfrm>
          <a:prstGeom prst="rect">
            <a:avLst/>
          </a:prstGeom>
        </p:spPr>
        <p:txBody>
          <a:bodyPr vert="horz" wrap="square" lIns="0" tIns="8187" rIns="0" bIns="0" rtlCol="0">
            <a:spAutoFit/>
          </a:bodyPr>
          <a:lstStyle/>
          <a:p>
            <a:pPr marL="6549">
              <a:spcBef>
                <a:spcPts val="64"/>
              </a:spcBef>
            </a:pPr>
            <a:r>
              <a:rPr sz="1006" spc="-10" dirty="0">
                <a:latin typeface="Trebuchet MS"/>
                <a:cs typeface="Trebuchet MS"/>
              </a:rPr>
              <a:t>0.82</a:t>
            </a:r>
            <a:endParaRPr sz="1006">
              <a:latin typeface="Trebuchet MS"/>
              <a:cs typeface="Trebuchet MS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876504" y="3091414"/>
            <a:ext cx="293093" cy="91039"/>
            <a:chOff x="3638654" y="5623859"/>
            <a:chExt cx="568325" cy="176530"/>
          </a:xfrm>
        </p:grpSpPr>
        <p:sp>
          <p:nvSpPr>
            <p:cNvPr id="55" name="object 55"/>
            <p:cNvSpPr/>
            <p:nvPr/>
          </p:nvSpPr>
          <p:spPr>
            <a:xfrm>
              <a:off x="3638654" y="5711814"/>
              <a:ext cx="412750" cy="0"/>
            </a:xfrm>
            <a:custGeom>
              <a:avLst/>
              <a:gdLst/>
              <a:ahLst/>
              <a:cxnLst/>
              <a:rect l="l" t="t" r="r" b="b"/>
              <a:pathLst>
                <a:path w="412750">
                  <a:moveTo>
                    <a:pt x="0" y="0"/>
                  </a:moveTo>
                  <a:lnTo>
                    <a:pt x="391802" y="0"/>
                  </a:lnTo>
                  <a:lnTo>
                    <a:pt x="412744" y="0"/>
                  </a:lnTo>
                </a:path>
              </a:pathLst>
            </a:custGeom>
            <a:ln w="41883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30457" y="5623859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1876504" y="3576417"/>
            <a:ext cx="293093" cy="91039"/>
            <a:chOff x="3638654" y="6564310"/>
            <a:chExt cx="568325" cy="176530"/>
          </a:xfrm>
        </p:grpSpPr>
        <p:sp>
          <p:nvSpPr>
            <p:cNvPr id="58" name="object 58"/>
            <p:cNvSpPr/>
            <p:nvPr/>
          </p:nvSpPr>
          <p:spPr>
            <a:xfrm>
              <a:off x="3638654" y="6652265"/>
              <a:ext cx="412750" cy="0"/>
            </a:xfrm>
            <a:custGeom>
              <a:avLst/>
              <a:gdLst/>
              <a:ahLst/>
              <a:cxnLst/>
              <a:rect l="l" t="t" r="r" b="b"/>
              <a:pathLst>
                <a:path w="412750">
                  <a:moveTo>
                    <a:pt x="0" y="0"/>
                  </a:moveTo>
                  <a:lnTo>
                    <a:pt x="391802" y="0"/>
                  </a:lnTo>
                  <a:lnTo>
                    <a:pt x="412744" y="0"/>
                  </a:lnTo>
                </a:path>
              </a:pathLst>
            </a:custGeom>
            <a:ln w="41883">
              <a:solidFill>
                <a:srgbClr val="DDB0B9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030457" y="6564310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B0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1876504" y="4059508"/>
            <a:ext cx="293093" cy="91039"/>
            <a:chOff x="3638654" y="7501051"/>
            <a:chExt cx="568325" cy="176530"/>
          </a:xfrm>
        </p:grpSpPr>
        <p:sp>
          <p:nvSpPr>
            <p:cNvPr id="61" name="object 61"/>
            <p:cNvSpPr/>
            <p:nvPr/>
          </p:nvSpPr>
          <p:spPr>
            <a:xfrm>
              <a:off x="3638654" y="7589006"/>
              <a:ext cx="412750" cy="0"/>
            </a:xfrm>
            <a:custGeom>
              <a:avLst/>
              <a:gdLst/>
              <a:ahLst/>
              <a:cxnLst/>
              <a:rect l="l" t="t" r="r" b="b"/>
              <a:pathLst>
                <a:path w="412750">
                  <a:moveTo>
                    <a:pt x="0" y="0"/>
                  </a:moveTo>
                  <a:lnTo>
                    <a:pt x="391802" y="0"/>
                  </a:lnTo>
                  <a:lnTo>
                    <a:pt x="412744" y="0"/>
                  </a:lnTo>
                </a:path>
              </a:pathLst>
            </a:custGeom>
            <a:ln w="41883">
              <a:solidFill>
                <a:srgbClr val="DDB0B9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030457" y="7501051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B0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1876504" y="4544511"/>
            <a:ext cx="293093" cy="91039"/>
            <a:chOff x="3638654" y="8441502"/>
            <a:chExt cx="568325" cy="176530"/>
          </a:xfrm>
        </p:grpSpPr>
        <p:sp>
          <p:nvSpPr>
            <p:cNvPr id="64" name="object 64"/>
            <p:cNvSpPr/>
            <p:nvPr/>
          </p:nvSpPr>
          <p:spPr>
            <a:xfrm>
              <a:off x="3638654" y="8529457"/>
              <a:ext cx="412750" cy="0"/>
            </a:xfrm>
            <a:custGeom>
              <a:avLst/>
              <a:gdLst/>
              <a:ahLst/>
              <a:cxnLst/>
              <a:rect l="l" t="t" r="r" b="b"/>
              <a:pathLst>
                <a:path w="412750">
                  <a:moveTo>
                    <a:pt x="0" y="0"/>
                  </a:moveTo>
                  <a:lnTo>
                    <a:pt x="391802" y="0"/>
                  </a:lnTo>
                  <a:lnTo>
                    <a:pt x="412744" y="0"/>
                  </a:lnTo>
                </a:path>
              </a:pathLst>
            </a:custGeom>
            <a:ln w="41883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030457" y="8441502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/>
          <p:nvPr/>
        </p:nvSpPr>
        <p:spPr>
          <a:xfrm>
            <a:off x="485998" y="4389225"/>
            <a:ext cx="1331854" cy="397559"/>
          </a:xfrm>
          <a:custGeom>
            <a:avLst/>
            <a:gdLst/>
            <a:ahLst/>
            <a:cxnLst/>
            <a:rect l="l" t="t" r="r" b="b"/>
            <a:pathLst>
              <a:path w="2582545" h="770890">
                <a:moveTo>
                  <a:pt x="2035657" y="269746"/>
                </a:moveTo>
                <a:lnTo>
                  <a:pt x="4179" y="269746"/>
                </a:lnTo>
                <a:lnTo>
                  <a:pt x="0" y="271793"/>
                </a:lnTo>
                <a:lnTo>
                  <a:pt x="0" y="768658"/>
                </a:lnTo>
                <a:lnTo>
                  <a:pt x="4115" y="770705"/>
                </a:lnTo>
                <a:lnTo>
                  <a:pt x="2035657" y="770705"/>
                </a:lnTo>
                <a:lnTo>
                  <a:pt x="2039772" y="768658"/>
                </a:lnTo>
                <a:lnTo>
                  <a:pt x="2039772" y="271793"/>
                </a:lnTo>
                <a:lnTo>
                  <a:pt x="2035657" y="269746"/>
                </a:lnTo>
                <a:close/>
              </a:path>
              <a:path w="2582545" h="770890">
                <a:moveTo>
                  <a:pt x="2576963" y="21603"/>
                </a:moveTo>
                <a:lnTo>
                  <a:pt x="2574761" y="21760"/>
                </a:lnTo>
                <a:lnTo>
                  <a:pt x="2093889" y="260987"/>
                </a:lnTo>
                <a:lnTo>
                  <a:pt x="2091411" y="263995"/>
                </a:lnTo>
                <a:lnTo>
                  <a:pt x="2091412" y="753641"/>
                </a:lnTo>
                <a:lnTo>
                  <a:pt x="2097342" y="754909"/>
                </a:lnTo>
                <a:lnTo>
                  <a:pt x="2579521" y="515032"/>
                </a:lnTo>
                <a:lnTo>
                  <a:pt x="2581990" y="512069"/>
                </a:lnTo>
                <a:lnTo>
                  <a:pt x="2581990" y="23229"/>
                </a:lnTo>
                <a:lnTo>
                  <a:pt x="2580562" y="22350"/>
                </a:lnTo>
                <a:lnTo>
                  <a:pt x="2576963" y="21603"/>
                </a:lnTo>
                <a:close/>
              </a:path>
              <a:path w="2582545" h="770890">
                <a:moveTo>
                  <a:pt x="2537556" y="0"/>
                </a:moveTo>
                <a:lnTo>
                  <a:pt x="519746" y="0"/>
                </a:lnTo>
                <a:lnTo>
                  <a:pt x="513928" y="1260"/>
                </a:lnTo>
                <a:lnTo>
                  <a:pt x="30991" y="241383"/>
                </a:lnTo>
                <a:lnTo>
                  <a:pt x="33331" y="244056"/>
                </a:lnTo>
                <a:lnTo>
                  <a:pt x="2051205" y="244056"/>
                </a:lnTo>
                <a:lnTo>
                  <a:pt x="2057443" y="242825"/>
                </a:lnTo>
                <a:lnTo>
                  <a:pt x="2539896" y="2810"/>
                </a:lnTo>
                <a:lnTo>
                  <a:pt x="2537556" y="0"/>
                </a:lnTo>
                <a:close/>
              </a:path>
            </a:pathLst>
          </a:custGeom>
          <a:solidFill>
            <a:srgbClr val="008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643693" y="4539966"/>
            <a:ext cx="557696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Filter</a:t>
            </a:r>
            <a:r>
              <a:rPr sz="1341" spc="152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-26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2306881" y="5232930"/>
            <a:ext cx="168651" cy="168651"/>
          </a:xfrm>
          <a:custGeom>
            <a:avLst/>
            <a:gdLst/>
            <a:ahLst/>
            <a:cxnLst/>
            <a:rect l="l" t="t" r="r" b="b"/>
            <a:pathLst>
              <a:path w="327025" h="327025">
                <a:moveTo>
                  <a:pt x="163445" y="0"/>
                </a:moveTo>
                <a:lnTo>
                  <a:pt x="120042" y="5847"/>
                </a:lnTo>
                <a:lnTo>
                  <a:pt x="81011" y="22345"/>
                </a:lnTo>
                <a:lnTo>
                  <a:pt x="47923" y="47923"/>
                </a:lnTo>
                <a:lnTo>
                  <a:pt x="22345" y="81011"/>
                </a:lnTo>
                <a:lnTo>
                  <a:pt x="5847" y="120042"/>
                </a:lnTo>
                <a:lnTo>
                  <a:pt x="0" y="163445"/>
                </a:lnTo>
                <a:lnTo>
                  <a:pt x="5847" y="206849"/>
                </a:lnTo>
                <a:lnTo>
                  <a:pt x="22345" y="245884"/>
                </a:lnTo>
                <a:lnTo>
                  <a:pt x="47923" y="278979"/>
                </a:lnTo>
                <a:lnTo>
                  <a:pt x="81011" y="304563"/>
                </a:lnTo>
                <a:lnTo>
                  <a:pt x="120042" y="321065"/>
                </a:lnTo>
                <a:lnTo>
                  <a:pt x="163445" y="326915"/>
                </a:lnTo>
                <a:lnTo>
                  <a:pt x="206849" y="321065"/>
                </a:lnTo>
                <a:lnTo>
                  <a:pt x="221357" y="314932"/>
                </a:lnTo>
                <a:lnTo>
                  <a:pt x="163445" y="314932"/>
                </a:lnTo>
                <a:lnTo>
                  <a:pt x="138885" y="312943"/>
                </a:lnTo>
                <a:lnTo>
                  <a:pt x="115581" y="307183"/>
                </a:lnTo>
                <a:lnTo>
                  <a:pt x="93844" y="297969"/>
                </a:lnTo>
                <a:lnTo>
                  <a:pt x="73985" y="285614"/>
                </a:lnTo>
                <a:lnTo>
                  <a:pt x="106659" y="252930"/>
                </a:lnTo>
                <a:lnTo>
                  <a:pt x="41301" y="252930"/>
                </a:lnTo>
                <a:lnTo>
                  <a:pt x="28947" y="233067"/>
                </a:lnTo>
                <a:lnTo>
                  <a:pt x="19732" y="211321"/>
                </a:lnTo>
                <a:lnTo>
                  <a:pt x="13972" y="188008"/>
                </a:lnTo>
                <a:lnTo>
                  <a:pt x="11982" y="163445"/>
                </a:lnTo>
                <a:lnTo>
                  <a:pt x="13972" y="138885"/>
                </a:lnTo>
                <a:lnTo>
                  <a:pt x="19732" y="115581"/>
                </a:lnTo>
                <a:lnTo>
                  <a:pt x="28947" y="93844"/>
                </a:lnTo>
                <a:lnTo>
                  <a:pt x="41301" y="73985"/>
                </a:lnTo>
                <a:lnTo>
                  <a:pt x="106659" y="73985"/>
                </a:lnTo>
                <a:lnTo>
                  <a:pt x="73985" y="41301"/>
                </a:lnTo>
                <a:lnTo>
                  <a:pt x="93844" y="28946"/>
                </a:lnTo>
                <a:lnTo>
                  <a:pt x="115581" y="19732"/>
                </a:lnTo>
                <a:lnTo>
                  <a:pt x="138885" y="13972"/>
                </a:lnTo>
                <a:lnTo>
                  <a:pt x="163445" y="11982"/>
                </a:lnTo>
                <a:lnTo>
                  <a:pt x="221366" y="11982"/>
                </a:lnTo>
                <a:lnTo>
                  <a:pt x="206850" y="5847"/>
                </a:lnTo>
                <a:lnTo>
                  <a:pt x="163445" y="0"/>
                </a:lnTo>
                <a:close/>
              </a:path>
              <a:path w="327025" h="327025">
                <a:moveTo>
                  <a:pt x="228812" y="196129"/>
                </a:moveTo>
                <a:lnTo>
                  <a:pt x="163445" y="196129"/>
                </a:lnTo>
                <a:lnTo>
                  <a:pt x="252930" y="285614"/>
                </a:lnTo>
                <a:lnTo>
                  <a:pt x="233067" y="297969"/>
                </a:lnTo>
                <a:lnTo>
                  <a:pt x="211321" y="307183"/>
                </a:lnTo>
                <a:lnTo>
                  <a:pt x="188008" y="312943"/>
                </a:lnTo>
                <a:lnTo>
                  <a:pt x="163445" y="314932"/>
                </a:lnTo>
                <a:lnTo>
                  <a:pt x="221357" y="314932"/>
                </a:lnTo>
                <a:lnTo>
                  <a:pt x="245884" y="304563"/>
                </a:lnTo>
                <a:lnTo>
                  <a:pt x="278979" y="278979"/>
                </a:lnTo>
                <a:lnTo>
                  <a:pt x="299117" y="252930"/>
                </a:lnTo>
                <a:lnTo>
                  <a:pt x="285614" y="252930"/>
                </a:lnTo>
                <a:lnTo>
                  <a:pt x="228812" y="196129"/>
                </a:lnTo>
                <a:close/>
              </a:path>
              <a:path w="327025" h="327025">
                <a:moveTo>
                  <a:pt x="106659" y="73985"/>
                </a:moveTo>
                <a:lnTo>
                  <a:pt x="41301" y="73985"/>
                </a:lnTo>
                <a:lnTo>
                  <a:pt x="130786" y="163445"/>
                </a:lnTo>
                <a:lnTo>
                  <a:pt x="41301" y="252930"/>
                </a:lnTo>
                <a:lnTo>
                  <a:pt x="106659" y="252930"/>
                </a:lnTo>
                <a:lnTo>
                  <a:pt x="163445" y="196129"/>
                </a:lnTo>
                <a:lnTo>
                  <a:pt x="228812" y="196129"/>
                </a:lnTo>
                <a:lnTo>
                  <a:pt x="196129" y="163445"/>
                </a:lnTo>
                <a:lnTo>
                  <a:pt x="228796" y="130786"/>
                </a:lnTo>
                <a:lnTo>
                  <a:pt x="163445" y="130786"/>
                </a:lnTo>
                <a:lnTo>
                  <a:pt x="106659" y="73985"/>
                </a:lnTo>
                <a:close/>
              </a:path>
              <a:path w="327025" h="327025">
                <a:moveTo>
                  <a:pt x="299131" y="73985"/>
                </a:moveTo>
                <a:lnTo>
                  <a:pt x="285614" y="73985"/>
                </a:lnTo>
                <a:lnTo>
                  <a:pt x="297969" y="93844"/>
                </a:lnTo>
                <a:lnTo>
                  <a:pt x="307183" y="115581"/>
                </a:lnTo>
                <a:lnTo>
                  <a:pt x="312943" y="138885"/>
                </a:lnTo>
                <a:lnTo>
                  <a:pt x="314932" y="163445"/>
                </a:lnTo>
                <a:lnTo>
                  <a:pt x="312943" y="188008"/>
                </a:lnTo>
                <a:lnTo>
                  <a:pt x="307183" y="211321"/>
                </a:lnTo>
                <a:lnTo>
                  <a:pt x="297969" y="233067"/>
                </a:lnTo>
                <a:lnTo>
                  <a:pt x="285614" y="252930"/>
                </a:lnTo>
                <a:lnTo>
                  <a:pt x="299117" y="252930"/>
                </a:lnTo>
                <a:lnTo>
                  <a:pt x="304563" y="245884"/>
                </a:lnTo>
                <a:lnTo>
                  <a:pt x="321065" y="206849"/>
                </a:lnTo>
                <a:lnTo>
                  <a:pt x="326915" y="163445"/>
                </a:lnTo>
                <a:lnTo>
                  <a:pt x="321065" y="120042"/>
                </a:lnTo>
                <a:lnTo>
                  <a:pt x="304563" y="81011"/>
                </a:lnTo>
                <a:lnTo>
                  <a:pt x="299131" y="73985"/>
                </a:lnTo>
                <a:close/>
              </a:path>
              <a:path w="327025" h="327025">
                <a:moveTo>
                  <a:pt x="221366" y="11982"/>
                </a:moveTo>
                <a:lnTo>
                  <a:pt x="163445" y="11982"/>
                </a:lnTo>
                <a:lnTo>
                  <a:pt x="188010" y="13972"/>
                </a:lnTo>
                <a:lnTo>
                  <a:pt x="211321" y="19732"/>
                </a:lnTo>
                <a:lnTo>
                  <a:pt x="233067" y="28946"/>
                </a:lnTo>
                <a:lnTo>
                  <a:pt x="252930" y="41301"/>
                </a:lnTo>
                <a:lnTo>
                  <a:pt x="163445" y="130786"/>
                </a:lnTo>
                <a:lnTo>
                  <a:pt x="228796" y="130786"/>
                </a:lnTo>
                <a:lnTo>
                  <a:pt x="285614" y="73985"/>
                </a:lnTo>
                <a:lnTo>
                  <a:pt x="299131" y="73985"/>
                </a:lnTo>
                <a:lnTo>
                  <a:pt x="278980" y="47923"/>
                </a:lnTo>
                <a:lnTo>
                  <a:pt x="245885" y="22345"/>
                </a:lnTo>
                <a:lnTo>
                  <a:pt x="221366" y="11982"/>
                </a:lnTo>
                <a:close/>
              </a:path>
            </a:pathLst>
          </a:custGeom>
          <a:solidFill>
            <a:srgbClr val="008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1720309" y="2599375"/>
            <a:ext cx="1519859" cy="621134"/>
          </a:xfrm>
          <a:prstGeom prst="rect">
            <a:avLst/>
          </a:prstGeom>
        </p:spPr>
        <p:txBody>
          <a:bodyPr vert="horz" wrap="square" lIns="0" tIns="4257" rIns="0" bIns="0" rtlCol="0">
            <a:spAutoFit/>
          </a:bodyPr>
          <a:lstStyle/>
          <a:p>
            <a:pPr marL="6549" marR="2620" indent="223662" algn="ctr">
              <a:lnSpc>
                <a:spcPct val="101600"/>
              </a:lnSpc>
              <a:spcBef>
                <a:spcPts val="34"/>
              </a:spcBef>
            </a:pPr>
            <a:r>
              <a:rPr sz="1186" b="1" spc="-5" dirty="0">
                <a:latin typeface="Arial"/>
                <a:cs typeface="Arial"/>
              </a:rPr>
              <a:t>Channel </a:t>
            </a:r>
            <a:endParaRPr lang="en-US" sz="1186" b="1" spc="-5" dirty="0">
              <a:latin typeface="Arial"/>
              <a:cs typeface="Arial"/>
            </a:endParaRPr>
          </a:p>
          <a:p>
            <a:pPr marL="6549" marR="2620" indent="223662" algn="ctr">
              <a:lnSpc>
                <a:spcPct val="101600"/>
              </a:lnSpc>
              <a:spcBef>
                <a:spcPts val="34"/>
              </a:spcBef>
            </a:pPr>
            <a:r>
              <a:rPr lang="en" sz="1186" b="1" dirty="0">
                <a:latin typeface="Arial"/>
                <a:cs typeface="Arial"/>
              </a:rPr>
              <a:t>Scaling</a:t>
            </a:r>
            <a:r>
              <a:rPr sz="1186" b="1" spc="-44" dirty="0">
                <a:latin typeface="Arial"/>
                <a:cs typeface="Arial"/>
              </a:rPr>
              <a:t> </a:t>
            </a:r>
            <a:r>
              <a:rPr sz="1186" b="1" spc="-5" dirty="0">
                <a:latin typeface="Arial"/>
                <a:cs typeface="Arial"/>
              </a:rPr>
              <a:t>Factor</a:t>
            </a:r>
            <a:endParaRPr sz="1186" dirty="0">
              <a:latin typeface="Arial"/>
              <a:cs typeface="Arial"/>
            </a:endParaRPr>
          </a:p>
          <a:p>
            <a:pPr marL="519039" algn="ctr">
              <a:spcBef>
                <a:spcPts val="699"/>
              </a:spcBef>
            </a:pPr>
            <a:r>
              <a:rPr sz="1006" spc="-10" dirty="0">
                <a:latin typeface="Trebuchet MS"/>
                <a:cs typeface="Trebuchet MS"/>
              </a:rPr>
              <a:t>1.17</a:t>
            </a:r>
            <a:endParaRPr sz="1006" dirty="0">
              <a:latin typeface="Trebuchet MS"/>
              <a:cs typeface="Trebuchet MS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876504" y="5271867"/>
            <a:ext cx="293093" cy="91039"/>
            <a:chOff x="3638654" y="9851889"/>
            <a:chExt cx="568325" cy="176530"/>
          </a:xfrm>
        </p:grpSpPr>
        <p:sp>
          <p:nvSpPr>
            <p:cNvPr id="71" name="object 71"/>
            <p:cNvSpPr/>
            <p:nvPr/>
          </p:nvSpPr>
          <p:spPr>
            <a:xfrm>
              <a:off x="3638654" y="9939844"/>
              <a:ext cx="412750" cy="0"/>
            </a:xfrm>
            <a:custGeom>
              <a:avLst/>
              <a:gdLst/>
              <a:ahLst/>
              <a:cxnLst/>
              <a:rect l="l" t="t" r="r" b="b"/>
              <a:pathLst>
                <a:path w="412750">
                  <a:moveTo>
                    <a:pt x="0" y="0"/>
                  </a:moveTo>
                  <a:lnTo>
                    <a:pt x="391802" y="0"/>
                  </a:lnTo>
                  <a:lnTo>
                    <a:pt x="412744" y="0"/>
                  </a:lnTo>
                </a:path>
              </a:pathLst>
            </a:custGeom>
            <a:ln w="41883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030457" y="9851889"/>
              <a:ext cx="176530" cy="176530"/>
            </a:xfrm>
            <a:custGeom>
              <a:avLst/>
              <a:gdLst/>
              <a:ahLst/>
              <a:cxnLst/>
              <a:rect l="l" t="t" r="r" b="b"/>
              <a:pathLst>
                <a:path w="176529" h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/>
          <p:nvPr/>
        </p:nvSpPr>
        <p:spPr>
          <a:xfrm>
            <a:off x="3195377" y="3015273"/>
            <a:ext cx="1585977" cy="292111"/>
          </a:xfrm>
          <a:custGeom>
            <a:avLst/>
            <a:gdLst/>
            <a:ahLst/>
            <a:cxnLst/>
            <a:rect l="l" t="t" r="r" b="b"/>
            <a:pathLst>
              <a:path w="3075304" h="566420">
                <a:moveTo>
                  <a:pt x="3075002" y="0"/>
                </a:moveTo>
                <a:lnTo>
                  <a:pt x="660405" y="0"/>
                </a:lnTo>
                <a:lnTo>
                  <a:pt x="0" y="566116"/>
                </a:lnTo>
                <a:lnTo>
                  <a:pt x="2414597" y="566116"/>
                </a:lnTo>
                <a:lnTo>
                  <a:pt x="3075002" y="0"/>
                </a:lnTo>
                <a:close/>
              </a:path>
            </a:pathLst>
          </a:custGeom>
          <a:solidFill>
            <a:srgbClr val="00A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3584751" y="3044515"/>
            <a:ext cx="813456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Channel</a:t>
            </a:r>
            <a:r>
              <a:rPr sz="1341" spc="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-26" dirty="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195377" y="3475800"/>
            <a:ext cx="1585977" cy="292111"/>
          </a:xfrm>
          <a:custGeom>
            <a:avLst/>
            <a:gdLst/>
            <a:ahLst/>
            <a:cxnLst/>
            <a:rect l="l" t="t" r="r" b="b"/>
            <a:pathLst>
              <a:path w="3075304" h="566420">
                <a:moveTo>
                  <a:pt x="3075002" y="0"/>
                </a:moveTo>
                <a:lnTo>
                  <a:pt x="660405" y="0"/>
                </a:lnTo>
                <a:lnTo>
                  <a:pt x="0" y="566115"/>
                </a:lnTo>
                <a:lnTo>
                  <a:pt x="2414597" y="566115"/>
                </a:lnTo>
                <a:lnTo>
                  <a:pt x="3075002" y="0"/>
                </a:lnTo>
                <a:close/>
              </a:path>
            </a:pathLst>
          </a:custGeom>
          <a:solidFill>
            <a:srgbClr val="00A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3584751" y="3505042"/>
            <a:ext cx="813456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Channel</a:t>
            </a:r>
            <a:r>
              <a:rPr sz="1341" spc="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-26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195377" y="3958890"/>
            <a:ext cx="1585977" cy="292111"/>
          </a:xfrm>
          <a:custGeom>
            <a:avLst/>
            <a:gdLst/>
            <a:ahLst/>
            <a:cxnLst/>
            <a:rect l="l" t="t" r="r" b="b"/>
            <a:pathLst>
              <a:path w="3075304" h="566420">
                <a:moveTo>
                  <a:pt x="3075002" y="0"/>
                </a:moveTo>
                <a:lnTo>
                  <a:pt x="660405" y="0"/>
                </a:lnTo>
                <a:lnTo>
                  <a:pt x="0" y="566115"/>
                </a:lnTo>
                <a:lnTo>
                  <a:pt x="2414597" y="566115"/>
                </a:lnTo>
                <a:lnTo>
                  <a:pt x="3075002" y="0"/>
                </a:lnTo>
                <a:close/>
              </a:path>
            </a:pathLst>
          </a:custGeom>
          <a:solidFill>
            <a:srgbClr val="00A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3584751" y="3988132"/>
            <a:ext cx="813456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Channel</a:t>
            </a:r>
            <a:r>
              <a:rPr sz="1341" spc="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-26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195377" y="4441980"/>
            <a:ext cx="1585977" cy="292111"/>
          </a:xfrm>
          <a:custGeom>
            <a:avLst/>
            <a:gdLst/>
            <a:ahLst/>
            <a:cxnLst/>
            <a:rect l="l" t="t" r="r" b="b"/>
            <a:pathLst>
              <a:path w="3075304" h="566420">
                <a:moveTo>
                  <a:pt x="3075002" y="0"/>
                </a:moveTo>
                <a:lnTo>
                  <a:pt x="660405" y="0"/>
                </a:lnTo>
                <a:lnTo>
                  <a:pt x="0" y="566115"/>
                </a:lnTo>
                <a:lnTo>
                  <a:pt x="2414597" y="566115"/>
                </a:lnTo>
                <a:lnTo>
                  <a:pt x="3075002" y="0"/>
                </a:lnTo>
                <a:close/>
              </a:path>
            </a:pathLst>
          </a:custGeom>
          <a:solidFill>
            <a:srgbClr val="00A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3584751" y="4471222"/>
            <a:ext cx="813456" cy="215267"/>
          </a:xfrm>
          <a:prstGeom prst="rect">
            <a:avLst/>
          </a:prstGeom>
        </p:spPr>
        <p:txBody>
          <a:bodyPr vert="horz" wrap="square" lIns="0" tIns="8842" rIns="0" bIns="0" rtlCol="0">
            <a:spAutoFit/>
          </a:bodyPr>
          <a:lstStyle/>
          <a:p>
            <a:pPr marL="6549">
              <a:spcBef>
                <a:spcPts val="70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Channel</a:t>
            </a:r>
            <a:r>
              <a:rPr sz="1341" spc="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-26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3246448" y="5171251"/>
            <a:ext cx="1585977" cy="292111"/>
          </a:xfrm>
          <a:custGeom>
            <a:avLst/>
            <a:gdLst/>
            <a:ahLst/>
            <a:cxnLst/>
            <a:rect l="l" t="t" r="r" b="b"/>
            <a:pathLst>
              <a:path w="3075304" h="566420">
                <a:moveTo>
                  <a:pt x="3075002" y="0"/>
                </a:moveTo>
                <a:lnTo>
                  <a:pt x="660405" y="0"/>
                </a:lnTo>
                <a:lnTo>
                  <a:pt x="0" y="566115"/>
                </a:lnTo>
                <a:lnTo>
                  <a:pt x="2414597" y="566115"/>
                </a:lnTo>
                <a:lnTo>
                  <a:pt x="3075002" y="0"/>
                </a:lnTo>
                <a:close/>
              </a:path>
            </a:pathLst>
          </a:custGeom>
          <a:solidFill>
            <a:srgbClr val="00A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897643" y="2691175"/>
            <a:ext cx="508574" cy="189430"/>
          </a:xfrm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sz="1186" b="1" spc="-5" dirty="0">
                <a:latin typeface="Arial"/>
                <a:cs typeface="Arial"/>
              </a:rPr>
              <a:t>Weight</a:t>
            </a:r>
            <a:endParaRPr sz="1186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539833" y="5204812"/>
            <a:ext cx="1005358" cy="210968"/>
          </a:xfrm>
          <a:prstGeom prst="rect">
            <a:avLst/>
          </a:prstGeom>
        </p:spPr>
        <p:txBody>
          <a:bodyPr vert="horz" wrap="square" lIns="0" tIns="4585" rIns="0" bIns="0" rtlCol="0">
            <a:spAutoFit/>
          </a:bodyPr>
          <a:lstStyle/>
          <a:p>
            <a:pPr marL="6549">
              <a:spcBef>
                <a:spcPts val="36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Channel</a:t>
            </a:r>
            <a:r>
              <a:rPr sz="1341" spc="157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34" dirty="0">
                <a:solidFill>
                  <a:srgbClr val="FFFFFF"/>
                </a:solidFill>
                <a:latin typeface="Arial MT"/>
                <a:cs typeface="Arial MT"/>
              </a:rPr>
              <a:t>N-</a:t>
            </a:r>
            <a:r>
              <a:rPr sz="1341" spc="1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602457" y="5236180"/>
            <a:ext cx="265584" cy="156770"/>
          </a:xfrm>
          <a:prstGeom prst="rect">
            <a:avLst/>
          </a:prstGeom>
        </p:spPr>
        <p:txBody>
          <a:bodyPr vert="horz" wrap="square" lIns="0" tIns="1965" rIns="0" bIns="0" rtlCol="0">
            <a:spAutoFit/>
          </a:bodyPr>
          <a:lstStyle/>
          <a:p>
            <a:pPr marL="6549">
              <a:spcBef>
                <a:spcPts val="15"/>
              </a:spcBef>
            </a:pPr>
            <a:r>
              <a:rPr sz="1006" spc="-10" dirty="0">
                <a:latin typeface="Trebuchet MS"/>
                <a:cs typeface="Trebuchet MS"/>
              </a:rPr>
              <a:t>0.56</a:t>
            </a:r>
            <a:endParaRPr sz="1006">
              <a:latin typeface="Trebuchet MS"/>
              <a:cs typeface="Trebuchet M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47703" y="5273557"/>
            <a:ext cx="749598" cy="210968"/>
          </a:xfrm>
          <a:prstGeom prst="rect">
            <a:avLst/>
          </a:prstGeom>
        </p:spPr>
        <p:txBody>
          <a:bodyPr vert="horz" wrap="square" lIns="0" tIns="4585" rIns="0" bIns="0" rtlCol="0">
            <a:spAutoFit/>
          </a:bodyPr>
          <a:lstStyle/>
          <a:p>
            <a:pPr marL="6549">
              <a:spcBef>
                <a:spcPts val="36"/>
              </a:spcBef>
            </a:pPr>
            <a:r>
              <a:rPr sz="1341" dirty="0">
                <a:solidFill>
                  <a:srgbClr val="FFFFFF"/>
                </a:solidFill>
                <a:latin typeface="Arial MT"/>
                <a:cs typeface="Arial MT"/>
              </a:rPr>
              <a:t>Filter</a:t>
            </a:r>
            <a:r>
              <a:rPr sz="1341" spc="157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41" spc="34" dirty="0">
                <a:solidFill>
                  <a:srgbClr val="FFFFFF"/>
                </a:solidFill>
                <a:latin typeface="Arial MT"/>
                <a:cs typeface="Arial MT"/>
              </a:rPr>
              <a:t>N-</a:t>
            </a:r>
            <a:r>
              <a:rPr sz="1341" spc="1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1341">
              <a:latin typeface="Arial MT"/>
              <a:cs typeface="Arial MT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805094" y="5239607"/>
            <a:ext cx="7540188" cy="125756"/>
          </a:xfrm>
          <a:prstGeom prst="rect">
            <a:avLst/>
          </a:prstGeom>
        </p:spPr>
        <p:txBody>
          <a:bodyPr vert="horz" wrap="square" lIns="0" tIns="2620" rIns="0" bIns="0" rtlCol="0">
            <a:spAutoFit/>
          </a:bodyPr>
          <a:lstStyle/>
          <a:p>
            <a:pPr marL="2244803">
              <a:spcBef>
                <a:spcPts val="21"/>
              </a:spcBef>
            </a:pP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Learning</a:t>
            </a:r>
            <a:r>
              <a:rPr sz="800" spc="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21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Efficient</a:t>
            </a:r>
            <a:r>
              <a:rPr sz="800" spc="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Convolutional</a:t>
            </a:r>
            <a:r>
              <a:rPr sz="800" spc="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Networks</a:t>
            </a:r>
            <a:r>
              <a:rPr sz="800" spc="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through</a:t>
            </a:r>
            <a:r>
              <a:rPr sz="800" spc="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Network</a:t>
            </a:r>
            <a:r>
              <a:rPr sz="800" spc="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Slimming</a:t>
            </a:r>
            <a:r>
              <a:rPr sz="800" spc="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10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[Liu</a:t>
            </a:r>
            <a:r>
              <a:rPr sz="800" spc="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i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et</a:t>
            </a:r>
            <a:r>
              <a:rPr sz="800" i="1" spc="4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al.,</a:t>
            </a:r>
            <a:r>
              <a:rPr sz="800" i="1" spc="4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800" spc="72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ICCV</a:t>
            </a:r>
            <a:r>
              <a:rPr sz="800" spc="18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 </a:t>
            </a:r>
            <a:r>
              <a:rPr sz="800" spc="-5" dirty="0">
                <a:solidFill>
                  <a:schemeClr val="bg1">
                    <a:lumMod val="50000"/>
                  </a:schemeClr>
                </a:solidFill>
                <a:latin typeface="Trebuchet MS"/>
                <a:cs typeface="Trebuchet MS"/>
              </a:rPr>
              <a:t>2017]</a:t>
            </a:r>
            <a:endParaRPr sz="800" dirty="0">
              <a:solidFill>
                <a:schemeClr val="bg1">
                  <a:lumMod val="50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620597" y="2691175"/>
            <a:ext cx="735516" cy="189430"/>
          </a:xfrm>
          <a:prstGeom prst="rect">
            <a:avLst/>
          </a:prstGeom>
        </p:spPr>
        <p:txBody>
          <a:bodyPr vert="horz" wrap="square" lIns="0" tIns="6877" rIns="0" bIns="0" rtlCol="0">
            <a:spAutoFit/>
          </a:bodyPr>
          <a:lstStyle/>
          <a:p>
            <a:pPr marL="6549">
              <a:spcBef>
                <a:spcPts val="54"/>
              </a:spcBef>
            </a:pPr>
            <a:r>
              <a:rPr sz="1186" b="1" spc="-5" dirty="0">
                <a:latin typeface="Arial"/>
                <a:cs typeface="Arial"/>
              </a:rPr>
              <a:t>Activation</a:t>
            </a:r>
            <a:endParaRPr sz="1186">
              <a:latin typeface="Arial"/>
              <a:cs typeface="Arial"/>
            </a:endParaRPr>
          </a:p>
        </p:txBody>
      </p:sp>
      <p:sp>
        <p:nvSpPr>
          <p:cNvPr id="92" name="object 69">
            <a:extLst>
              <a:ext uri="{FF2B5EF4-FFF2-40B4-BE49-F238E27FC236}">
                <a16:creationId xmlns:a16="http://schemas.microsoft.com/office/drawing/2014/main" id="{0AB3B485-93CF-37E2-9CD6-3E52B50350E3}"/>
              </a:ext>
            </a:extLst>
          </p:cNvPr>
          <p:cNvSpPr txBox="1"/>
          <p:nvPr/>
        </p:nvSpPr>
        <p:spPr>
          <a:xfrm>
            <a:off x="6898153" y="2574247"/>
            <a:ext cx="1519859" cy="621134"/>
          </a:xfrm>
          <a:prstGeom prst="rect">
            <a:avLst/>
          </a:prstGeom>
        </p:spPr>
        <p:txBody>
          <a:bodyPr vert="horz" wrap="square" lIns="0" tIns="4257" rIns="0" bIns="0" rtlCol="0">
            <a:spAutoFit/>
          </a:bodyPr>
          <a:lstStyle/>
          <a:p>
            <a:pPr marL="6549" marR="2620" indent="223662" algn="ctr">
              <a:lnSpc>
                <a:spcPct val="101600"/>
              </a:lnSpc>
              <a:spcBef>
                <a:spcPts val="34"/>
              </a:spcBef>
            </a:pPr>
            <a:r>
              <a:rPr sz="1186" b="1" spc="-5" dirty="0">
                <a:latin typeface="Arial"/>
                <a:cs typeface="Arial"/>
              </a:rPr>
              <a:t>Channel </a:t>
            </a:r>
            <a:endParaRPr lang="en-US" sz="1186" b="1" spc="-5" dirty="0">
              <a:latin typeface="Arial"/>
              <a:cs typeface="Arial"/>
            </a:endParaRPr>
          </a:p>
          <a:p>
            <a:pPr marL="6549" marR="2620" indent="223662" algn="ctr">
              <a:lnSpc>
                <a:spcPct val="101600"/>
              </a:lnSpc>
              <a:spcBef>
                <a:spcPts val="34"/>
              </a:spcBef>
            </a:pPr>
            <a:r>
              <a:rPr lang="en" sz="1186" b="1" dirty="0">
                <a:latin typeface="Arial"/>
                <a:cs typeface="Arial"/>
              </a:rPr>
              <a:t>Scaling</a:t>
            </a:r>
            <a:r>
              <a:rPr sz="1186" b="1" spc="-44" dirty="0">
                <a:latin typeface="Arial"/>
                <a:cs typeface="Arial"/>
              </a:rPr>
              <a:t> </a:t>
            </a:r>
            <a:r>
              <a:rPr sz="1186" b="1" spc="-5" dirty="0">
                <a:latin typeface="Arial"/>
                <a:cs typeface="Arial"/>
              </a:rPr>
              <a:t>Factor</a:t>
            </a:r>
            <a:endParaRPr sz="1186" dirty="0">
              <a:latin typeface="Arial"/>
              <a:cs typeface="Arial"/>
            </a:endParaRPr>
          </a:p>
          <a:p>
            <a:pPr marL="519039" algn="ctr">
              <a:spcBef>
                <a:spcPts val="699"/>
              </a:spcBef>
            </a:pPr>
            <a:r>
              <a:rPr sz="1006" spc="-10" dirty="0">
                <a:latin typeface="Trebuchet MS"/>
                <a:cs typeface="Trebuchet MS"/>
              </a:rPr>
              <a:t>1.17</a:t>
            </a:r>
            <a:endParaRPr sz="1006" dirty="0">
              <a:latin typeface="Trebuchet MS"/>
              <a:cs typeface="Trebuchet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55BF3E-E964-206E-A1E3-BD169689A23B}"/>
              </a:ext>
            </a:extLst>
          </p:cNvPr>
          <p:cNvSpPr txBox="1"/>
          <p:nvPr/>
        </p:nvSpPr>
        <p:spPr>
          <a:xfrm>
            <a:off x="5110681" y="5342966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제목 51">
            <a:extLst>
              <a:ext uri="{FF2B5EF4-FFF2-40B4-BE49-F238E27FC236}">
                <a16:creationId xmlns:a16="http://schemas.microsoft.com/office/drawing/2014/main" id="{E09B86AA-1E29-16F1-0D7D-441C0872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spc="-93" dirty="0"/>
              <a:t>2. Pruning – Criterion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C36A1C6-E0E2-ADD4-D4F0-FBE45F33DA0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" altLang="ko-KR" dirty="0"/>
              <a:t>Activation-based pruning</a:t>
            </a:r>
            <a:endParaRPr lang="ko-KR" altLang="en-US" dirty="0"/>
          </a:p>
        </p:txBody>
      </p:sp>
      <p:sp>
        <p:nvSpPr>
          <p:cNvPr id="219" name="Google Shape;219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ln w="12700">
            <a:miter lim="400000"/>
          </a:ln>
        </p:spPr>
        <p:txBody>
          <a:bodyPr lIns="91424" tIns="91424" rIns="91424" bIns="91424">
            <a:normAutofit/>
          </a:bodyPr>
          <a:lstStyle/>
          <a:p>
            <a:r>
              <a:rPr lang="en" dirty="0"/>
              <a:t>Observation: If we use </a:t>
            </a:r>
            <a:r>
              <a:rPr lang="en" dirty="0" err="1"/>
              <a:t>ReLU</a:t>
            </a:r>
            <a:r>
              <a:rPr lang="en" dirty="0"/>
              <a:t>, many activations will be zero</a:t>
            </a:r>
          </a:p>
          <a:p>
            <a:r>
              <a:rPr lang="en" dirty="0"/>
              <a:t>Idea: If some output neurons almost always produce zero,</a:t>
            </a:r>
            <a:br>
              <a:rPr lang="en" dirty="0"/>
            </a:br>
            <a:r>
              <a:rPr lang="en" dirty="0"/>
              <a:t>          we can safely remove the weights connected to it</a:t>
            </a:r>
          </a:p>
          <a:p>
            <a:r>
              <a:rPr lang="en" dirty="0"/>
              <a:t>Neuron pruning is coarse-grained weight pruning</a:t>
            </a:r>
          </a:p>
          <a:p>
            <a:endParaRPr dirty="0"/>
          </a:p>
        </p:txBody>
      </p:sp>
      <p:sp>
        <p:nvSpPr>
          <p:cNvPr id="220" name="Google Shape;220;p33"/>
          <p:cNvSpPr txBox="1"/>
          <p:nvPr/>
        </p:nvSpPr>
        <p:spPr>
          <a:xfrm>
            <a:off x="-1" y="5568605"/>
            <a:ext cx="10367963" cy="26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b" anchorCtr="0">
            <a:noAutofit/>
          </a:bodyPr>
          <a:lstStyle/>
          <a:p>
            <a:pPr algn="r" defTabSz="1036782" latinLnBrk="0">
              <a:buClr>
                <a:srgbClr val="000000"/>
              </a:buClr>
            </a:pPr>
            <a:endParaRPr sz="907" kern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21" name="Google Shape;221;p33"/>
          <p:cNvGraphicFramePr/>
          <p:nvPr>
            <p:extLst>
              <p:ext uri="{D42A27DB-BD31-4B8C-83A1-F6EECF244321}">
                <p14:modId xmlns:p14="http://schemas.microsoft.com/office/powerpoint/2010/main" val="1624208861"/>
              </p:ext>
            </p:extLst>
          </p:nvPr>
        </p:nvGraphicFramePr>
        <p:xfrm>
          <a:off x="6495585" y="2669927"/>
          <a:ext cx="1344357" cy="13057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8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2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sz="1400" b="1">
                        <a:solidFill>
                          <a:srgbClr val="FF0000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sz="1400" b="1">
                        <a:solidFill>
                          <a:srgbClr val="FF0000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solidFill>
                            <a:srgbClr val="FF0000"/>
                          </a:solidFill>
                        </a:rPr>
                        <a:t>0</a:t>
                      </a:r>
                      <a:endParaRPr sz="1400" b="1">
                        <a:solidFill>
                          <a:srgbClr val="FF0000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2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6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8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2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9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2" name="Google Shape;222;p33"/>
          <p:cNvGraphicFramePr/>
          <p:nvPr>
            <p:extLst>
              <p:ext uri="{D42A27DB-BD31-4B8C-83A1-F6EECF244321}">
                <p14:modId xmlns:p14="http://schemas.microsoft.com/office/powerpoint/2010/main" val="2694639829"/>
              </p:ext>
            </p:extLst>
          </p:nvPr>
        </p:nvGraphicFramePr>
        <p:xfrm>
          <a:off x="1769619" y="2669927"/>
          <a:ext cx="1344357" cy="13057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8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2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solidFill>
                            <a:srgbClr val="FF0000"/>
                          </a:solidFill>
                        </a:rPr>
                        <a:t>-13</a:t>
                      </a:r>
                      <a:endParaRPr sz="1400" b="1">
                        <a:solidFill>
                          <a:srgbClr val="FF0000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solidFill>
                            <a:srgbClr val="FF0000"/>
                          </a:solidFill>
                        </a:rPr>
                        <a:t>-11</a:t>
                      </a:r>
                      <a:endParaRPr sz="1400" b="1">
                        <a:solidFill>
                          <a:srgbClr val="FF0000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>
                          <a:solidFill>
                            <a:srgbClr val="FF0000"/>
                          </a:solidFill>
                        </a:rPr>
                        <a:t>4</a:t>
                      </a:r>
                      <a:endParaRPr sz="1400" b="1">
                        <a:solidFill>
                          <a:srgbClr val="FF0000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2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2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</a:rPr>
                        <a:t>-13</a:t>
                      </a:r>
                      <a:endParaRPr sz="1400" dirty="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2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-29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</a:rPr>
                        <a:t>12</a:t>
                      </a:r>
                      <a:endParaRPr sz="1400" dirty="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3" name="Google Shape;223;p33"/>
          <p:cNvSpPr txBox="1"/>
          <p:nvPr/>
        </p:nvSpPr>
        <p:spPr>
          <a:xfrm>
            <a:off x="6120448" y="3874274"/>
            <a:ext cx="2283809" cy="523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b" anchorCtr="0">
            <a:noAutofit/>
          </a:bodyPr>
          <a:lstStyle/>
          <a:p>
            <a:pPr algn="ctr" defTabSz="1036782" latinLnBrk="0">
              <a:buClr>
                <a:srgbClr val="000000"/>
              </a:buClr>
            </a:pPr>
            <a:r>
              <a:rPr lang="en" sz="1600" ker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Activation</a:t>
            </a:r>
            <a:endParaRPr sz="1600" kern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33"/>
          <p:cNvSpPr txBox="1"/>
          <p:nvPr/>
        </p:nvSpPr>
        <p:spPr>
          <a:xfrm>
            <a:off x="1394482" y="3874274"/>
            <a:ext cx="2283809" cy="523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b" anchorCtr="0">
            <a:noAutofit/>
          </a:bodyPr>
          <a:lstStyle/>
          <a:p>
            <a:pPr algn="ctr" defTabSz="1036782" latinLnBrk="0">
              <a:buClr>
                <a:srgbClr val="000000"/>
              </a:buClr>
            </a:pPr>
            <a:r>
              <a:rPr lang="en" sz="1600" ker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Weight</a:t>
            </a:r>
            <a:endParaRPr sz="1600" kern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25" name="Google Shape;225;p33"/>
          <p:cNvGraphicFramePr/>
          <p:nvPr>
            <p:extLst>
              <p:ext uri="{D42A27DB-BD31-4B8C-83A1-F6EECF244321}">
                <p14:modId xmlns:p14="http://schemas.microsoft.com/office/powerpoint/2010/main" val="3521537698"/>
              </p:ext>
            </p:extLst>
          </p:nvPr>
        </p:nvGraphicFramePr>
        <p:xfrm>
          <a:off x="4194990" y="2669927"/>
          <a:ext cx="1344357" cy="13057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48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52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X1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X2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X3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2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X4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X5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</a:rPr>
                        <a:t>X6</a:t>
                      </a:r>
                      <a:endParaRPr sz="1400" dirty="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2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X7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>
                          <a:solidFill>
                            <a:schemeClr val="dk1"/>
                          </a:solidFill>
                        </a:rPr>
                        <a:t>X8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</a:rPr>
                        <a:t>X9</a:t>
                      </a:r>
                      <a:endParaRPr sz="1400" dirty="0">
                        <a:solidFill>
                          <a:schemeClr val="dk1"/>
                        </a:solidFill>
                      </a:endParaRPr>
                    </a:p>
                  </a:txBody>
                  <a:tcPr marL="73013" marR="73013" marT="73013" marB="73013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" name="Google Shape;226;p33"/>
          <p:cNvSpPr txBox="1"/>
          <p:nvPr/>
        </p:nvSpPr>
        <p:spPr>
          <a:xfrm>
            <a:off x="3159135" y="2784369"/>
            <a:ext cx="3287220" cy="909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b" anchorCtr="0">
            <a:noAutofit/>
          </a:bodyPr>
          <a:lstStyle/>
          <a:p>
            <a:pPr algn="ctr" defTabSz="1036782" latinLnBrk="0">
              <a:buClr>
                <a:srgbClr val="000000"/>
              </a:buClr>
            </a:pPr>
            <a:r>
              <a:rPr lang="en" sz="3000" b="1" kern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                     =</a:t>
            </a:r>
            <a:endParaRPr sz="3000" b="1" kern="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3819865" y="3874274"/>
            <a:ext cx="2283809" cy="523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3663" tIns="103663" rIns="103663" bIns="103663" anchor="b" anchorCtr="0">
            <a:noAutofit/>
          </a:bodyPr>
          <a:lstStyle/>
          <a:p>
            <a:pPr algn="ctr" defTabSz="1036782" latinLnBrk="0">
              <a:buClr>
                <a:srgbClr val="000000"/>
              </a:buClr>
            </a:pPr>
            <a:r>
              <a:rPr lang="en" sz="1600" ker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Input</a:t>
            </a:r>
            <a:endParaRPr sz="1600" kern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E4ADD271-0CED-6EA6-6E0F-33C61F974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300990"/>
              </p:ext>
            </p:extLst>
          </p:nvPr>
        </p:nvGraphicFramePr>
        <p:xfrm>
          <a:off x="2930194" y="4481795"/>
          <a:ext cx="890740" cy="7125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1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8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1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7">
            <a:extLst>
              <a:ext uri="{FF2B5EF4-FFF2-40B4-BE49-F238E27FC236}">
                <a16:creationId xmlns:a16="http://schemas.microsoft.com/office/drawing/2014/main" id="{17A018EF-C51C-DAAF-2A2A-C0B542A4C722}"/>
              </a:ext>
            </a:extLst>
          </p:cNvPr>
          <p:cNvGrpSpPr/>
          <p:nvPr/>
        </p:nvGrpSpPr>
        <p:grpSpPr>
          <a:xfrm>
            <a:off x="980294" y="4398115"/>
            <a:ext cx="1733670" cy="916284"/>
            <a:chOff x="6147460" y="5144375"/>
            <a:chExt cx="3361690" cy="1776730"/>
          </a:xfrm>
        </p:grpSpPr>
        <p:sp>
          <p:nvSpPr>
            <p:cNvPr id="5" name="object 8">
              <a:extLst>
                <a:ext uri="{FF2B5EF4-FFF2-40B4-BE49-F238E27FC236}">
                  <a16:creationId xmlns:a16="http://schemas.microsoft.com/office/drawing/2014/main" id="{418E15AA-603F-EA54-C8F7-6DBF1028AED3}"/>
                </a:ext>
              </a:extLst>
            </p:cNvPr>
            <p:cNvSpPr/>
            <p:nvPr/>
          </p:nvSpPr>
          <p:spPr>
            <a:xfrm>
              <a:off x="9070875" y="5157465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35966" y="0"/>
                  </a:moveTo>
                  <a:lnTo>
                    <a:pt x="189135" y="0"/>
                  </a:lnTo>
                  <a:lnTo>
                    <a:pt x="143212" y="10225"/>
                  </a:lnTo>
                  <a:lnTo>
                    <a:pt x="100012" y="30675"/>
                  </a:lnTo>
                  <a:lnTo>
                    <a:pt x="61350" y="61350"/>
                  </a:lnTo>
                  <a:lnTo>
                    <a:pt x="30675" y="100012"/>
                  </a:lnTo>
                  <a:lnTo>
                    <a:pt x="10225" y="143212"/>
                  </a:lnTo>
                  <a:lnTo>
                    <a:pt x="0" y="189135"/>
                  </a:lnTo>
                  <a:lnTo>
                    <a:pt x="0" y="235966"/>
                  </a:lnTo>
                  <a:lnTo>
                    <a:pt x="10225" y="281888"/>
                  </a:lnTo>
                  <a:lnTo>
                    <a:pt x="30675" y="325089"/>
                  </a:lnTo>
                  <a:lnTo>
                    <a:pt x="61350" y="363751"/>
                  </a:lnTo>
                  <a:lnTo>
                    <a:pt x="100012" y="394426"/>
                  </a:lnTo>
                  <a:lnTo>
                    <a:pt x="143212" y="414877"/>
                  </a:lnTo>
                  <a:lnTo>
                    <a:pt x="189135" y="425102"/>
                  </a:lnTo>
                  <a:lnTo>
                    <a:pt x="235966" y="425102"/>
                  </a:lnTo>
                  <a:lnTo>
                    <a:pt x="281888" y="414877"/>
                  </a:lnTo>
                  <a:lnTo>
                    <a:pt x="325089" y="394426"/>
                  </a:lnTo>
                  <a:lnTo>
                    <a:pt x="363751" y="363751"/>
                  </a:lnTo>
                  <a:lnTo>
                    <a:pt x="394426" y="325089"/>
                  </a:lnTo>
                  <a:lnTo>
                    <a:pt x="414876" y="281888"/>
                  </a:lnTo>
                  <a:lnTo>
                    <a:pt x="425101" y="235966"/>
                  </a:lnTo>
                  <a:lnTo>
                    <a:pt x="425101" y="189135"/>
                  </a:lnTo>
                  <a:lnTo>
                    <a:pt x="414876" y="143212"/>
                  </a:lnTo>
                  <a:lnTo>
                    <a:pt x="394426" y="100012"/>
                  </a:lnTo>
                  <a:lnTo>
                    <a:pt x="363751" y="61350"/>
                  </a:lnTo>
                  <a:lnTo>
                    <a:pt x="325089" y="30675"/>
                  </a:lnTo>
                  <a:lnTo>
                    <a:pt x="281888" y="10225"/>
                  </a:lnTo>
                  <a:lnTo>
                    <a:pt x="235966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51CDC8DD-EAC2-BB17-8FD2-6BB9EE58BAD1}"/>
                </a:ext>
              </a:extLst>
            </p:cNvPr>
            <p:cNvSpPr/>
            <p:nvPr/>
          </p:nvSpPr>
          <p:spPr>
            <a:xfrm>
              <a:off x="9070875" y="5157464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363751" y="363751"/>
                  </a:moveTo>
                  <a:lnTo>
                    <a:pt x="325089" y="394427"/>
                  </a:lnTo>
                  <a:lnTo>
                    <a:pt x="281889" y="414877"/>
                  </a:lnTo>
                  <a:lnTo>
                    <a:pt x="235966" y="425102"/>
                  </a:lnTo>
                  <a:lnTo>
                    <a:pt x="189136" y="425102"/>
                  </a:lnTo>
                  <a:lnTo>
                    <a:pt x="143213" y="414877"/>
                  </a:lnTo>
                  <a:lnTo>
                    <a:pt x="100013" y="394427"/>
                  </a:lnTo>
                  <a:lnTo>
                    <a:pt x="61351" y="363751"/>
                  </a:lnTo>
                  <a:lnTo>
                    <a:pt x="30675" y="325089"/>
                  </a:lnTo>
                  <a:lnTo>
                    <a:pt x="10225" y="281889"/>
                  </a:lnTo>
                  <a:lnTo>
                    <a:pt x="0" y="235966"/>
                  </a:lnTo>
                  <a:lnTo>
                    <a:pt x="0" y="189136"/>
                  </a:lnTo>
                  <a:lnTo>
                    <a:pt x="10225" y="143213"/>
                  </a:lnTo>
                  <a:lnTo>
                    <a:pt x="30675" y="100013"/>
                  </a:lnTo>
                  <a:lnTo>
                    <a:pt x="61351" y="61351"/>
                  </a:lnTo>
                  <a:lnTo>
                    <a:pt x="100013" y="30675"/>
                  </a:lnTo>
                  <a:lnTo>
                    <a:pt x="143213" y="10225"/>
                  </a:lnTo>
                  <a:lnTo>
                    <a:pt x="189136" y="0"/>
                  </a:lnTo>
                  <a:lnTo>
                    <a:pt x="235966" y="0"/>
                  </a:lnTo>
                  <a:lnTo>
                    <a:pt x="281889" y="10225"/>
                  </a:lnTo>
                  <a:lnTo>
                    <a:pt x="325089" y="30675"/>
                  </a:lnTo>
                  <a:lnTo>
                    <a:pt x="363751" y="61351"/>
                  </a:lnTo>
                  <a:lnTo>
                    <a:pt x="394427" y="100013"/>
                  </a:lnTo>
                  <a:lnTo>
                    <a:pt x="414877" y="143213"/>
                  </a:lnTo>
                  <a:lnTo>
                    <a:pt x="425102" y="189136"/>
                  </a:lnTo>
                  <a:lnTo>
                    <a:pt x="425102" y="235966"/>
                  </a:lnTo>
                  <a:lnTo>
                    <a:pt x="414877" y="281889"/>
                  </a:lnTo>
                  <a:lnTo>
                    <a:pt x="394427" y="325089"/>
                  </a:lnTo>
                  <a:lnTo>
                    <a:pt x="363751" y="363751"/>
                  </a:lnTo>
                  <a:close/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10">
              <a:extLst>
                <a:ext uri="{FF2B5EF4-FFF2-40B4-BE49-F238E27FC236}">
                  <a16:creationId xmlns:a16="http://schemas.microsoft.com/office/drawing/2014/main" id="{623FD098-48F2-8711-495B-C28B4A6D38ED}"/>
                </a:ext>
              </a:extLst>
            </p:cNvPr>
            <p:cNvSpPr/>
            <p:nvPr/>
          </p:nvSpPr>
          <p:spPr>
            <a:xfrm>
              <a:off x="8343293" y="5157465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35966" y="0"/>
                  </a:moveTo>
                  <a:lnTo>
                    <a:pt x="189135" y="0"/>
                  </a:lnTo>
                  <a:lnTo>
                    <a:pt x="143212" y="10225"/>
                  </a:lnTo>
                  <a:lnTo>
                    <a:pt x="100012" y="30675"/>
                  </a:lnTo>
                  <a:lnTo>
                    <a:pt x="61350" y="61350"/>
                  </a:lnTo>
                  <a:lnTo>
                    <a:pt x="30675" y="100012"/>
                  </a:lnTo>
                  <a:lnTo>
                    <a:pt x="10225" y="143212"/>
                  </a:lnTo>
                  <a:lnTo>
                    <a:pt x="0" y="189135"/>
                  </a:lnTo>
                  <a:lnTo>
                    <a:pt x="0" y="235966"/>
                  </a:lnTo>
                  <a:lnTo>
                    <a:pt x="10225" y="281888"/>
                  </a:lnTo>
                  <a:lnTo>
                    <a:pt x="30675" y="325089"/>
                  </a:lnTo>
                  <a:lnTo>
                    <a:pt x="61350" y="363751"/>
                  </a:lnTo>
                  <a:lnTo>
                    <a:pt x="100012" y="394426"/>
                  </a:lnTo>
                  <a:lnTo>
                    <a:pt x="143212" y="414877"/>
                  </a:lnTo>
                  <a:lnTo>
                    <a:pt x="189135" y="425102"/>
                  </a:lnTo>
                  <a:lnTo>
                    <a:pt x="235966" y="425102"/>
                  </a:lnTo>
                  <a:lnTo>
                    <a:pt x="281888" y="414877"/>
                  </a:lnTo>
                  <a:lnTo>
                    <a:pt x="325089" y="394426"/>
                  </a:lnTo>
                  <a:lnTo>
                    <a:pt x="363751" y="363751"/>
                  </a:lnTo>
                  <a:lnTo>
                    <a:pt x="394426" y="325089"/>
                  </a:lnTo>
                  <a:lnTo>
                    <a:pt x="414877" y="281888"/>
                  </a:lnTo>
                  <a:lnTo>
                    <a:pt x="425102" y="235966"/>
                  </a:lnTo>
                  <a:lnTo>
                    <a:pt x="425102" y="189135"/>
                  </a:lnTo>
                  <a:lnTo>
                    <a:pt x="414877" y="143212"/>
                  </a:lnTo>
                  <a:lnTo>
                    <a:pt x="394426" y="100012"/>
                  </a:lnTo>
                  <a:lnTo>
                    <a:pt x="363751" y="61350"/>
                  </a:lnTo>
                  <a:lnTo>
                    <a:pt x="325089" y="30675"/>
                  </a:lnTo>
                  <a:lnTo>
                    <a:pt x="281888" y="10225"/>
                  </a:lnTo>
                  <a:lnTo>
                    <a:pt x="235966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4F6DD7B3-DD87-C989-0FA9-88C02EF5E915}"/>
                </a:ext>
              </a:extLst>
            </p:cNvPr>
            <p:cNvSpPr/>
            <p:nvPr/>
          </p:nvSpPr>
          <p:spPr>
            <a:xfrm>
              <a:off x="8343293" y="5157464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363751" y="363751"/>
                  </a:moveTo>
                  <a:lnTo>
                    <a:pt x="325089" y="394427"/>
                  </a:lnTo>
                  <a:lnTo>
                    <a:pt x="281889" y="414877"/>
                  </a:lnTo>
                  <a:lnTo>
                    <a:pt x="235966" y="425102"/>
                  </a:lnTo>
                  <a:lnTo>
                    <a:pt x="189136" y="425102"/>
                  </a:lnTo>
                  <a:lnTo>
                    <a:pt x="143213" y="414877"/>
                  </a:lnTo>
                  <a:lnTo>
                    <a:pt x="100013" y="394427"/>
                  </a:lnTo>
                  <a:lnTo>
                    <a:pt x="61351" y="363751"/>
                  </a:lnTo>
                  <a:lnTo>
                    <a:pt x="30675" y="325089"/>
                  </a:lnTo>
                  <a:lnTo>
                    <a:pt x="10225" y="281889"/>
                  </a:lnTo>
                  <a:lnTo>
                    <a:pt x="0" y="235966"/>
                  </a:lnTo>
                  <a:lnTo>
                    <a:pt x="0" y="189136"/>
                  </a:lnTo>
                  <a:lnTo>
                    <a:pt x="10225" y="143213"/>
                  </a:lnTo>
                  <a:lnTo>
                    <a:pt x="30675" y="100013"/>
                  </a:lnTo>
                  <a:lnTo>
                    <a:pt x="61351" y="61351"/>
                  </a:lnTo>
                  <a:lnTo>
                    <a:pt x="100013" y="30675"/>
                  </a:lnTo>
                  <a:lnTo>
                    <a:pt x="143213" y="10225"/>
                  </a:lnTo>
                  <a:lnTo>
                    <a:pt x="189136" y="0"/>
                  </a:lnTo>
                  <a:lnTo>
                    <a:pt x="235966" y="0"/>
                  </a:lnTo>
                  <a:lnTo>
                    <a:pt x="281889" y="10225"/>
                  </a:lnTo>
                  <a:lnTo>
                    <a:pt x="325089" y="30675"/>
                  </a:lnTo>
                  <a:lnTo>
                    <a:pt x="363751" y="61351"/>
                  </a:lnTo>
                  <a:lnTo>
                    <a:pt x="394427" y="100013"/>
                  </a:lnTo>
                  <a:lnTo>
                    <a:pt x="414877" y="143213"/>
                  </a:lnTo>
                  <a:lnTo>
                    <a:pt x="425102" y="189136"/>
                  </a:lnTo>
                  <a:lnTo>
                    <a:pt x="425102" y="235966"/>
                  </a:lnTo>
                  <a:lnTo>
                    <a:pt x="414877" y="281889"/>
                  </a:lnTo>
                  <a:lnTo>
                    <a:pt x="394427" y="325089"/>
                  </a:lnTo>
                  <a:lnTo>
                    <a:pt x="363751" y="363751"/>
                  </a:lnTo>
                  <a:close/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22043A1D-1E1E-536D-1212-AF2E09A3BCDC}"/>
                </a:ext>
              </a:extLst>
            </p:cNvPr>
            <p:cNvSpPr/>
            <p:nvPr/>
          </p:nvSpPr>
          <p:spPr>
            <a:xfrm>
              <a:off x="7615711" y="5157465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35966" y="0"/>
                  </a:moveTo>
                  <a:lnTo>
                    <a:pt x="189136" y="0"/>
                  </a:lnTo>
                  <a:lnTo>
                    <a:pt x="143213" y="10225"/>
                  </a:lnTo>
                  <a:lnTo>
                    <a:pt x="100013" y="30675"/>
                  </a:lnTo>
                  <a:lnTo>
                    <a:pt x="61350" y="61350"/>
                  </a:lnTo>
                  <a:lnTo>
                    <a:pt x="30675" y="100012"/>
                  </a:lnTo>
                  <a:lnTo>
                    <a:pt x="10225" y="143212"/>
                  </a:lnTo>
                  <a:lnTo>
                    <a:pt x="0" y="189135"/>
                  </a:lnTo>
                  <a:lnTo>
                    <a:pt x="0" y="235966"/>
                  </a:lnTo>
                  <a:lnTo>
                    <a:pt x="10225" y="281888"/>
                  </a:lnTo>
                  <a:lnTo>
                    <a:pt x="30675" y="325089"/>
                  </a:lnTo>
                  <a:lnTo>
                    <a:pt x="61350" y="363751"/>
                  </a:lnTo>
                  <a:lnTo>
                    <a:pt x="100013" y="394426"/>
                  </a:lnTo>
                  <a:lnTo>
                    <a:pt x="143213" y="414877"/>
                  </a:lnTo>
                  <a:lnTo>
                    <a:pt x="189136" y="425102"/>
                  </a:lnTo>
                  <a:lnTo>
                    <a:pt x="235966" y="425102"/>
                  </a:lnTo>
                  <a:lnTo>
                    <a:pt x="281889" y="414877"/>
                  </a:lnTo>
                  <a:lnTo>
                    <a:pt x="325089" y="394426"/>
                  </a:lnTo>
                  <a:lnTo>
                    <a:pt x="363752" y="363751"/>
                  </a:lnTo>
                  <a:lnTo>
                    <a:pt x="394427" y="325089"/>
                  </a:lnTo>
                  <a:lnTo>
                    <a:pt x="414877" y="281888"/>
                  </a:lnTo>
                  <a:lnTo>
                    <a:pt x="425102" y="235966"/>
                  </a:lnTo>
                  <a:lnTo>
                    <a:pt x="425102" y="189135"/>
                  </a:lnTo>
                  <a:lnTo>
                    <a:pt x="414877" y="143212"/>
                  </a:lnTo>
                  <a:lnTo>
                    <a:pt x="394427" y="100012"/>
                  </a:lnTo>
                  <a:lnTo>
                    <a:pt x="363752" y="61350"/>
                  </a:lnTo>
                  <a:lnTo>
                    <a:pt x="325089" y="30675"/>
                  </a:lnTo>
                  <a:lnTo>
                    <a:pt x="281889" y="10225"/>
                  </a:lnTo>
                  <a:lnTo>
                    <a:pt x="235966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3">
              <a:extLst>
                <a:ext uri="{FF2B5EF4-FFF2-40B4-BE49-F238E27FC236}">
                  <a16:creationId xmlns:a16="http://schemas.microsoft.com/office/drawing/2014/main" id="{6077F7B1-83B0-CAAE-B70E-A42611A1C20C}"/>
                </a:ext>
              </a:extLst>
            </p:cNvPr>
            <p:cNvSpPr/>
            <p:nvPr/>
          </p:nvSpPr>
          <p:spPr>
            <a:xfrm>
              <a:off x="7615711" y="5157464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363751" y="363751"/>
                  </a:moveTo>
                  <a:lnTo>
                    <a:pt x="325089" y="394427"/>
                  </a:lnTo>
                  <a:lnTo>
                    <a:pt x="281889" y="414877"/>
                  </a:lnTo>
                  <a:lnTo>
                    <a:pt x="235966" y="425102"/>
                  </a:lnTo>
                  <a:lnTo>
                    <a:pt x="189136" y="425102"/>
                  </a:lnTo>
                  <a:lnTo>
                    <a:pt x="143213" y="414877"/>
                  </a:lnTo>
                  <a:lnTo>
                    <a:pt x="100013" y="394427"/>
                  </a:lnTo>
                  <a:lnTo>
                    <a:pt x="61351" y="363751"/>
                  </a:lnTo>
                  <a:lnTo>
                    <a:pt x="30675" y="325089"/>
                  </a:lnTo>
                  <a:lnTo>
                    <a:pt x="10225" y="281889"/>
                  </a:lnTo>
                  <a:lnTo>
                    <a:pt x="0" y="235966"/>
                  </a:lnTo>
                  <a:lnTo>
                    <a:pt x="0" y="189136"/>
                  </a:lnTo>
                  <a:lnTo>
                    <a:pt x="10225" y="143213"/>
                  </a:lnTo>
                  <a:lnTo>
                    <a:pt x="30675" y="100013"/>
                  </a:lnTo>
                  <a:lnTo>
                    <a:pt x="61351" y="61351"/>
                  </a:lnTo>
                  <a:lnTo>
                    <a:pt x="100013" y="30675"/>
                  </a:lnTo>
                  <a:lnTo>
                    <a:pt x="143213" y="10225"/>
                  </a:lnTo>
                  <a:lnTo>
                    <a:pt x="189136" y="0"/>
                  </a:lnTo>
                  <a:lnTo>
                    <a:pt x="235966" y="0"/>
                  </a:lnTo>
                  <a:lnTo>
                    <a:pt x="281889" y="10225"/>
                  </a:lnTo>
                  <a:lnTo>
                    <a:pt x="325089" y="30675"/>
                  </a:lnTo>
                  <a:lnTo>
                    <a:pt x="363751" y="61351"/>
                  </a:lnTo>
                  <a:lnTo>
                    <a:pt x="394427" y="100013"/>
                  </a:lnTo>
                  <a:lnTo>
                    <a:pt x="414877" y="143213"/>
                  </a:lnTo>
                  <a:lnTo>
                    <a:pt x="425102" y="189136"/>
                  </a:lnTo>
                  <a:lnTo>
                    <a:pt x="425102" y="235966"/>
                  </a:lnTo>
                  <a:lnTo>
                    <a:pt x="414877" y="281889"/>
                  </a:lnTo>
                  <a:lnTo>
                    <a:pt x="394427" y="325089"/>
                  </a:lnTo>
                  <a:lnTo>
                    <a:pt x="363751" y="363751"/>
                  </a:lnTo>
                  <a:close/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5FBBE856-2C85-5A59-FA48-F9EA98A25C3D}"/>
                </a:ext>
              </a:extLst>
            </p:cNvPr>
            <p:cNvSpPr/>
            <p:nvPr/>
          </p:nvSpPr>
          <p:spPr>
            <a:xfrm>
              <a:off x="6888130" y="5157465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35966" y="0"/>
                  </a:moveTo>
                  <a:lnTo>
                    <a:pt x="189136" y="0"/>
                  </a:lnTo>
                  <a:lnTo>
                    <a:pt x="143213" y="10225"/>
                  </a:lnTo>
                  <a:lnTo>
                    <a:pt x="100013" y="30675"/>
                  </a:lnTo>
                  <a:lnTo>
                    <a:pt x="61351" y="61350"/>
                  </a:lnTo>
                  <a:lnTo>
                    <a:pt x="30675" y="100012"/>
                  </a:lnTo>
                  <a:lnTo>
                    <a:pt x="10225" y="143212"/>
                  </a:lnTo>
                  <a:lnTo>
                    <a:pt x="0" y="189135"/>
                  </a:lnTo>
                  <a:lnTo>
                    <a:pt x="0" y="235966"/>
                  </a:lnTo>
                  <a:lnTo>
                    <a:pt x="10225" y="281888"/>
                  </a:lnTo>
                  <a:lnTo>
                    <a:pt x="30675" y="325089"/>
                  </a:lnTo>
                  <a:lnTo>
                    <a:pt x="61351" y="363751"/>
                  </a:lnTo>
                  <a:lnTo>
                    <a:pt x="100013" y="394426"/>
                  </a:lnTo>
                  <a:lnTo>
                    <a:pt x="143213" y="414877"/>
                  </a:lnTo>
                  <a:lnTo>
                    <a:pt x="189136" y="425102"/>
                  </a:lnTo>
                  <a:lnTo>
                    <a:pt x="235966" y="425102"/>
                  </a:lnTo>
                  <a:lnTo>
                    <a:pt x="281889" y="414877"/>
                  </a:lnTo>
                  <a:lnTo>
                    <a:pt x="325089" y="394426"/>
                  </a:lnTo>
                  <a:lnTo>
                    <a:pt x="363751" y="363751"/>
                  </a:lnTo>
                  <a:lnTo>
                    <a:pt x="394427" y="325089"/>
                  </a:lnTo>
                  <a:lnTo>
                    <a:pt x="414877" y="281888"/>
                  </a:lnTo>
                  <a:lnTo>
                    <a:pt x="425102" y="235966"/>
                  </a:lnTo>
                  <a:lnTo>
                    <a:pt x="425102" y="189135"/>
                  </a:lnTo>
                  <a:lnTo>
                    <a:pt x="414877" y="143212"/>
                  </a:lnTo>
                  <a:lnTo>
                    <a:pt x="394427" y="100012"/>
                  </a:lnTo>
                  <a:lnTo>
                    <a:pt x="363751" y="61350"/>
                  </a:lnTo>
                  <a:lnTo>
                    <a:pt x="325089" y="30675"/>
                  </a:lnTo>
                  <a:lnTo>
                    <a:pt x="281889" y="10225"/>
                  </a:lnTo>
                  <a:lnTo>
                    <a:pt x="235966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5">
              <a:extLst>
                <a:ext uri="{FF2B5EF4-FFF2-40B4-BE49-F238E27FC236}">
                  <a16:creationId xmlns:a16="http://schemas.microsoft.com/office/drawing/2014/main" id="{675F8298-3B32-18C6-590D-513734E1D48E}"/>
                </a:ext>
              </a:extLst>
            </p:cNvPr>
            <p:cNvSpPr/>
            <p:nvPr/>
          </p:nvSpPr>
          <p:spPr>
            <a:xfrm>
              <a:off x="6888130" y="5157464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363751" y="363751"/>
                  </a:moveTo>
                  <a:lnTo>
                    <a:pt x="325089" y="394427"/>
                  </a:lnTo>
                  <a:lnTo>
                    <a:pt x="281889" y="414877"/>
                  </a:lnTo>
                  <a:lnTo>
                    <a:pt x="235966" y="425102"/>
                  </a:lnTo>
                  <a:lnTo>
                    <a:pt x="189136" y="425102"/>
                  </a:lnTo>
                  <a:lnTo>
                    <a:pt x="143213" y="414877"/>
                  </a:lnTo>
                  <a:lnTo>
                    <a:pt x="100013" y="394427"/>
                  </a:lnTo>
                  <a:lnTo>
                    <a:pt x="61351" y="363751"/>
                  </a:lnTo>
                  <a:lnTo>
                    <a:pt x="30675" y="325089"/>
                  </a:lnTo>
                  <a:lnTo>
                    <a:pt x="10225" y="281889"/>
                  </a:lnTo>
                  <a:lnTo>
                    <a:pt x="0" y="235966"/>
                  </a:lnTo>
                  <a:lnTo>
                    <a:pt x="0" y="189136"/>
                  </a:lnTo>
                  <a:lnTo>
                    <a:pt x="10225" y="143213"/>
                  </a:lnTo>
                  <a:lnTo>
                    <a:pt x="30675" y="100013"/>
                  </a:lnTo>
                  <a:lnTo>
                    <a:pt x="61351" y="61351"/>
                  </a:lnTo>
                  <a:lnTo>
                    <a:pt x="100013" y="30675"/>
                  </a:lnTo>
                  <a:lnTo>
                    <a:pt x="143213" y="10225"/>
                  </a:lnTo>
                  <a:lnTo>
                    <a:pt x="189136" y="0"/>
                  </a:lnTo>
                  <a:lnTo>
                    <a:pt x="235966" y="0"/>
                  </a:lnTo>
                  <a:lnTo>
                    <a:pt x="281889" y="10225"/>
                  </a:lnTo>
                  <a:lnTo>
                    <a:pt x="325089" y="30675"/>
                  </a:lnTo>
                  <a:lnTo>
                    <a:pt x="363751" y="61351"/>
                  </a:lnTo>
                  <a:lnTo>
                    <a:pt x="394427" y="100013"/>
                  </a:lnTo>
                  <a:lnTo>
                    <a:pt x="414877" y="143213"/>
                  </a:lnTo>
                  <a:lnTo>
                    <a:pt x="425102" y="189136"/>
                  </a:lnTo>
                  <a:lnTo>
                    <a:pt x="425102" y="235966"/>
                  </a:lnTo>
                  <a:lnTo>
                    <a:pt x="414877" y="281889"/>
                  </a:lnTo>
                  <a:lnTo>
                    <a:pt x="394427" y="325089"/>
                  </a:lnTo>
                  <a:lnTo>
                    <a:pt x="363751" y="363751"/>
                  </a:lnTo>
                  <a:close/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84E41595-4B2B-ED8A-CFB9-E02CCFAD8FF1}"/>
                </a:ext>
              </a:extLst>
            </p:cNvPr>
            <p:cNvSpPr/>
            <p:nvPr/>
          </p:nvSpPr>
          <p:spPr>
            <a:xfrm>
              <a:off x="6160548" y="5157465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35966" y="0"/>
                  </a:moveTo>
                  <a:lnTo>
                    <a:pt x="189135" y="0"/>
                  </a:lnTo>
                  <a:lnTo>
                    <a:pt x="143212" y="10225"/>
                  </a:lnTo>
                  <a:lnTo>
                    <a:pt x="100012" y="30675"/>
                  </a:lnTo>
                  <a:lnTo>
                    <a:pt x="61350" y="61350"/>
                  </a:lnTo>
                  <a:lnTo>
                    <a:pt x="30675" y="100012"/>
                  </a:lnTo>
                  <a:lnTo>
                    <a:pt x="10225" y="143212"/>
                  </a:lnTo>
                  <a:lnTo>
                    <a:pt x="0" y="189135"/>
                  </a:lnTo>
                  <a:lnTo>
                    <a:pt x="0" y="235966"/>
                  </a:lnTo>
                  <a:lnTo>
                    <a:pt x="10225" y="281888"/>
                  </a:lnTo>
                  <a:lnTo>
                    <a:pt x="30675" y="325089"/>
                  </a:lnTo>
                  <a:lnTo>
                    <a:pt x="61350" y="363751"/>
                  </a:lnTo>
                  <a:lnTo>
                    <a:pt x="100012" y="394426"/>
                  </a:lnTo>
                  <a:lnTo>
                    <a:pt x="143212" y="414877"/>
                  </a:lnTo>
                  <a:lnTo>
                    <a:pt x="189135" y="425102"/>
                  </a:lnTo>
                  <a:lnTo>
                    <a:pt x="235966" y="425102"/>
                  </a:lnTo>
                  <a:lnTo>
                    <a:pt x="281888" y="414877"/>
                  </a:lnTo>
                  <a:lnTo>
                    <a:pt x="325089" y="394426"/>
                  </a:lnTo>
                  <a:lnTo>
                    <a:pt x="363751" y="363751"/>
                  </a:lnTo>
                  <a:lnTo>
                    <a:pt x="394426" y="325089"/>
                  </a:lnTo>
                  <a:lnTo>
                    <a:pt x="414876" y="281888"/>
                  </a:lnTo>
                  <a:lnTo>
                    <a:pt x="425101" y="235966"/>
                  </a:lnTo>
                  <a:lnTo>
                    <a:pt x="425101" y="189135"/>
                  </a:lnTo>
                  <a:lnTo>
                    <a:pt x="414876" y="143212"/>
                  </a:lnTo>
                  <a:lnTo>
                    <a:pt x="394426" y="100012"/>
                  </a:lnTo>
                  <a:lnTo>
                    <a:pt x="363751" y="61350"/>
                  </a:lnTo>
                  <a:lnTo>
                    <a:pt x="325089" y="30675"/>
                  </a:lnTo>
                  <a:lnTo>
                    <a:pt x="281888" y="10225"/>
                  </a:lnTo>
                  <a:lnTo>
                    <a:pt x="235966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3B432388-6220-8FCC-A5C0-F9F29A56F2B5}"/>
                </a:ext>
              </a:extLst>
            </p:cNvPr>
            <p:cNvSpPr/>
            <p:nvPr/>
          </p:nvSpPr>
          <p:spPr>
            <a:xfrm>
              <a:off x="6160548" y="5157464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363751" y="363751"/>
                  </a:moveTo>
                  <a:lnTo>
                    <a:pt x="325089" y="394427"/>
                  </a:lnTo>
                  <a:lnTo>
                    <a:pt x="281889" y="414877"/>
                  </a:lnTo>
                  <a:lnTo>
                    <a:pt x="235966" y="425102"/>
                  </a:lnTo>
                  <a:lnTo>
                    <a:pt x="189136" y="425102"/>
                  </a:lnTo>
                  <a:lnTo>
                    <a:pt x="143213" y="414877"/>
                  </a:lnTo>
                  <a:lnTo>
                    <a:pt x="100013" y="394427"/>
                  </a:lnTo>
                  <a:lnTo>
                    <a:pt x="61351" y="363751"/>
                  </a:lnTo>
                  <a:lnTo>
                    <a:pt x="30675" y="325089"/>
                  </a:lnTo>
                  <a:lnTo>
                    <a:pt x="10225" y="281889"/>
                  </a:lnTo>
                  <a:lnTo>
                    <a:pt x="0" y="235966"/>
                  </a:lnTo>
                  <a:lnTo>
                    <a:pt x="0" y="189136"/>
                  </a:lnTo>
                  <a:lnTo>
                    <a:pt x="10225" y="143213"/>
                  </a:lnTo>
                  <a:lnTo>
                    <a:pt x="30675" y="100013"/>
                  </a:lnTo>
                  <a:lnTo>
                    <a:pt x="61351" y="61351"/>
                  </a:lnTo>
                  <a:lnTo>
                    <a:pt x="100013" y="30675"/>
                  </a:lnTo>
                  <a:lnTo>
                    <a:pt x="143213" y="10225"/>
                  </a:lnTo>
                  <a:lnTo>
                    <a:pt x="189136" y="0"/>
                  </a:lnTo>
                  <a:lnTo>
                    <a:pt x="235966" y="0"/>
                  </a:lnTo>
                  <a:lnTo>
                    <a:pt x="281889" y="10225"/>
                  </a:lnTo>
                  <a:lnTo>
                    <a:pt x="325089" y="30675"/>
                  </a:lnTo>
                  <a:lnTo>
                    <a:pt x="363751" y="61351"/>
                  </a:lnTo>
                  <a:lnTo>
                    <a:pt x="394427" y="100013"/>
                  </a:lnTo>
                  <a:lnTo>
                    <a:pt x="414877" y="143213"/>
                  </a:lnTo>
                  <a:lnTo>
                    <a:pt x="425102" y="189136"/>
                  </a:lnTo>
                  <a:lnTo>
                    <a:pt x="425102" y="235966"/>
                  </a:lnTo>
                  <a:lnTo>
                    <a:pt x="414877" y="281889"/>
                  </a:lnTo>
                  <a:lnTo>
                    <a:pt x="394427" y="325089"/>
                  </a:lnTo>
                  <a:lnTo>
                    <a:pt x="363751" y="363751"/>
                  </a:lnTo>
                  <a:close/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8">
              <a:extLst>
                <a:ext uri="{FF2B5EF4-FFF2-40B4-BE49-F238E27FC236}">
                  <a16:creationId xmlns:a16="http://schemas.microsoft.com/office/drawing/2014/main" id="{F1DEE36F-C8D9-49B7-5F2F-517A815FE589}"/>
                </a:ext>
              </a:extLst>
            </p:cNvPr>
            <p:cNvSpPr/>
            <p:nvPr/>
          </p:nvSpPr>
          <p:spPr>
            <a:xfrm>
              <a:off x="8707085" y="6482595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35966" y="0"/>
                  </a:moveTo>
                  <a:lnTo>
                    <a:pt x="189135" y="0"/>
                  </a:lnTo>
                  <a:lnTo>
                    <a:pt x="143212" y="10225"/>
                  </a:lnTo>
                  <a:lnTo>
                    <a:pt x="100012" y="30675"/>
                  </a:lnTo>
                  <a:lnTo>
                    <a:pt x="61350" y="61350"/>
                  </a:lnTo>
                  <a:lnTo>
                    <a:pt x="30675" y="100012"/>
                  </a:lnTo>
                  <a:lnTo>
                    <a:pt x="10225" y="143212"/>
                  </a:lnTo>
                  <a:lnTo>
                    <a:pt x="0" y="189135"/>
                  </a:lnTo>
                  <a:lnTo>
                    <a:pt x="0" y="235966"/>
                  </a:lnTo>
                  <a:lnTo>
                    <a:pt x="10225" y="281888"/>
                  </a:lnTo>
                  <a:lnTo>
                    <a:pt x="30675" y="325089"/>
                  </a:lnTo>
                  <a:lnTo>
                    <a:pt x="61350" y="363751"/>
                  </a:lnTo>
                  <a:lnTo>
                    <a:pt x="100012" y="394426"/>
                  </a:lnTo>
                  <a:lnTo>
                    <a:pt x="143212" y="414877"/>
                  </a:lnTo>
                  <a:lnTo>
                    <a:pt x="189135" y="425102"/>
                  </a:lnTo>
                  <a:lnTo>
                    <a:pt x="235966" y="425102"/>
                  </a:lnTo>
                  <a:lnTo>
                    <a:pt x="281888" y="414877"/>
                  </a:lnTo>
                  <a:lnTo>
                    <a:pt x="325089" y="394426"/>
                  </a:lnTo>
                  <a:lnTo>
                    <a:pt x="363751" y="363751"/>
                  </a:lnTo>
                  <a:lnTo>
                    <a:pt x="394426" y="325089"/>
                  </a:lnTo>
                  <a:lnTo>
                    <a:pt x="414877" y="281888"/>
                  </a:lnTo>
                  <a:lnTo>
                    <a:pt x="425102" y="235966"/>
                  </a:lnTo>
                  <a:lnTo>
                    <a:pt x="425102" y="189135"/>
                  </a:lnTo>
                  <a:lnTo>
                    <a:pt x="414877" y="143212"/>
                  </a:lnTo>
                  <a:lnTo>
                    <a:pt x="394426" y="100012"/>
                  </a:lnTo>
                  <a:lnTo>
                    <a:pt x="363751" y="61350"/>
                  </a:lnTo>
                  <a:lnTo>
                    <a:pt x="325089" y="30675"/>
                  </a:lnTo>
                  <a:lnTo>
                    <a:pt x="281888" y="10225"/>
                  </a:lnTo>
                  <a:lnTo>
                    <a:pt x="235966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9">
              <a:extLst>
                <a:ext uri="{FF2B5EF4-FFF2-40B4-BE49-F238E27FC236}">
                  <a16:creationId xmlns:a16="http://schemas.microsoft.com/office/drawing/2014/main" id="{3C725C1B-AE18-59DE-7C72-082909E16E4C}"/>
                </a:ext>
              </a:extLst>
            </p:cNvPr>
            <p:cNvSpPr/>
            <p:nvPr/>
          </p:nvSpPr>
          <p:spPr>
            <a:xfrm>
              <a:off x="8707084" y="6482594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363751" y="363751"/>
                  </a:moveTo>
                  <a:lnTo>
                    <a:pt x="325089" y="394427"/>
                  </a:lnTo>
                  <a:lnTo>
                    <a:pt x="281889" y="414877"/>
                  </a:lnTo>
                  <a:lnTo>
                    <a:pt x="235966" y="425102"/>
                  </a:lnTo>
                  <a:lnTo>
                    <a:pt x="189136" y="425102"/>
                  </a:lnTo>
                  <a:lnTo>
                    <a:pt x="143213" y="414877"/>
                  </a:lnTo>
                  <a:lnTo>
                    <a:pt x="100013" y="394427"/>
                  </a:lnTo>
                  <a:lnTo>
                    <a:pt x="61351" y="363751"/>
                  </a:lnTo>
                  <a:lnTo>
                    <a:pt x="30675" y="325089"/>
                  </a:lnTo>
                  <a:lnTo>
                    <a:pt x="10225" y="281889"/>
                  </a:lnTo>
                  <a:lnTo>
                    <a:pt x="0" y="235966"/>
                  </a:lnTo>
                  <a:lnTo>
                    <a:pt x="0" y="189136"/>
                  </a:lnTo>
                  <a:lnTo>
                    <a:pt x="10225" y="143213"/>
                  </a:lnTo>
                  <a:lnTo>
                    <a:pt x="30675" y="100013"/>
                  </a:lnTo>
                  <a:lnTo>
                    <a:pt x="61351" y="61351"/>
                  </a:lnTo>
                  <a:lnTo>
                    <a:pt x="100013" y="30675"/>
                  </a:lnTo>
                  <a:lnTo>
                    <a:pt x="143213" y="10225"/>
                  </a:lnTo>
                  <a:lnTo>
                    <a:pt x="189136" y="0"/>
                  </a:lnTo>
                  <a:lnTo>
                    <a:pt x="235966" y="0"/>
                  </a:lnTo>
                  <a:lnTo>
                    <a:pt x="281889" y="10225"/>
                  </a:lnTo>
                  <a:lnTo>
                    <a:pt x="325089" y="30675"/>
                  </a:lnTo>
                  <a:lnTo>
                    <a:pt x="363751" y="61351"/>
                  </a:lnTo>
                  <a:lnTo>
                    <a:pt x="394427" y="100013"/>
                  </a:lnTo>
                  <a:lnTo>
                    <a:pt x="414877" y="143213"/>
                  </a:lnTo>
                  <a:lnTo>
                    <a:pt x="425102" y="189136"/>
                  </a:lnTo>
                  <a:lnTo>
                    <a:pt x="425102" y="235966"/>
                  </a:lnTo>
                  <a:lnTo>
                    <a:pt x="414877" y="281889"/>
                  </a:lnTo>
                  <a:lnTo>
                    <a:pt x="394427" y="325089"/>
                  </a:lnTo>
                  <a:lnTo>
                    <a:pt x="363751" y="363751"/>
                  </a:lnTo>
                  <a:close/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0">
              <a:extLst>
                <a:ext uri="{FF2B5EF4-FFF2-40B4-BE49-F238E27FC236}">
                  <a16:creationId xmlns:a16="http://schemas.microsoft.com/office/drawing/2014/main" id="{68CA5596-713B-67A6-5A7E-90A2938B1143}"/>
                </a:ext>
              </a:extLst>
            </p:cNvPr>
            <p:cNvSpPr/>
            <p:nvPr/>
          </p:nvSpPr>
          <p:spPr>
            <a:xfrm>
              <a:off x="7979502" y="6482595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35966" y="0"/>
                  </a:moveTo>
                  <a:lnTo>
                    <a:pt x="189136" y="0"/>
                  </a:lnTo>
                  <a:lnTo>
                    <a:pt x="143213" y="10225"/>
                  </a:lnTo>
                  <a:lnTo>
                    <a:pt x="100013" y="30675"/>
                  </a:lnTo>
                  <a:lnTo>
                    <a:pt x="61350" y="61350"/>
                  </a:lnTo>
                  <a:lnTo>
                    <a:pt x="30675" y="100012"/>
                  </a:lnTo>
                  <a:lnTo>
                    <a:pt x="10225" y="143212"/>
                  </a:lnTo>
                  <a:lnTo>
                    <a:pt x="0" y="189135"/>
                  </a:lnTo>
                  <a:lnTo>
                    <a:pt x="0" y="235966"/>
                  </a:lnTo>
                  <a:lnTo>
                    <a:pt x="10225" y="281888"/>
                  </a:lnTo>
                  <a:lnTo>
                    <a:pt x="30675" y="325089"/>
                  </a:lnTo>
                  <a:lnTo>
                    <a:pt x="61350" y="363751"/>
                  </a:lnTo>
                  <a:lnTo>
                    <a:pt x="100013" y="394426"/>
                  </a:lnTo>
                  <a:lnTo>
                    <a:pt x="143213" y="414877"/>
                  </a:lnTo>
                  <a:lnTo>
                    <a:pt x="189136" y="425102"/>
                  </a:lnTo>
                  <a:lnTo>
                    <a:pt x="235966" y="425102"/>
                  </a:lnTo>
                  <a:lnTo>
                    <a:pt x="281889" y="414877"/>
                  </a:lnTo>
                  <a:lnTo>
                    <a:pt x="325089" y="394426"/>
                  </a:lnTo>
                  <a:lnTo>
                    <a:pt x="363752" y="363751"/>
                  </a:lnTo>
                  <a:lnTo>
                    <a:pt x="394427" y="325089"/>
                  </a:lnTo>
                  <a:lnTo>
                    <a:pt x="414877" y="281888"/>
                  </a:lnTo>
                  <a:lnTo>
                    <a:pt x="425102" y="235966"/>
                  </a:lnTo>
                  <a:lnTo>
                    <a:pt x="425102" y="189135"/>
                  </a:lnTo>
                  <a:lnTo>
                    <a:pt x="414877" y="143212"/>
                  </a:lnTo>
                  <a:lnTo>
                    <a:pt x="394427" y="100012"/>
                  </a:lnTo>
                  <a:lnTo>
                    <a:pt x="363752" y="61350"/>
                  </a:lnTo>
                  <a:lnTo>
                    <a:pt x="325089" y="30675"/>
                  </a:lnTo>
                  <a:lnTo>
                    <a:pt x="281889" y="10225"/>
                  </a:lnTo>
                  <a:lnTo>
                    <a:pt x="235966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1">
              <a:extLst>
                <a:ext uri="{FF2B5EF4-FFF2-40B4-BE49-F238E27FC236}">
                  <a16:creationId xmlns:a16="http://schemas.microsoft.com/office/drawing/2014/main" id="{E10B5B4E-5712-59EE-B9A6-35208485EA89}"/>
                </a:ext>
              </a:extLst>
            </p:cNvPr>
            <p:cNvSpPr/>
            <p:nvPr/>
          </p:nvSpPr>
          <p:spPr>
            <a:xfrm>
              <a:off x="7979502" y="6482594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363751" y="363751"/>
                  </a:moveTo>
                  <a:lnTo>
                    <a:pt x="325089" y="394427"/>
                  </a:lnTo>
                  <a:lnTo>
                    <a:pt x="281889" y="414877"/>
                  </a:lnTo>
                  <a:lnTo>
                    <a:pt x="235966" y="425102"/>
                  </a:lnTo>
                  <a:lnTo>
                    <a:pt x="189136" y="425102"/>
                  </a:lnTo>
                  <a:lnTo>
                    <a:pt x="143213" y="414877"/>
                  </a:lnTo>
                  <a:lnTo>
                    <a:pt x="100013" y="394427"/>
                  </a:lnTo>
                  <a:lnTo>
                    <a:pt x="61351" y="363751"/>
                  </a:lnTo>
                  <a:lnTo>
                    <a:pt x="30675" y="325089"/>
                  </a:lnTo>
                  <a:lnTo>
                    <a:pt x="10225" y="281889"/>
                  </a:lnTo>
                  <a:lnTo>
                    <a:pt x="0" y="235966"/>
                  </a:lnTo>
                  <a:lnTo>
                    <a:pt x="0" y="189136"/>
                  </a:lnTo>
                  <a:lnTo>
                    <a:pt x="10225" y="143213"/>
                  </a:lnTo>
                  <a:lnTo>
                    <a:pt x="30675" y="100013"/>
                  </a:lnTo>
                  <a:lnTo>
                    <a:pt x="61351" y="61351"/>
                  </a:lnTo>
                  <a:lnTo>
                    <a:pt x="100013" y="30675"/>
                  </a:lnTo>
                  <a:lnTo>
                    <a:pt x="143213" y="10225"/>
                  </a:lnTo>
                  <a:lnTo>
                    <a:pt x="189136" y="0"/>
                  </a:lnTo>
                  <a:lnTo>
                    <a:pt x="235966" y="0"/>
                  </a:lnTo>
                  <a:lnTo>
                    <a:pt x="281889" y="10225"/>
                  </a:lnTo>
                  <a:lnTo>
                    <a:pt x="325089" y="30675"/>
                  </a:lnTo>
                  <a:lnTo>
                    <a:pt x="363751" y="61351"/>
                  </a:lnTo>
                  <a:lnTo>
                    <a:pt x="394427" y="100013"/>
                  </a:lnTo>
                  <a:lnTo>
                    <a:pt x="414877" y="143213"/>
                  </a:lnTo>
                  <a:lnTo>
                    <a:pt x="425102" y="189136"/>
                  </a:lnTo>
                  <a:lnTo>
                    <a:pt x="425102" y="235966"/>
                  </a:lnTo>
                  <a:lnTo>
                    <a:pt x="414877" y="281889"/>
                  </a:lnTo>
                  <a:lnTo>
                    <a:pt x="394427" y="325089"/>
                  </a:lnTo>
                  <a:lnTo>
                    <a:pt x="363751" y="363751"/>
                  </a:lnTo>
                  <a:close/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BB71F8B7-F283-4F6C-37D6-ED202B10CB3A}"/>
                </a:ext>
              </a:extLst>
            </p:cNvPr>
            <p:cNvSpPr/>
            <p:nvPr/>
          </p:nvSpPr>
          <p:spPr>
            <a:xfrm>
              <a:off x="6524339" y="6482595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235966" y="0"/>
                  </a:moveTo>
                  <a:lnTo>
                    <a:pt x="189136" y="0"/>
                  </a:lnTo>
                  <a:lnTo>
                    <a:pt x="143213" y="10225"/>
                  </a:lnTo>
                  <a:lnTo>
                    <a:pt x="100013" y="30675"/>
                  </a:lnTo>
                  <a:lnTo>
                    <a:pt x="61351" y="61350"/>
                  </a:lnTo>
                  <a:lnTo>
                    <a:pt x="30675" y="100012"/>
                  </a:lnTo>
                  <a:lnTo>
                    <a:pt x="10225" y="143212"/>
                  </a:lnTo>
                  <a:lnTo>
                    <a:pt x="0" y="189135"/>
                  </a:lnTo>
                  <a:lnTo>
                    <a:pt x="0" y="235966"/>
                  </a:lnTo>
                  <a:lnTo>
                    <a:pt x="10225" y="281888"/>
                  </a:lnTo>
                  <a:lnTo>
                    <a:pt x="30675" y="325089"/>
                  </a:lnTo>
                  <a:lnTo>
                    <a:pt x="61351" y="363751"/>
                  </a:lnTo>
                  <a:lnTo>
                    <a:pt x="100013" y="394426"/>
                  </a:lnTo>
                  <a:lnTo>
                    <a:pt x="143213" y="414877"/>
                  </a:lnTo>
                  <a:lnTo>
                    <a:pt x="189136" y="425102"/>
                  </a:lnTo>
                  <a:lnTo>
                    <a:pt x="235966" y="425102"/>
                  </a:lnTo>
                  <a:lnTo>
                    <a:pt x="281889" y="414877"/>
                  </a:lnTo>
                  <a:lnTo>
                    <a:pt x="325089" y="394426"/>
                  </a:lnTo>
                  <a:lnTo>
                    <a:pt x="363751" y="363751"/>
                  </a:lnTo>
                  <a:lnTo>
                    <a:pt x="394427" y="325089"/>
                  </a:lnTo>
                  <a:lnTo>
                    <a:pt x="414877" y="281888"/>
                  </a:lnTo>
                  <a:lnTo>
                    <a:pt x="425102" y="235966"/>
                  </a:lnTo>
                  <a:lnTo>
                    <a:pt x="425102" y="189135"/>
                  </a:lnTo>
                  <a:lnTo>
                    <a:pt x="414877" y="143212"/>
                  </a:lnTo>
                  <a:lnTo>
                    <a:pt x="394427" y="100012"/>
                  </a:lnTo>
                  <a:lnTo>
                    <a:pt x="363751" y="61350"/>
                  </a:lnTo>
                  <a:lnTo>
                    <a:pt x="325089" y="30675"/>
                  </a:lnTo>
                  <a:lnTo>
                    <a:pt x="281889" y="10225"/>
                  </a:lnTo>
                  <a:lnTo>
                    <a:pt x="235966" y="0"/>
                  </a:lnTo>
                  <a:close/>
                </a:path>
              </a:pathLst>
            </a:custGeom>
            <a:solidFill>
              <a:srgbClr val="CFE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3">
              <a:extLst>
                <a:ext uri="{FF2B5EF4-FFF2-40B4-BE49-F238E27FC236}">
                  <a16:creationId xmlns:a16="http://schemas.microsoft.com/office/drawing/2014/main" id="{521A189B-9A22-2981-E626-C0F3EBC6E34D}"/>
                </a:ext>
              </a:extLst>
            </p:cNvPr>
            <p:cNvSpPr/>
            <p:nvPr/>
          </p:nvSpPr>
          <p:spPr>
            <a:xfrm>
              <a:off x="6524339" y="6482594"/>
              <a:ext cx="425450" cy="425450"/>
            </a:xfrm>
            <a:custGeom>
              <a:avLst/>
              <a:gdLst/>
              <a:ahLst/>
              <a:cxnLst/>
              <a:rect l="l" t="t" r="r" b="b"/>
              <a:pathLst>
                <a:path w="425450" h="425450">
                  <a:moveTo>
                    <a:pt x="363751" y="363751"/>
                  </a:moveTo>
                  <a:lnTo>
                    <a:pt x="325089" y="394427"/>
                  </a:lnTo>
                  <a:lnTo>
                    <a:pt x="281889" y="414877"/>
                  </a:lnTo>
                  <a:lnTo>
                    <a:pt x="235966" y="425102"/>
                  </a:lnTo>
                  <a:lnTo>
                    <a:pt x="189136" y="425102"/>
                  </a:lnTo>
                  <a:lnTo>
                    <a:pt x="143213" y="414877"/>
                  </a:lnTo>
                  <a:lnTo>
                    <a:pt x="100013" y="394427"/>
                  </a:lnTo>
                  <a:lnTo>
                    <a:pt x="61351" y="363751"/>
                  </a:lnTo>
                  <a:lnTo>
                    <a:pt x="30675" y="325089"/>
                  </a:lnTo>
                  <a:lnTo>
                    <a:pt x="10225" y="281889"/>
                  </a:lnTo>
                  <a:lnTo>
                    <a:pt x="0" y="235966"/>
                  </a:lnTo>
                  <a:lnTo>
                    <a:pt x="0" y="189136"/>
                  </a:lnTo>
                  <a:lnTo>
                    <a:pt x="10225" y="143213"/>
                  </a:lnTo>
                  <a:lnTo>
                    <a:pt x="30675" y="100013"/>
                  </a:lnTo>
                  <a:lnTo>
                    <a:pt x="61351" y="61351"/>
                  </a:lnTo>
                  <a:lnTo>
                    <a:pt x="100013" y="30675"/>
                  </a:lnTo>
                  <a:lnTo>
                    <a:pt x="143213" y="10225"/>
                  </a:lnTo>
                  <a:lnTo>
                    <a:pt x="189136" y="0"/>
                  </a:lnTo>
                  <a:lnTo>
                    <a:pt x="235966" y="0"/>
                  </a:lnTo>
                  <a:lnTo>
                    <a:pt x="281889" y="10225"/>
                  </a:lnTo>
                  <a:lnTo>
                    <a:pt x="325089" y="30675"/>
                  </a:lnTo>
                  <a:lnTo>
                    <a:pt x="363751" y="61351"/>
                  </a:lnTo>
                  <a:lnTo>
                    <a:pt x="394427" y="100013"/>
                  </a:lnTo>
                  <a:lnTo>
                    <a:pt x="414877" y="143213"/>
                  </a:lnTo>
                  <a:lnTo>
                    <a:pt x="425102" y="189136"/>
                  </a:lnTo>
                  <a:lnTo>
                    <a:pt x="425102" y="235966"/>
                  </a:lnTo>
                  <a:lnTo>
                    <a:pt x="414877" y="281889"/>
                  </a:lnTo>
                  <a:lnTo>
                    <a:pt x="394427" y="325089"/>
                  </a:lnTo>
                  <a:lnTo>
                    <a:pt x="363751" y="363751"/>
                  </a:lnTo>
                  <a:close/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4">
              <a:extLst>
                <a:ext uri="{FF2B5EF4-FFF2-40B4-BE49-F238E27FC236}">
                  <a16:creationId xmlns:a16="http://schemas.microsoft.com/office/drawing/2014/main" id="{FD920467-5FBA-99B6-1ECA-CE1340367EDA}"/>
                </a:ext>
              </a:extLst>
            </p:cNvPr>
            <p:cNvSpPr/>
            <p:nvPr/>
          </p:nvSpPr>
          <p:spPr>
            <a:xfrm>
              <a:off x="6376092" y="5581113"/>
              <a:ext cx="374015" cy="835660"/>
            </a:xfrm>
            <a:custGeom>
              <a:avLst/>
              <a:gdLst/>
              <a:ahLst/>
              <a:cxnLst/>
              <a:rect l="l" t="t" r="r" b="b"/>
              <a:pathLst>
                <a:path w="374015" h="835660">
                  <a:moveTo>
                    <a:pt x="0" y="0"/>
                  </a:moveTo>
                  <a:lnTo>
                    <a:pt x="368059" y="823653"/>
                  </a:lnTo>
                  <a:lnTo>
                    <a:pt x="373399" y="835603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5">
              <a:extLst>
                <a:ext uri="{FF2B5EF4-FFF2-40B4-BE49-F238E27FC236}">
                  <a16:creationId xmlns:a16="http://schemas.microsoft.com/office/drawing/2014/main" id="{2EAA15F0-C4D4-E0DA-F766-786F3249A1D6}"/>
                </a:ext>
              </a:extLst>
            </p:cNvPr>
            <p:cNvSpPr/>
            <p:nvPr/>
          </p:nvSpPr>
          <p:spPr>
            <a:xfrm>
              <a:off x="6677485" y="6353171"/>
              <a:ext cx="109220" cy="133350"/>
            </a:xfrm>
            <a:custGeom>
              <a:avLst/>
              <a:gdLst/>
              <a:ahLst/>
              <a:cxnLst/>
              <a:rect l="l" t="t" r="r" b="b"/>
              <a:pathLst>
                <a:path w="109220" h="133350">
                  <a:moveTo>
                    <a:pt x="108982" y="0"/>
                  </a:moveTo>
                  <a:lnTo>
                    <a:pt x="66666" y="51595"/>
                  </a:lnTo>
                  <a:lnTo>
                    <a:pt x="0" y="48700"/>
                  </a:lnTo>
                  <a:lnTo>
                    <a:pt x="103191" y="133332"/>
                  </a:lnTo>
                  <a:lnTo>
                    <a:pt x="1089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6">
              <a:extLst>
                <a:ext uri="{FF2B5EF4-FFF2-40B4-BE49-F238E27FC236}">
                  <a16:creationId xmlns:a16="http://schemas.microsoft.com/office/drawing/2014/main" id="{56AD0C01-C479-6AE1-83AC-F6E9EBE4C89B}"/>
                </a:ext>
              </a:extLst>
            </p:cNvPr>
            <p:cNvSpPr/>
            <p:nvPr/>
          </p:nvSpPr>
          <p:spPr>
            <a:xfrm>
              <a:off x="7833129" y="5581113"/>
              <a:ext cx="374015" cy="835660"/>
            </a:xfrm>
            <a:custGeom>
              <a:avLst/>
              <a:gdLst/>
              <a:ahLst/>
              <a:cxnLst/>
              <a:rect l="l" t="t" r="r" b="b"/>
              <a:pathLst>
                <a:path w="374015" h="835660">
                  <a:moveTo>
                    <a:pt x="0" y="0"/>
                  </a:moveTo>
                  <a:lnTo>
                    <a:pt x="368059" y="823653"/>
                  </a:lnTo>
                  <a:lnTo>
                    <a:pt x="373399" y="835603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7">
              <a:extLst>
                <a:ext uri="{FF2B5EF4-FFF2-40B4-BE49-F238E27FC236}">
                  <a16:creationId xmlns:a16="http://schemas.microsoft.com/office/drawing/2014/main" id="{69EEC463-975E-3F30-FA51-79137A6DD785}"/>
                </a:ext>
              </a:extLst>
            </p:cNvPr>
            <p:cNvSpPr/>
            <p:nvPr/>
          </p:nvSpPr>
          <p:spPr>
            <a:xfrm>
              <a:off x="8134523" y="6353171"/>
              <a:ext cx="109220" cy="133350"/>
            </a:xfrm>
            <a:custGeom>
              <a:avLst/>
              <a:gdLst/>
              <a:ahLst/>
              <a:cxnLst/>
              <a:rect l="l" t="t" r="r" b="b"/>
              <a:pathLst>
                <a:path w="109220" h="133350">
                  <a:moveTo>
                    <a:pt x="108982" y="0"/>
                  </a:moveTo>
                  <a:lnTo>
                    <a:pt x="66666" y="51595"/>
                  </a:lnTo>
                  <a:lnTo>
                    <a:pt x="0" y="48700"/>
                  </a:lnTo>
                  <a:lnTo>
                    <a:pt x="103190" y="133332"/>
                  </a:lnTo>
                  <a:lnTo>
                    <a:pt x="1089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8">
              <a:extLst>
                <a:ext uri="{FF2B5EF4-FFF2-40B4-BE49-F238E27FC236}">
                  <a16:creationId xmlns:a16="http://schemas.microsoft.com/office/drawing/2014/main" id="{B6AA797F-5ADD-3C70-B4BC-81422BD05BFE}"/>
                </a:ext>
              </a:extLst>
            </p:cNvPr>
            <p:cNvSpPr/>
            <p:nvPr/>
          </p:nvSpPr>
          <p:spPr>
            <a:xfrm>
              <a:off x="6805975" y="5576995"/>
              <a:ext cx="304800" cy="841375"/>
            </a:xfrm>
            <a:custGeom>
              <a:avLst/>
              <a:gdLst/>
              <a:ahLst/>
              <a:cxnLst/>
              <a:rect l="l" t="t" r="r" b="b"/>
              <a:pathLst>
                <a:path w="304800" h="841375">
                  <a:moveTo>
                    <a:pt x="304191" y="0"/>
                  </a:moveTo>
                  <a:lnTo>
                    <a:pt x="4450" y="828992"/>
                  </a:lnTo>
                  <a:lnTo>
                    <a:pt x="0" y="841301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9">
              <a:extLst>
                <a:ext uri="{FF2B5EF4-FFF2-40B4-BE49-F238E27FC236}">
                  <a16:creationId xmlns:a16="http://schemas.microsoft.com/office/drawing/2014/main" id="{FEDAC1F6-F139-5106-94C0-D748D3C01815}"/>
                </a:ext>
              </a:extLst>
            </p:cNvPr>
            <p:cNvSpPr/>
            <p:nvPr/>
          </p:nvSpPr>
          <p:spPr>
            <a:xfrm>
              <a:off x="6764445" y="6357629"/>
              <a:ext cx="112395" cy="132715"/>
            </a:xfrm>
            <a:custGeom>
              <a:avLst/>
              <a:gdLst/>
              <a:ahLst/>
              <a:cxnLst/>
              <a:rect l="l" t="t" r="r" b="b"/>
              <a:pathLst>
                <a:path w="112395" h="132714">
                  <a:moveTo>
                    <a:pt x="0" y="0"/>
                  </a:moveTo>
                  <a:lnTo>
                    <a:pt x="15539" y="132549"/>
                  </a:lnTo>
                  <a:lnTo>
                    <a:pt x="112256" y="40589"/>
                  </a:lnTo>
                  <a:lnTo>
                    <a:pt x="45980" y="483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30">
              <a:extLst>
                <a:ext uri="{FF2B5EF4-FFF2-40B4-BE49-F238E27FC236}">
                  <a16:creationId xmlns:a16="http://schemas.microsoft.com/office/drawing/2014/main" id="{F0DE7F8F-D8E3-0F00-C83E-385E5729223E}"/>
                </a:ext>
              </a:extLst>
            </p:cNvPr>
            <p:cNvSpPr/>
            <p:nvPr/>
          </p:nvSpPr>
          <p:spPr>
            <a:xfrm>
              <a:off x="8247480" y="5584364"/>
              <a:ext cx="304800" cy="841375"/>
            </a:xfrm>
            <a:custGeom>
              <a:avLst/>
              <a:gdLst/>
              <a:ahLst/>
              <a:cxnLst/>
              <a:rect l="l" t="t" r="r" b="b"/>
              <a:pathLst>
                <a:path w="304800" h="841375">
                  <a:moveTo>
                    <a:pt x="304191" y="0"/>
                  </a:moveTo>
                  <a:lnTo>
                    <a:pt x="4450" y="828992"/>
                  </a:lnTo>
                  <a:lnTo>
                    <a:pt x="0" y="841301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31">
              <a:extLst>
                <a:ext uri="{FF2B5EF4-FFF2-40B4-BE49-F238E27FC236}">
                  <a16:creationId xmlns:a16="http://schemas.microsoft.com/office/drawing/2014/main" id="{3BA4F47A-2CBA-E35B-2E1D-506D5DF27F3A}"/>
                </a:ext>
              </a:extLst>
            </p:cNvPr>
            <p:cNvSpPr/>
            <p:nvPr/>
          </p:nvSpPr>
          <p:spPr>
            <a:xfrm>
              <a:off x="8205950" y="6364997"/>
              <a:ext cx="112395" cy="132715"/>
            </a:xfrm>
            <a:custGeom>
              <a:avLst/>
              <a:gdLst/>
              <a:ahLst/>
              <a:cxnLst/>
              <a:rect l="l" t="t" r="r" b="b"/>
              <a:pathLst>
                <a:path w="112395" h="132714">
                  <a:moveTo>
                    <a:pt x="0" y="0"/>
                  </a:moveTo>
                  <a:lnTo>
                    <a:pt x="15539" y="132549"/>
                  </a:lnTo>
                  <a:lnTo>
                    <a:pt x="112256" y="40589"/>
                  </a:lnTo>
                  <a:lnTo>
                    <a:pt x="45980" y="483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32">
              <a:extLst>
                <a:ext uri="{FF2B5EF4-FFF2-40B4-BE49-F238E27FC236}">
                  <a16:creationId xmlns:a16="http://schemas.microsoft.com/office/drawing/2014/main" id="{1BD4AD10-1A30-DD15-58AA-78FD9BC037B5}"/>
                </a:ext>
              </a:extLst>
            </p:cNvPr>
            <p:cNvSpPr/>
            <p:nvPr/>
          </p:nvSpPr>
          <p:spPr>
            <a:xfrm>
              <a:off x="8982648" y="5576828"/>
              <a:ext cx="304800" cy="841375"/>
            </a:xfrm>
            <a:custGeom>
              <a:avLst/>
              <a:gdLst/>
              <a:ahLst/>
              <a:cxnLst/>
              <a:rect l="l" t="t" r="r" b="b"/>
              <a:pathLst>
                <a:path w="304800" h="841375">
                  <a:moveTo>
                    <a:pt x="304191" y="0"/>
                  </a:moveTo>
                  <a:lnTo>
                    <a:pt x="4450" y="828992"/>
                  </a:lnTo>
                  <a:lnTo>
                    <a:pt x="0" y="841301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3">
              <a:extLst>
                <a:ext uri="{FF2B5EF4-FFF2-40B4-BE49-F238E27FC236}">
                  <a16:creationId xmlns:a16="http://schemas.microsoft.com/office/drawing/2014/main" id="{7FAAEE47-5893-0D30-1173-FFFA67A15832}"/>
                </a:ext>
              </a:extLst>
            </p:cNvPr>
            <p:cNvSpPr/>
            <p:nvPr/>
          </p:nvSpPr>
          <p:spPr>
            <a:xfrm>
              <a:off x="8941118" y="6357463"/>
              <a:ext cx="112395" cy="132715"/>
            </a:xfrm>
            <a:custGeom>
              <a:avLst/>
              <a:gdLst/>
              <a:ahLst/>
              <a:cxnLst/>
              <a:rect l="l" t="t" r="r" b="b"/>
              <a:pathLst>
                <a:path w="112395" h="132714">
                  <a:moveTo>
                    <a:pt x="0" y="0"/>
                  </a:moveTo>
                  <a:lnTo>
                    <a:pt x="15538" y="132549"/>
                  </a:lnTo>
                  <a:lnTo>
                    <a:pt x="112255" y="40588"/>
                  </a:lnTo>
                  <a:lnTo>
                    <a:pt x="45980" y="48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4">
              <a:extLst>
                <a:ext uri="{FF2B5EF4-FFF2-40B4-BE49-F238E27FC236}">
                  <a16:creationId xmlns:a16="http://schemas.microsoft.com/office/drawing/2014/main" id="{D06CEDFE-01F2-BE64-9C36-6186808A491B}"/>
                </a:ext>
              </a:extLst>
            </p:cNvPr>
            <p:cNvSpPr/>
            <p:nvPr/>
          </p:nvSpPr>
          <p:spPr>
            <a:xfrm>
              <a:off x="8559127" y="5584790"/>
              <a:ext cx="374015" cy="835660"/>
            </a:xfrm>
            <a:custGeom>
              <a:avLst/>
              <a:gdLst/>
              <a:ahLst/>
              <a:cxnLst/>
              <a:rect l="l" t="t" r="r" b="b"/>
              <a:pathLst>
                <a:path w="374015" h="835660">
                  <a:moveTo>
                    <a:pt x="0" y="0"/>
                  </a:moveTo>
                  <a:lnTo>
                    <a:pt x="368059" y="823653"/>
                  </a:lnTo>
                  <a:lnTo>
                    <a:pt x="373399" y="835603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5">
              <a:extLst>
                <a:ext uri="{FF2B5EF4-FFF2-40B4-BE49-F238E27FC236}">
                  <a16:creationId xmlns:a16="http://schemas.microsoft.com/office/drawing/2014/main" id="{A191ABC7-D20F-BFC8-8DCB-E541C54B102A}"/>
                </a:ext>
              </a:extLst>
            </p:cNvPr>
            <p:cNvSpPr/>
            <p:nvPr/>
          </p:nvSpPr>
          <p:spPr>
            <a:xfrm>
              <a:off x="8860521" y="6356848"/>
              <a:ext cx="109220" cy="133350"/>
            </a:xfrm>
            <a:custGeom>
              <a:avLst/>
              <a:gdLst/>
              <a:ahLst/>
              <a:cxnLst/>
              <a:rect l="l" t="t" r="r" b="b"/>
              <a:pathLst>
                <a:path w="109220" h="133350">
                  <a:moveTo>
                    <a:pt x="108982" y="0"/>
                  </a:moveTo>
                  <a:lnTo>
                    <a:pt x="66666" y="51595"/>
                  </a:lnTo>
                  <a:lnTo>
                    <a:pt x="0" y="48699"/>
                  </a:lnTo>
                  <a:lnTo>
                    <a:pt x="103190" y="133331"/>
                  </a:lnTo>
                  <a:lnTo>
                    <a:pt x="1089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6">
              <a:extLst>
                <a:ext uri="{FF2B5EF4-FFF2-40B4-BE49-F238E27FC236}">
                  <a16:creationId xmlns:a16="http://schemas.microsoft.com/office/drawing/2014/main" id="{8BC62C39-A7F1-B0F6-7B3B-A016678EB81E}"/>
                </a:ext>
              </a:extLst>
            </p:cNvPr>
            <p:cNvSpPr/>
            <p:nvPr/>
          </p:nvSpPr>
          <p:spPr>
            <a:xfrm>
              <a:off x="7097352" y="5581081"/>
              <a:ext cx="1087120" cy="862330"/>
            </a:xfrm>
            <a:custGeom>
              <a:avLst/>
              <a:gdLst/>
              <a:ahLst/>
              <a:cxnLst/>
              <a:rect l="l" t="t" r="r" b="b"/>
              <a:pathLst>
                <a:path w="1087120" h="862329">
                  <a:moveTo>
                    <a:pt x="0" y="0"/>
                  </a:moveTo>
                  <a:lnTo>
                    <a:pt x="1076271" y="854064"/>
                  </a:lnTo>
                  <a:lnTo>
                    <a:pt x="1086524" y="862200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7">
              <a:extLst>
                <a:ext uri="{FF2B5EF4-FFF2-40B4-BE49-F238E27FC236}">
                  <a16:creationId xmlns:a16="http://schemas.microsoft.com/office/drawing/2014/main" id="{9B8414EF-831A-97C4-A6D6-D57C68DAC05B}"/>
                </a:ext>
              </a:extLst>
            </p:cNvPr>
            <p:cNvSpPr/>
            <p:nvPr/>
          </p:nvSpPr>
          <p:spPr>
            <a:xfrm>
              <a:off x="8113147" y="6369843"/>
              <a:ext cx="130810" cy="121285"/>
            </a:xfrm>
            <a:custGeom>
              <a:avLst/>
              <a:gdLst/>
              <a:ahLst/>
              <a:cxnLst/>
              <a:rect l="l" t="t" r="r" b="b"/>
              <a:pathLst>
                <a:path w="130809" h="121285">
                  <a:moveTo>
                    <a:pt x="74199" y="0"/>
                  </a:moveTo>
                  <a:lnTo>
                    <a:pt x="60475" y="65302"/>
                  </a:lnTo>
                  <a:lnTo>
                    <a:pt x="0" y="93505"/>
                  </a:lnTo>
                  <a:lnTo>
                    <a:pt x="130604" y="120952"/>
                  </a:lnTo>
                  <a:lnTo>
                    <a:pt x="741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8">
              <a:extLst>
                <a:ext uri="{FF2B5EF4-FFF2-40B4-BE49-F238E27FC236}">
                  <a16:creationId xmlns:a16="http://schemas.microsoft.com/office/drawing/2014/main" id="{12FB96DC-4E50-7DC5-BC5E-5E56D9BAF65A}"/>
                </a:ext>
              </a:extLst>
            </p:cNvPr>
            <p:cNvSpPr/>
            <p:nvPr/>
          </p:nvSpPr>
          <p:spPr>
            <a:xfrm>
              <a:off x="7841147" y="5587812"/>
              <a:ext cx="1037590" cy="848360"/>
            </a:xfrm>
            <a:custGeom>
              <a:avLst/>
              <a:gdLst/>
              <a:ahLst/>
              <a:cxnLst/>
              <a:rect l="l" t="t" r="r" b="b"/>
              <a:pathLst>
                <a:path w="1037590" h="848360">
                  <a:moveTo>
                    <a:pt x="0" y="0"/>
                  </a:moveTo>
                  <a:lnTo>
                    <a:pt x="1026878" y="839619"/>
                  </a:lnTo>
                  <a:lnTo>
                    <a:pt x="1037011" y="847904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9">
              <a:extLst>
                <a:ext uri="{FF2B5EF4-FFF2-40B4-BE49-F238E27FC236}">
                  <a16:creationId xmlns:a16="http://schemas.microsoft.com/office/drawing/2014/main" id="{16ED3FCC-AC22-775B-DA5C-726E9CC9B3AE}"/>
                </a:ext>
              </a:extLst>
            </p:cNvPr>
            <p:cNvSpPr/>
            <p:nvPr/>
          </p:nvSpPr>
          <p:spPr>
            <a:xfrm>
              <a:off x="8807145" y="6362338"/>
              <a:ext cx="130810" cy="121920"/>
            </a:xfrm>
            <a:custGeom>
              <a:avLst/>
              <a:gdLst/>
              <a:ahLst/>
              <a:cxnLst/>
              <a:rect l="l" t="t" r="r" b="b"/>
              <a:pathLst>
                <a:path w="130809" h="121920">
                  <a:moveTo>
                    <a:pt x="75557" y="0"/>
                  </a:moveTo>
                  <a:lnTo>
                    <a:pt x="60881" y="65094"/>
                  </a:lnTo>
                  <a:lnTo>
                    <a:pt x="0" y="92410"/>
                  </a:lnTo>
                  <a:lnTo>
                    <a:pt x="130189" y="121763"/>
                  </a:lnTo>
                  <a:lnTo>
                    <a:pt x="755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40">
              <a:extLst>
                <a:ext uri="{FF2B5EF4-FFF2-40B4-BE49-F238E27FC236}">
                  <a16:creationId xmlns:a16="http://schemas.microsoft.com/office/drawing/2014/main" id="{18D13B3D-550E-E150-EAFA-43C8C9D9842E}"/>
                </a:ext>
              </a:extLst>
            </p:cNvPr>
            <p:cNvSpPr/>
            <p:nvPr/>
          </p:nvSpPr>
          <p:spPr>
            <a:xfrm>
              <a:off x="6824766" y="5589440"/>
              <a:ext cx="1016000" cy="844550"/>
            </a:xfrm>
            <a:custGeom>
              <a:avLst/>
              <a:gdLst/>
              <a:ahLst/>
              <a:cxnLst/>
              <a:rect l="l" t="t" r="r" b="b"/>
              <a:pathLst>
                <a:path w="1016000" h="844550">
                  <a:moveTo>
                    <a:pt x="1015715" y="0"/>
                  </a:moveTo>
                  <a:lnTo>
                    <a:pt x="10066" y="835638"/>
                  </a:lnTo>
                  <a:lnTo>
                    <a:pt x="0" y="844003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41">
              <a:extLst>
                <a:ext uri="{FF2B5EF4-FFF2-40B4-BE49-F238E27FC236}">
                  <a16:creationId xmlns:a16="http://schemas.microsoft.com/office/drawing/2014/main" id="{F59EC6D5-29DD-84C5-2E07-3AEFF0382216}"/>
                </a:ext>
              </a:extLst>
            </p:cNvPr>
            <p:cNvSpPr/>
            <p:nvPr/>
          </p:nvSpPr>
          <p:spPr>
            <a:xfrm>
              <a:off x="6765975" y="6360102"/>
              <a:ext cx="130175" cy="122555"/>
            </a:xfrm>
            <a:custGeom>
              <a:avLst/>
              <a:gdLst/>
              <a:ahLst/>
              <a:cxnLst/>
              <a:rect l="l" t="t" r="r" b="b"/>
              <a:pathLst>
                <a:path w="130175" h="122554">
                  <a:moveTo>
                    <a:pt x="53665" y="0"/>
                  </a:moveTo>
                  <a:lnTo>
                    <a:pt x="0" y="122192"/>
                  </a:lnTo>
                  <a:lnTo>
                    <a:pt x="129953" y="91808"/>
                  </a:lnTo>
                  <a:lnTo>
                    <a:pt x="68856" y="64976"/>
                  </a:lnTo>
                  <a:lnTo>
                    <a:pt x="536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42">
              <a:extLst>
                <a:ext uri="{FF2B5EF4-FFF2-40B4-BE49-F238E27FC236}">
                  <a16:creationId xmlns:a16="http://schemas.microsoft.com/office/drawing/2014/main" id="{4F5A010E-9D54-C1D3-8466-D8B130763F9D}"/>
                </a:ext>
              </a:extLst>
            </p:cNvPr>
            <p:cNvSpPr/>
            <p:nvPr/>
          </p:nvSpPr>
          <p:spPr>
            <a:xfrm>
              <a:off x="8286827" y="5589494"/>
              <a:ext cx="994410" cy="843280"/>
            </a:xfrm>
            <a:custGeom>
              <a:avLst/>
              <a:gdLst/>
              <a:ahLst/>
              <a:cxnLst/>
              <a:rect l="l" t="t" r="r" b="b"/>
              <a:pathLst>
                <a:path w="994409" h="843279">
                  <a:moveTo>
                    <a:pt x="994343" y="0"/>
                  </a:moveTo>
                  <a:lnTo>
                    <a:pt x="9982" y="834768"/>
                  </a:lnTo>
                  <a:lnTo>
                    <a:pt x="0" y="843234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3">
              <a:extLst>
                <a:ext uri="{FF2B5EF4-FFF2-40B4-BE49-F238E27FC236}">
                  <a16:creationId xmlns:a16="http://schemas.microsoft.com/office/drawing/2014/main" id="{946CDF66-3990-F160-BBB8-989392315BAC}"/>
                </a:ext>
              </a:extLst>
            </p:cNvPr>
            <p:cNvSpPr/>
            <p:nvPr/>
          </p:nvSpPr>
          <p:spPr>
            <a:xfrm>
              <a:off x="8228530" y="6359442"/>
              <a:ext cx="130175" cy="123189"/>
            </a:xfrm>
            <a:custGeom>
              <a:avLst/>
              <a:gdLst/>
              <a:ahLst/>
              <a:cxnLst/>
              <a:rect l="l" t="t" r="r" b="b"/>
              <a:pathLst>
                <a:path w="130175" h="123189">
                  <a:moveTo>
                    <a:pt x="52437" y="0"/>
                  </a:moveTo>
                  <a:lnTo>
                    <a:pt x="0" y="122724"/>
                  </a:lnTo>
                  <a:lnTo>
                    <a:pt x="129641" y="91039"/>
                  </a:lnTo>
                  <a:lnTo>
                    <a:pt x="68279" y="64821"/>
                  </a:lnTo>
                  <a:lnTo>
                    <a:pt x="524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4">
              <a:extLst>
                <a:ext uri="{FF2B5EF4-FFF2-40B4-BE49-F238E27FC236}">
                  <a16:creationId xmlns:a16="http://schemas.microsoft.com/office/drawing/2014/main" id="{38F30793-7AA6-0871-816B-160EC9F3C606}"/>
                </a:ext>
              </a:extLst>
            </p:cNvPr>
            <p:cNvSpPr/>
            <p:nvPr/>
          </p:nvSpPr>
          <p:spPr>
            <a:xfrm>
              <a:off x="6842336" y="5597029"/>
              <a:ext cx="1713230" cy="843915"/>
            </a:xfrm>
            <a:custGeom>
              <a:avLst/>
              <a:gdLst/>
              <a:ahLst/>
              <a:cxnLst/>
              <a:rect l="l" t="t" r="r" b="b"/>
              <a:pathLst>
                <a:path w="1713229" h="843914">
                  <a:moveTo>
                    <a:pt x="1712883" y="0"/>
                  </a:moveTo>
                  <a:lnTo>
                    <a:pt x="11742" y="837505"/>
                  </a:lnTo>
                  <a:lnTo>
                    <a:pt x="0" y="843286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5">
              <a:extLst>
                <a:ext uri="{FF2B5EF4-FFF2-40B4-BE49-F238E27FC236}">
                  <a16:creationId xmlns:a16="http://schemas.microsoft.com/office/drawing/2014/main" id="{4584B379-A20B-4BFE-DE7E-DFFA51F02B7D}"/>
                </a:ext>
              </a:extLst>
            </p:cNvPr>
            <p:cNvSpPr/>
            <p:nvPr/>
          </p:nvSpPr>
          <p:spPr>
            <a:xfrm>
              <a:off x="6773759" y="6367807"/>
              <a:ext cx="133985" cy="107314"/>
            </a:xfrm>
            <a:custGeom>
              <a:avLst/>
              <a:gdLst/>
              <a:ahLst/>
              <a:cxnLst/>
              <a:rect l="l" t="t" r="r" b="b"/>
              <a:pathLst>
                <a:path w="133984" h="107314">
                  <a:moveTo>
                    <a:pt x="80730" y="0"/>
                  </a:moveTo>
                  <a:lnTo>
                    <a:pt x="0" y="106271"/>
                  </a:lnTo>
                  <a:lnTo>
                    <a:pt x="133454" y="107093"/>
                  </a:lnTo>
                  <a:lnTo>
                    <a:pt x="80319" y="66727"/>
                  </a:lnTo>
                  <a:lnTo>
                    <a:pt x="807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6">
              <a:extLst>
                <a:ext uri="{FF2B5EF4-FFF2-40B4-BE49-F238E27FC236}">
                  <a16:creationId xmlns:a16="http://schemas.microsoft.com/office/drawing/2014/main" id="{009BF8BD-0E16-7236-F65F-E28C3700EEAC}"/>
                </a:ext>
              </a:extLst>
            </p:cNvPr>
            <p:cNvSpPr/>
            <p:nvPr/>
          </p:nvSpPr>
          <p:spPr>
            <a:xfrm>
              <a:off x="6376132" y="5581081"/>
              <a:ext cx="1797685" cy="873760"/>
            </a:xfrm>
            <a:custGeom>
              <a:avLst/>
              <a:gdLst/>
              <a:ahLst/>
              <a:cxnLst/>
              <a:rect l="l" t="t" r="r" b="b"/>
              <a:pathLst>
                <a:path w="1797684" h="873760">
                  <a:moveTo>
                    <a:pt x="0" y="0"/>
                  </a:moveTo>
                  <a:lnTo>
                    <a:pt x="1785751" y="867477"/>
                  </a:lnTo>
                  <a:lnTo>
                    <a:pt x="1797524" y="873196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7">
              <a:extLst>
                <a:ext uri="{FF2B5EF4-FFF2-40B4-BE49-F238E27FC236}">
                  <a16:creationId xmlns:a16="http://schemas.microsoft.com/office/drawing/2014/main" id="{8A914667-185C-F667-2244-44F652E57731}"/>
                </a:ext>
              </a:extLst>
            </p:cNvPr>
            <p:cNvSpPr/>
            <p:nvPr/>
          </p:nvSpPr>
          <p:spPr>
            <a:xfrm>
              <a:off x="8108962" y="6381833"/>
              <a:ext cx="133985" cy="107950"/>
            </a:xfrm>
            <a:custGeom>
              <a:avLst/>
              <a:gdLst/>
              <a:ahLst/>
              <a:cxnLst/>
              <a:rect l="l" t="t" r="r" b="b"/>
              <a:pathLst>
                <a:path w="133984" h="107950">
                  <a:moveTo>
                    <a:pt x="52157" y="0"/>
                  </a:moveTo>
                  <a:lnTo>
                    <a:pt x="52920" y="66724"/>
                  </a:lnTo>
                  <a:lnTo>
                    <a:pt x="0" y="107370"/>
                  </a:lnTo>
                  <a:lnTo>
                    <a:pt x="133449" y="105842"/>
                  </a:lnTo>
                  <a:lnTo>
                    <a:pt x="521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8">
              <a:extLst>
                <a:ext uri="{FF2B5EF4-FFF2-40B4-BE49-F238E27FC236}">
                  <a16:creationId xmlns:a16="http://schemas.microsoft.com/office/drawing/2014/main" id="{16714F4F-8876-2AD2-BCC1-A3E382421A1E}"/>
                </a:ext>
              </a:extLst>
            </p:cNvPr>
            <p:cNvSpPr/>
            <p:nvPr/>
          </p:nvSpPr>
          <p:spPr>
            <a:xfrm>
              <a:off x="7101892" y="5582701"/>
              <a:ext cx="1797685" cy="873760"/>
            </a:xfrm>
            <a:custGeom>
              <a:avLst/>
              <a:gdLst/>
              <a:ahLst/>
              <a:cxnLst/>
              <a:rect l="l" t="t" r="r" b="b"/>
              <a:pathLst>
                <a:path w="1797684" h="873760">
                  <a:moveTo>
                    <a:pt x="0" y="0"/>
                  </a:moveTo>
                  <a:lnTo>
                    <a:pt x="1785751" y="867477"/>
                  </a:lnTo>
                  <a:lnTo>
                    <a:pt x="1797524" y="873196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9">
              <a:extLst>
                <a:ext uri="{FF2B5EF4-FFF2-40B4-BE49-F238E27FC236}">
                  <a16:creationId xmlns:a16="http://schemas.microsoft.com/office/drawing/2014/main" id="{B1563C82-4195-F290-7472-90C3C158F998}"/>
                </a:ext>
              </a:extLst>
            </p:cNvPr>
            <p:cNvSpPr/>
            <p:nvPr/>
          </p:nvSpPr>
          <p:spPr>
            <a:xfrm>
              <a:off x="8834721" y="6383453"/>
              <a:ext cx="133985" cy="107950"/>
            </a:xfrm>
            <a:custGeom>
              <a:avLst/>
              <a:gdLst/>
              <a:ahLst/>
              <a:cxnLst/>
              <a:rect l="l" t="t" r="r" b="b"/>
              <a:pathLst>
                <a:path w="133984" h="107950">
                  <a:moveTo>
                    <a:pt x="52157" y="0"/>
                  </a:moveTo>
                  <a:lnTo>
                    <a:pt x="52920" y="66723"/>
                  </a:lnTo>
                  <a:lnTo>
                    <a:pt x="0" y="107369"/>
                  </a:lnTo>
                  <a:lnTo>
                    <a:pt x="133448" y="105842"/>
                  </a:lnTo>
                  <a:lnTo>
                    <a:pt x="521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50">
              <a:extLst>
                <a:ext uri="{FF2B5EF4-FFF2-40B4-BE49-F238E27FC236}">
                  <a16:creationId xmlns:a16="http://schemas.microsoft.com/office/drawing/2014/main" id="{79798AEB-DCC3-8625-A1FE-7CED1C9676E2}"/>
                </a:ext>
              </a:extLst>
            </p:cNvPr>
            <p:cNvSpPr/>
            <p:nvPr/>
          </p:nvSpPr>
          <p:spPr>
            <a:xfrm>
              <a:off x="6376132" y="5582701"/>
              <a:ext cx="2513330" cy="866775"/>
            </a:xfrm>
            <a:custGeom>
              <a:avLst/>
              <a:gdLst/>
              <a:ahLst/>
              <a:cxnLst/>
              <a:rect l="l" t="t" r="r" b="b"/>
              <a:pathLst>
                <a:path w="2513329" h="866775">
                  <a:moveTo>
                    <a:pt x="0" y="0"/>
                  </a:moveTo>
                  <a:lnTo>
                    <a:pt x="2500692" y="862352"/>
                  </a:lnTo>
                  <a:lnTo>
                    <a:pt x="2513066" y="866619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51">
              <a:extLst>
                <a:ext uri="{FF2B5EF4-FFF2-40B4-BE49-F238E27FC236}">
                  <a16:creationId xmlns:a16="http://schemas.microsoft.com/office/drawing/2014/main" id="{25A1EFF5-3633-C9E0-A957-79F40BD19A25}"/>
                </a:ext>
              </a:extLst>
            </p:cNvPr>
            <p:cNvSpPr/>
            <p:nvPr/>
          </p:nvSpPr>
          <p:spPr>
            <a:xfrm>
              <a:off x="8829156" y="6378901"/>
              <a:ext cx="132715" cy="113030"/>
            </a:xfrm>
            <a:custGeom>
              <a:avLst/>
              <a:gdLst/>
              <a:ahLst/>
              <a:cxnLst/>
              <a:rect l="l" t="t" r="r" b="b"/>
              <a:pathLst>
                <a:path w="132715" h="113029">
                  <a:moveTo>
                    <a:pt x="38915" y="0"/>
                  </a:moveTo>
                  <a:lnTo>
                    <a:pt x="47669" y="66152"/>
                  </a:lnTo>
                  <a:lnTo>
                    <a:pt x="0" y="112846"/>
                  </a:lnTo>
                  <a:lnTo>
                    <a:pt x="132304" y="95338"/>
                  </a:lnTo>
                  <a:lnTo>
                    <a:pt x="389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52">
              <a:extLst>
                <a:ext uri="{FF2B5EF4-FFF2-40B4-BE49-F238E27FC236}">
                  <a16:creationId xmlns:a16="http://schemas.microsoft.com/office/drawing/2014/main" id="{235B0041-EE9A-A489-BCA5-78612B5909CC}"/>
                </a:ext>
              </a:extLst>
            </p:cNvPr>
            <p:cNvSpPr/>
            <p:nvPr/>
          </p:nvSpPr>
          <p:spPr>
            <a:xfrm>
              <a:off x="6858056" y="5591958"/>
              <a:ext cx="2417445" cy="847725"/>
            </a:xfrm>
            <a:custGeom>
              <a:avLst/>
              <a:gdLst/>
              <a:ahLst/>
              <a:cxnLst/>
              <a:rect l="l" t="t" r="r" b="b"/>
              <a:pathLst>
                <a:path w="2417445" h="847725">
                  <a:moveTo>
                    <a:pt x="2417317" y="0"/>
                  </a:moveTo>
                  <a:lnTo>
                    <a:pt x="12351" y="843027"/>
                  </a:lnTo>
                  <a:lnTo>
                    <a:pt x="0" y="847357"/>
                  </a:lnTo>
                </a:path>
              </a:pathLst>
            </a:custGeom>
            <a:ln w="261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3">
              <a:extLst>
                <a:ext uri="{FF2B5EF4-FFF2-40B4-BE49-F238E27FC236}">
                  <a16:creationId xmlns:a16="http://schemas.microsoft.com/office/drawing/2014/main" id="{2BFF0F86-D225-B54B-CB30-14F31887F479}"/>
                </a:ext>
              </a:extLst>
            </p:cNvPr>
            <p:cNvSpPr/>
            <p:nvPr/>
          </p:nvSpPr>
          <p:spPr>
            <a:xfrm>
              <a:off x="6785923" y="6368790"/>
              <a:ext cx="132715" cy="113030"/>
            </a:xfrm>
            <a:custGeom>
              <a:avLst/>
              <a:gdLst/>
              <a:ahLst/>
              <a:cxnLst/>
              <a:rect l="l" t="t" r="r" b="b"/>
              <a:pathLst>
                <a:path w="132715" h="113029">
                  <a:moveTo>
                    <a:pt x="92903" y="0"/>
                  </a:moveTo>
                  <a:lnTo>
                    <a:pt x="0" y="95810"/>
                  </a:lnTo>
                  <a:lnTo>
                    <a:pt x="132390" y="112647"/>
                  </a:lnTo>
                  <a:lnTo>
                    <a:pt x="84485" y="66195"/>
                  </a:lnTo>
                  <a:lnTo>
                    <a:pt x="929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48CA3106-8ECF-F5E7-15FD-D93835FA1D1E}"/>
              </a:ext>
            </a:extLst>
          </p:cNvPr>
          <p:cNvSpPr txBox="1"/>
          <p:nvPr/>
        </p:nvSpPr>
        <p:spPr>
          <a:xfrm>
            <a:off x="3012166" y="5237901"/>
            <a:ext cx="7373770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 defTabSz="1036782" latinLnBrk="0">
              <a:buClr>
                <a:srgbClr val="000000"/>
              </a:buClr>
            </a:pPr>
            <a:r>
              <a:rPr lang="en" altLang="ko-KR" sz="800" kern="0" dirty="0">
                <a:solidFill>
                  <a:schemeClr val="bg1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Hu et al., “Network Trimming: A Data-Driven Neuron Pruning Approach towards Efficient Deep Architectures” </a:t>
            </a:r>
            <a:r>
              <a:rPr lang="en" altLang="ko-KR" sz="800" kern="0" dirty="0" err="1">
                <a:solidFill>
                  <a:schemeClr val="bg1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arXiv</a:t>
            </a:r>
            <a:r>
              <a:rPr lang="en" altLang="ko-KR" sz="800" kern="0" dirty="0">
                <a:solidFill>
                  <a:schemeClr val="bg1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2016</a:t>
            </a: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02CE99FF-BBCB-E871-11B2-048D7705503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58ADA77-4A40-8319-A072-459395D6DE75}"/>
              </a:ext>
            </a:extLst>
          </p:cNvPr>
          <p:cNvSpPr txBox="1"/>
          <p:nvPr/>
        </p:nvSpPr>
        <p:spPr>
          <a:xfrm>
            <a:off x="5164558" y="5373370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F415798-829B-5AC3-6858-89358F5D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spc="-93" dirty="0"/>
              <a:t>2. Pruning – Ratio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A042AD-D517-C8E0-073D-C6ADF6E3E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ko-KR" dirty="0"/>
              <a:t>We need diﬀerent pruning ratios for each layer since diﬀerent layers have diﬀerent sensitivity</a:t>
            </a:r>
          </a:p>
          <a:p>
            <a:pPr lvl="1"/>
            <a:r>
              <a:rPr kumimoji="1" lang="en" altLang="ko-KR" dirty="0"/>
              <a:t>Some layers are more sensitive (e.g., first layer)</a:t>
            </a:r>
          </a:p>
          <a:p>
            <a:pPr lvl="1"/>
            <a:r>
              <a:rPr kumimoji="1" lang="en" altLang="ko-KR" dirty="0"/>
              <a:t>Some layers are more redundant</a:t>
            </a:r>
          </a:p>
          <a:p>
            <a:r>
              <a:rPr kumimoji="1" lang="en" altLang="ko-KR" dirty="0"/>
              <a:t>We can perform sensitivity analysis to determine the per-layer pruning ratio</a:t>
            </a:r>
          </a:p>
          <a:p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F2B3AA-BC90-CD16-DEAD-44E08AA80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296" y="3007644"/>
            <a:ext cx="5330402" cy="1981367"/>
          </a:xfrm>
          <a:prstGeom prst="rect">
            <a:avLst/>
          </a:prstGeom>
        </p:spPr>
      </p:pic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44359ABE-6E35-CB78-E9D9-C980762F8573}"/>
              </a:ext>
            </a:extLst>
          </p:cNvPr>
          <p:cNvSpPr txBox="1">
            <a:spLocks/>
          </p:cNvSpPr>
          <p:nvPr/>
        </p:nvSpPr>
        <p:spPr>
          <a:xfrm>
            <a:off x="187255" y="2408975"/>
            <a:ext cx="4102729" cy="2953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normAutofit lnSpcReduction="10000"/>
          </a:bodyPr>
          <a:lstStyle>
            <a:lvl1pPr marL="205582" marR="0" indent="-196644" algn="l" defTabSz="1029697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437A"/>
              </a:buClr>
              <a:buSzPts val="1400"/>
              <a:buFont typeface="Source Sans Pro"/>
              <a:buChar char="●"/>
              <a:tabLst/>
              <a:defRPr sz="2027" b="0" i="0" u="none" strike="noStrike" cap="none" spc="0" baseline="0">
                <a:solidFill>
                  <a:srgbClr val="000000"/>
                </a:solidFill>
                <a:uFillTx/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1pPr>
            <a:lvl2pPr marL="505911" marR="0" indent="-198432" algn="l" defTabSz="1029697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437A"/>
              </a:buClr>
              <a:buSzPts val="1400"/>
              <a:buFont typeface="Source Sans Pro"/>
              <a:buChar char="○"/>
              <a:tabLst/>
              <a:defRPr sz="1802" b="0" i="0" u="none" strike="noStrike" cap="none" spc="0" baseline="0">
                <a:solidFill>
                  <a:srgbClr val="000000"/>
                </a:solidFill>
                <a:uFillTx/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2pPr>
            <a:lvl3pPr marL="804450" marR="0" indent="-200219" algn="l" defTabSz="1029697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437A"/>
              </a:buClr>
              <a:buSzPts val="1400"/>
              <a:buFont typeface="Wingdings" pitchFamily="2" charset="2"/>
              <a:buChar char="§"/>
              <a:tabLst/>
              <a:defRPr sz="1577" b="0" i="0" u="none" strike="noStrike" cap="none" spc="0" baseline="0">
                <a:solidFill>
                  <a:srgbClr val="000000"/>
                </a:solidFill>
                <a:uFillTx/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3pPr>
            <a:lvl4pPr marL="1051149" marR="0" indent="-148377" algn="l" defTabSz="1029697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437A"/>
              </a:buClr>
              <a:buSzPts val="1400"/>
              <a:buFont typeface="Arial" panose="020B0604020202020204" pitchFamily="34" charset="0"/>
              <a:buChar char="•"/>
              <a:tabLst/>
              <a:defRPr sz="1352" b="0" i="0" u="none" strike="noStrike" cap="none" spc="0" baseline="0">
                <a:solidFill>
                  <a:srgbClr val="000000"/>
                </a:solidFill>
                <a:uFillTx/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4pPr>
            <a:lvl5pPr marL="1310362" marR="0" indent="-159103" algn="l" defTabSz="1029697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437A"/>
              </a:buClr>
              <a:buSzPts val="1400"/>
              <a:buFont typeface="맑은 고딕"/>
              <a:buChar char="-"/>
              <a:tabLst/>
              <a:defRPr sz="1239" b="0" i="0" u="none" strike="noStrike" cap="none" spc="0" baseline="0">
                <a:solidFill>
                  <a:srgbClr val="000000"/>
                </a:solidFill>
                <a:uFillTx/>
                <a:latin typeface="Source Sans Pro" panose="020B0503030403020204" pitchFamily="34" charset="0"/>
                <a:ea typeface="NanumGothic" panose="020D0604000000000000" pitchFamily="34" charset="-127"/>
                <a:cs typeface="Source Sans Pro" panose="020B0503030403020204" pitchFamily="34" charset="0"/>
                <a:sym typeface="Source Sans Pro"/>
              </a:defRPr>
            </a:lvl5pPr>
            <a:lvl6pPr marL="357534" marR="0" indent="2402626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6pPr>
            <a:lvl7pPr marL="357534" marR="0" indent="2917473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7pPr>
            <a:lvl8pPr marL="357534" marR="0" indent="3432323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8pPr>
            <a:lvl9pPr marL="357534" marR="0" indent="3947170" algn="l" defTabSz="102969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4" b="0" i="0" u="none" strike="noStrike" cap="none" spc="0" baseline="0">
                <a:solidFill>
                  <a:srgbClr val="11437A"/>
                </a:solidFill>
                <a:uFillTx/>
                <a:latin typeface="Raleway Regular"/>
                <a:ea typeface="Raleway Regular"/>
                <a:cs typeface="Raleway Regular"/>
                <a:sym typeface="Raleway Regular"/>
              </a:defRPr>
            </a:lvl9pPr>
          </a:lstStyle>
          <a:p>
            <a:pPr lvl="1"/>
            <a:endParaRPr kumimoji="1" lang="en" altLang="ko-KR" kern="0" dirty="0"/>
          </a:p>
          <a:p>
            <a:r>
              <a:rPr kumimoji="1" lang="en" altLang="ko-KR" kern="0" dirty="0"/>
              <a:t>The process of Sensitivity Analysis</a:t>
            </a:r>
            <a:br>
              <a:rPr kumimoji="1" lang="en" altLang="ko-KR" kern="0" dirty="0"/>
            </a:br>
            <a:r>
              <a:rPr kumimoji="1" lang="en" altLang="ko-KR" kern="0" dirty="0"/>
              <a:t>(VGG-11 on CIFAR-10 dataset)</a:t>
            </a:r>
          </a:p>
          <a:p>
            <a:pPr lvl="1"/>
            <a:r>
              <a:rPr kumimoji="1" lang="en" altLang="ko-KR" kern="0" dirty="0"/>
              <a:t>Pick a layer in the model</a:t>
            </a:r>
          </a:p>
          <a:p>
            <a:pPr lvl="2"/>
            <a:r>
              <a:rPr kumimoji="1" lang="en" altLang="ko-KR" kern="0" dirty="0"/>
              <a:t>Prune the layer with pruning ratio </a:t>
            </a:r>
            <a:br>
              <a:rPr kumimoji="1" lang="en" altLang="ko-KR" kern="0" dirty="0"/>
            </a:br>
            <a:r>
              <a:rPr kumimoji="1" lang="en" altLang="ko-KR" kern="0" dirty="0"/>
              <a:t>∈ {0,0.1,0.2,...,0.9}</a:t>
            </a:r>
          </a:p>
          <a:p>
            <a:pPr lvl="2"/>
            <a:r>
              <a:rPr kumimoji="1" lang="en" altLang="ko-KR" kern="0" dirty="0"/>
              <a:t>Observe the accuracy degrade </a:t>
            </a:r>
            <a:br>
              <a:rPr kumimoji="1" lang="en" altLang="ko-KR" kern="0" dirty="0"/>
            </a:br>
            <a:r>
              <a:rPr kumimoji="1" lang="en" altLang="ko-KR" kern="0" dirty="0"/>
              <a:t>for each pruning ratio</a:t>
            </a:r>
          </a:p>
          <a:p>
            <a:pPr lvl="1"/>
            <a:r>
              <a:rPr kumimoji="1" lang="en" altLang="ko-KR" kern="0" dirty="0"/>
              <a:t>Repeat the process for all layers</a:t>
            </a:r>
            <a:endParaRPr kumimoji="1" lang="ko-KR" altLang="en-US" kern="0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A4B6035-B388-3EE4-DCDF-B5B523C6F0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06437F-0E7A-6A32-B681-A08D12C5408C}"/>
              </a:ext>
            </a:extLst>
          </p:cNvPr>
          <p:cNvSpPr txBox="1"/>
          <p:nvPr/>
        </p:nvSpPr>
        <p:spPr>
          <a:xfrm>
            <a:off x="5197447" y="5325779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Adapted 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161354466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95F23-22CD-C944-D4C8-FD8ACAC99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spc="-93" dirty="0"/>
              <a:t>2. Pruning – </a:t>
            </a:r>
            <a:r>
              <a:rPr kumimoji="1" lang="en-US" altLang="ko-KR" dirty="0"/>
              <a:t>Regularization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D303A3-D10C-459A-8134-5068521E5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265" y="664678"/>
            <a:ext cx="9993443" cy="4703831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When training neural networks or fine-tuning quantized neural networks, regularization is added to the loss term to</a:t>
            </a:r>
          </a:p>
          <a:p>
            <a:pPr lvl="1"/>
            <a:r>
              <a:rPr kumimoji="1" lang="en-US" altLang="ko-KR" dirty="0"/>
              <a:t>P</a:t>
            </a:r>
            <a:r>
              <a:rPr kumimoji="1" lang="en" altLang="ko-KR" dirty="0" err="1"/>
              <a:t>enalize</a:t>
            </a:r>
            <a:r>
              <a:rPr kumimoji="1" lang="en" altLang="ko-KR" dirty="0"/>
              <a:t> non-zero parameters</a:t>
            </a:r>
          </a:p>
          <a:p>
            <a:pPr lvl="1"/>
            <a:r>
              <a:rPr kumimoji="1" lang="en" altLang="ko-KR" dirty="0"/>
              <a:t>Encourage smaller parameters</a:t>
            </a:r>
          </a:p>
          <a:p>
            <a:r>
              <a:rPr kumimoji="1" lang="en" altLang="ko-KR" dirty="0"/>
              <a:t>The most common regularization for improving performance of pruning is L1/L2 regularization</a:t>
            </a:r>
          </a:p>
          <a:p>
            <a:pPr lvl="1"/>
            <a:r>
              <a:rPr kumimoji="1" lang="en" altLang="ko-KR" dirty="0"/>
              <a:t>L1-Regularization</a:t>
            </a:r>
          </a:p>
          <a:p>
            <a:pPr lvl="1"/>
            <a:endParaRPr kumimoji="1" lang="en" altLang="ko-KR" dirty="0"/>
          </a:p>
          <a:p>
            <a:pPr lvl="1"/>
            <a:r>
              <a:rPr kumimoji="1" lang="en" altLang="ko-KR" dirty="0"/>
              <a:t>L2-Regularization</a:t>
            </a:r>
          </a:p>
          <a:p>
            <a:pPr lvl="1"/>
            <a:endParaRPr kumimoji="1" lang="en" altLang="ko-KR" dirty="0"/>
          </a:p>
          <a:p>
            <a:r>
              <a:rPr kumimoji="1" lang="en" altLang="ko-KR" dirty="0"/>
              <a:t>Examples:</a:t>
            </a:r>
          </a:p>
          <a:p>
            <a:pPr lvl="1"/>
            <a:r>
              <a:rPr kumimoji="1" lang="en" altLang="ko-KR" dirty="0"/>
              <a:t>Magnitude-based Fine-grained Pruning applies L2 regularization on weights</a:t>
            </a:r>
          </a:p>
          <a:p>
            <a:pPr lvl="1"/>
            <a:r>
              <a:rPr kumimoji="1" lang="en" altLang="ko-KR" dirty="0"/>
              <a:t>Network Slimming applies smooth-L1 regularization on channel scaling factors.</a:t>
            </a:r>
          </a:p>
          <a:p>
            <a:endParaRPr kumimoji="1" lang="ko-KR" altLang="en-US" dirty="0"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8C75C345-8C5F-682C-FD14-BC3C4DDBD945}"/>
              </a:ext>
            </a:extLst>
          </p:cNvPr>
          <p:cNvSpPr txBox="1"/>
          <p:nvPr/>
        </p:nvSpPr>
        <p:spPr>
          <a:xfrm>
            <a:off x="3550233" y="3244037"/>
            <a:ext cx="2421374" cy="974695"/>
          </a:xfrm>
          <a:prstGeom prst="rect">
            <a:avLst/>
          </a:prstGeom>
        </p:spPr>
        <p:txBody>
          <a:bodyPr vert="horz" wrap="square" lIns="0" tIns="8514" rIns="0" bIns="0" rtlCol="0">
            <a:spAutoFit/>
          </a:bodyPr>
          <a:lstStyle/>
          <a:p>
            <a:pPr marL="60909">
              <a:spcBef>
                <a:spcPts val="67"/>
              </a:spcBef>
            </a:pPr>
            <a:r>
              <a:rPr sz="2037" i="1" spc="31" dirty="0">
                <a:latin typeface="Times New Roman"/>
                <a:cs typeface="Times New Roman"/>
              </a:rPr>
              <a:t>L</a:t>
            </a:r>
            <a:r>
              <a:rPr sz="2037" spc="31" dirty="0">
                <a:latin typeface="Cambria"/>
                <a:cs typeface="Cambria"/>
              </a:rPr>
              <a:t>′</a:t>
            </a:r>
            <a:r>
              <a:rPr sz="2037" spc="-113" dirty="0">
                <a:latin typeface="Cambria"/>
                <a:cs typeface="Cambria"/>
              </a:rPr>
              <a:t> </a:t>
            </a:r>
            <a:r>
              <a:rPr sz="2037" spc="271" dirty="0">
                <a:latin typeface="Cambria"/>
                <a:cs typeface="Cambria"/>
              </a:rPr>
              <a:t>=</a:t>
            </a:r>
            <a:r>
              <a:rPr sz="2037" spc="72" dirty="0">
                <a:latin typeface="Cambria"/>
                <a:cs typeface="Cambria"/>
              </a:rPr>
              <a:t> </a:t>
            </a:r>
            <a:r>
              <a:rPr sz="2037" i="1" spc="-21" dirty="0">
                <a:latin typeface="Times New Roman"/>
                <a:cs typeface="Times New Roman"/>
              </a:rPr>
              <a:t>L</a:t>
            </a:r>
            <a:r>
              <a:rPr sz="2037" spc="-21" dirty="0">
                <a:latin typeface="Cambria"/>
                <a:cs typeface="Cambria"/>
              </a:rPr>
              <a:t>(</a:t>
            </a:r>
            <a:r>
              <a:rPr sz="2037" b="1" spc="-21" dirty="0">
                <a:latin typeface="Times New Roman"/>
                <a:cs typeface="Times New Roman"/>
              </a:rPr>
              <a:t>x</a:t>
            </a:r>
            <a:r>
              <a:rPr sz="2037" spc="-21" dirty="0">
                <a:latin typeface="Cambria"/>
                <a:cs typeface="Cambria"/>
              </a:rPr>
              <a:t>;</a:t>
            </a:r>
            <a:r>
              <a:rPr sz="2037" spc="-108" dirty="0">
                <a:latin typeface="Cambria"/>
                <a:cs typeface="Cambria"/>
              </a:rPr>
              <a:t> </a:t>
            </a:r>
            <a:r>
              <a:rPr sz="2037" b="1" dirty="0">
                <a:latin typeface="Times New Roman"/>
                <a:cs typeface="Times New Roman"/>
              </a:rPr>
              <a:t>W</a:t>
            </a:r>
            <a:r>
              <a:rPr sz="2037" dirty="0">
                <a:latin typeface="Cambria"/>
                <a:cs typeface="Cambria"/>
              </a:rPr>
              <a:t>)</a:t>
            </a:r>
            <a:r>
              <a:rPr sz="2037" spc="-5" dirty="0">
                <a:latin typeface="Cambria"/>
                <a:cs typeface="Cambria"/>
              </a:rPr>
              <a:t> </a:t>
            </a:r>
            <a:r>
              <a:rPr sz="2037" spc="271" dirty="0">
                <a:latin typeface="Cambria"/>
                <a:cs typeface="Cambria"/>
              </a:rPr>
              <a:t>+</a:t>
            </a:r>
            <a:r>
              <a:rPr sz="2037" spc="-5" dirty="0">
                <a:latin typeface="Cambria"/>
                <a:cs typeface="Cambria"/>
              </a:rPr>
              <a:t> </a:t>
            </a:r>
            <a:r>
              <a:rPr sz="2037" i="1" spc="52" dirty="0">
                <a:latin typeface="Times New Roman"/>
                <a:cs typeface="Times New Roman"/>
              </a:rPr>
              <a:t>λ</a:t>
            </a:r>
            <a:r>
              <a:rPr sz="2037" i="1" spc="-281" dirty="0">
                <a:latin typeface="Times New Roman"/>
                <a:cs typeface="Times New Roman"/>
              </a:rPr>
              <a:t> </a:t>
            </a:r>
            <a:r>
              <a:rPr sz="2037" dirty="0">
                <a:latin typeface="Cambria"/>
                <a:cs typeface="Cambria"/>
              </a:rPr>
              <a:t>|</a:t>
            </a:r>
            <a:r>
              <a:rPr sz="2037" spc="-222" dirty="0">
                <a:latin typeface="Cambria"/>
                <a:cs typeface="Cambria"/>
              </a:rPr>
              <a:t> </a:t>
            </a:r>
            <a:r>
              <a:rPr sz="2037" b="1" dirty="0">
                <a:latin typeface="Times New Roman"/>
                <a:cs typeface="Times New Roman"/>
              </a:rPr>
              <a:t>W</a:t>
            </a:r>
            <a:r>
              <a:rPr sz="2037" b="1" spc="-281" dirty="0">
                <a:latin typeface="Times New Roman"/>
                <a:cs typeface="Times New Roman"/>
              </a:rPr>
              <a:t> </a:t>
            </a:r>
            <a:r>
              <a:rPr sz="2037" spc="-26" dirty="0">
                <a:latin typeface="Cambria"/>
                <a:cs typeface="Cambria"/>
              </a:rPr>
              <a:t>|</a:t>
            </a:r>
            <a:endParaRPr sz="2037" dirty="0">
              <a:latin typeface="Cambria"/>
              <a:cs typeface="Cambria"/>
            </a:endParaRPr>
          </a:p>
          <a:p>
            <a:pPr>
              <a:spcBef>
                <a:spcPts val="160"/>
              </a:spcBef>
            </a:pPr>
            <a:endParaRPr sz="2037" dirty="0">
              <a:latin typeface="Cambria"/>
              <a:cs typeface="Cambria"/>
            </a:endParaRPr>
          </a:p>
          <a:p>
            <a:pPr marL="19648"/>
            <a:r>
              <a:rPr sz="2037" i="1" spc="31" dirty="0">
                <a:latin typeface="Times New Roman"/>
                <a:cs typeface="Times New Roman"/>
              </a:rPr>
              <a:t>L</a:t>
            </a:r>
            <a:r>
              <a:rPr sz="2037" spc="31" dirty="0">
                <a:latin typeface="Cambria"/>
                <a:cs typeface="Cambria"/>
              </a:rPr>
              <a:t>′</a:t>
            </a:r>
            <a:r>
              <a:rPr sz="2037" spc="-113" dirty="0">
                <a:latin typeface="Cambria"/>
                <a:cs typeface="Cambria"/>
              </a:rPr>
              <a:t> </a:t>
            </a:r>
            <a:r>
              <a:rPr sz="2037" spc="271" dirty="0">
                <a:latin typeface="Cambria"/>
                <a:cs typeface="Cambria"/>
              </a:rPr>
              <a:t>=</a:t>
            </a:r>
            <a:r>
              <a:rPr sz="2037" spc="75" dirty="0">
                <a:latin typeface="Cambria"/>
                <a:cs typeface="Cambria"/>
              </a:rPr>
              <a:t> </a:t>
            </a:r>
            <a:r>
              <a:rPr sz="2037" i="1" spc="-21" dirty="0">
                <a:latin typeface="Times New Roman"/>
                <a:cs typeface="Times New Roman"/>
              </a:rPr>
              <a:t>L</a:t>
            </a:r>
            <a:r>
              <a:rPr sz="2037" spc="-21" dirty="0">
                <a:latin typeface="Cambria"/>
                <a:cs typeface="Cambria"/>
              </a:rPr>
              <a:t>(</a:t>
            </a:r>
            <a:r>
              <a:rPr sz="2037" b="1" spc="-21" dirty="0">
                <a:latin typeface="Times New Roman"/>
                <a:cs typeface="Times New Roman"/>
              </a:rPr>
              <a:t>x</a:t>
            </a:r>
            <a:r>
              <a:rPr sz="2037" spc="-21" dirty="0">
                <a:latin typeface="Cambria"/>
                <a:cs typeface="Cambria"/>
              </a:rPr>
              <a:t>;</a:t>
            </a:r>
            <a:r>
              <a:rPr sz="2037" spc="-108" dirty="0">
                <a:latin typeface="Cambria"/>
                <a:cs typeface="Cambria"/>
              </a:rPr>
              <a:t> </a:t>
            </a:r>
            <a:r>
              <a:rPr sz="2037" b="1" dirty="0">
                <a:latin typeface="Times New Roman"/>
                <a:cs typeface="Times New Roman"/>
              </a:rPr>
              <a:t>W</a:t>
            </a:r>
            <a:r>
              <a:rPr sz="2037" dirty="0">
                <a:latin typeface="Cambria"/>
                <a:cs typeface="Cambria"/>
              </a:rPr>
              <a:t>)</a:t>
            </a:r>
            <a:r>
              <a:rPr sz="2037" spc="-10" dirty="0">
                <a:latin typeface="Cambria"/>
                <a:cs typeface="Cambria"/>
              </a:rPr>
              <a:t> </a:t>
            </a:r>
            <a:r>
              <a:rPr sz="2037" spc="271" dirty="0">
                <a:latin typeface="Cambria"/>
                <a:cs typeface="Cambria"/>
              </a:rPr>
              <a:t>+</a:t>
            </a:r>
            <a:r>
              <a:rPr sz="2037" spc="-10" dirty="0">
                <a:latin typeface="Cambria"/>
                <a:cs typeface="Cambria"/>
              </a:rPr>
              <a:t> </a:t>
            </a:r>
            <a:r>
              <a:rPr sz="2037" i="1" spc="39" dirty="0">
                <a:latin typeface="Times New Roman"/>
                <a:cs typeface="Times New Roman"/>
              </a:rPr>
              <a:t>λ</a:t>
            </a:r>
            <a:r>
              <a:rPr sz="2037" spc="39" dirty="0">
                <a:latin typeface="Cambria"/>
                <a:cs typeface="Cambria"/>
              </a:rPr>
              <a:t>∥</a:t>
            </a:r>
            <a:r>
              <a:rPr sz="2037" b="1" spc="39" dirty="0">
                <a:latin typeface="Times New Roman"/>
                <a:cs typeface="Times New Roman"/>
              </a:rPr>
              <a:t>W</a:t>
            </a:r>
            <a:r>
              <a:rPr sz="2037" spc="39" dirty="0">
                <a:latin typeface="Cambria"/>
                <a:cs typeface="Cambria"/>
              </a:rPr>
              <a:t>∥</a:t>
            </a:r>
            <a:r>
              <a:rPr sz="2166" spc="58" baseline="28769" dirty="0">
                <a:latin typeface="Cambria"/>
                <a:cs typeface="Cambria"/>
              </a:rPr>
              <a:t>2</a:t>
            </a:r>
            <a:endParaRPr sz="2166" baseline="28769" dirty="0">
              <a:latin typeface="Cambria"/>
              <a:cs typeface="Cambr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F6DB29-E3C7-5FE8-1C09-3B38FF541742}"/>
              </a:ext>
            </a:extLst>
          </p:cNvPr>
          <p:cNvSpPr txBox="1"/>
          <p:nvPr/>
        </p:nvSpPr>
        <p:spPr>
          <a:xfrm>
            <a:off x="5277746" y="5137677"/>
            <a:ext cx="5127057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>
              <a:buNone/>
            </a:pP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Learning Eﬃcient Convolutional Networks through Network Slimming [Liu et al., ICCV 2017]</a:t>
            </a:r>
          </a:p>
          <a:p>
            <a:pPr algn="r"/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Learning Both Weights and Connections for Eﬃcient Neural Network [Han </a:t>
            </a:r>
            <a:r>
              <a:rPr lang="en" altLang="ko-KR" sz="800" i="1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et al.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NeurIPS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 2015]</a:t>
            </a:r>
          </a:p>
        </p:txBody>
      </p:sp>
      <p:pic>
        <p:nvPicPr>
          <p:cNvPr id="8" name="Google Shape;987;p25">
            <a:extLst>
              <a:ext uri="{FF2B5EF4-FFF2-40B4-BE49-F238E27FC236}">
                <a16:creationId xmlns:a16="http://schemas.microsoft.com/office/drawing/2014/main" id="{9A1DEA7D-8F50-41C2-65CD-ED7562C1924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38199"/>
          <a:stretch/>
        </p:blipFill>
        <p:spPr>
          <a:xfrm>
            <a:off x="6244515" y="2907681"/>
            <a:ext cx="3663285" cy="1647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D6E2905-F32C-6406-E1AC-54877D20EBD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068791" y="5579493"/>
            <a:ext cx="230379" cy="256541"/>
          </a:xfrm>
        </p:spPr>
        <p:txBody>
          <a:bodyPr/>
          <a:lstStyle/>
          <a:p>
            <a:fld id="{52F43CC4-A25D-4598-A649-B48D77B2B48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05929-B3E0-79BC-3A17-9592F22A80C2}"/>
              </a:ext>
            </a:extLst>
          </p:cNvPr>
          <p:cNvSpPr txBox="1"/>
          <p:nvPr/>
        </p:nvSpPr>
        <p:spPr>
          <a:xfrm>
            <a:off x="5197447" y="5377055"/>
            <a:ext cx="517051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" altLang="ko-KR" sz="800">
                <a:solidFill>
                  <a:schemeClr val="bg1">
                    <a:lumMod val="50000"/>
                  </a:schemeClr>
                </a:solidFill>
              </a:rPr>
              <a:t>Adapted 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from “</a:t>
            </a:r>
            <a:r>
              <a:rPr lang="en" altLang="ko-KR" sz="800" dirty="0" err="1">
                <a:solidFill>
                  <a:schemeClr val="bg1">
                    <a:lumMod val="50000"/>
                  </a:schemeClr>
                </a:solidFill>
              </a:rPr>
              <a:t>TinyML</a:t>
            </a:r>
            <a:r>
              <a:rPr lang="en" altLang="ko-KR" sz="800" dirty="0">
                <a:solidFill>
                  <a:schemeClr val="bg1">
                    <a:lumMod val="50000"/>
                  </a:schemeClr>
                </a:solidFill>
              </a:rPr>
              <a:t> and Efficient Deep Learning Computing” Lecture (Fall 2024) by Prof. Song Han (MIT)</a:t>
            </a:r>
          </a:p>
        </p:txBody>
      </p:sp>
    </p:spTree>
    <p:extLst>
      <p:ext uri="{BB962C8B-B14F-4D97-AF65-F5344CB8AC3E}">
        <p14:creationId xmlns:p14="http://schemas.microsoft.com/office/powerpoint/2010/main" val="18497080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Footer Placeholder 2"/>
          <p:cNvSpPr txBox="1"/>
          <p:nvPr/>
        </p:nvSpPr>
        <p:spPr>
          <a:xfrm>
            <a:off x="437711" y="15872"/>
            <a:ext cx="3372453" cy="265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1487" rIns="51487" anchor="ctr">
            <a:spAutoFit/>
          </a:bodyPr>
          <a:lstStyle>
            <a:lvl1pPr>
              <a:defRPr sz="1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pPr defTabSz="1029697" latinLnBrk="0" hangingPunct="0"/>
            <a:r>
              <a:rPr sz="1125" kern="0"/>
              <a:t>Lecture 6: Polling and Interrupt</a:t>
            </a:r>
          </a:p>
        </p:txBody>
      </p:sp>
      <p:sp>
        <p:nvSpPr>
          <p:cNvPr id="99" name="Google Shape;15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" b="1" dirty="0"/>
              <a:t>Thank you!</a:t>
            </a:r>
          </a:p>
        </p:txBody>
      </p:sp>
      <p:sp>
        <p:nvSpPr>
          <p:cNvPr id="100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5028944" y="5551147"/>
            <a:ext cx="164467" cy="26545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defTabSz="1029697" latinLnBrk="0" hangingPunct="0"/>
            <a:fld id="{86CB4B4D-7CA3-9044-876B-883B54F8677D}" type="slidenum">
              <a:rPr kern="0"/>
              <a:pPr defTabSz="1029697" latinLnBrk="0" hangingPunct="0"/>
              <a:t>22</a:t>
            </a:fld>
            <a:endParaRPr kern="0"/>
          </a:p>
        </p:txBody>
      </p:sp>
      <p:sp>
        <p:nvSpPr>
          <p:cNvPr id="101" name="Questions or comments?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</a:lvl1pPr>
          </a:lstStyle>
          <a:p>
            <a:r>
              <a:rPr dirty="0"/>
              <a:t>Questions or comments? </a:t>
            </a:r>
          </a:p>
        </p:txBody>
      </p:sp>
      <p:sp>
        <p:nvSpPr>
          <p:cNvPr id="102" name="Google Shape;36;p7"/>
          <p:cNvSpPr txBox="1"/>
          <p:nvPr/>
        </p:nvSpPr>
        <p:spPr>
          <a:xfrm>
            <a:off x="389920" y="3467052"/>
            <a:ext cx="5814555" cy="1456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02958" tIns="102958" rIns="102958" bIns="102958">
            <a:spAutoFit/>
          </a:bodyPr>
          <a:lstStyle/>
          <a:p>
            <a:pPr defTabSz="1029697" latinLnBrk="0" hangingPunct="0">
              <a:defRPr sz="14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r>
              <a:rPr lang="en-US" altLang="ko-KR" sz="1577" kern="0" dirty="0">
                <a:solidFill>
                  <a:srgbClr val="666666"/>
                </a:solidFill>
                <a:latin typeface="Raleway Bold"/>
                <a:cs typeface="Raleway Bold"/>
                <a:sym typeface="Raleway Bold"/>
              </a:rPr>
              <a:t>Jong Hwan Ko</a:t>
            </a:r>
          </a:p>
          <a:p>
            <a:pPr defTabSz="1029697" latinLnBrk="0" hangingPunct="0">
              <a:defRPr sz="1000">
                <a:solidFill>
                  <a:srgbClr val="666666"/>
                </a:solidFill>
                <a:latin typeface="Raleway Bold"/>
                <a:ea typeface="Raleway Bold"/>
                <a:cs typeface="Raleway Bold"/>
                <a:sym typeface="Raleway Bold"/>
              </a:defRPr>
            </a:pPr>
            <a:endParaRPr lang="en-US" altLang="ko-KR" sz="1125" kern="0" dirty="0">
              <a:solidFill>
                <a:srgbClr val="666666"/>
              </a:solidFill>
              <a:latin typeface="Raleway Bold"/>
              <a:cs typeface="Raleway Bold"/>
              <a:sym typeface="Raleway Bold"/>
            </a:endParaRP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altLang="ko-KR" sz="1352" kern="0" dirty="0" err="1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SungKyunKwan</a:t>
            </a:r>
            <a:r>
              <a:rPr lang="en-US" altLang="ko-KR" sz="1352" kern="0" dirty="0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 University, Korea</a:t>
            </a: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altLang="ko-KR" sz="1352" kern="0" dirty="0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Department of Information and Communication Engineering</a:t>
            </a: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lang="en-US" altLang="ko-KR" sz="1352" kern="0" dirty="0">
              <a:solidFill>
                <a:srgbClr val="666666"/>
              </a:solidFill>
              <a:latin typeface="Source Sans Pro"/>
              <a:ea typeface="Source Sans Pro"/>
              <a:sym typeface="Source Sans Pro"/>
            </a:endParaRPr>
          </a:p>
          <a:p>
            <a:pPr defTabSz="1029697" latinLnBrk="0" hangingPunct="0">
              <a:defRPr sz="1200">
                <a:solidFill>
                  <a:srgbClr val="666666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altLang="ko-KR" sz="1352" kern="0" dirty="0" err="1">
                <a:solidFill>
                  <a:srgbClr val="666666"/>
                </a:solidFill>
                <a:latin typeface="Source Sans Pro"/>
                <a:ea typeface="Source Sans Pro"/>
                <a:sym typeface="Source Sans Pro"/>
              </a:rPr>
              <a:t>jhko@skku.edu</a:t>
            </a:r>
            <a:endParaRPr lang="en-US" altLang="ko-KR" sz="1352" kern="0" dirty="0">
              <a:solidFill>
                <a:srgbClr val="666666"/>
              </a:solidFill>
              <a:latin typeface="Source Sans Pro"/>
              <a:ea typeface="Source Sans Pro"/>
              <a:sym typeface="Source Sans Pro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KKU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KK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11437A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11437A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10743</TotalTime>
  <Words>2526</Words>
  <Application>Microsoft Macintosh PowerPoint</Application>
  <PresentationFormat>사용자 지정</PresentationFormat>
  <Paragraphs>381</Paragraphs>
  <Slides>22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9" baseType="lpstr">
      <vt:lpstr>Arial MT</vt:lpstr>
      <vt:lpstr>맑은 고딕</vt:lpstr>
      <vt:lpstr>NanumGothic</vt:lpstr>
      <vt:lpstr>Noto Sans CJK KR Black</vt:lpstr>
      <vt:lpstr>Noto Sans CJK KR Regular</vt:lpstr>
      <vt:lpstr>Raleway Bold</vt:lpstr>
      <vt:lpstr>Raleway Regular</vt:lpstr>
      <vt:lpstr>Arial</vt:lpstr>
      <vt:lpstr>Cambria</vt:lpstr>
      <vt:lpstr>Helvetica Neue</vt:lpstr>
      <vt:lpstr>Open Sans</vt:lpstr>
      <vt:lpstr>Raleway</vt:lpstr>
      <vt:lpstr>Source Sans Pro</vt:lpstr>
      <vt:lpstr>Times New Roman</vt:lpstr>
      <vt:lpstr>Trebuchet MS</vt:lpstr>
      <vt:lpstr>Wingdings</vt:lpstr>
      <vt:lpstr>SKKU</vt:lpstr>
      <vt:lpstr> 미래차 부트캠프 On-device AI</vt:lpstr>
      <vt:lpstr>2. Pruning – Contents</vt:lpstr>
      <vt:lpstr>2. Pruning – Background</vt:lpstr>
      <vt:lpstr>2. Pruning – Introduction</vt:lpstr>
      <vt:lpstr>2. Pruning – Introduction</vt:lpstr>
      <vt:lpstr>2. Pruning – Introduction</vt:lpstr>
      <vt:lpstr>2. Pruning – Introduction</vt:lpstr>
      <vt:lpstr>2. Pruning – Introduction</vt:lpstr>
      <vt:lpstr>2. Pruning – Introduction</vt:lpstr>
      <vt:lpstr>2. Pruning – Granularity</vt:lpstr>
      <vt:lpstr>2. Pruning – Granularity</vt:lpstr>
      <vt:lpstr>2. Pruning – Granularity</vt:lpstr>
      <vt:lpstr>2. Pruning – Granularity</vt:lpstr>
      <vt:lpstr>2. Pruning – Granularity</vt:lpstr>
      <vt:lpstr>2. Pruning – Criterion</vt:lpstr>
      <vt:lpstr>2. Pruning – Criterion</vt:lpstr>
      <vt:lpstr>2. Pruning – Criterion</vt:lpstr>
      <vt:lpstr>2. Pruning – Criterion</vt:lpstr>
      <vt:lpstr>2. Pruning – Criterion</vt:lpstr>
      <vt:lpstr>2. Pruning – Ratio</vt:lpstr>
      <vt:lpstr>2. Pruning – Regularization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고종환</dc:creator>
  <cp:lastModifiedBy>고종환</cp:lastModifiedBy>
  <cp:revision>91</cp:revision>
  <dcterms:created xsi:type="dcterms:W3CDTF">2024-08-09T12:51:12Z</dcterms:created>
  <dcterms:modified xsi:type="dcterms:W3CDTF">2025-08-05T13:45:48Z</dcterms:modified>
</cp:coreProperties>
</file>