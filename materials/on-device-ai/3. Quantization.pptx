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318" r:id="rId3"/>
    <p:sldId id="277" r:id="rId4"/>
    <p:sldId id="289" r:id="rId5"/>
    <p:sldId id="261" r:id="rId6"/>
    <p:sldId id="262" r:id="rId7"/>
    <p:sldId id="267" r:id="rId8"/>
    <p:sldId id="268" r:id="rId9"/>
    <p:sldId id="315" r:id="rId10"/>
    <p:sldId id="302" r:id="rId11"/>
    <p:sldId id="303" r:id="rId12"/>
    <p:sldId id="305" r:id="rId13"/>
    <p:sldId id="316" r:id="rId14"/>
    <p:sldId id="319" r:id="rId15"/>
    <p:sldId id="293" r:id="rId16"/>
    <p:sldId id="294" r:id="rId17"/>
    <p:sldId id="295" r:id="rId18"/>
    <p:sldId id="1631" r:id="rId19"/>
    <p:sldId id="309" r:id="rId20"/>
    <p:sldId id="1632" r:id="rId21"/>
    <p:sldId id="269" r:id="rId22"/>
    <p:sldId id="274" r:id="rId23"/>
    <p:sldId id="287" r:id="rId24"/>
    <p:sldId id="320" r:id="rId25"/>
    <p:sldId id="317" r:id="rId26"/>
    <p:sldId id="260" r:id="rId27"/>
  </p:sldIdLst>
  <p:sldSz cx="10367963" cy="5832475"/>
  <p:notesSz cx="6858000" cy="9144000"/>
  <p:defaultTextStyle>
    <a:defPPr>
      <a:defRPr lang="ko-KR"/>
    </a:defPPr>
    <a:lvl1pPr marL="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EDEDED"/>
    <a:srgbClr val="FF26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256"/>
    <p:restoredTop sz="67996"/>
  </p:normalViewPr>
  <p:slideViewPr>
    <p:cSldViewPr snapToGrid="0">
      <p:cViewPr varScale="1">
        <p:scale>
          <a:sx n="74" d="100"/>
          <a:sy n="74" d="100"/>
        </p:scale>
        <p:origin x="824" y="176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849FB-297F-7B42-8ED7-99C4FA76502A}" type="datetimeFigureOut">
              <a:rPr kumimoji="1" lang="ko-KR" altLang="en-US" smtClean="0"/>
              <a:t>2025. 8. 5.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49E4-ABA9-D647-BBC8-EAC091E4C2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2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159841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ko-KR" altLang="en-US" dirty="0"/>
              <a:t>일반적으로 “</a:t>
            </a:r>
            <a:r>
              <a:rPr lang="en" altLang="ko-KR" dirty="0"/>
              <a:t>INT32</a:t>
            </a:r>
            <a:r>
              <a:rPr lang="ko-KR" altLang="en-US" dirty="0"/>
              <a:t>는 </a:t>
            </a:r>
            <a:r>
              <a:rPr lang="en" altLang="ko-KR" dirty="0"/>
              <a:t>INT8</a:t>
            </a:r>
            <a:r>
              <a:rPr lang="ko-KR" altLang="en-US" dirty="0"/>
              <a:t>보다 비트 폭이 </a:t>
            </a:r>
            <a:r>
              <a:rPr lang="en-US" altLang="ko-KR" dirty="0"/>
              <a:t>4</a:t>
            </a:r>
            <a:r>
              <a:rPr lang="ko-KR" altLang="en-US" dirty="0"/>
              <a:t>배 크니까</a:t>
            </a:r>
            <a:r>
              <a:rPr lang="en-US" altLang="ko-KR" dirty="0"/>
              <a:t>, </a:t>
            </a:r>
            <a:r>
              <a:rPr lang="ko-KR" altLang="en-US" dirty="0"/>
              <a:t>에너지도 단순히 </a:t>
            </a:r>
            <a:r>
              <a:rPr lang="en-US" altLang="ko-KR" dirty="0"/>
              <a:t>4</a:t>
            </a:r>
            <a:r>
              <a:rPr lang="ko-KR" altLang="en-US" dirty="0"/>
              <a:t>배쯤 더 들지 않을까</a:t>
            </a:r>
            <a:r>
              <a:rPr lang="en-US" altLang="ko-KR" dirty="0"/>
              <a:t>?”</a:t>
            </a:r>
            <a:r>
              <a:rPr lang="ko-KR" altLang="en-US" dirty="0" err="1"/>
              <a:t>라고</a:t>
            </a:r>
            <a:r>
              <a:rPr lang="ko-KR" altLang="en-US" dirty="0"/>
              <a:t> 생각하기 쉽지만</a:t>
            </a:r>
            <a:r>
              <a:rPr lang="en-US" altLang="ko-KR" dirty="0"/>
              <a:t>, </a:t>
            </a:r>
            <a:r>
              <a:rPr lang="ko-KR" altLang="en-US" dirty="0"/>
              <a:t>실제 하드웨어 구현과 연산 과정에서 다음과 같은 추가 요인들이 작용하여 그 이상의 차이가 납니다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16</a:t>
            </a:r>
            <a:r>
              <a:rPr lang="ko-KR" altLang="en-US" dirty="0"/>
              <a:t>배 차이</a:t>
            </a:r>
            <a:r>
              <a:rPr lang="en-US" altLang="ko-KR" dirty="0"/>
              <a:t>):</a:t>
            </a:r>
          </a:p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b="1" dirty="0"/>
              <a:t>입력 </a:t>
            </a:r>
            <a:r>
              <a:rPr lang="en" altLang="ko-KR" b="1" dirty="0"/>
              <a:t>Operand</a:t>
            </a:r>
            <a:r>
              <a:rPr lang="ko-KR" altLang="en-US" b="1" dirty="0"/>
              <a:t>가 </a:t>
            </a:r>
            <a:r>
              <a:rPr lang="en-US" altLang="ko-KR" b="1" dirty="0"/>
              <a:t>2</a:t>
            </a:r>
            <a:r>
              <a:rPr lang="ko-KR" altLang="en-US" b="1" dirty="0"/>
              <a:t>개 이상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단순히 한 </a:t>
            </a:r>
            <a:r>
              <a:rPr lang="en" altLang="ko-KR" dirty="0"/>
              <a:t>Operand</a:t>
            </a:r>
            <a:r>
              <a:rPr lang="ko-KR" altLang="en-US" dirty="0"/>
              <a:t>만 </a:t>
            </a:r>
            <a:r>
              <a:rPr lang="en-US" altLang="ko-KR" dirty="0"/>
              <a:t>4</a:t>
            </a:r>
            <a:r>
              <a:rPr lang="ko-KR" altLang="en-US" dirty="0"/>
              <a:t>배 커지는 게 아니라</a:t>
            </a:r>
            <a:r>
              <a:rPr lang="en-US" altLang="ko-KR" dirty="0"/>
              <a:t>, </a:t>
            </a:r>
            <a:r>
              <a:rPr lang="ko-KR" altLang="en-US" dirty="0"/>
              <a:t>연산 시에는 보통 두 </a:t>
            </a:r>
            <a:r>
              <a:rPr lang="en" altLang="ko-KR" dirty="0"/>
              <a:t>Operand(</a:t>
            </a:r>
            <a:r>
              <a:rPr lang="ko-KR" altLang="en-US" dirty="0"/>
              <a:t>곱셈이면 </a:t>
            </a:r>
            <a:r>
              <a:rPr lang="ko-KR" altLang="en-US" dirty="0" err="1"/>
              <a:t>부분곱</a:t>
            </a:r>
            <a:r>
              <a:rPr lang="en-US" altLang="ko-KR" dirty="0"/>
              <a:t>, </a:t>
            </a:r>
            <a:r>
              <a:rPr lang="ko-KR" altLang="en-US" dirty="0"/>
              <a:t>덧셈이면 두 </a:t>
            </a:r>
            <a:r>
              <a:rPr lang="ko-KR" altLang="en-US" dirty="0" err="1"/>
              <a:t>피연산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읽고 처리해야 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예를 들어</a:t>
            </a:r>
            <a:r>
              <a:rPr lang="en-US" altLang="ko-KR" dirty="0"/>
              <a:t>, 32</a:t>
            </a:r>
            <a:r>
              <a:rPr lang="ko-KR" altLang="en-US" dirty="0"/>
              <a:t>비트 </a:t>
            </a:r>
            <a:r>
              <a:rPr lang="en-US" altLang="ko-KR" dirty="0"/>
              <a:t>× 32</a:t>
            </a:r>
            <a:r>
              <a:rPr lang="ko-KR" altLang="en-US" dirty="0"/>
              <a:t>비트 곱셈은 </a:t>
            </a:r>
            <a:r>
              <a:rPr lang="en-US" altLang="ko-KR" dirty="0"/>
              <a:t>8</a:t>
            </a:r>
            <a:r>
              <a:rPr lang="ko-KR" altLang="en-US" dirty="0"/>
              <a:t>비트 </a:t>
            </a:r>
            <a:r>
              <a:rPr lang="en-US" altLang="ko-KR" dirty="0"/>
              <a:t>× 8</a:t>
            </a:r>
            <a:r>
              <a:rPr lang="ko-KR" altLang="en-US" dirty="0"/>
              <a:t>비트 곱셈보다 단순히 “</a:t>
            </a:r>
            <a:r>
              <a:rPr lang="en-US" altLang="ko-KR" dirty="0"/>
              <a:t>4</a:t>
            </a:r>
            <a:r>
              <a:rPr lang="ko-KR" altLang="en-US" dirty="0" err="1"/>
              <a:t>배”가</a:t>
            </a:r>
            <a:r>
              <a:rPr lang="ko-KR" altLang="en-US" dirty="0"/>
              <a:t> 아닌 “</a:t>
            </a:r>
            <a:r>
              <a:rPr lang="en-US" altLang="ko-KR" dirty="0"/>
              <a:t>4×4 = 16</a:t>
            </a:r>
            <a:r>
              <a:rPr lang="ko-KR" altLang="en-US" dirty="0"/>
              <a:t>배” 수준의 내부 연산 복잡도를 가집니다</a:t>
            </a:r>
            <a:r>
              <a:rPr lang="en-US" altLang="ko-KR" dirty="0"/>
              <a:t>(</a:t>
            </a:r>
            <a:r>
              <a:rPr lang="ko-KR" altLang="en-US" dirty="0" err="1"/>
              <a:t>부분곱</a:t>
            </a:r>
            <a:r>
              <a:rPr lang="ko-KR" altLang="en-US" dirty="0"/>
              <a:t> 계산과 합산 과정이 훨씬 </a:t>
            </a:r>
            <a:r>
              <a:rPr lang="ko-KR" altLang="en-US" dirty="0" err="1"/>
              <a:t>많아짐</a:t>
            </a:r>
            <a:r>
              <a:rPr lang="en-US" altLang="ko-KR" dirty="0"/>
              <a:t>).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en" altLang="ko-KR" b="1" dirty="0"/>
              <a:t>Carry/Partial Products </a:t>
            </a:r>
            <a:r>
              <a:rPr lang="ko-KR" altLang="en-US" b="1" dirty="0"/>
              <a:t>처리 회로 복잡도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비트 폭이 커질수록 </a:t>
            </a:r>
            <a:r>
              <a:rPr lang="en" altLang="ko-KR" dirty="0"/>
              <a:t>carry</a:t>
            </a:r>
            <a:r>
              <a:rPr lang="ko-KR" altLang="en-US" dirty="0" err="1"/>
              <a:t>를</a:t>
            </a:r>
            <a:r>
              <a:rPr lang="ko-KR" altLang="en-US" dirty="0"/>
              <a:t> 전파하거나 </a:t>
            </a:r>
            <a:r>
              <a:rPr lang="ko-KR" altLang="en-US" dirty="0" err="1"/>
              <a:t>부분곱</a:t>
            </a:r>
            <a:r>
              <a:rPr lang="en-US" altLang="ko-KR" dirty="0"/>
              <a:t>(</a:t>
            </a:r>
            <a:r>
              <a:rPr lang="en" altLang="ko-KR" dirty="0"/>
              <a:t>partial product)</a:t>
            </a:r>
            <a:r>
              <a:rPr lang="ko-KR" altLang="en-US" dirty="0"/>
              <a:t>을 합산하는 데 필요한 회로가 기하급수적으로 </a:t>
            </a:r>
            <a:r>
              <a:rPr lang="ko-KR" altLang="en-US" dirty="0" err="1"/>
              <a:t>복잡해집니다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이로 인해 연산 자체의 에너지 소비가 단순 비트 폭 비례 이상으로 증가합니다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b="1" dirty="0"/>
              <a:t>메모리 접근 및 레지스터 사용량 증가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더 넓은 비트를 저장하고 읽어오기 위해선 레지스터나 메모리 접근도 커집니다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“</a:t>
            </a:r>
            <a:r>
              <a:rPr lang="ko-KR" altLang="en-US" dirty="0"/>
              <a:t>읽고 쓰는” 모든 과정에 필요한 에너지가 증가하므로</a:t>
            </a:r>
            <a:r>
              <a:rPr lang="en-US" altLang="ko-KR" dirty="0"/>
              <a:t>, </a:t>
            </a:r>
            <a:r>
              <a:rPr lang="ko-KR" altLang="en-US" dirty="0"/>
              <a:t>결과적으로 총 에너지는 단순 </a:t>
            </a:r>
            <a:r>
              <a:rPr lang="en-US" altLang="ko-KR" dirty="0"/>
              <a:t>4</a:t>
            </a:r>
            <a:r>
              <a:rPr lang="ko-KR" altLang="en-US" dirty="0"/>
              <a:t>배보다 크게 올라갑니다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4. </a:t>
            </a:r>
            <a:r>
              <a:rPr lang="ko-KR" altLang="en-US" b="1" dirty="0"/>
              <a:t>하드웨어 파이프라인 및 제어 오버헤드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32</a:t>
            </a:r>
            <a:r>
              <a:rPr lang="ko-KR" altLang="en-US" dirty="0"/>
              <a:t>비트 연산을 위해서는 파이프라인 스테이지나 제어 로직도 더 복잡해지고 길어질 수 있어</a:t>
            </a:r>
            <a:r>
              <a:rPr lang="en-US" altLang="ko-KR" dirty="0"/>
              <a:t>, </a:t>
            </a:r>
            <a:r>
              <a:rPr lang="ko-KR" altLang="en-US" dirty="0"/>
              <a:t>오버헤드가 추가됩니다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" altLang="ko-KR" dirty="0"/>
              <a:t>FP32 </a:t>
            </a:r>
            <a:r>
              <a:rPr lang="ko-KR" altLang="en-US" dirty="0"/>
              <a:t>연산은 단순한 정수 연산보다 훨씬 복잡한 과정을 거치는데</a:t>
            </a:r>
            <a:r>
              <a:rPr lang="en-US" altLang="ko-KR" dirty="0"/>
              <a:t>, </a:t>
            </a:r>
            <a:r>
              <a:rPr lang="ko-KR" altLang="en-US" dirty="0"/>
              <a:t>그 이유는 다음과 같습니다</a:t>
            </a:r>
            <a:r>
              <a:rPr lang="en-US" altLang="ko-KR" dirty="0"/>
              <a:t>: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부동소수점 표현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" altLang="ko-KR" dirty="0"/>
              <a:t>FP32</a:t>
            </a:r>
            <a:r>
              <a:rPr lang="ko-KR" altLang="en-US" dirty="0"/>
              <a:t>는 부호</a:t>
            </a:r>
            <a:r>
              <a:rPr lang="en-US" altLang="ko-KR" dirty="0"/>
              <a:t>, </a:t>
            </a:r>
            <a:r>
              <a:rPr lang="ko-KR" altLang="en-US" dirty="0"/>
              <a:t>지수</a:t>
            </a:r>
            <a:r>
              <a:rPr lang="en-US" altLang="ko-KR" dirty="0"/>
              <a:t>, </a:t>
            </a:r>
            <a:r>
              <a:rPr lang="ko-KR" altLang="en-US" dirty="0"/>
              <a:t>가수</a:t>
            </a:r>
            <a:r>
              <a:rPr lang="en-US" altLang="ko-KR" dirty="0"/>
              <a:t>(</a:t>
            </a:r>
            <a:r>
              <a:rPr lang="ko-KR" altLang="en-US" dirty="0" err="1"/>
              <a:t>맨티사</a:t>
            </a:r>
            <a:r>
              <a:rPr lang="en-US" altLang="ko-KR" dirty="0"/>
              <a:t>) </a:t>
            </a:r>
            <a:r>
              <a:rPr lang="ko-KR" altLang="en-US" dirty="0"/>
              <a:t>세 부분으로 구성됩니다</a:t>
            </a:r>
            <a:r>
              <a:rPr lang="en-US" altLang="ko-KR" dirty="0"/>
              <a:t>. </a:t>
            </a:r>
            <a:r>
              <a:rPr lang="ko-KR" altLang="en-US" dirty="0"/>
              <a:t>연산 시 이들 각 부분을 따로 처리해야 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정규화 및 </a:t>
            </a:r>
            <a:r>
              <a:rPr lang="ko-KR" altLang="en-US" b="1" dirty="0" err="1"/>
              <a:t>언노말</a:t>
            </a:r>
            <a:r>
              <a:rPr lang="ko-KR" altLang="en-US" b="1" dirty="0"/>
              <a:t> 처리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ko-KR" altLang="en-US" dirty="0"/>
              <a:t>덧셈이나 뺄셈 시에는 지수를 맞추기 위해 가수를 정렬</a:t>
            </a:r>
            <a:r>
              <a:rPr lang="en-US" altLang="ko-KR" dirty="0"/>
              <a:t>(</a:t>
            </a:r>
            <a:r>
              <a:rPr lang="en" altLang="ko-KR" dirty="0"/>
              <a:t>normalization)</a:t>
            </a:r>
            <a:r>
              <a:rPr lang="ko-KR" altLang="en-US" dirty="0"/>
              <a:t>해야 하고</a:t>
            </a:r>
            <a:r>
              <a:rPr lang="en-US" altLang="ko-KR" dirty="0"/>
              <a:t>, </a:t>
            </a:r>
            <a:r>
              <a:rPr lang="ko-KR" altLang="en-US" dirty="0"/>
              <a:t>연산 후에도 결과를 정규화</a:t>
            </a:r>
            <a:r>
              <a:rPr lang="en-US" altLang="ko-KR" dirty="0"/>
              <a:t>(</a:t>
            </a:r>
            <a:r>
              <a:rPr lang="en" altLang="ko-KR" dirty="0"/>
              <a:t>normalization)</a:t>
            </a:r>
            <a:r>
              <a:rPr lang="ko-KR" altLang="en-US" dirty="0"/>
              <a:t>하는 과정이 필요합니다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 err="1"/>
              <a:t>서브노말</a:t>
            </a:r>
            <a:r>
              <a:rPr lang="en-US" altLang="ko-KR" dirty="0"/>
              <a:t>(</a:t>
            </a:r>
            <a:r>
              <a:rPr lang="en" altLang="ko-KR" dirty="0"/>
              <a:t>subnormal) </a:t>
            </a:r>
            <a:r>
              <a:rPr lang="ko-KR" altLang="en-US" dirty="0"/>
              <a:t>수에 대한 처리가 추가됩니다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반올림 및 예외 처리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ko-KR" altLang="en-US" dirty="0"/>
              <a:t>부동소수점 연산은 결과를 반올림하는 과정과</a:t>
            </a:r>
            <a:r>
              <a:rPr lang="en-US" altLang="ko-KR" dirty="0"/>
              <a:t>, </a:t>
            </a:r>
            <a:r>
              <a:rPr lang="ko-KR" altLang="en-US" dirty="0" err="1"/>
              <a:t>오버플로우</a:t>
            </a:r>
            <a:r>
              <a:rPr lang="en-US" altLang="ko-KR" dirty="0"/>
              <a:t>, </a:t>
            </a:r>
            <a:r>
              <a:rPr lang="ko-KR" altLang="en-US" dirty="0" err="1"/>
              <a:t>언더플로우</a:t>
            </a:r>
            <a:r>
              <a:rPr lang="en-US" altLang="ko-KR" dirty="0"/>
              <a:t>, </a:t>
            </a:r>
            <a:r>
              <a:rPr lang="en" altLang="ko-KR" dirty="0" err="1"/>
              <a:t>NaN</a:t>
            </a:r>
            <a:r>
              <a:rPr lang="en" altLang="ko-KR" dirty="0"/>
              <a:t>(Not a Number) </a:t>
            </a:r>
            <a:r>
              <a:rPr lang="ko-KR" altLang="en-US" dirty="0"/>
              <a:t>처리 등 다양한 예외 상황에 대비해야 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하드웨어 복잡도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ko-KR" altLang="en-US" dirty="0"/>
              <a:t>이러한 복잡한 절차를 처리하기 위해 </a:t>
            </a:r>
            <a:r>
              <a:rPr lang="en" altLang="ko-KR" dirty="0"/>
              <a:t>FP32 </a:t>
            </a:r>
            <a:r>
              <a:rPr lang="ko-KR" altLang="en-US" dirty="0"/>
              <a:t>연산기는 복잡한 제어 로직과 다단계 파이프라인</a:t>
            </a:r>
            <a:r>
              <a:rPr lang="en-US" altLang="ko-KR" dirty="0"/>
              <a:t>, </a:t>
            </a:r>
            <a:r>
              <a:rPr lang="ko-KR" altLang="en-US" dirty="0"/>
              <a:t>추가적인 회로를 필요로 하며</a:t>
            </a:r>
            <a:r>
              <a:rPr lang="en-US" altLang="ko-KR" dirty="0"/>
              <a:t>, </a:t>
            </a:r>
            <a:r>
              <a:rPr lang="ko-KR" altLang="en-US" dirty="0"/>
              <a:t>이는 에너지 소모와 연산 지연으로 이어집니다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en" altLang="ko-KR" dirty="0"/>
              <a:t>INT32 </a:t>
            </a:r>
            <a:r>
              <a:rPr lang="ko-KR" altLang="en-US" dirty="0"/>
              <a:t>연산은 단순히 </a:t>
            </a:r>
            <a:r>
              <a:rPr lang="en-US" altLang="ko-KR" dirty="0"/>
              <a:t>32</a:t>
            </a:r>
            <a:r>
              <a:rPr lang="ko-KR" altLang="en-US" dirty="0"/>
              <a:t>비트 정수의 덧셈</a:t>
            </a:r>
            <a:r>
              <a:rPr lang="en-US" altLang="ko-KR" dirty="0"/>
              <a:t>, </a:t>
            </a:r>
            <a:r>
              <a:rPr lang="ko-KR" altLang="en-US" dirty="0"/>
              <a:t>뺄셈</a:t>
            </a:r>
            <a:r>
              <a:rPr lang="en-US" altLang="ko-KR" dirty="0"/>
              <a:t>, </a:t>
            </a:r>
            <a:r>
              <a:rPr lang="ko-KR" altLang="en-US" dirty="0"/>
              <a:t>곱셈 등을 수행하므로</a:t>
            </a:r>
            <a:r>
              <a:rPr lang="en-US" altLang="ko-KR" dirty="0"/>
              <a:t>, </a:t>
            </a:r>
            <a:r>
              <a:rPr lang="ko-KR" altLang="en-US" dirty="0"/>
              <a:t>부동소수점 연산보다 상대적으로 단순하고 효율적으로 처리할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en" altLang="ko-KR" dirty="0"/>
              <a:t>INT32 </a:t>
            </a:r>
            <a:r>
              <a:rPr lang="ko-KR" altLang="en-US" dirty="0"/>
              <a:t>연산이 </a:t>
            </a:r>
            <a:r>
              <a:rPr lang="en" altLang="ko-KR" dirty="0"/>
              <a:t>INT8 </a:t>
            </a:r>
            <a:r>
              <a:rPr lang="ko-KR" altLang="en-US" dirty="0"/>
              <a:t>연산보다 에너지가 </a:t>
            </a:r>
            <a:r>
              <a:rPr lang="en-US" altLang="ko-KR" dirty="0"/>
              <a:t>4</a:t>
            </a:r>
            <a:r>
              <a:rPr lang="ko-KR" altLang="en-US" dirty="0"/>
              <a:t>배가 아닌 </a:t>
            </a:r>
            <a:r>
              <a:rPr lang="en-US" altLang="ko-KR" dirty="0"/>
              <a:t>16</a:t>
            </a:r>
            <a:r>
              <a:rPr lang="ko-KR" altLang="en-US" dirty="0"/>
              <a:t>배 이상 큰 이유는 “비트 폭 증가에 따른 회로 복잡도</a:t>
            </a:r>
            <a:r>
              <a:rPr lang="en-US" altLang="ko-KR" dirty="0"/>
              <a:t>, </a:t>
            </a:r>
            <a:r>
              <a:rPr lang="ko-KR" altLang="en-US" dirty="0"/>
              <a:t>여러 </a:t>
            </a:r>
            <a:r>
              <a:rPr lang="en" altLang="ko-KR" dirty="0"/>
              <a:t>Operand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메모리 접근</a:t>
            </a:r>
            <a:r>
              <a:rPr lang="en-US" altLang="ko-KR" dirty="0"/>
              <a:t>, </a:t>
            </a:r>
            <a:r>
              <a:rPr lang="ko-KR" altLang="en-US" dirty="0"/>
              <a:t>파이프라인 오버헤드 </a:t>
            </a:r>
            <a:r>
              <a:rPr lang="ko-KR" altLang="en-US" dirty="0" err="1"/>
              <a:t>등”이</a:t>
            </a:r>
            <a:r>
              <a:rPr lang="ko-KR" altLang="en-US" dirty="0"/>
              <a:t> 복합적으로 작용하기 때문입니다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6882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 = r / S + Z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8784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구현 단순성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en" altLang="ko-KR" dirty="0"/>
              <a:t>r_{\min} = -r_{\max}</a:t>
            </a:r>
            <a:r>
              <a:rPr lang="ko-KR" altLang="en-US" dirty="0"/>
              <a:t>로 설정하므로</a:t>
            </a:r>
            <a:r>
              <a:rPr lang="en-US" altLang="ko-KR" dirty="0"/>
              <a:t>, </a:t>
            </a:r>
            <a:r>
              <a:rPr lang="ko-KR" altLang="en-US" dirty="0"/>
              <a:t>별도의 </a:t>
            </a:r>
            <a:r>
              <a:rPr lang="en" altLang="ko-KR" dirty="0"/>
              <a:t>zero point</a:t>
            </a:r>
            <a:r>
              <a:rPr lang="ko-KR" altLang="en-US" dirty="0" err="1"/>
              <a:t>를</a:t>
            </a:r>
            <a:r>
              <a:rPr lang="ko-KR" altLang="en-US" dirty="0"/>
              <a:t> 계산하거나 저장할 필요가 없습니다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정수 연산에서 오프셋</a:t>
            </a:r>
            <a:r>
              <a:rPr lang="en-US" altLang="ko-KR" dirty="0"/>
              <a:t>(</a:t>
            </a:r>
            <a:r>
              <a:rPr lang="en" altLang="ko-KR" dirty="0"/>
              <a:t>offset) </a:t>
            </a:r>
            <a:r>
              <a:rPr lang="ko-KR" altLang="en-US" dirty="0"/>
              <a:t>처리가 없어</a:t>
            </a:r>
            <a:r>
              <a:rPr lang="en-US" altLang="ko-KR" dirty="0"/>
              <a:t>, </a:t>
            </a:r>
            <a:r>
              <a:rPr lang="ko-KR" altLang="en-US" dirty="0"/>
              <a:t>하드웨어 가속기나 라이브러리에서 구현이 간단합니다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효율적인 연산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대칭 구조 덕분에 연산 과정이 단순해지고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en-US" altLang="ko-KR" dirty="0"/>
              <a:t>0 </a:t>
            </a:r>
            <a:r>
              <a:rPr lang="ko-KR" altLang="en-US" dirty="0"/>
              <a:t>주변의 연산에서 정밀도가 보장됩니다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데이터 분포 활용 한계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실제 데이터가 </a:t>
            </a:r>
            <a:r>
              <a:rPr lang="ko-KR" altLang="en-US" dirty="0" err="1"/>
              <a:t>비대칭적일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양쪽 범위를 균등하게 사용하지 못해 동적 범위</a:t>
            </a:r>
            <a:r>
              <a:rPr lang="en-US" altLang="ko-KR" dirty="0"/>
              <a:t>(</a:t>
            </a:r>
            <a:r>
              <a:rPr lang="en" altLang="ko-KR" dirty="0"/>
              <a:t>dynamic range)</a:t>
            </a:r>
            <a:r>
              <a:rPr lang="ko-KR" altLang="en-US" dirty="0"/>
              <a:t>가 낭비될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양자화 오차가 증가할 가능성이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표현력 제한</a:t>
            </a:r>
            <a:r>
              <a:rPr lang="en-US" altLang="ko-KR" b="1" dirty="0"/>
              <a:t>:</a:t>
            </a:r>
            <a:endParaRPr lang="ko-KR" altLang="en-US" dirty="0"/>
          </a:p>
          <a:p>
            <a:r>
              <a:rPr lang="en-US" altLang="ko-KR" dirty="0"/>
              <a:t>• </a:t>
            </a:r>
            <a:r>
              <a:rPr lang="ko-KR" altLang="en-US" dirty="0"/>
              <a:t>데이터의 최소값과 최대값이 대칭적이지 않으면</a:t>
            </a:r>
            <a:r>
              <a:rPr lang="en-US" altLang="ko-KR" dirty="0"/>
              <a:t>, </a:t>
            </a:r>
            <a:r>
              <a:rPr lang="ko-KR" altLang="en-US" dirty="0"/>
              <a:t>일부 값들이 양자화 범위 밖으로 밀려 표현 정밀도가 떨어질 수 있습니다</a:t>
            </a:r>
            <a:r>
              <a:rPr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pPr>
              <a:buNone/>
            </a:pPr>
            <a:r>
              <a:rPr lang="ko-KR" altLang="en-US" dirty="0"/>
              <a:t>실제 값의 범위가 </a:t>
            </a:r>
            <a:r>
              <a:rPr lang="en-US" altLang="ko-KR" dirty="0"/>
              <a:t>[-1,2]</a:t>
            </a:r>
            <a:r>
              <a:rPr lang="ko-KR" altLang="en-US" dirty="0"/>
              <a:t>인 상황에서</a:t>
            </a:r>
            <a:r>
              <a:rPr lang="en-US" altLang="ko-KR" dirty="0"/>
              <a:t>, </a:t>
            </a:r>
            <a:r>
              <a:rPr lang="en" altLang="ko-KR" dirty="0"/>
              <a:t>symmetric quantization</a:t>
            </a:r>
            <a:r>
              <a:rPr lang="ko-KR" altLang="en-US" dirty="0"/>
              <a:t>은 최대 절대값인 </a:t>
            </a:r>
            <a:r>
              <a:rPr lang="en-US" altLang="ko-KR" dirty="0"/>
              <a:t>2</a:t>
            </a:r>
            <a:r>
              <a:rPr lang="ko-KR" altLang="en-US" dirty="0" err="1"/>
              <a:t>를</a:t>
            </a:r>
            <a:r>
              <a:rPr lang="ko-KR" altLang="en-US" dirty="0"/>
              <a:t> 기준으로 </a:t>
            </a:r>
            <a:r>
              <a:rPr lang="en" altLang="ko-KR" dirty="0"/>
              <a:t>scale factor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text{scale} = \frac{2}{(2^{(2-1)}-1)} = 2</a:t>
            </a:r>
            <a:r>
              <a:rPr lang="ko-KR" altLang="en-US" dirty="0"/>
              <a:t>로 정하게 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이 경우 </a:t>
            </a:r>
            <a:r>
              <a:rPr lang="en" altLang="ko-KR" dirty="0"/>
              <a:t>quantized </a:t>
            </a:r>
            <a:r>
              <a:rPr lang="ko-KR" altLang="en-US" dirty="0"/>
              <a:t>값의 범위는 </a:t>
            </a:r>
            <a:r>
              <a:rPr lang="en-US" altLang="ko-KR" dirty="0"/>
              <a:t>\{-2, -1, 0, 1\}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그런데 원래의 범위 </a:t>
            </a:r>
            <a:r>
              <a:rPr lang="en-US" altLang="ko-KR" dirty="0"/>
              <a:t>[-1,2]</a:t>
            </a:r>
            <a:r>
              <a:rPr lang="ko-KR" altLang="en-US" dirty="0" err="1"/>
              <a:t>를</a:t>
            </a:r>
            <a:r>
              <a:rPr lang="ko-KR" altLang="en-US" dirty="0"/>
              <a:t> 생각해보면</a:t>
            </a:r>
            <a:r>
              <a:rPr lang="en-US" altLang="ko-KR" dirty="0"/>
              <a:t>, </a:t>
            </a:r>
            <a:r>
              <a:rPr lang="ko-KR" altLang="en-US" dirty="0" err="1"/>
              <a:t>음수쪽은</a:t>
            </a:r>
            <a:r>
              <a:rPr lang="ko-KR" altLang="en-US" dirty="0"/>
              <a:t> 최대 </a:t>
            </a:r>
            <a:r>
              <a:rPr lang="en-US" altLang="ko-KR" dirty="0"/>
              <a:t>-1</a:t>
            </a:r>
            <a:r>
              <a:rPr lang="ko-KR" altLang="en-US" dirty="0"/>
              <a:t>만 나오고</a:t>
            </a:r>
            <a:r>
              <a:rPr lang="en-US" altLang="ko-KR" dirty="0"/>
              <a:t>, </a:t>
            </a:r>
            <a:r>
              <a:rPr lang="ko-KR" altLang="en-US" dirty="0" err="1"/>
              <a:t>양수쪽은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까지 나오는데</a:t>
            </a:r>
            <a:r>
              <a:rPr lang="en-US" altLang="ko-KR" dirty="0"/>
              <a:t>, </a:t>
            </a:r>
            <a:r>
              <a:rPr lang="en" altLang="ko-KR" dirty="0"/>
              <a:t>quantization</a:t>
            </a:r>
            <a:r>
              <a:rPr lang="ko-KR" altLang="en-US" dirty="0"/>
              <a:t>된 범위는 좌우 대칭이어야 하므로 </a:t>
            </a:r>
            <a:r>
              <a:rPr lang="en-US" altLang="ko-KR" dirty="0"/>
              <a:t>-2</a:t>
            </a:r>
            <a:r>
              <a:rPr lang="ko-KR" altLang="en-US" dirty="0" err="1"/>
              <a:t>부터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까지가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• </a:t>
            </a:r>
            <a:r>
              <a:rPr lang="ko-KR" altLang="en-US" dirty="0"/>
              <a:t>따라서 실제 값 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" altLang="ko-KR" dirty="0"/>
              <a:t>quantized </a:t>
            </a:r>
            <a:r>
              <a:rPr lang="ko-KR" altLang="en-US" dirty="0"/>
              <a:t>값 </a:t>
            </a:r>
            <a:r>
              <a:rPr lang="en-US" altLang="ko-KR" dirty="0"/>
              <a:t>1</a:t>
            </a:r>
            <a:r>
              <a:rPr lang="ko-KR" altLang="en-US" dirty="0"/>
              <a:t>로 </a:t>
            </a:r>
            <a:r>
              <a:rPr lang="ko-KR" altLang="en-US" dirty="0" err="1"/>
              <a:t>매핑되고</a:t>
            </a:r>
            <a:r>
              <a:rPr lang="en-US" altLang="ko-KR" dirty="0"/>
              <a:t>, -2</a:t>
            </a:r>
            <a:r>
              <a:rPr lang="ko-KR" altLang="en-US" dirty="0"/>
              <a:t>와 같이 실제로 나타나지 않는 값들도 사용되게 되어</a:t>
            </a:r>
            <a:r>
              <a:rPr lang="en-US" altLang="ko-KR" dirty="0"/>
              <a:t>, </a:t>
            </a:r>
            <a:r>
              <a:rPr lang="ko-KR" altLang="en-US" b="1" dirty="0"/>
              <a:t>실제 데이터 분포에 비해 일부 </a:t>
            </a:r>
            <a:r>
              <a:rPr lang="en" altLang="ko-KR" b="1" dirty="0"/>
              <a:t>quantization </a:t>
            </a:r>
            <a:r>
              <a:rPr lang="ko-KR" altLang="en-US" b="1" dirty="0"/>
              <a:t>단계가 효과적으로 활용되지 못하는</a:t>
            </a:r>
            <a:r>
              <a:rPr lang="ko-KR" altLang="en-US" dirty="0"/>
              <a:t> 문제가 발생합니다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0311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8580d5d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8580d5d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77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ko-KR" altLang="en-US" dirty="0"/>
              <a:t>각 클러스터마다 하나의 </a:t>
            </a:r>
            <a:r>
              <a:rPr lang="ko-KR" altLang="en-US" dirty="0" err="1"/>
              <a:t>중심값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" altLang="ko-KR" dirty="0"/>
              <a:t>float32)</a:t>
            </a:r>
            <a:r>
              <a:rPr lang="ko-KR" altLang="en-US" dirty="0"/>
              <a:t> 저장 추가로 필요</a:t>
            </a:r>
            <a:r>
              <a:rPr lang="en-US" altLang="ko-KR" dirty="0"/>
              <a:t>.</a:t>
            </a:r>
          </a:p>
          <a:p>
            <a:pPr marL="0" marR="0" lvl="0" indent="0" algn="l" defTabSz="77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77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일반적인 </a:t>
            </a:r>
            <a:r>
              <a:rPr lang="en" altLang="ko-KR" dirty="0"/>
              <a:t>uniform quantization</a:t>
            </a:r>
            <a:r>
              <a:rPr lang="ko-KR" altLang="en-US" dirty="0"/>
              <a:t>에서는 각 레이어당 한 쌍의 스케일</a:t>
            </a:r>
            <a:r>
              <a:rPr lang="en-US" altLang="ko-KR" dirty="0"/>
              <a:t>(</a:t>
            </a:r>
            <a:r>
              <a:rPr lang="en" altLang="ko-KR" dirty="0"/>
              <a:t>S)</a:t>
            </a:r>
            <a:r>
              <a:rPr lang="ko-KR" altLang="en-US" dirty="0"/>
              <a:t>과 제로 포인트</a:t>
            </a:r>
            <a:r>
              <a:rPr lang="en-US" altLang="ko-KR" dirty="0"/>
              <a:t>(</a:t>
            </a:r>
            <a:r>
              <a:rPr lang="en" altLang="ko-KR" dirty="0"/>
              <a:t>Z)</a:t>
            </a:r>
            <a:r>
              <a:rPr lang="ko-KR" altLang="en-US" dirty="0" err="1"/>
              <a:t>를</a:t>
            </a:r>
            <a:r>
              <a:rPr lang="ko-KR" altLang="en-US" dirty="0"/>
              <a:t> 저장하면 되므로</a:t>
            </a:r>
            <a:r>
              <a:rPr lang="en-US" altLang="ko-KR" dirty="0"/>
              <a:t>, </a:t>
            </a:r>
            <a:r>
              <a:rPr lang="ko-KR" altLang="en-US" dirty="0"/>
              <a:t>저장 오버헤드가 매우 작습니다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en" altLang="ko-KR" dirty="0"/>
              <a:t>k-means </a:t>
            </a:r>
            <a:r>
              <a:rPr lang="ko-KR" altLang="en-US" dirty="0"/>
              <a:t>기반 </a:t>
            </a:r>
            <a:r>
              <a:rPr lang="en" altLang="ko-KR" dirty="0"/>
              <a:t>quantization</a:t>
            </a:r>
            <a:r>
              <a:rPr lang="ko-KR" altLang="en-US" dirty="0"/>
              <a:t>은 각 레이어 또는 블록마다 </a:t>
            </a:r>
            <a:r>
              <a:rPr lang="en" altLang="ko-KR" dirty="0"/>
              <a:t>K</a:t>
            </a:r>
            <a:r>
              <a:rPr lang="ko-KR" altLang="en-US" dirty="0"/>
              <a:t>개의 클러스터 중심</a:t>
            </a:r>
            <a:r>
              <a:rPr lang="en-US" altLang="ko-KR" dirty="0"/>
              <a:t>(</a:t>
            </a:r>
            <a:r>
              <a:rPr lang="en" altLang="ko-KR" dirty="0"/>
              <a:t>centroid)</a:t>
            </a:r>
            <a:r>
              <a:rPr lang="ko-KR" altLang="en-US" dirty="0"/>
              <a:t>을 저장해야 하고</a:t>
            </a:r>
            <a:r>
              <a:rPr lang="en-US" altLang="ko-KR" dirty="0"/>
              <a:t>, </a:t>
            </a:r>
            <a:r>
              <a:rPr lang="ko-KR" altLang="en-US" dirty="0"/>
              <a:t>각 가중치에 대해 </a:t>
            </a:r>
            <a:r>
              <a:rPr lang="en-US" altLang="ko-KR" dirty="0"/>
              <a:t>\</a:t>
            </a:r>
            <a:r>
              <a:rPr lang="en" altLang="ko-KR" dirty="0" err="1"/>
              <a:t>lceil</a:t>
            </a:r>
            <a:r>
              <a:rPr lang="en" altLang="ko-KR" dirty="0"/>
              <a:t> \log_2(K) \</a:t>
            </a:r>
            <a:r>
              <a:rPr lang="en" altLang="ko-KR" dirty="0" err="1"/>
              <a:t>rceil</a:t>
            </a:r>
            <a:r>
              <a:rPr lang="en" altLang="ko-KR" dirty="0"/>
              <a:t> </a:t>
            </a:r>
            <a:r>
              <a:rPr lang="ko-KR" altLang="en-US" dirty="0"/>
              <a:t>비트로 인덱스를 저장합니다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오버헤드 측면에서 보면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en" altLang="ko-KR" b="1" dirty="0"/>
              <a:t>Uniform Quantization:</a:t>
            </a:r>
            <a:r>
              <a:rPr lang="en" altLang="ko-KR" dirty="0"/>
              <a:t> </a:t>
            </a:r>
            <a:r>
              <a:rPr lang="ko-KR" altLang="en-US" dirty="0"/>
              <a:t>레이어당 </a:t>
            </a:r>
            <a:r>
              <a:rPr lang="en-US" altLang="ko-KR" dirty="0"/>
              <a:t>2</a:t>
            </a:r>
            <a:r>
              <a:rPr lang="ko-KR" altLang="en-US" dirty="0"/>
              <a:t>개의 상수만 저장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en" altLang="ko-KR" b="1" dirty="0"/>
              <a:t>K-means Quantization:</a:t>
            </a:r>
            <a:r>
              <a:rPr lang="en" altLang="ko-KR" dirty="0"/>
              <a:t> K</a:t>
            </a:r>
            <a:r>
              <a:rPr lang="ko-KR" altLang="en-US" dirty="0"/>
              <a:t>개의 </a:t>
            </a:r>
            <a:r>
              <a:rPr lang="ko-KR" altLang="en-US" dirty="0" err="1"/>
              <a:t>중심값</a:t>
            </a:r>
            <a:r>
              <a:rPr lang="ko-KR" altLang="en-US" dirty="0"/>
              <a:t> 저장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16</a:t>
            </a:r>
            <a:r>
              <a:rPr lang="ko-KR" altLang="en-US" dirty="0"/>
              <a:t>이라면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" altLang="ko-KR" dirty="0"/>
              <a:t>float </a:t>
            </a:r>
            <a:r>
              <a:rPr lang="ko-KR" altLang="en-US" dirty="0"/>
              <a:t>값</a:t>
            </a:r>
            <a:r>
              <a:rPr lang="en-US" altLang="ko-KR" dirty="0"/>
              <a:t>) + </a:t>
            </a:r>
            <a:r>
              <a:rPr lang="ko-KR" altLang="en-US" dirty="0"/>
              <a:t>각 가중치에 대한 인덱스 </a:t>
            </a:r>
            <a:r>
              <a:rPr lang="en-US" altLang="ko-KR" dirty="0"/>
              <a:t>(</a:t>
            </a:r>
            <a:r>
              <a:rPr lang="ko-KR" altLang="en-US" dirty="0"/>
              <a:t>일반적으로 전체 가중치 수에 비해 오버헤드는 미미함</a:t>
            </a:r>
            <a:r>
              <a:rPr lang="en-US" altLang="ko-KR" dirty="0"/>
              <a:t>)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en" altLang="ko-KR" dirty="0"/>
              <a:t>k-means </a:t>
            </a:r>
            <a:r>
              <a:rPr lang="ko-KR" altLang="en-US" dirty="0"/>
              <a:t>기반 방법은 레이어나 블록의 크기와 </a:t>
            </a:r>
            <a:r>
              <a:rPr lang="en" altLang="ko-KR" dirty="0"/>
              <a:t>K </a:t>
            </a:r>
            <a:r>
              <a:rPr lang="ko-KR" altLang="en-US" dirty="0"/>
              <a:t>값에 따라 오버헤드가 증가할 수 있지만</a:t>
            </a:r>
            <a:r>
              <a:rPr lang="en-US" altLang="ko-KR" dirty="0"/>
              <a:t>, </a:t>
            </a:r>
            <a:r>
              <a:rPr lang="ko-KR" altLang="en-US" dirty="0"/>
              <a:t>전체 모델 파라미터 수에 비해 상대적으로 작은 경우가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오버헤드가 더 크다고 할 수는 있지만</a:t>
            </a:r>
            <a:r>
              <a:rPr lang="en-US" altLang="ko-KR" b="1" dirty="0"/>
              <a:t>, </a:t>
            </a:r>
            <a:r>
              <a:rPr lang="ko-KR" altLang="en-US" b="1" dirty="0"/>
              <a:t>실제 전체 모델 크기 대비 큰 부담이 되는 경우는 드뭅니다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pPr marL="0" marR="0" lvl="0" indent="0" algn="l" defTabSz="77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ko-KR" alt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물론 어느 단위로 </a:t>
            </a:r>
            <a:r>
              <a:rPr lang="en-US" altLang="ko-KR" dirty="0"/>
              <a:t>quant </a:t>
            </a:r>
            <a:r>
              <a:rPr lang="ko-KR" altLang="en-US" dirty="0" err="1"/>
              <a:t>하느냐에</a:t>
            </a:r>
            <a:r>
              <a:rPr lang="ko-KR" altLang="en-US" dirty="0"/>
              <a:t> 따라 오버헤드 정도는 </a:t>
            </a:r>
            <a:r>
              <a:rPr lang="ko-KR" altLang="en-US" dirty="0" err="1"/>
              <a:t>다를수</a:t>
            </a:r>
            <a:r>
              <a:rPr lang="ko-KR" altLang="en-US" dirty="0"/>
              <a:t> 있음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BC75A4F8-0363-671D-5327-4BEDD76E9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0:notes">
            <a:extLst>
              <a:ext uri="{FF2B5EF4-FFF2-40B4-BE49-F238E27FC236}">
                <a16:creationId xmlns:a16="http://schemas.microsoft.com/office/drawing/2014/main" id="{3D37C25D-45B5-6FB9-0D08-111F4BC3D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30:notes">
            <a:extLst>
              <a:ext uri="{FF2B5EF4-FFF2-40B4-BE49-F238E27FC236}">
                <a16:creationId xmlns:a16="http://schemas.microsoft.com/office/drawing/2014/main" id="{930AE111-FAF8-9388-2AEE-8706F1DA5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altLang="ko-KR" dirty="0"/>
              <a:t>1. </a:t>
            </a:r>
            <a:r>
              <a:rPr lang="en" altLang="ko-KR" b="1" dirty="0"/>
              <a:t>Forward Pass</a:t>
            </a:r>
            <a:r>
              <a:rPr lang="ko-KR" altLang="en-US" b="1" dirty="0"/>
              <a:t>에서의 </a:t>
            </a:r>
            <a:r>
              <a:rPr lang="en" altLang="ko-KR" b="1" dirty="0"/>
              <a:t>Fake Quantization</a:t>
            </a:r>
            <a:endParaRPr lang="en" altLang="ko-KR" dirty="0"/>
          </a:p>
          <a:p>
            <a:pPr>
              <a:buNone/>
            </a:pPr>
            <a:r>
              <a:rPr lang="en" altLang="ko-KR" dirty="0"/>
              <a:t>• </a:t>
            </a:r>
            <a:r>
              <a:rPr lang="ko-KR" altLang="en-US" dirty="0"/>
              <a:t>실제 가중치는 </a:t>
            </a:r>
            <a:r>
              <a:rPr lang="en" altLang="ko-KR" dirty="0"/>
              <a:t>float32</a:t>
            </a:r>
            <a:r>
              <a:rPr lang="ko-KR" altLang="en-US" dirty="0"/>
              <a:t>로 유지하지만</a:t>
            </a:r>
            <a:r>
              <a:rPr lang="en-US" altLang="ko-KR" dirty="0"/>
              <a:t>, </a:t>
            </a:r>
            <a:r>
              <a:rPr lang="ko-KR" altLang="en-US" dirty="0" err="1"/>
              <a:t>순전파</a:t>
            </a:r>
            <a:r>
              <a:rPr lang="ko-KR" altLang="en-US" dirty="0"/>
              <a:t> 시에는 </a:t>
            </a:r>
            <a:r>
              <a:rPr lang="en" altLang="ko-KR" dirty="0"/>
              <a:t>int8</a:t>
            </a:r>
            <a:r>
              <a:rPr lang="ko-KR" altLang="en-US" dirty="0" err="1"/>
              <a:t>처럼</a:t>
            </a:r>
            <a:r>
              <a:rPr lang="ko-KR" altLang="en-US" dirty="0"/>
              <a:t> 보이도록 “가짜 양자화</a:t>
            </a:r>
            <a:r>
              <a:rPr lang="en-US" altLang="ko-KR" dirty="0"/>
              <a:t>(</a:t>
            </a:r>
            <a:r>
              <a:rPr lang="en" altLang="ko-KR" dirty="0"/>
              <a:t>fake quantization)”</a:t>
            </a:r>
            <a:r>
              <a:rPr lang="ko-KR" altLang="en-US" dirty="0" err="1"/>
              <a:t>를</a:t>
            </a:r>
            <a:r>
              <a:rPr lang="ko-KR" altLang="en-US" dirty="0"/>
              <a:t> 적용함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" altLang="ko-KR" dirty="0"/>
              <a:t>W_\text{float} → (</a:t>
            </a:r>
            <a:r>
              <a:rPr lang="ko-KR" altLang="en-US" dirty="0"/>
              <a:t>양자화 시뮬레이션</a:t>
            </a:r>
            <a:r>
              <a:rPr lang="en-US" altLang="ko-KR" dirty="0"/>
              <a:t>) → </a:t>
            </a:r>
            <a:r>
              <a:rPr lang="en" altLang="ko-KR" dirty="0"/>
              <a:t>W_\text{int8} → </a:t>
            </a:r>
            <a:r>
              <a:rPr lang="ko-KR" altLang="en-US" dirty="0"/>
              <a:t>다시 </a:t>
            </a:r>
            <a:r>
              <a:rPr lang="en" altLang="ko-KR" dirty="0"/>
              <a:t>float32</a:t>
            </a:r>
            <a:r>
              <a:rPr lang="ko-KR" altLang="en-US" dirty="0"/>
              <a:t>로 변환해서 연산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en" altLang="ko-KR" b="1" dirty="0"/>
              <a:t>Backward Pass</a:t>
            </a:r>
            <a:r>
              <a:rPr lang="ko-KR" altLang="en-US" b="1" dirty="0"/>
              <a:t>에서의 </a:t>
            </a:r>
            <a:r>
              <a:rPr lang="en" altLang="ko-KR" b="1" dirty="0"/>
              <a:t>Gradient Update</a:t>
            </a:r>
            <a:endParaRPr lang="en" altLang="ko-KR" dirty="0"/>
          </a:p>
          <a:p>
            <a:pPr>
              <a:buNone/>
            </a:pPr>
            <a:r>
              <a:rPr lang="en" altLang="ko-KR" dirty="0"/>
              <a:t>• </a:t>
            </a:r>
            <a:r>
              <a:rPr lang="ko-KR" altLang="en-US" dirty="0" err="1"/>
              <a:t>역전파</a:t>
            </a:r>
            <a:r>
              <a:rPr lang="ko-KR" altLang="en-US" dirty="0"/>
              <a:t> 시에는 </a:t>
            </a:r>
            <a:r>
              <a:rPr lang="en" altLang="ko-KR" dirty="0"/>
              <a:t>float32 </a:t>
            </a:r>
            <a:r>
              <a:rPr lang="ko-KR" altLang="en-US" dirty="0"/>
              <a:t>가중치에 대해 학습</a:t>
            </a:r>
            <a:r>
              <a:rPr lang="en-US" altLang="ko-KR" dirty="0"/>
              <a:t>(</a:t>
            </a:r>
            <a:r>
              <a:rPr lang="ko-KR" altLang="en-US" dirty="0"/>
              <a:t>업데이트</a:t>
            </a:r>
            <a:r>
              <a:rPr lang="en-US" altLang="ko-KR" dirty="0"/>
              <a:t>)</a:t>
            </a:r>
            <a:r>
              <a:rPr lang="ko-KR" altLang="en-US" dirty="0"/>
              <a:t>을 수행하지만</a:t>
            </a:r>
            <a:r>
              <a:rPr lang="en-US" altLang="ko-KR" dirty="0"/>
              <a:t>, </a:t>
            </a:r>
            <a:r>
              <a:rPr lang="ko-KR" altLang="en-US" dirty="0"/>
              <a:t>양자화로 인해 발생하는 오차를 고려해 파라미터가 조정됨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즉</a:t>
            </a:r>
            <a:r>
              <a:rPr lang="en-US" altLang="ko-KR" dirty="0"/>
              <a:t>, “</a:t>
            </a:r>
            <a:r>
              <a:rPr lang="ko-KR" altLang="en-US" dirty="0"/>
              <a:t>양자화된 </a:t>
            </a:r>
            <a:r>
              <a:rPr lang="ko-KR" altLang="en-US" dirty="0" err="1"/>
              <a:t>상태”의</a:t>
            </a:r>
            <a:r>
              <a:rPr lang="ko-KR" altLang="en-US" dirty="0"/>
              <a:t> 손실을 최소화하도록 모델이 학습됨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b="1" dirty="0"/>
              <a:t>최종 모델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학습이 끝난 후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" altLang="ko-KR" dirty="0"/>
              <a:t>int8 </a:t>
            </a:r>
            <a:r>
              <a:rPr lang="ko-KR" altLang="en-US" dirty="0"/>
              <a:t>등으로 양자화된 모델로 변환해 배포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• </a:t>
            </a:r>
            <a:r>
              <a:rPr lang="ko-KR" altLang="en-US" dirty="0"/>
              <a:t>모델은 이미 양자화 특성에 맞춰져 있으므로</a:t>
            </a:r>
            <a:r>
              <a:rPr lang="en-US" altLang="ko-KR" dirty="0"/>
              <a:t>, </a:t>
            </a:r>
            <a:r>
              <a:rPr lang="ko-KR" altLang="en-US" dirty="0"/>
              <a:t>정확도가 크게 떨어지지 않음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6753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>
          <a:extLst>
            <a:ext uri="{FF2B5EF4-FFF2-40B4-BE49-F238E27FC236}">
              <a16:creationId xmlns:a16="http://schemas.microsoft.com/office/drawing/2014/main" id="{ED8F1469-EDF7-D2B0-3229-6858C220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4:notes">
            <a:extLst>
              <a:ext uri="{FF2B5EF4-FFF2-40B4-BE49-F238E27FC236}">
                <a16:creationId xmlns:a16="http://schemas.microsoft.com/office/drawing/2014/main" id="{C6339C7A-F01E-86A0-6676-E2C9B7443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p34:notes">
            <a:extLst>
              <a:ext uri="{FF2B5EF4-FFF2-40B4-BE49-F238E27FC236}">
                <a16:creationId xmlns:a16="http://schemas.microsoft.com/office/drawing/2014/main" id="{F36AF5AC-3910-CE3B-7DCA-6B0F57D72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978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7896026" y="5568220"/>
            <a:ext cx="2289593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</a:t>
            </a:r>
            <a:r>
              <a:rPr lang="zh-CN" altLang="en-US" sz="902" dirty="0"/>
              <a:t> </a:t>
            </a:r>
            <a:r>
              <a:rPr lang="en-US" altLang="zh-CN" sz="902" dirty="0"/>
              <a:t>Hwan Ko </a:t>
            </a:r>
            <a:r>
              <a:rPr lang="de-DE" altLang="ko-KR" sz="902" dirty="0"/>
              <a:t>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45766"/>
            <a:ext cx="9993443" cy="580992"/>
          </a:xfrm>
          <a:prstGeom prst="rect">
            <a:avLst/>
          </a:prstGeom>
        </p:spPr>
        <p:txBody>
          <a:bodyPr tIns="36000" bIns="36000">
            <a:noAutofit/>
          </a:bodyPr>
          <a:lstStyle>
            <a:lvl1pPr>
              <a:defRPr sz="3604" b="1" baseline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Google Shape;7;p1"/>
          <p:cNvSpPr/>
          <p:nvPr/>
        </p:nvSpPr>
        <p:spPr>
          <a:xfrm>
            <a:off x="-4376" y="62083"/>
            <a:ext cx="191638" cy="57705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664678"/>
            <a:ext cx="9993443" cy="4876895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27886674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8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/>
              <a:t>IRIS Lab., SKKU</a:t>
            </a:r>
          </a:p>
        </p:txBody>
      </p:sp>
      <p:sp>
        <p:nvSpPr>
          <p:cNvPr id="59" name="TextBox 10"/>
          <p:cNvSpPr txBox="1"/>
          <p:nvPr/>
        </p:nvSpPr>
        <p:spPr>
          <a:xfrm>
            <a:off x="8547564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altLang="ko-KR" sz="902" dirty="0"/>
              <a:t>Jong Hwan Ko (</a:t>
            </a:r>
            <a:r>
              <a:rPr lang="en-US" altLang="ko-KR" sz="902" dirty="0" err="1"/>
              <a:t>jhko@skku.edu</a:t>
            </a:r>
            <a:r>
              <a:rPr lang="en-US" altLang="ko-KR" sz="902" dirty="0"/>
              <a:t>)</a:t>
            </a:r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91323" y="1944159"/>
            <a:ext cx="9438713" cy="890946"/>
          </a:xfrm>
          <a:prstGeom prst="rect">
            <a:avLst/>
          </a:prstGeom>
        </p:spPr>
        <p:txBody>
          <a:bodyPr anchor="b"/>
          <a:lstStyle/>
          <a:p>
            <a:r>
              <a:rPr dirty="0"/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97486" y="2782040"/>
            <a:ext cx="8984312" cy="1275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indent="257425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indent="514848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indent="772272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indent="1029697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10901222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6" y="99196"/>
            <a:ext cx="10396439" cy="5926711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9BE719-23BF-4495-8D44-9981DA1F1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655" y="650354"/>
            <a:ext cx="7775972" cy="734881"/>
          </a:xfrm>
          <a:noFill/>
        </p:spPr>
        <p:txBody>
          <a:bodyPr lIns="0" anchor="t">
            <a:normAutofit/>
          </a:bodyPr>
          <a:lstStyle>
            <a:lvl1pPr algn="l">
              <a:defRPr sz="3717" spc="-127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1EE34957-E293-4918-8179-72C68BC00C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657" y="1407418"/>
            <a:ext cx="7775972" cy="406500"/>
          </a:xfrm>
          <a:noFill/>
        </p:spPr>
        <p:txBody>
          <a:bodyPr vert="horz" lIns="0" tIns="45720" rIns="91440" bIns="45720" rtlCol="0" anchor="t">
            <a:noAutofit/>
          </a:bodyPr>
          <a:lstStyle>
            <a:lvl1pPr>
              <a:defRPr lang="ko-KR" altLang="en-US" sz="2365" spc="-127" dirty="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부제목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13B20-0EE5-4E1D-A03C-C27B4133B720}"/>
              </a:ext>
            </a:extLst>
          </p:cNvPr>
          <p:cNvSpPr/>
          <p:nvPr userDrawn="1"/>
        </p:nvSpPr>
        <p:spPr>
          <a:xfrm>
            <a:off x="-20984" y="3651119"/>
            <a:ext cx="10409938" cy="1959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184E8E-3C75-4ADE-ACBD-89F4587307E0}"/>
              </a:ext>
            </a:extLst>
          </p:cNvPr>
          <p:cNvSpPr/>
          <p:nvPr userDrawn="1"/>
        </p:nvSpPr>
        <p:spPr>
          <a:xfrm>
            <a:off x="552654" y="475347"/>
            <a:ext cx="1837048" cy="61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769FE32-1A3F-4FFD-B89C-AF2BE5656617}"/>
              </a:ext>
            </a:extLst>
          </p:cNvPr>
          <p:cNvGrpSpPr/>
          <p:nvPr userDrawn="1"/>
        </p:nvGrpSpPr>
        <p:grpSpPr>
          <a:xfrm>
            <a:off x="434594" y="4508485"/>
            <a:ext cx="1060202" cy="921557"/>
            <a:chOff x="340544" y="4873328"/>
            <a:chExt cx="1651000" cy="1434976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C952422-EBE4-44F4-AE85-08C27CAA8C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0544" y="4873328"/>
              <a:ext cx="1434975" cy="1434976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57C52E-0175-4E94-948E-DC90B7B534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91544" y="5087076"/>
              <a:ext cx="0" cy="1007478"/>
            </a:xfrm>
            <a:prstGeom prst="line">
              <a:avLst/>
            </a:prstGeom>
            <a:ln w="25400">
              <a:solidFill>
                <a:srgbClr val="072A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텍스트 개체 틀 17">
            <a:extLst>
              <a:ext uri="{FF2B5EF4-FFF2-40B4-BE49-F238E27FC236}">
                <a16:creationId xmlns:a16="http://schemas.microsoft.com/office/drawing/2014/main" id="{6FC04201-605D-4D50-A123-F5E27B635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8303" y="3993847"/>
            <a:ext cx="4170234" cy="406500"/>
          </a:xfrm>
        </p:spPr>
        <p:txBody>
          <a:bodyPr vert="horz" lIns="0" tIns="45720" rIns="91440" bIns="45720" rtlCol="0" anchor="t">
            <a:normAutofit/>
          </a:bodyPr>
          <a:lstStyle>
            <a:lvl1pPr algn="r">
              <a:defRPr lang="ko-KR" altLang="en-US" dirty="0"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pPr marL="0" lvl="0" algn="r">
              <a:spcBef>
                <a:spcPct val="0"/>
              </a:spcBef>
              <a:buNone/>
            </a:pPr>
            <a:r>
              <a:rPr lang="ko-KR" altLang="en-US" dirty="0" err="1"/>
              <a:t>정문찬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4668" y="4618389"/>
            <a:ext cx="2183379" cy="74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9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-14238" y="-145767"/>
            <a:ext cx="10396439" cy="597824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 userDrawn="1"/>
        </p:nvSpPr>
        <p:spPr>
          <a:xfrm>
            <a:off x="-20984" y="160434"/>
            <a:ext cx="10165000" cy="5681752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63" y="263953"/>
            <a:ext cx="9382878" cy="543473"/>
          </a:xfrm>
        </p:spPr>
        <p:txBody>
          <a:bodyPr>
            <a:normAutofit/>
          </a:bodyPr>
          <a:lstStyle>
            <a:lvl1pPr>
              <a:defRPr sz="3041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363" y="899579"/>
            <a:ext cx="9382878" cy="4132361"/>
          </a:xfrm>
        </p:spPr>
        <p:txBody>
          <a:bodyPr>
            <a:normAutofit/>
          </a:bodyPr>
          <a:lstStyle>
            <a:lvl1pPr>
              <a:spcBef>
                <a:spcPts val="675"/>
              </a:spcBef>
              <a:defRPr sz="1689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spcBef>
                <a:spcPts val="675"/>
              </a:spcBef>
              <a:defRPr sz="1521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spcBef>
                <a:spcPts val="675"/>
              </a:spcBef>
              <a:defRPr sz="135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1EA8FD-4B4B-42DD-946F-9665BA4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09673" y="5273109"/>
            <a:ext cx="241411" cy="265457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7529C-9835-4872-B8DD-A36FFB4CA1A4}"/>
              </a:ext>
            </a:extLst>
          </p:cNvPr>
          <p:cNvCxnSpPr/>
          <p:nvPr userDrawn="1"/>
        </p:nvCxnSpPr>
        <p:spPr>
          <a:xfrm flipH="1">
            <a:off x="484725" y="5285214"/>
            <a:ext cx="9398518" cy="0"/>
          </a:xfrm>
          <a:prstGeom prst="line">
            <a:avLst/>
          </a:prstGeom>
          <a:ln w="25400">
            <a:solidFill>
              <a:srgbClr val="072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75A7024-1CE0-4F1E-8179-17E55D45C3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62" y="5338142"/>
            <a:ext cx="436379" cy="436416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 userDrawn="1"/>
        </p:nvCxnSpPr>
        <p:spPr>
          <a:xfrm flipH="1">
            <a:off x="484725" y="803364"/>
            <a:ext cx="9398518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844" y="5378294"/>
            <a:ext cx="1086398" cy="3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49" y="161337"/>
            <a:ext cx="7440307" cy="555537"/>
          </a:xfrm>
        </p:spPr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248" y="1987521"/>
            <a:ext cx="4409168" cy="261931"/>
          </a:xfr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30749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 Hwan Ko 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28812"/>
            <a:ext cx="9993443" cy="49875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>
              <a:defRPr sz="3154" b="1" baseline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9" name="Google Shape;7;p1"/>
          <p:cNvSpPr/>
          <p:nvPr/>
        </p:nvSpPr>
        <p:spPr>
          <a:xfrm>
            <a:off x="-4376" y="62257"/>
            <a:ext cx="191638" cy="831610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0" name="Google Shape;58;p1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80955" y="535478"/>
            <a:ext cx="10006053" cy="39501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 marL="0" indent="0">
              <a:defRPr sz="2253" b="1" i="1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946501"/>
            <a:ext cx="9993443" cy="4595072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733221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8398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39501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415613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51612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1" name="Text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5324" y="2982938"/>
            <a:ext cx="3195450" cy="36965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0" indent="0">
              <a:defRPr sz="1802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date here</a:t>
            </a:r>
          </a:p>
        </p:txBody>
      </p:sp>
      <p:sp>
        <p:nvSpPr>
          <p:cNvPr id="22" name="Google Shape;36;p7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50912" y="3470869"/>
            <a:ext cx="5660540" cy="1573796"/>
          </a:xfrm>
          <a:prstGeom prst="rect">
            <a:avLst/>
          </a:prstGeom>
        </p:spPr>
        <p:txBody>
          <a:bodyPr>
            <a:spAutoFit/>
          </a:bodyPr>
          <a:lstStyle>
            <a:lvl1pPr marL="7150" indent="0">
              <a:tabLst/>
              <a:defRPr sz="2027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HK" dirty="0"/>
              <a:t>Name here</a:t>
            </a:r>
          </a:p>
          <a:p>
            <a:pPr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1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2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3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Email or contact here</a:t>
            </a:r>
          </a:p>
        </p:txBody>
      </p:sp>
      <p:sp>
        <p:nvSpPr>
          <p:cNvPr id="23" name="Google Shape;58;p11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50914" y="2278337"/>
            <a:ext cx="9015842" cy="731399"/>
          </a:xfrm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24" name="Google Shape;58;p11"/>
          <p:cNvSpPr txBox="1">
            <a:spLocks noGrp="1"/>
          </p:cNvSpPr>
          <p:nvPr>
            <p:ph type="body" sz="quarter" idx="24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meeting type (if any) here: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2637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3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sz="902" dirty="0"/>
              <a:t>Jong Hwan Ko (</a:t>
            </a:r>
            <a:r>
              <a:rPr lang="en-US" sz="902" dirty="0" err="1"/>
              <a:t>jhko@skku.edu</a:t>
            </a:r>
            <a:r>
              <a:rPr lang="en-US" sz="902" dirty="0"/>
              <a:t>)</a:t>
            </a:r>
            <a:endParaRPr sz="902" dirty="0"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550914" y="826873"/>
            <a:ext cx="9015842" cy="158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grpSp>
        <p:nvGrpSpPr>
          <p:cNvPr id="10" name="Group 4"/>
          <p:cNvGrpSpPr/>
          <p:nvPr/>
        </p:nvGrpSpPr>
        <p:grpSpPr>
          <a:xfrm>
            <a:off x="7517258" y="4537003"/>
            <a:ext cx="2623411" cy="781279"/>
            <a:chOff x="0" y="0"/>
            <a:chExt cx="2313709" cy="688988"/>
          </a:xfrm>
        </p:grpSpPr>
        <p:grpSp>
          <p:nvGrpSpPr>
            <p:cNvPr id="8" name="Google Shape;33;p7"/>
            <p:cNvGrpSpPr/>
            <p:nvPr/>
          </p:nvGrpSpPr>
          <p:grpSpPr>
            <a:xfrm>
              <a:off x="-1" y="-1"/>
              <a:ext cx="2313711" cy="688990"/>
              <a:chOff x="0" y="0"/>
              <a:chExt cx="2313709" cy="688988"/>
            </a:xfrm>
          </p:grpSpPr>
          <p:pic>
            <p:nvPicPr>
              <p:cNvPr id="6" name="Google Shape;34;p7" descr="Google Shape;34;p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-1"/>
                <a:ext cx="688988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Google Shape;35;p7" descr="Google Shape;35;p7"/>
              <p:cNvPicPr>
                <a:picLocks noChangeAspect="1"/>
              </p:cNvPicPr>
              <p:nvPr/>
            </p:nvPicPr>
            <p:blipFill>
              <a:blip r:embed="rId12"/>
              <a:srcRect t="24172" b="23380"/>
              <a:stretch>
                <a:fillRect/>
              </a:stretch>
            </p:blipFill>
            <p:spPr>
              <a:xfrm>
                <a:off x="1000012" y="-1"/>
                <a:ext cx="1313699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9" name="Straight Connector 3"/>
            <p:cNvSpPr/>
            <p:nvPr/>
          </p:nvSpPr>
          <p:spPr>
            <a:xfrm flipH="1">
              <a:off x="853095" y="0"/>
              <a:ext cx="1" cy="688988"/>
            </a:xfrm>
            <a:prstGeom prst="line">
              <a:avLst/>
            </a:prstGeom>
            <a:noFill/>
            <a:ln w="12700" cap="flat">
              <a:solidFill>
                <a:srgbClr val="1143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027"/>
            </a:p>
          </p:txBody>
        </p:sp>
      </p:grpSp>
      <p:sp>
        <p:nvSpPr>
          <p:cNvPr id="11" name="Google Shape;7;p1"/>
          <p:cNvSpPr/>
          <p:nvPr/>
        </p:nvSpPr>
        <p:spPr>
          <a:xfrm>
            <a:off x="-1" y="802336"/>
            <a:ext cx="191638" cy="222739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xfrm>
            <a:off x="550914" y="461174"/>
            <a:ext cx="9015842" cy="73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09673" y="5273109"/>
            <a:ext cx="241411" cy="26545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125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21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ransition spd="med"/>
  <p:txStyles>
    <p:titleStyle>
      <a:lvl1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1pPr>
      <a:lvl2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2pPr>
      <a:lvl3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3pPr>
      <a:lvl4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4pPr>
      <a:lvl5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5pPr>
      <a:lvl6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6pPr>
      <a:lvl7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7pPr>
      <a:lvl8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8pPr>
      <a:lvl9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9pPr>
    </p:titleStyle>
    <p:bodyStyle>
      <a:lvl1pPr marL="357534" marR="0" indent="-20021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1pPr>
      <a:lvl2pPr marL="357534" marR="0" indent="328932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2pPr>
      <a:lvl3pPr marL="357534" marR="0" indent="85808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3pPr>
      <a:lvl4pPr marL="357534" marR="0" indent="137292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4pPr>
      <a:lvl5pPr marL="357534" marR="0" indent="1887778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5pPr>
      <a:lvl6pPr marL="357534" marR="0" indent="2402626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6pPr>
      <a:lvl7pPr marL="357534" marR="0" indent="291747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7pPr>
      <a:lvl8pPr marL="357534" marR="0" indent="343232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8pPr>
      <a:lvl9pPr marL="357534" marR="0" indent="394717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9pPr>
    </p:bodyStyle>
    <p:otherStyle>
      <a:lvl1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-GsrYvZoAdA?feature=oembed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9" Type="http://schemas.openxmlformats.org/officeDocument/2006/relationships/image" Target="../media/image69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image" Target="../media/image77.png"/><Relationship Id="rId50" Type="http://schemas.openxmlformats.org/officeDocument/2006/relationships/image" Target="../media/image80.png"/><Relationship Id="rId55" Type="http://schemas.openxmlformats.org/officeDocument/2006/relationships/image" Target="../media/image85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9" Type="http://schemas.openxmlformats.org/officeDocument/2006/relationships/image" Target="../media/image59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3" Type="http://schemas.openxmlformats.org/officeDocument/2006/relationships/image" Target="../media/image83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52" Type="http://schemas.openxmlformats.org/officeDocument/2006/relationships/image" Target="../media/image82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image" Target="../media/image78.png"/><Relationship Id="rId56" Type="http://schemas.openxmlformats.org/officeDocument/2006/relationships/image" Target="../media/image86.png"/><Relationship Id="rId8" Type="http://schemas.openxmlformats.org/officeDocument/2006/relationships/image" Target="../media/image38.png"/><Relationship Id="rId51" Type="http://schemas.openxmlformats.org/officeDocument/2006/relationships/image" Target="../media/image81.png"/><Relationship Id="rId3" Type="http://schemas.openxmlformats.org/officeDocument/2006/relationships/image" Target="../media/image33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76.png"/><Relationship Id="rId20" Type="http://schemas.openxmlformats.org/officeDocument/2006/relationships/image" Target="../media/image50.png"/><Relationship Id="rId41" Type="http://schemas.openxmlformats.org/officeDocument/2006/relationships/image" Target="../media/image71.png"/><Relationship Id="rId54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49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2"/>
          <p:cNvSpPr txBox="1"/>
          <p:nvPr/>
        </p:nvSpPr>
        <p:spPr>
          <a:xfrm>
            <a:off x="405261" y="-3756"/>
            <a:ext cx="3395510" cy="26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1839" rIns="5183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36838" latinLnBrk="0" hangingPunct="0">
              <a:defRPr/>
            </a:pPr>
            <a:r>
              <a:rPr sz="1134" kern="0"/>
              <a:t>Lecture 6: Polling and Interrupt</a:t>
            </a:r>
          </a:p>
        </p:txBody>
      </p:sp>
      <p:sp>
        <p:nvSpPr>
          <p:cNvPr id="72" name="Google Shape;56;p11"/>
          <p:cNvSpPr txBox="1">
            <a:spLocks noGrp="1"/>
          </p:cNvSpPr>
          <p:nvPr>
            <p:ph type="title"/>
          </p:nvPr>
        </p:nvSpPr>
        <p:spPr>
          <a:xfrm>
            <a:off x="293174" y="769691"/>
            <a:ext cx="9962700" cy="1589551"/>
          </a:xfrm>
          <a:prstGeom prst="rect">
            <a:avLst/>
          </a:prstGeom>
        </p:spPr>
        <p:txBody>
          <a:bodyPr>
            <a:noAutofit/>
          </a:bodyPr>
          <a:lstStyle/>
          <a:p>
            <a:br>
              <a:rPr lang="en-US" altLang="ko-KR" sz="2400" dirty="0"/>
            </a:br>
            <a:r>
              <a:rPr lang="ko-KR" altLang="en-US" sz="3600" dirty="0" err="1">
                <a:latin typeface="NanumGothic" panose="020D0604000000000000" pitchFamily="34" charset="-127"/>
              </a:rPr>
              <a:t>미래차</a:t>
            </a:r>
            <a:r>
              <a:rPr lang="ko-KR" altLang="en-US" sz="3600" dirty="0">
                <a:latin typeface="NanumGothic" panose="020D0604000000000000" pitchFamily="34" charset="-127"/>
              </a:rPr>
              <a:t> 부트캠프</a:t>
            </a:r>
            <a:br>
              <a:rPr lang="en-US" altLang="ko-KR" sz="3600" dirty="0">
                <a:latin typeface="NanumGothic" panose="020D0604000000000000" pitchFamily="34" charset="-127"/>
              </a:rPr>
            </a:br>
            <a:r>
              <a:rPr lang="en-US" altLang="ko-KR" sz="4800" dirty="0">
                <a:latin typeface="NanumGothic" panose="020D0604000000000000" pitchFamily="34" charset="-127"/>
              </a:rPr>
              <a:t>On-device</a:t>
            </a:r>
            <a:r>
              <a:rPr lang="ko-KR" altLang="en-US" sz="4800" dirty="0">
                <a:latin typeface="NanumGothic" panose="020D0604000000000000" pitchFamily="34" charset="-127"/>
              </a:rPr>
              <a:t> </a:t>
            </a:r>
            <a:r>
              <a:rPr lang="en-US" altLang="ko-KR" sz="4800" dirty="0">
                <a:latin typeface="NanumGothic" panose="020D0604000000000000" pitchFamily="34" charset="-127"/>
              </a:rPr>
              <a:t>AI</a:t>
            </a:r>
            <a:endParaRPr lang="en-US" sz="4000" dirty="0"/>
          </a:p>
        </p:txBody>
      </p:sp>
      <p:sp>
        <p:nvSpPr>
          <p:cNvPr id="74" name="Google Shape;36;p7"/>
          <p:cNvSpPr txBox="1">
            <a:spLocks noGrp="1"/>
          </p:cNvSpPr>
          <p:nvPr>
            <p:ph type="body" sz="quarter" idx="22"/>
          </p:nvPr>
        </p:nvSpPr>
        <p:spPr>
          <a:xfrm>
            <a:off x="550911" y="3470817"/>
            <a:ext cx="5660540" cy="1477295"/>
          </a:xfrm>
          <a:prstGeom prst="rect">
            <a:avLst/>
          </a:prstGeom>
        </p:spPr>
        <p:txBody>
          <a:bodyPr/>
          <a:lstStyle/>
          <a:p>
            <a:pPr marL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dirty="0"/>
              <a:t>Jong Hwan Ko</a:t>
            </a:r>
            <a:endParaRPr dirty="0"/>
          </a:p>
          <a:p>
            <a:pPr marL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Associate Professor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SungKyunKwan</a:t>
            </a:r>
            <a:r>
              <a:rPr lang="en-US" dirty="0"/>
              <a:t> University, Korea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Department of Electrical and Computer Engineering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jhko@skku.edu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B8A8F-9BF1-2EBF-FA04-7BBB7D4A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Quantization - Contents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6D14E5-EAA8-BA82-5A5F-9B4D497BA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/>
              <a:t>Why do we perform quantization?</a:t>
            </a:r>
          </a:p>
          <a:p>
            <a:r>
              <a:rPr kumimoji="1" lang="en-US" altLang="ko-KR" sz="2400" dirty="0"/>
              <a:t>Number representation systems</a:t>
            </a:r>
          </a:p>
          <a:p>
            <a:r>
              <a:rPr kumimoji="1" lang="en-US" altLang="ko-KR" sz="2400" dirty="0"/>
              <a:t>Quantization options</a:t>
            </a:r>
          </a:p>
          <a:p>
            <a:pPr lvl="1"/>
            <a:r>
              <a:rPr lang="en" altLang="ko-KR" sz="2175" dirty="0"/>
              <a:t>Linear/nonlinear</a:t>
            </a:r>
          </a:p>
          <a:p>
            <a:pPr lvl="1"/>
            <a:r>
              <a:rPr lang="en" altLang="ko-KR" sz="2175" dirty="0"/>
              <a:t>Different granularity</a:t>
            </a:r>
          </a:p>
          <a:p>
            <a:pPr lvl="2"/>
            <a:r>
              <a:rPr lang="en" altLang="ko-KR" sz="1775" dirty="0"/>
              <a:t>Per-tensor / Per-channel </a:t>
            </a:r>
          </a:p>
          <a:p>
            <a:pPr lvl="1"/>
            <a:r>
              <a:rPr lang="en" altLang="ko-KR" sz="2175" dirty="0"/>
              <a:t>When to consider quantization</a:t>
            </a:r>
          </a:p>
          <a:p>
            <a:pPr lvl="2"/>
            <a:r>
              <a:rPr lang="en" altLang="ko-KR" sz="1775" dirty="0"/>
              <a:t>Post-training quantization / Quantization-aware training</a:t>
            </a:r>
          </a:p>
          <a:p>
            <a:endParaRPr lang="en" altLang="ko-KR" sz="2400" dirty="0"/>
          </a:p>
          <a:p>
            <a:endParaRPr kumimoji="1"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432957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265" y="28812"/>
            <a:ext cx="9993443" cy="547392"/>
          </a:xfrm>
          <a:prstGeom prst="rect">
            <a:avLst/>
          </a:prstGeom>
        </p:spPr>
        <p:txBody>
          <a:bodyPr vert="horz" wrap="square" lIns="0" tIns="61403" rIns="0" bIns="0" rtlCol="0">
            <a:spAutoFit/>
          </a:bodyPr>
          <a:lstStyle/>
          <a:p>
            <a:pPr marL="8514">
              <a:spcBef>
                <a:spcPts val="54"/>
              </a:spcBef>
            </a:pPr>
            <a:r>
              <a:rPr kumimoji="1" lang="en-US" altLang="ko-KR" dirty="0"/>
              <a:t>3. Quantization – Introduction</a:t>
            </a:r>
            <a:endParaRPr spc="-77" dirty="0"/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3</a:t>
            </a:fld>
            <a:endParaRPr spc="23" dirty="0"/>
          </a:p>
        </p:txBody>
      </p:sp>
      <p:sp>
        <p:nvSpPr>
          <p:cNvPr id="77" name="텍스트 개체 틀 76">
            <a:extLst>
              <a:ext uri="{FF2B5EF4-FFF2-40B4-BE49-F238E27FC236}">
                <a16:creationId xmlns:a16="http://schemas.microsoft.com/office/drawing/2014/main" id="{5A2B6574-8779-DC1A-1AF0-FA703D6CBE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41" dirty="0"/>
              <a:t>What</a:t>
            </a:r>
            <a:r>
              <a:rPr lang="en" altLang="ko-KR" spc="-204" dirty="0"/>
              <a:t> </a:t>
            </a:r>
            <a:r>
              <a:rPr lang="en" altLang="ko-KR" spc="-113" dirty="0"/>
              <a:t>is</a:t>
            </a:r>
            <a:r>
              <a:rPr lang="en" altLang="ko-KR" spc="-144" dirty="0"/>
              <a:t> </a:t>
            </a:r>
            <a:r>
              <a:rPr lang="en" altLang="ko-KR" spc="-77" dirty="0"/>
              <a:t>Quantization?</a:t>
            </a:r>
            <a:endParaRPr lang="ko-KR" altLang="en-US" dirty="0"/>
          </a:p>
        </p:txBody>
      </p:sp>
      <p:sp>
        <p:nvSpPr>
          <p:cNvPr id="76" name="텍스트 개체 틀 75">
            <a:extLst>
              <a:ext uri="{FF2B5EF4-FFF2-40B4-BE49-F238E27FC236}">
                <a16:creationId xmlns:a16="http://schemas.microsoft.com/office/drawing/2014/main" id="{F650B476-9633-819F-D750-34DBD6B62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376838" y="4941683"/>
            <a:ext cx="5513424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1070825" marR="739754" indent="-1064603">
              <a:lnSpc>
                <a:spcPct val="100400"/>
              </a:lnSpc>
              <a:spcBef>
                <a:spcPts val="64"/>
              </a:spcBef>
            </a:pPr>
            <a:r>
              <a:rPr sz="1341" dirty="0">
                <a:latin typeface="Trebuchet MS"/>
                <a:cs typeface="Trebuchet MS"/>
              </a:rPr>
              <a:t>The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spc="-21" dirty="0">
                <a:latin typeface="Trebuchet MS"/>
                <a:cs typeface="Trebuchet MS"/>
              </a:rPr>
              <a:t>difference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between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an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input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value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spc="28" dirty="0">
                <a:latin typeface="Trebuchet MS"/>
                <a:cs typeface="Trebuchet MS"/>
              </a:rPr>
              <a:t>and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its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quantized</a:t>
            </a:r>
            <a:r>
              <a:rPr sz="1341" spc="-39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value </a:t>
            </a:r>
            <a:r>
              <a:rPr sz="1341" spc="26" dirty="0">
                <a:latin typeface="Trebuchet MS"/>
                <a:cs typeface="Trebuchet MS"/>
              </a:rPr>
              <a:t>is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34" dirty="0">
                <a:latin typeface="Trebuchet MS"/>
                <a:cs typeface="Trebuchet MS"/>
              </a:rPr>
              <a:t>referred</a:t>
            </a:r>
            <a:r>
              <a:rPr sz="1341" spc="-46" dirty="0">
                <a:latin typeface="Trebuchet MS"/>
                <a:cs typeface="Trebuchet MS"/>
              </a:rPr>
              <a:t> </a:t>
            </a:r>
            <a:r>
              <a:rPr sz="1341" dirty="0">
                <a:latin typeface="Trebuchet MS"/>
                <a:cs typeface="Trebuchet MS"/>
              </a:rPr>
              <a:t>to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80" dirty="0">
                <a:latin typeface="Trebuchet MS"/>
                <a:cs typeface="Trebuchet MS"/>
              </a:rPr>
              <a:t>as</a:t>
            </a:r>
            <a:r>
              <a:rPr sz="1341" spc="-46" dirty="0">
                <a:latin typeface="Trebuchet MS"/>
                <a:cs typeface="Trebuchet MS"/>
              </a:rPr>
              <a:t> </a:t>
            </a:r>
            <a:r>
              <a:rPr sz="1341" spc="-10" dirty="0">
                <a:latin typeface="Trebuchet MS"/>
                <a:cs typeface="Trebuchet MS"/>
              </a:rPr>
              <a:t>quantization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error.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2611" y="1409312"/>
            <a:ext cx="6342927" cy="581452"/>
          </a:xfrm>
          <a:prstGeom prst="rect">
            <a:avLst/>
          </a:prstGeom>
        </p:spPr>
        <p:txBody>
          <a:bodyPr vert="horz" wrap="square" lIns="0" tIns="17029" rIns="0" bIns="0" rtlCol="0">
            <a:spAutoFit/>
          </a:bodyPr>
          <a:lstStyle/>
          <a:p>
            <a:pPr marL="6549" marR="2620" indent="90709">
              <a:lnSpc>
                <a:spcPts val="2212"/>
              </a:lnSpc>
              <a:spcBef>
                <a:spcPts val="134"/>
              </a:spcBef>
            </a:pPr>
            <a:r>
              <a:rPr sz="1857" i="1" dirty="0">
                <a:latin typeface="Arial"/>
                <a:cs typeface="Arial"/>
              </a:rPr>
              <a:t>Quantization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is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the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process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spc="39" dirty="0">
                <a:latin typeface="Arial"/>
                <a:cs typeface="Arial"/>
              </a:rPr>
              <a:t>of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constraining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an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spc="31" dirty="0">
                <a:latin typeface="Arial"/>
                <a:cs typeface="Arial"/>
              </a:rPr>
              <a:t>input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from</a:t>
            </a:r>
            <a:r>
              <a:rPr sz="1857" i="1" spc="10" dirty="0">
                <a:latin typeface="Arial"/>
                <a:cs typeface="Arial"/>
              </a:rPr>
              <a:t> </a:t>
            </a:r>
            <a:r>
              <a:rPr sz="1857" i="1" spc="-26" dirty="0">
                <a:latin typeface="Arial"/>
                <a:cs typeface="Arial"/>
              </a:rPr>
              <a:t>a </a:t>
            </a:r>
            <a:r>
              <a:rPr sz="1857" i="1" dirty="0">
                <a:latin typeface="Arial"/>
                <a:cs typeface="Arial"/>
              </a:rPr>
              <a:t>continuous</a:t>
            </a:r>
            <a:r>
              <a:rPr sz="1857" i="1" spc="8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or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otherwise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large</a:t>
            </a:r>
            <a:r>
              <a:rPr sz="1857" i="1" spc="15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set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spc="39" dirty="0">
                <a:latin typeface="Arial"/>
                <a:cs typeface="Arial"/>
              </a:rPr>
              <a:t>of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spc="-10" dirty="0">
                <a:latin typeface="Arial"/>
                <a:cs typeface="Arial"/>
              </a:rPr>
              <a:t>values</a:t>
            </a:r>
            <a:r>
              <a:rPr sz="1857" i="1" spc="15" dirty="0">
                <a:latin typeface="Arial"/>
                <a:cs typeface="Arial"/>
              </a:rPr>
              <a:t> </a:t>
            </a:r>
            <a:r>
              <a:rPr sz="1857" i="1" spc="54" dirty="0">
                <a:latin typeface="Arial"/>
                <a:cs typeface="Arial"/>
              </a:rPr>
              <a:t>to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a</a:t>
            </a:r>
            <a:r>
              <a:rPr sz="1857" i="1" spc="13" dirty="0">
                <a:latin typeface="Arial"/>
                <a:cs typeface="Arial"/>
              </a:rPr>
              <a:t> </a:t>
            </a:r>
            <a:r>
              <a:rPr sz="1857" i="1" dirty="0">
                <a:latin typeface="Arial"/>
                <a:cs typeface="Arial"/>
              </a:rPr>
              <a:t>discrete</a:t>
            </a:r>
            <a:r>
              <a:rPr sz="1857" i="1" spc="15" dirty="0">
                <a:latin typeface="Arial"/>
                <a:cs typeface="Arial"/>
              </a:rPr>
              <a:t> </a:t>
            </a:r>
            <a:r>
              <a:rPr sz="1857" i="1" spc="-10" dirty="0">
                <a:latin typeface="Arial"/>
                <a:cs typeface="Arial"/>
              </a:rPr>
              <a:t>set.</a:t>
            </a:r>
            <a:endParaRPr sz="185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1810" y="2653715"/>
            <a:ext cx="1215272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dirty="0">
                <a:solidFill>
                  <a:srgbClr val="5E5E5E"/>
                </a:solidFill>
                <a:latin typeface="Arial"/>
                <a:cs typeface="Arial"/>
              </a:rPr>
              <a:t>Original</a:t>
            </a:r>
            <a:r>
              <a:rPr sz="1341" b="1" spc="-46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341" b="1" spc="-5" dirty="0">
                <a:solidFill>
                  <a:srgbClr val="5E5E5E"/>
                </a:solidFill>
                <a:latin typeface="Arial"/>
                <a:cs typeface="Arial"/>
              </a:rPr>
              <a:t>Image</a:t>
            </a:r>
            <a:endParaRPr sz="134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3206" y="2653715"/>
            <a:ext cx="1286335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spc="39" dirty="0">
                <a:solidFill>
                  <a:srgbClr val="5E5E5E"/>
                </a:solidFill>
                <a:latin typeface="Arial"/>
                <a:cs typeface="Arial"/>
              </a:rPr>
              <a:t>16-</a:t>
            </a:r>
            <a:r>
              <a:rPr sz="1341" b="1" dirty="0">
                <a:solidFill>
                  <a:srgbClr val="5E5E5E"/>
                </a:solidFill>
                <a:latin typeface="Arial"/>
                <a:cs typeface="Arial"/>
              </a:rPr>
              <a:t>Color</a:t>
            </a:r>
            <a:r>
              <a:rPr sz="1341" b="1" spc="39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341" b="1" spc="-5" dirty="0">
                <a:solidFill>
                  <a:srgbClr val="5E5E5E"/>
                </a:solidFill>
                <a:latin typeface="Arial"/>
                <a:cs typeface="Arial"/>
              </a:rPr>
              <a:t>Image</a:t>
            </a:r>
            <a:endParaRPr sz="1341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7616" y="3074939"/>
            <a:ext cx="3694282" cy="1511967"/>
            <a:chOff x="1682359" y="5962406"/>
            <a:chExt cx="7163434" cy="2931795"/>
          </a:xfrm>
        </p:grpSpPr>
        <p:sp>
          <p:nvSpPr>
            <p:cNvPr id="8" name="object 8"/>
            <p:cNvSpPr/>
            <p:nvPr/>
          </p:nvSpPr>
          <p:spPr>
            <a:xfrm>
              <a:off x="1725075" y="7492085"/>
              <a:ext cx="7030720" cy="0"/>
            </a:xfrm>
            <a:custGeom>
              <a:avLst/>
              <a:gdLst/>
              <a:ahLst/>
              <a:cxnLst/>
              <a:rect l="l" t="t" r="r" b="b"/>
              <a:pathLst>
                <a:path w="7030720">
                  <a:moveTo>
                    <a:pt x="0" y="0"/>
                  </a:moveTo>
                  <a:lnTo>
                    <a:pt x="7019694" y="0"/>
                  </a:lnTo>
                  <a:lnTo>
                    <a:pt x="703016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" name="object 9"/>
            <p:cNvSpPr/>
            <p:nvPr/>
          </p:nvSpPr>
          <p:spPr>
            <a:xfrm>
              <a:off x="8744769" y="7441824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6587" y="6124290"/>
              <a:ext cx="5681345" cy="2719705"/>
            </a:xfrm>
            <a:custGeom>
              <a:avLst/>
              <a:gdLst/>
              <a:ahLst/>
              <a:cxnLst/>
              <a:rect l="l" t="t" r="r" b="b"/>
              <a:pathLst>
                <a:path w="5681345" h="2719704">
                  <a:moveTo>
                    <a:pt x="0" y="1389716"/>
                  </a:moveTo>
                  <a:lnTo>
                    <a:pt x="18684" y="1345392"/>
                  </a:lnTo>
                  <a:lnTo>
                    <a:pt x="36802" y="1300411"/>
                  </a:lnTo>
                  <a:lnTo>
                    <a:pt x="54431" y="1254869"/>
                  </a:lnTo>
                  <a:lnTo>
                    <a:pt x="71645" y="1208861"/>
                  </a:lnTo>
                  <a:lnTo>
                    <a:pt x="88523" y="1162484"/>
                  </a:lnTo>
                  <a:lnTo>
                    <a:pt x="105138" y="1115833"/>
                  </a:lnTo>
                  <a:lnTo>
                    <a:pt x="121569" y="1069004"/>
                  </a:lnTo>
                  <a:lnTo>
                    <a:pt x="137890" y="1022093"/>
                  </a:lnTo>
                  <a:lnTo>
                    <a:pt x="154178" y="975196"/>
                  </a:lnTo>
                  <a:lnTo>
                    <a:pt x="170509" y="928408"/>
                  </a:lnTo>
                  <a:lnTo>
                    <a:pt x="186960" y="881826"/>
                  </a:lnTo>
                  <a:lnTo>
                    <a:pt x="203606" y="835545"/>
                  </a:lnTo>
                  <a:lnTo>
                    <a:pt x="220523" y="789661"/>
                  </a:lnTo>
                  <a:lnTo>
                    <a:pt x="237787" y="744270"/>
                  </a:lnTo>
                  <a:lnTo>
                    <a:pt x="255476" y="699468"/>
                  </a:lnTo>
                  <a:lnTo>
                    <a:pt x="273664" y="655351"/>
                  </a:lnTo>
                  <a:lnTo>
                    <a:pt x="292428" y="612014"/>
                  </a:lnTo>
                  <a:lnTo>
                    <a:pt x="311844" y="569554"/>
                  </a:lnTo>
                  <a:lnTo>
                    <a:pt x="331988" y="528066"/>
                  </a:lnTo>
                  <a:lnTo>
                    <a:pt x="352936" y="487645"/>
                  </a:lnTo>
                  <a:lnTo>
                    <a:pt x="374765" y="448389"/>
                  </a:lnTo>
                  <a:lnTo>
                    <a:pt x="397551" y="410392"/>
                  </a:lnTo>
                  <a:lnTo>
                    <a:pt x="421369" y="373751"/>
                  </a:lnTo>
                  <a:lnTo>
                    <a:pt x="446296" y="338561"/>
                  </a:lnTo>
                  <a:lnTo>
                    <a:pt x="472408" y="304918"/>
                  </a:lnTo>
                  <a:lnTo>
                    <a:pt x="499781" y="272918"/>
                  </a:lnTo>
                  <a:lnTo>
                    <a:pt x="528491" y="242658"/>
                  </a:lnTo>
                  <a:lnTo>
                    <a:pt x="558614" y="214232"/>
                  </a:lnTo>
                  <a:lnTo>
                    <a:pt x="590227" y="187736"/>
                  </a:lnTo>
                  <a:lnTo>
                    <a:pt x="623405" y="163267"/>
                  </a:lnTo>
                  <a:lnTo>
                    <a:pt x="658225" y="140920"/>
                  </a:lnTo>
                  <a:lnTo>
                    <a:pt x="694763" y="120791"/>
                  </a:lnTo>
                  <a:lnTo>
                    <a:pt x="733094" y="102976"/>
                  </a:lnTo>
                  <a:lnTo>
                    <a:pt x="773296" y="87571"/>
                  </a:lnTo>
                  <a:lnTo>
                    <a:pt x="815444" y="74671"/>
                  </a:lnTo>
                  <a:lnTo>
                    <a:pt x="859614" y="64373"/>
                  </a:lnTo>
                  <a:lnTo>
                    <a:pt x="905883" y="56772"/>
                  </a:lnTo>
                  <a:lnTo>
                    <a:pt x="950431" y="52242"/>
                  </a:lnTo>
                  <a:lnTo>
                    <a:pt x="993757" y="50471"/>
                  </a:lnTo>
                  <a:lnTo>
                    <a:pt x="1035888" y="51382"/>
                  </a:lnTo>
                  <a:lnTo>
                    <a:pt x="1076853" y="54899"/>
                  </a:lnTo>
                  <a:lnTo>
                    <a:pt x="1116681" y="60947"/>
                  </a:lnTo>
                  <a:lnTo>
                    <a:pt x="1155400" y="69447"/>
                  </a:lnTo>
                  <a:lnTo>
                    <a:pt x="1193039" y="80326"/>
                  </a:lnTo>
                  <a:lnTo>
                    <a:pt x="1229626" y="93505"/>
                  </a:lnTo>
                  <a:lnTo>
                    <a:pt x="1265189" y="108909"/>
                  </a:lnTo>
                  <a:lnTo>
                    <a:pt x="1299757" y="126462"/>
                  </a:lnTo>
                  <a:lnTo>
                    <a:pt x="1333358" y="146087"/>
                  </a:lnTo>
                  <a:lnTo>
                    <a:pt x="1366021" y="167708"/>
                  </a:lnTo>
                  <a:lnTo>
                    <a:pt x="1397774" y="191249"/>
                  </a:lnTo>
                  <a:lnTo>
                    <a:pt x="1428647" y="216634"/>
                  </a:lnTo>
                  <a:lnTo>
                    <a:pt x="1458666" y="243786"/>
                  </a:lnTo>
                  <a:lnTo>
                    <a:pt x="1487861" y="272629"/>
                  </a:lnTo>
                  <a:lnTo>
                    <a:pt x="1516260" y="303087"/>
                  </a:lnTo>
                  <a:lnTo>
                    <a:pt x="1543892" y="335084"/>
                  </a:lnTo>
                  <a:lnTo>
                    <a:pt x="1570785" y="368543"/>
                  </a:lnTo>
                  <a:lnTo>
                    <a:pt x="1596967" y="403388"/>
                  </a:lnTo>
                  <a:lnTo>
                    <a:pt x="1622467" y="439543"/>
                  </a:lnTo>
                  <a:lnTo>
                    <a:pt x="1647314" y="476931"/>
                  </a:lnTo>
                  <a:lnTo>
                    <a:pt x="1671535" y="515476"/>
                  </a:lnTo>
                  <a:lnTo>
                    <a:pt x="1695160" y="555103"/>
                  </a:lnTo>
                  <a:lnTo>
                    <a:pt x="1718217" y="595735"/>
                  </a:lnTo>
                  <a:lnTo>
                    <a:pt x="1740734" y="637294"/>
                  </a:lnTo>
                  <a:lnTo>
                    <a:pt x="1762739" y="679707"/>
                  </a:lnTo>
                  <a:lnTo>
                    <a:pt x="1784262" y="722895"/>
                  </a:lnTo>
                  <a:lnTo>
                    <a:pt x="1805331" y="766783"/>
                  </a:lnTo>
                  <a:lnTo>
                    <a:pt x="1825973" y="811294"/>
                  </a:lnTo>
                  <a:lnTo>
                    <a:pt x="1846218" y="856353"/>
                  </a:lnTo>
                  <a:lnTo>
                    <a:pt x="1866094" y="901883"/>
                  </a:lnTo>
                  <a:lnTo>
                    <a:pt x="1885630" y="947807"/>
                  </a:lnTo>
                  <a:lnTo>
                    <a:pt x="1904854" y="994050"/>
                  </a:lnTo>
                  <a:lnTo>
                    <a:pt x="1923794" y="1040535"/>
                  </a:lnTo>
                  <a:lnTo>
                    <a:pt x="1942478" y="1087187"/>
                  </a:lnTo>
                  <a:lnTo>
                    <a:pt x="1960936" y="1133927"/>
                  </a:lnTo>
                  <a:lnTo>
                    <a:pt x="1979196" y="1180682"/>
                  </a:lnTo>
                  <a:lnTo>
                    <a:pt x="1997286" y="1227373"/>
                  </a:lnTo>
                  <a:lnTo>
                    <a:pt x="2015235" y="1273926"/>
                  </a:lnTo>
                  <a:lnTo>
                    <a:pt x="2033071" y="1320263"/>
                  </a:lnTo>
                  <a:lnTo>
                    <a:pt x="2050823" y="1366309"/>
                  </a:lnTo>
                  <a:lnTo>
                    <a:pt x="2068439" y="1412275"/>
                  </a:lnTo>
                  <a:lnTo>
                    <a:pt x="2085976" y="1458645"/>
                  </a:lnTo>
                  <a:lnTo>
                    <a:pt x="2103470" y="1505335"/>
                  </a:lnTo>
                  <a:lnTo>
                    <a:pt x="2120953" y="1552267"/>
                  </a:lnTo>
                  <a:lnTo>
                    <a:pt x="2138460" y="1599357"/>
                  </a:lnTo>
                  <a:lnTo>
                    <a:pt x="2156025" y="1646527"/>
                  </a:lnTo>
                  <a:lnTo>
                    <a:pt x="2173683" y="1693694"/>
                  </a:lnTo>
                  <a:lnTo>
                    <a:pt x="2191467" y="1740779"/>
                  </a:lnTo>
                  <a:lnTo>
                    <a:pt x="2209411" y="1787700"/>
                  </a:lnTo>
                  <a:lnTo>
                    <a:pt x="2227549" y="1834375"/>
                  </a:lnTo>
                  <a:lnTo>
                    <a:pt x="2245916" y="1880725"/>
                  </a:lnTo>
                  <a:lnTo>
                    <a:pt x="2264546" y="1926669"/>
                  </a:lnTo>
                  <a:lnTo>
                    <a:pt x="2283472" y="1972125"/>
                  </a:lnTo>
                  <a:lnTo>
                    <a:pt x="2302730" y="2017013"/>
                  </a:lnTo>
                  <a:lnTo>
                    <a:pt x="2322352" y="2061251"/>
                  </a:lnTo>
                  <a:lnTo>
                    <a:pt x="2342374" y="2104760"/>
                  </a:lnTo>
                  <a:lnTo>
                    <a:pt x="2362828" y="2147457"/>
                  </a:lnTo>
                  <a:lnTo>
                    <a:pt x="2383750" y="2189263"/>
                  </a:lnTo>
                  <a:lnTo>
                    <a:pt x="2405173" y="2230095"/>
                  </a:lnTo>
                  <a:lnTo>
                    <a:pt x="2427132" y="2269874"/>
                  </a:lnTo>
                  <a:lnTo>
                    <a:pt x="2449660" y="2308519"/>
                  </a:lnTo>
                  <a:lnTo>
                    <a:pt x="2472792" y="2345948"/>
                  </a:lnTo>
                  <a:lnTo>
                    <a:pt x="2496562" y="2382081"/>
                  </a:lnTo>
                  <a:lnTo>
                    <a:pt x="2521004" y="2416836"/>
                  </a:lnTo>
                  <a:lnTo>
                    <a:pt x="2546151" y="2450134"/>
                  </a:lnTo>
                  <a:lnTo>
                    <a:pt x="2572039" y="2481892"/>
                  </a:lnTo>
                  <a:lnTo>
                    <a:pt x="2598701" y="2512031"/>
                  </a:lnTo>
                  <a:lnTo>
                    <a:pt x="2626171" y="2540469"/>
                  </a:lnTo>
                  <a:lnTo>
                    <a:pt x="2654483" y="2567125"/>
                  </a:lnTo>
                  <a:lnTo>
                    <a:pt x="2683672" y="2591918"/>
                  </a:lnTo>
                  <a:lnTo>
                    <a:pt x="2744816" y="2635594"/>
                  </a:lnTo>
                  <a:lnTo>
                    <a:pt x="2809875" y="2670850"/>
                  </a:lnTo>
                  <a:lnTo>
                    <a:pt x="2879122" y="2697037"/>
                  </a:lnTo>
                  <a:lnTo>
                    <a:pt x="2952829" y="2713509"/>
                  </a:lnTo>
                  <a:lnTo>
                    <a:pt x="2991441" y="2717900"/>
                  </a:lnTo>
                  <a:lnTo>
                    <a:pt x="3031270" y="2719619"/>
                  </a:lnTo>
                  <a:lnTo>
                    <a:pt x="3072351" y="2718586"/>
                  </a:lnTo>
                  <a:lnTo>
                    <a:pt x="3114718" y="2714720"/>
                  </a:lnTo>
                  <a:lnTo>
                    <a:pt x="3158404" y="2707940"/>
                  </a:lnTo>
                  <a:lnTo>
                    <a:pt x="3202517" y="2698146"/>
                  </a:lnTo>
                  <a:lnTo>
                    <a:pt x="3244328" y="2685701"/>
                  </a:lnTo>
                  <a:lnTo>
                    <a:pt x="3283913" y="2670699"/>
                  </a:lnTo>
                  <a:lnTo>
                    <a:pt x="3321350" y="2653233"/>
                  </a:lnTo>
                  <a:lnTo>
                    <a:pt x="3356713" y="2633395"/>
                  </a:lnTo>
                  <a:lnTo>
                    <a:pt x="3390079" y="2611280"/>
                  </a:lnTo>
                  <a:lnTo>
                    <a:pt x="3421524" y="2586981"/>
                  </a:lnTo>
                  <a:lnTo>
                    <a:pt x="3451125" y="2560590"/>
                  </a:lnTo>
                  <a:lnTo>
                    <a:pt x="3478957" y="2532202"/>
                  </a:lnTo>
                  <a:lnTo>
                    <a:pt x="3505097" y="2501908"/>
                  </a:lnTo>
                  <a:lnTo>
                    <a:pt x="3529621" y="2469803"/>
                  </a:lnTo>
                  <a:lnTo>
                    <a:pt x="3552604" y="2435980"/>
                  </a:lnTo>
                  <a:lnTo>
                    <a:pt x="3574124" y="2400531"/>
                  </a:lnTo>
                  <a:lnTo>
                    <a:pt x="3594257" y="2363551"/>
                  </a:lnTo>
                  <a:lnTo>
                    <a:pt x="3613078" y="2325131"/>
                  </a:lnTo>
                  <a:lnTo>
                    <a:pt x="3630663" y="2285367"/>
                  </a:lnTo>
                  <a:lnTo>
                    <a:pt x="3647090" y="2244350"/>
                  </a:lnTo>
                  <a:lnTo>
                    <a:pt x="3662433" y="2202174"/>
                  </a:lnTo>
                  <a:lnTo>
                    <a:pt x="3676770" y="2158933"/>
                  </a:lnTo>
                  <a:lnTo>
                    <a:pt x="3690176" y="2114719"/>
                  </a:lnTo>
                  <a:lnTo>
                    <a:pt x="3702728" y="2069625"/>
                  </a:lnTo>
                  <a:lnTo>
                    <a:pt x="3714501" y="2023746"/>
                  </a:lnTo>
                  <a:lnTo>
                    <a:pt x="3725572" y="1977173"/>
                  </a:lnTo>
                  <a:lnTo>
                    <a:pt x="3736018" y="1930001"/>
                  </a:lnTo>
                  <a:lnTo>
                    <a:pt x="3745913" y="1882323"/>
                  </a:lnTo>
                  <a:lnTo>
                    <a:pt x="3755336" y="1834231"/>
                  </a:lnTo>
                  <a:lnTo>
                    <a:pt x="3764360" y="1785819"/>
                  </a:lnTo>
                  <a:lnTo>
                    <a:pt x="3773064" y="1737181"/>
                  </a:lnTo>
                  <a:lnTo>
                    <a:pt x="3781522" y="1688409"/>
                  </a:lnTo>
                  <a:lnTo>
                    <a:pt x="3789812" y="1639597"/>
                  </a:lnTo>
                  <a:lnTo>
                    <a:pt x="3798008" y="1590838"/>
                  </a:lnTo>
                  <a:lnTo>
                    <a:pt x="3806189" y="1542225"/>
                  </a:lnTo>
                  <a:lnTo>
                    <a:pt x="3814428" y="1493851"/>
                  </a:lnTo>
                  <a:lnTo>
                    <a:pt x="3822804" y="1445810"/>
                  </a:lnTo>
                  <a:lnTo>
                    <a:pt x="3831392" y="1398194"/>
                  </a:lnTo>
                  <a:lnTo>
                    <a:pt x="3840280" y="1349868"/>
                  </a:lnTo>
                  <a:lnTo>
                    <a:pt x="3849249" y="1301247"/>
                  </a:lnTo>
                  <a:lnTo>
                    <a:pt x="3858345" y="1252408"/>
                  </a:lnTo>
                  <a:lnTo>
                    <a:pt x="3867615" y="1203430"/>
                  </a:lnTo>
                  <a:lnTo>
                    <a:pt x="3877105" y="1154388"/>
                  </a:lnTo>
                  <a:lnTo>
                    <a:pt x="3886862" y="1105362"/>
                  </a:lnTo>
                  <a:lnTo>
                    <a:pt x="3896931" y="1056427"/>
                  </a:lnTo>
                  <a:lnTo>
                    <a:pt x="3907359" y="1007662"/>
                  </a:lnTo>
                  <a:lnTo>
                    <a:pt x="3918193" y="959144"/>
                  </a:lnTo>
                  <a:lnTo>
                    <a:pt x="3929479" y="910951"/>
                  </a:lnTo>
                  <a:lnTo>
                    <a:pt x="3941263" y="863159"/>
                  </a:lnTo>
                  <a:lnTo>
                    <a:pt x="3953591" y="815847"/>
                  </a:lnTo>
                  <a:lnTo>
                    <a:pt x="3966510" y="769091"/>
                  </a:lnTo>
                  <a:lnTo>
                    <a:pt x="3980067" y="722969"/>
                  </a:lnTo>
                  <a:lnTo>
                    <a:pt x="3994307" y="677559"/>
                  </a:lnTo>
                  <a:lnTo>
                    <a:pt x="4009277" y="632937"/>
                  </a:lnTo>
                  <a:lnTo>
                    <a:pt x="4025023" y="589182"/>
                  </a:lnTo>
                  <a:lnTo>
                    <a:pt x="4041592" y="546370"/>
                  </a:lnTo>
                  <a:lnTo>
                    <a:pt x="4059029" y="504579"/>
                  </a:lnTo>
                  <a:lnTo>
                    <a:pt x="4077383" y="463887"/>
                  </a:lnTo>
                  <a:lnTo>
                    <a:pt x="4096697" y="424371"/>
                  </a:lnTo>
                  <a:lnTo>
                    <a:pt x="4117020" y="386108"/>
                  </a:lnTo>
                  <a:lnTo>
                    <a:pt x="4138398" y="349175"/>
                  </a:lnTo>
                  <a:lnTo>
                    <a:pt x="4160876" y="313651"/>
                  </a:lnTo>
                  <a:lnTo>
                    <a:pt x="4184501" y="279612"/>
                  </a:lnTo>
                  <a:lnTo>
                    <a:pt x="4209319" y="247136"/>
                  </a:lnTo>
                  <a:lnTo>
                    <a:pt x="4235378" y="216301"/>
                  </a:lnTo>
                  <a:lnTo>
                    <a:pt x="4262722" y="187183"/>
                  </a:lnTo>
                  <a:lnTo>
                    <a:pt x="4291399" y="159860"/>
                  </a:lnTo>
                  <a:lnTo>
                    <a:pt x="4321455" y="134410"/>
                  </a:lnTo>
                  <a:lnTo>
                    <a:pt x="4352936" y="110909"/>
                  </a:lnTo>
                  <a:lnTo>
                    <a:pt x="4385889" y="89436"/>
                  </a:lnTo>
                  <a:lnTo>
                    <a:pt x="4420360" y="70068"/>
                  </a:lnTo>
                  <a:lnTo>
                    <a:pt x="4456395" y="52882"/>
                  </a:lnTo>
                  <a:lnTo>
                    <a:pt x="4494040" y="37955"/>
                  </a:lnTo>
                  <a:lnTo>
                    <a:pt x="4533343" y="25366"/>
                  </a:lnTo>
                  <a:lnTo>
                    <a:pt x="4574348" y="15190"/>
                  </a:lnTo>
                  <a:lnTo>
                    <a:pt x="4617104" y="7507"/>
                  </a:lnTo>
                  <a:lnTo>
                    <a:pt x="4661655" y="2393"/>
                  </a:lnTo>
                  <a:lnTo>
                    <a:pt x="4705928" y="0"/>
                  </a:lnTo>
                  <a:lnTo>
                    <a:pt x="4748869" y="293"/>
                  </a:lnTo>
                  <a:lnTo>
                    <a:pt x="4790505" y="3201"/>
                  </a:lnTo>
                  <a:lnTo>
                    <a:pt x="4830862" y="8653"/>
                  </a:lnTo>
                  <a:lnTo>
                    <a:pt x="4869967" y="16575"/>
                  </a:lnTo>
                  <a:lnTo>
                    <a:pt x="4907847" y="26896"/>
                  </a:lnTo>
                  <a:lnTo>
                    <a:pt x="4944529" y="39545"/>
                  </a:lnTo>
                  <a:lnTo>
                    <a:pt x="4980039" y="54449"/>
                  </a:lnTo>
                  <a:lnTo>
                    <a:pt x="5014404" y="71536"/>
                  </a:lnTo>
                  <a:lnTo>
                    <a:pt x="5047651" y="90735"/>
                  </a:lnTo>
                  <a:lnTo>
                    <a:pt x="5079807" y="111974"/>
                  </a:lnTo>
                  <a:lnTo>
                    <a:pt x="5110898" y="135180"/>
                  </a:lnTo>
                  <a:lnTo>
                    <a:pt x="5140951" y="160282"/>
                  </a:lnTo>
                  <a:lnTo>
                    <a:pt x="5169993" y="187208"/>
                  </a:lnTo>
                  <a:lnTo>
                    <a:pt x="5198050" y="215886"/>
                  </a:lnTo>
                  <a:lnTo>
                    <a:pt x="5225150" y="246244"/>
                  </a:lnTo>
                  <a:lnTo>
                    <a:pt x="5251319" y="278210"/>
                  </a:lnTo>
                  <a:lnTo>
                    <a:pt x="5276583" y="311713"/>
                  </a:lnTo>
                  <a:lnTo>
                    <a:pt x="5300970" y="346680"/>
                  </a:lnTo>
                  <a:lnTo>
                    <a:pt x="5324506" y="383039"/>
                  </a:lnTo>
                  <a:lnTo>
                    <a:pt x="5347218" y="420719"/>
                  </a:lnTo>
                  <a:lnTo>
                    <a:pt x="5369133" y="459648"/>
                  </a:lnTo>
                  <a:lnTo>
                    <a:pt x="5390278" y="499753"/>
                  </a:lnTo>
                  <a:lnTo>
                    <a:pt x="5410678" y="540964"/>
                  </a:lnTo>
                  <a:lnTo>
                    <a:pt x="5430361" y="583207"/>
                  </a:lnTo>
                  <a:lnTo>
                    <a:pt x="5449354" y="626411"/>
                  </a:lnTo>
                  <a:lnTo>
                    <a:pt x="5467684" y="670505"/>
                  </a:lnTo>
                  <a:lnTo>
                    <a:pt x="5485376" y="715416"/>
                  </a:lnTo>
                  <a:lnTo>
                    <a:pt x="5502459" y="761072"/>
                  </a:lnTo>
                  <a:lnTo>
                    <a:pt x="5518958" y="807402"/>
                  </a:lnTo>
                  <a:lnTo>
                    <a:pt x="5534900" y="854333"/>
                  </a:lnTo>
                  <a:lnTo>
                    <a:pt x="5550313" y="901794"/>
                  </a:lnTo>
                  <a:lnTo>
                    <a:pt x="5565222" y="949713"/>
                  </a:lnTo>
                  <a:lnTo>
                    <a:pt x="5579655" y="998017"/>
                  </a:lnTo>
                  <a:lnTo>
                    <a:pt x="5593638" y="1046636"/>
                  </a:lnTo>
                  <a:lnTo>
                    <a:pt x="5607198" y="1095496"/>
                  </a:lnTo>
                  <a:lnTo>
                    <a:pt x="5620362" y="1144527"/>
                  </a:lnTo>
                  <a:lnTo>
                    <a:pt x="5633157" y="1193656"/>
                  </a:lnTo>
                  <a:lnTo>
                    <a:pt x="5645608" y="1242811"/>
                  </a:lnTo>
                  <a:lnTo>
                    <a:pt x="5657744" y="1291921"/>
                  </a:lnTo>
                  <a:lnTo>
                    <a:pt x="5669590" y="1340913"/>
                  </a:lnTo>
                  <a:lnTo>
                    <a:pt x="5681174" y="1389716"/>
                  </a:lnTo>
                </a:path>
              </a:pathLst>
            </a:custGeom>
            <a:ln w="41883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2267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8029" y="6231223"/>
              <a:ext cx="188475" cy="1884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68196" y="732818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63462"/>
                  </a:moveTo>
                  <a:lnTo>
                    <a:pt x="0" y="0"/>
                  </a:lnTo>
                  <a:lnTo>
                    <a:pt x="0" y="171094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494900" y="735016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5" h="146684">
                  <a:moveTo>
                    <a:pt x="0" y="73296"/>
                  </a:moveTo>
                  <a:lnTo>
                    <a:pt x="5759" y="44766"/>
                  </a:lnTo>
                  <a:lnTo>
                    <a:pt x="21467" y="21467"/>
                  </a:lnTo>
                  <a:lnTo>
                    <a:pt x="44766" y="5759"/>
                  </a:lnTo>
                  <a:lnTo>
                    <a:pt x="73296" y="0"/>
                  </a:lnTo>
                  <a:lnTo>
                    <a:pt x="101826" y="5759"/>
                  </a:lnTo>
                  <a:lnTo>
                    <a:pt x="125124" y="21467"/>
                  </a:lnTo>
                  <a:lnTo>
                    <a:pt x="140832" y="44766"/>
                  </a:lnTo>
                  <a:lnTo>
                    <a:pt x="146592" y="73296"/>
                  </a:lnTo>
                  <a:lnTo>
                    <a:pt x="140832" y="101826"/>
                  </a:lnTo>
                  <a:lnTo>
                    <a:pt x="125124" y="125124"/>
                  </a:lnTo>
                  <a:lnTo>
                    <a:pt x="101826" y="140832"/>
                  </a:lnTo>
                  <a:lnTo>
                    <a:pt x="73296" y="146592"/>
                  </a:lnTo>
                  <a:lnTo>
                    <a:pt x="44766" y="140832"/>
                  </a:lnTo>
                  <a:lnTo>
                    <a:pt x="21467" y="125124"/>
                  </a:lnTo>
                  <a:lnTo>
                    <a:pt x="5759" y="101826"/>
                  </a:lnTo>
                  <a:lnTo>
                    <a:pt x="0" y="73296"/>
                  </a:lnTo>
                  <a:close/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416337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099" y="6231223"/>
              <a:ext cx="188475" cy="1884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40408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6170" y="6231223"/>
              <a:ext cx="188475" cy="1884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64478" y="6977169"/>
              <a:ext cx="0" cy="514984"/>
            </a:xfrm>
            <a:custGeom>
              <a:avLst/>
              <a:gdLst/>
              <a:ahLst/>
              <a:cxnLst/>
              <a:rect l="l" t="t" r="r" b="b"/>
              <a:pathLst>
                <a:path h="514984">
                  <a:moveTo>
                    <a:pt x="0" y="514473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0240" y="6807122"/>
              <a:ext cx="188475" cy="1884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4312" y="7389922"/>
              <a:ext cx="188475" cy="1920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12620" y="7471863"/>
              <a:ext cx="0" cy="1100455"/>
            </a:xfrm>
            <a:custGeom>
              <a:avLst/>
              <a:gdLst/>
              <a:ahLst/>
              <a:cxnLst/>
              <a:rect l="l" t="t" r="r" b="b"/>
              <a:pathLst>
                <a:path h="1100454">
                  <a:moveTo>
                    <a:pt x="0" y="1100231"/>
                  </a:moveTo>
                  <a:lnTo>
                    <a:pt x="0" y="1079289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8382" y="8553666"/>
              <a:ext cx="188475" cy="1884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536691" y="7471864"/>
              <a:ext cx="0" cy="1100455"/>
            </a:xfrm>
            <a:custGeom>
              <a:avLst/>
              <a:gdLst/>
              <a:ahLst/>
              <a:cxnLst/>
              <a:rect l="l" t="t" r="r" b="b"/>
              <a:pathLst>
                <a:path h="1100454">
                  <a:moveTo>
                    <a:pt x="0" y="1100230"/>
                  </a:moveTo>
                  <a:lnTo>
                    <a:pt x="0" y="1079288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2453" y="8553666"/>
              <a:ext cx="188475" cy="1884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60762" y="7471864"/>
              <a:ext cx="0" cy="1100455"/>
            </a:xfrm>
            <a:custGeom>
              <a:avLst/>
              <a:gdLst/>
              <a:ahLst/>
              <a:cxnLst/>
              <a:rect l="l" t="t" r="r" b="b"/>
              <a:pathLst>
                <a:path h="1100454">
                  <a:moveTo>
                    <a:pt x="0" y="1100230"/>
                  </a:moveTo>
                  <a:lnTo>
                    <a:pt x="0" y="1079288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6524" y="8553666"/>
              <a:ext cx="188475" cy="1884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384833" y="732818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63462"/>
                  </a:moveTo>
                  <a:lnTo>
                    <a:pt x="0" y="0"/>
                  </a:lnTo>
                  <a:lnTo>
                    <a:pt x="0" y="171094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311537" y="735016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5" h="146684">
                  <a:moveTo>
                    <a:pt x="0" y="73296"/>
                  </a:moveTo>
                  <a:lnTo>
                    <a:pt x="5759" y="44766"/>
                  </a:lnTo>
                  <a:lnTo>
                    <a:pt x="21467" y="21467"/>
                  </a:lnTo>
                  <a:lnTo>
                    <a:pt x="44766" y="5759"/>
                  </a:lnTo>
                  <a:lnTo>
                    <a:pt x="73296" y="0"/>
                  </a:lnTo>
                  <a:lnTo>
                    <a:pt x="101826" y="5759"/>
                  </a:lnTo>
                  <a:lnTo>
                    <a:pt x="125124" y="21467"/>
                  </a:lnTo>
                  <a:lnTo>
                    <a:pt x="140832" y="44766"/>
                  </a:lnTo>
                  <a:lnTo>
                    <a:pt x="146592" y="73296"/>
                  </a:lnTo>
                  <a:lnTo>
                    <a:pt x="140832" y="101826"/>
                  </a:lnTo>
                  <a:lnTo>
                    <a:pt x="125124" y="125124"/>
                  </a:lnTo>
                  <a:lnTo>
                    <a:pt x="101826" y="140832"/>
                  </a:lnTo>
                  <a:lnTo>
                    <a:pt x="73296" y="146592"/>
                  </a:lnTo>
                  <a:lnTo>
                    <a:pt x="44766" y="140832"/>
                  </a:lnTo>
                  <a:lnTo>
                    <a:pt x="21467" y="125124"/>
                  </a:lnTo>
                  <a:lnTo>
                    <a:pt x="5759" y="101826"/>
                  </a:lnTo>
                  <a:lnTo>
                    <a:pt x="0" y="73296"/>
                  </a:lnTo>
                  <a:close/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808903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4665" y="6231223"/>
              <a:ext cx="188475" cy="1884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32974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8736" y="6231223"/>
              <a:ext cx="188475" cy="1884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657045" y="6401271"/>
              <a:ext cx="0" cy="1090930"/>
            </a:xfrm>
            <a:custGeom>
              <a:avLst/>
              <a:gdLst/>
              <a:ahLst/>
              <a:cxnLst/>
              <a:rect l="l" t="t" r="r" b="b"/>
              <a:pathLst>
                <a:path h="1090929">
                  <a:moveTo>
                    <a:pt x="0" y="1090372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2807" y="6231223"/>
              <a:ext cx="188475" cy="1884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081116" y="6977170"/>
              <a:ext cx="0" cy="514984"/>
            </a:xfrm>
            <a:custGeom>
              <a:avLst/>
              <a:gdLst/>
              <a:ahLst/>
              <a:cxnLst/>
              <a:rect l="l" t="t" r="r" b="b"/>
              <a:pathLst>
                <a:path h="514984">
                  <a:moveTo>
                    <a:pt x="0" y="514473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6878" y="6807122"/>
              <a:ext cx="188475" cy="18847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732619" y="6052455"/>
              <a:ext cx="0" cy="2831465"/>
            </a:xfrm>
            <a:custGeom>
              <a:avLst/>
              <a:gdLst/>
              <a:ahLst/>
              <a:cxnLst/>
              <a:rect l="l" t="t" r="r" b="b"/>
              <a:pathLst>
                <a:path h="2831465">
                  <a:moveTo>
                    <a:pt x="0" y="2831022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9" name="object 39"/>
            <p:cNvSpPr/>
            <p:nvPr/>
          </p:nvSpPr>
          <p:spPr>
            <a:xfrm>
              <a:off x="1682359" y="5962406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40" name="object 40"/>
          <p:cNvSpPr/>
          <p:nvPr/>
        </p:nvSpPr>
        <p:spPr>
          <a:xfrm>
            <a:off x="782564" y="2767767"/>
            <a:ext cx="284906" cy="0"/>
          </a:xfrm>
          <a:custGeom>
            <a:avLst/>
            <a:gdLst/>
            <a:ahLst/>
            <a:cxnLst/>
            <a:rect l="l" t="t" r="r" b="b"/>
            <a:pathLst>
              <a:path w="552450">
                <a:moveTo>
                  <a:pt x="0" y="0"/>
                </a:moveTo>
                <a:lnTo>
                  <a:pt x="552208" y="0"/>
                </a:lnTo>
              </a:path>
            </a:pathLst>
          </a:custGeom>
          <a:ln w="41883">
            <a:solidFill>
              <a:srgbClr val="00ADBA"/>
            </a:solidFill>
          </a:ln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41" name="object 41"/>
          <p:cNvSpPr txBox="1"/>
          <p:nvPr/>
        </p:nvSpPr>
        <p:spPr>
          <a:xfrm>
            <a:off x="1156458" y="2653715"/>
            <a:ext cx="1517207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dirty="0">
                <a:solidFill>
                  <a:srgbClr val="5E5E5E"/>
                </a:solidFill>
                <a:latin typeface="Arial"/>
                <a:cs typeface="Arial"/>
              </a:rPr>
              <a:t>Continuous</a:t>
            </a:r>
            <a:r>
              <a:rPr sz="1341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341" b="1" spc="-5" dirty="0">
                <a:solidFill>
                  <a:srgbClr val="5E5E5E"/>
                </a:solidFill>
                <a:latin typeface="Arial"/>
                <a:cs typeface="Arial"/>
              </a:rPr>
              <a:t>Signal</a:t>
            </a:r>
            <a:endParaRPr sz="1341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872588" y="2719168"/>
            <a:ext cx="284251" cy="97261"/>
            <a:chOff x="5570120" y="5272545"/>
            <a:chExt cx="551180" cy="188595"/>
          </a:xfrm>
        </p:grpSpPr>
        <p:sp>
          <p:nvSpPr>
            <p:cNvPr id="43" name="object 43"/>
            <p:cNvSpPr/>
            <p:nvPr/>
          </p:nvSpPr>
          <p:spPr>
            <a:xfrm>
              <a:off x="5570120" y="5366783"/>
              <a:ext cx="381635" cy="0"/>
            </a:xfrm>
            <a:custGeom>
              <a:avLst/>
              <a:gdLst/>
              <a:ahLst/>
              <a:cxnLst/>
              <a:rect l="l" t="t" r="r" b="b"/>
              <a:pathLst>
                <a:path w="381635">
                  <a:moveTo>
                    <a:pt x="0" y="0"/>
                  </a:moveTo>
                  <a:lnTo>
                    <a:pt x="360172" y="0"/>
                  </a:lnTo>
                  <a:lnTo>
                    <a:pt x="381113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2805" y="5272545"/>
              <a:ext cx="188475" cy="1884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242860" y="2653715"/>
            <a:ext cx="1408157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dirty="0">
                <a:solidFill>
                  <a:srgbClr val="5E5E5E"/>
                </a:solidFill>
                <a:latin typeface="Arial"/>
                <a:cs typeface="Arial"/>
              </a:rPr>
              <a:t>Quantized</a:t>
            </a:r>
            <a:r>
              <a:rPr sz="1341" b="1" spc="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341" b="1" spc="-5" dirty="0">
                <a:solidFill>
                  <a:srgbClr val="5E5E5E"/>
                </a:solidFill>
                <a:latin typeface="Arial"/>
                <a:cs typeface="Arial"/>
              </a:rPr>
              <a:t>Signal</a:t>
            </a:r>
            <a:endParaRPr sz="1341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66665" y="3935761"/>
            <a:ext cx="262965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21" dirty="0">
                <a:solidFill>
                  <a:srgbClr val="5E5E5E"/>
                </a:solidFill>
                <a:latin typeface="Trebuchet MS"/>
                <a:cs typeface="Trebuchet MS"/>
              </a:rPr>
              <a:t>time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6771" y="2990763"/>
            <a:ext cx="370705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21" dirty="0">
                <a:solidFill>
                  <a:srgbClr val="5E5E5E"/>
                </a:solidFill>
                <a:latin typeface="Trebuchet MS"/>
                <a:cs typeface="Trebuchet MS"/>
              </a:rPr>
              <a:t>Signal</a:t>
            </a:r>
            <a:endParaRPr sz="1006">
              <a:latin typeface="Trebuchet MS"/>
              <a:cs typeface="Trebuchet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87613" y="3082992"/>
            <a:ext cx="3683476" cy="1380976"/>
            <a:chOff x="1721136" y="5978023"/>
            <a:chExt cx="7142480" cy="2677795"/>
          </a:xfrm>
        </p:grpSpPr>
        <p:sp>
          <p:nvSpPr>
            <p:cNvPr id="49" name="object 49"/>
            <p:cNvSpPr/>
            <p:nvPr/>
          </p:nvSpPr>
          <p:spPr>
            <a:xfrm>
              <a:off x="1731614" y="6895786"/>
              <a:ext cx="7107555" cy="0"/>
            </a:xfrm>
            <a:custGeom>
              <a:avLst/>
              <a:gdLst/>
              <a:ahLst/>
              <a:cxnLst/>
              <a:rect l="l" t="t" r="r" b="b"/>
              <a:pathLst>
                <a:path w="7107555">
                  <a:moveTo>
                    <a:pt x="0" y="0"/>
                  </a:moveTo>
                  <a:lnTo>
                    <a:pt x="710713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0" name="object 50"/>
            <p:cNvSpPr/>
            <p:nvPr/>
          </p:nvSpPr>
          <p:spPr>
            <a:xfrm>
              <a:off x="1731614" y="6339290"/>
              <a:ext cx="7107555" cy="0"/>
            </a:xfrm>
            <a:custGeom>
              <a:avLst/>
              <a:gdLst/>
              <a:ahLst/>
              <a:cxnLst/>
              <a:rect l="l" t="t" r="r" b="b"/>
              <a:pathLst>
                <a:path w="7107555">
                  <a:moveTo>
                    <a:pt x="0" y="0"/>
                  </a:moveTo>
                  <a:lnTo>
                    <a:pt x="710713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1" name="object 51"/>
            <p:cNvSpPr/>
            <p:nvPr/>
          </p:nvSpPr>
          <p:spPr>
            <a:xfrm>
              <a:off x="1731614" y="8088375"/>
              <a:ext cx="7107555" cy="0"/>
            </a:xfrm>
            <a:custGeom>
              <a:avLst/>
              <a:gdLst/>
              <a:ahLst/>
              <a:cxnLst/>
              <a:rect l="l" t="t" r="r" b="b"/>
              <a:pathLst>
                <a:path w="7107555">
                  <a:moveTo>
                    <a:pt x="0" y="0"/>
                  </a:moveTo>
                  <a:lnTo>
                    <a:pt x="710713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2" name="object 52"/>
            <p:cNvSpPr/>
            <p:nvPr/>
          </p:nvSpPr>
          <p:spPr>
            <a:xfrm>
              <a:off x="1745522" y="8644879"/>
              <a:ext cx="7107555" cy="0"/>
            </a:xfrm>
            <a:custGeom>
              <a:avLst/>
              <a:gdLst/>
              <a:ahLst/>
              <a:cxnLst/>
              <a:rect l="l" t="t" r="r" b="b"/>
              <a:pathLst>
                <a:path w="7107555">
                  <a:moveTo>
                    <a:pt x="0" y="0"/>
                  </a:moveTo>
                  <a:lnTo>
                    <a:pt x="710713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3" name="object 53"/>
            <p:cNvSpPr/>
            <p:nvPr/>
          </p:nvSpPr>
          <p:spPr>
            <a:xfrm>
              <a:off x="3234625" y="6161672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4" name="object 54"/>
            <p:cNvSpPr/>
            <p:nvPr/>
          </p:nvSpPr>
          <p:spPr>
            <a:xfrm>
              <a:off x="3234625" y="6333571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5" name="object 55"/>
            <p:cNvSpPr/>
            <p:nvPr/>
          </p:nvSpPr>
          <p:spPr>
            <a:xfrm>
              <a:off x="3295283" y="6145964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4">
                  <a:moveTo>
                    <a:pt x="0" y="195607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6" name="object 56"/>
            <p:cNvSpPr/>
            <p:nvPr/>
          </p:nvSpPr>
          <p:spPr>
            <a:xfrm>
              <a:off x="3471617" y="5988501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528" y="0"/>
                  </a:moveTo>
                  <a:lnTo>
                    <a:pt x="7404" y="117124"/>
                  </a:lnTo>
                  <a:lnTo>
                    <a:pt x="0" y="124528"/>
                  </a:lnTo>
                </a:path>
              </a:pathLst>
            </a:custGeom>
            <a:ln w="20941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7" name="object 57"/>
            <p:cNvSpPr/>
            <p:nvPr/>
          </p:nvSpPr>
          <p:spPr>
            <a:xfrm>
              <a:off x="3407942" y="6070086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79" h="106679">
                  <a:moveTo>
                    <a:pt x="35539" y="0"/>
                  </a:moveTo>
                  <a:lnTo>
                    <a:pt x="0" y="106617"/>
                  </a:lnTo>
                  <a:lnTo>
                    <a:pt x="106617" y="71078"/>
                  </a:lnTo>
                  <a:lnTo>
                    <a:pt x="35539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4168" y="3097164"/>
            <a:ext cx="2090554" cy="167244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8408" y="3097164"/>
            <a:ext cx="1935698" cy="1672443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7806163" y="4769127"/>
            <a:ext cx="1900356" cy="441906"/>
          </a:xfrm>
          <a:prstGeom prst="rect">
            <a:avLst/>
          </a:prstGeom>
        </p:spPr>
        <p:txBody>
          <a:bodyPr vert="horz" wrap="square" lIns="0" tIns="5895" rIns="0" bIns="0" rtlCol="0">
            <a:spAutoFit/>
          </a:bodyPr>
          <a:lstStyle/>
          <a:p>
            <a:pPr marL="539670" marR="2620" indent="-533448">
              <a:lnSpc>
                <a:spcPct val="149900"/>
              </a:lnSpc>
              <a:spcBef>
                <a:spcPts val="46"/>
              </a:spcBef>
            </a:pPr>
            <a:r>
              <a:rPr sz="1006" u="sng" spc="36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Images</a:t>
            </a:r>
            <a:r>
              <a:rPr sz="1006" spc="-4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006" spc="-5" dirty="0">
                <a:solidFill>
                  <a:srgbClr val="5E5E5E"/>
                </a:solidFill>
                <a:latin typeface="Trebuchet MS"/>
                <a:cs typeface="Trebuchet MS"/>
              </a:rPr>
              <a:t>are</a:t>
            </a:r>
            <a:r>
              <a:rPr sz="1006" spc="-4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006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1006" spc="-4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006" spc="-5" dirty="0">
                <a:solidFill>
                  <a:srgbClr val="5E5E5E"/>
                </a:solidFill>
                <a:latin typeface="Trebuchet MS"/>
                <a:cs typeface="Trebuchet MS"/>
              </a:rPr>
              <a:t>the</a:t>
            </a:r>
            <a:r>
              <a:rPr sz="1006" spc="-4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006" dirty="0">
                <a:solidFill>
                  <a:srgbClr val="5E5E5E"/>
                </a:solidFill>
                <a:latin typeface="Trebuchet MS"/>
                <a:cs typeface="Trebuchet MS"/>
              </a:rPr>
              <a:t>public</a:t>
            </a:r>
            <a:r>
              <a:rPr sz="1006" spc="-39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006" spc="-5" dirty="0">
                <a:solidFill>
                  <a:srgbClr val="5E5E5E"/>
                </a:solidFill>
                <a:latin typeface="Trebuchet MS"/>
                <a:cs typeface="Trebuchet MS"/>
              </a:rPr>
              <a:t>domain. “Palettization”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909454" y="2935017"/>
            <a:ext cx="1059720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5" dirty="0">
                <a:solidFill>
                  <a:srgbClr val="A31F34"/>
                </a:solidFill>
                <a:latin typeface="Trebuchet MS"/>
                <a:cs typeface="Trebuchet MS"/>
              </a:rPr>
              <a:t>Quantization</a:t>
            </a:r>
            <a:r>
              <a:rPr sz="1006" spc="-18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006" spc="-5" dirty="0">
                <a:solidFill>
                  <a:srgbClr val="A31F34"/>
                </a:solidFill>
                <a:latin typeface="Trebuchet MS"/>
                <a:cs typeface="Trebuchet MS"/>
              </a:rPr>
              <a:t>Error</a:t>
            </a:r>
            <a:endParaRPr sz="1006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213820" y="3056552"/>
            <a:ext cx="1512950" cy="502352"/>
            <a:chOff x="4292730" y="5926754"/>
            <a:chExt cx="2933700" cy="974090"/>
          </a:xfrm>
        </p:grpSpPr>
        <p:sp>
          <p:nvSpPr>
            <p:cNvPr id="63" name="object 63"/>
            <p:cNvSpPr/>
            <p:nvPr/>
          </p:nvSpPr>
          <p:spPr>
            <a:xfrm>
              <a:off x="4292730" y="6712940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4" name="object 64"/>
            <p:cNvSpPr/>
            <p:nvPr/>
          </p:nvSpPr>
          <p:spPr>
            <a:xfrm>
              <a:off x="4292730" y="6884839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5" name="object 65"/>
            <p:cNvSpPr/>
            <p:nvPr/>
          </p:nvSpPr>
          <p:spPr>
            <a:xfrm>
              <a:off x="4353389" y="6697232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5">
                  <a:moveTo>
                    <a:pt x="0" y="195607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6" name="object 66"/>
            <p:cNvSpPr/>
            <p:nvPr/>
          </p:nvSpPr>
          <p:spPr>
            <a:xfrm>
              <a:off x="7105026" y="6126376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7" name="object 67"/>
            <p:cNvSpPr/>
            <p:nvPr/>
          </p:nvSpPr>
          <p:spPr>
            <a:xfrm>
              <a:off x="7105026" y="6328330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317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8" name="object 68"/>
            <p:cNvSpPr/>
            <p:nvPr/>
          </p:nvSpPr>
          <p:spPr>
            <a:xfrm>
              <a:off x="7165685" y="6107923"/>
              <a:ext cx="0" cy="229870"/>
            </a:xfrm>
            <a:custGeom>
              <a:avLst/>
              <a:gdLst/>
              <a:ahLst/>
              <a:cxnLst/>
              <a:rect l="l" t="t" r="r" b="b"/>
              <a:pathLst>
                <a:path h="229870">
                  <a:moveTo>
                    <a:pt x="0" y="229805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9" name="object 69"/>
            <p:cNvSpPr/>
            <p:nvPr/>
          </p:nvSpPr>
          <p:spPr>
            <a:xfrm>
              <a:off x="4460957" y="6008376"/>
              <a:ext cx="333375" cy="692150"/>
            </a:xfrm>
            <a:custGeom>
              <a:avLst/>
              <a:gdLst/>
              <a:ahLst/>
              <a:cxnLst/>
              <a:rect l="l" t="t" r="r" b="b"/>
              <a:pathLst>
                <a:path w="333375" h="692150">
                  <a:moveTo>
                    <a:pt x="332790" y="0"/>
                  </a:moveTo>
                  <a:lnTo>
                    <a:pt x="4537" y="682698"/>
                  </a:lnTo>
                  <a:lnTo>
                    <a:pt x="0" y="692135"/>
                  </a:lnTo>
                </a:path>
              </a:pathLst>
            </a:custGeom>
            <a:ln w="20941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0" name="object 70"/>
            <p:cNvSpPr/>
            <p:nvPr/>
          </p:nvSpPr>
          <p:spPr>
            <a:xfrm>
              <a:off x="4420198" y="6669296"/>
              <a:ext cx="90805" cy="112395"/>
            </a:xfrm>
            <a:custGeom>
              <a:avLst/>
              <a:gdLst/>
              <a:ahLst/>
              <a:cxnLst/>
              <a:rect l="l" t="t" r="r" b="b"/>
              <a:pathLst>
                <a:path w="90804" h="112395">
                  <a:moveTo>
                    <a:pt x="0" y="0"/>
                  </a:moveTo>
                  <a:lnTo>
                    <a:pt x="1737" y="112371"/>
                  </a:lnTo>
                  <a:lnTo>
                    <a:pt x="90592" y="43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1" name="object 71"/>
            <p:cNvSpPr/>
            <p:nvPr/>
          </p:nvSpPr>
          <p:spPr>
            <a:xfrm>
              <a:off x="5789351" y="5937225"/>
              <a:ext cx="1150620" cy="243204"/>
            </a:xfrm>
            <a:custGeom>
              <a:avLst/>
              <a:gdLst/>
              <a:ahLst/>
              <a:cxnLst/>
              <a:rect l="l" t="t" r="r" b="b"/>
              <a:pathLst>
                <a:path w="1150620" h="243204">
                  <a:moveTo>
                    <a:pt x="0" y="0"/>
                  </a:moveTo>
                  <a:lnTo>
                    <a:pt x="1140099" y="240589"/>
                  </a:lnTo>
                  <a:lnTo>
                    <a:pt x="1150344" y="242751"/>
                  </a:lnTo>
                </a:path>
              </a:pathLst>
            </a:custGeom>
            <a:ln w="20941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2" name="object 72"/>
            <p:cNvSpPr/>
            <p:nvPr/>
          </p:nvSpPr>
          <p:spPr>
            <a:xfrm>
              <a:off x="6919073" y="6128637"/>
              <a:ext cx="109220" cy="98425"/>
            </a:xfrm>
            <a:custGeom>
              <a:avLst/>
              <a:gdLst/>
              <a:ahLst/>
              <a:cxnLst/>
              <a:rect l="l" t="t" r="r" b="b"/>
              <a:pathLst>
                <a:path w="109220" h="98425">
                  <a:moveTo>
                    <a:pt x="20754" y="0"/>
                  </a:moveTo>
                  <a:lnTo>
                    <a:pt x="0" y="98355"/>
                  </a:lnTo>
                  <a:lnTo>
                    <a:pt x="108731" y="69932"/>
                  </a:lnTo>
                  <a:lnTo>
                    <a:pt x="20754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4C10C8D-FA06-F234-2108-9DAF5CFE46D8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Introduction</a:t>
            </a:r>
            <a:endParaRPr spc="64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4</a:t>
            </a:fld>
            <a:endParaRPr spc="23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75547C0-6D44-4B16-CE79-3EF72D56FF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Distribution before/after quantization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43E6B2D-CD31-3E9D-7893-CD2467503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3807B75-F121-C20B-8AC0-53C8477CD6EB}"/>
              </a:ext>
            </a:extLst>
          </p:cNvPr>
          <p:cNvGrpSpPr/>
          <p:nvPr/>
        </p:nvGrpSpPr>
        <p:grpSpPr>
          <a:xfrm>
            <a:off x="1630534" y="2267177"/>
            <a:ext cx="7263209" cy="2487068"/>
            <a:chOff x="254122" y="1193902"/>
            <a:chExt cx="11212771" cy="383947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810" y="1228924"/>
              <a:ext cx="4632171" cy="3804454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254122" y="2786662"/>
              <a:ext cx="316859" cy="618934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6549">
                <a:lnSpc>
                  <a:spcPts val="1781"/>
                </a:lnSpc>
              </a:pPr>
              <a:r>
                <a:rPr sz="1100" spc="-5" dirty="0">
                  <a:latin typeface="Arial MT"/>
                  <a:cs typeface="Arial MT"/>
                </a:rPr>
                <a:t>Count</a:t>
              </a:r>
              <a:endParaRPr sz="1100" dirty="0">
                <a:latin typeface="Arial MT"/>
                <a:cs typeface="Arial MT"/>
              </a:endParaRPr>
            </a:p>
          </p:txBody>
        </p:sp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D4374031-A3E9-06B2-0161-EF46567B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4721" y="1193902"/>
              <a:ext cx="4632172" cy="380445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90D0597-660C-AE11-C647-9A6587BB1105}"/>
              </a:ext>
            </a:extLst>
          </p:cNvPr>
          <p:cNvSpPr txBox="1"/>
          <p:nvPr/>
        </p:nvSpPr>
        <p:spPr>
          <a:xfrm>
            <a:off x="1733158" y="1870924"/>
            <a:ext cx="5207266" cy="32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pc="-57" dirty="0"/>
              <a:t>Before</a:t>
            </a:r>
            <a:r>
              <a:rPr lang="en" altLang="ko-KR" spc="-142" dirty="0"/>
              <a:t> </a:t>
            </a:r>
            <a:r>
              <a:rPr lang="en" altLang="ko-KR" spc="-88" dirty="0"/>
              <a:t>Quantization:</a:t>
            </a:r>
            <a:r>
              <a:rPr lang="en" altLang="ko-KR" spc="-142" dirty="0"/>
              <a:t> </a:t>
            </a:r>
            <a:r>
              <a:rPr lang="en" altLang="ko-KR" spc="-111" dirty="0"/>
              <a:t>Continuous</a:t>
            </a:r>
            <a:r>
              <a:rPr lang="en" altLang="ko-KR" spc="-142" dirty="0"/>
              <a:t> </a:t>
            </a:r>
            <a:r>
              <a:rPr lang="en" altLang="ko-KR" spc="-211" dirty="0"/>
              <a:t>W</a:t>
            </a:r>
            <a:r>
              <a:rPr lang="en" altLang="ko-KR" spc="-10" dirty="0"/>
              <a:t>e</a:t>
            </a:r>
            <a:r>
              <a:rPr lang="en" altLang="ko-KR" spc="-18" dirty="0"/>
              <a:t>i</a:t>
            </a:r>
            <a:r>
              <a:rPr lang="en" altLang="ko-KR" spc="-10" dirty="0"/>
              <a:t>g</a:t>
            </a:r>
            <a:r>
              <a:rPr lang="en" altLang="ko-KR" spc="-13" dirty="0"/>
              <a:t>h</a:t>
            </a:r>
            <a:r>
              <a:rPr lang="en" altLang="ko-KR" spc="64" dirty="0"/>
              <a:t>t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B7065-D7C9-2FF8-ED43-211575BAC9C8}"/>
              </a:ext>
            </a:extLst>
          </p:cNvPr>
          <p:cNvSpPr txBox="1"/>
          <p:nvPr/>
        </p:nvSpPr>
        <p:spPr>
          <a:xfrm>
            <a:off x="5956933" y="1842194"/>
            <a:ext cx="5207266" cy="32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pc="-49" dirty="0"/>
              <a:t>After</a:t>
            </a:r>
            <a:r>
              <a:rPr lang="en" altLang="ko-KR" spc="-173" dirty="0"/>
              <a:t> </a:t>
            </a:r>
            <a:r>
              <a:rPr lang="en" altLang="ko-KR" spc="-88" dirty="0"/>
              <a:t>Quantization:</a:t>
            </a:r>
            <a:r>
              <a:rPr lang="en" altLang="ko-KR" spc="-165" dirty="0"/>
              <a:t> </a:t>
            </a:r>
            <a:r>
              <a:rPr lang="en" altLang="ko-KR" spc="-46" dirty="0"/>
              <a:t>Discrete</a:t>
            </a:r>
            <a:r>
              <a:rPr lang="en" altLang="ko-KR" spc="-168" dirty="0"/>
              <a:t> </a:t>
            </a:r>
            <a:r>
              <a:rPr lang="en" altLang="ko-KR" spc="-242" dirty="0"/>
              <a:t>W</a:t>
            </a:r>
            <a:r>
              <a:rPr lang="en" altLang="ko-KR" spc="-41" dirty="0"/>
              <a:t>e</a:t>
            </a:r>
            <a:r>
              <a:rPr lang="en" altLang="ko-KR" spc="-49" dirty="0"/>
              <a:t>i</a:t>
            </a:r>
            <a:r>
              <a:rPr lang="en" altLang="ko-KR" spc="-41" dirty="0"/>
              <a:t>g</a:t>
            </a:r>
            <a:r>
              <a:rPr lang="en" altLang="ko-KR" spc="-44" dirty="0"/>
              <a:t>h</a:t>
            </a:r>
            <a:r>
              <a:rPr lang="en" altLang="ko-KR" spc="34" dirty="0"/>
              <a:t>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38911-FF35-D10A-1144-B5E314FCB84A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A4D53-2828-A52F-7D07-D622270F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Quantization - Purpose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749031-1637-1149-D90A-3CDD95AEFDF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>
                <a:sym typeface="Arial"/>
              </a:rPr>
              <a:t>Cost of Arithmetic Operations</a:t>
            </a:r>
          </a:p>
          <a:p>
            <a:endParaRPr lang="ko-KR" altLang="en-US" dirty="0"/>
          </a:p>
        </p:txBody>
      </p:sp>
      <p:sp>
        <p:nvSpPr>
          <p:cNvPr id="88" name="Google Shape;88;p4"/>
          <p:cNvSpPr txBox="1"/>
          <p:nvPr/>
        </p:nvSpPr>
        <p:spPr>
          <a:xfrm>
            <a:off x="4240799" y="5296997"/>
            <a:ext cx="7924280" cy="36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defTabSz="1036782" latinLnBrk="0">
              <a:buClr>
                <a:srgbClr val="000000"/>
              </a:buClr>
              <a:buSzPts val="1100"/>
            </a:pPr>
            <a:r>
              <a:rPr lang="en" sz="1000" i="1" kern="0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Adapted from Mark Horowitz “Computing’s Energy Problem (and What we can do about it)” ISSCC 2014</a:t>
            </a:r>
            <a:endParaRPr sz="1000" i="1" kern="0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4A9A7B-1AD8-9A2B-3F69-94C0D34D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782" y="1030586"/>
            <a:ext cx="7770831" cy="4269600"/>
          </a:xfrm>
          <a:prstGeom prst="rect">
            <a:avLst/>
          </a:prstGeom>
        </p:spPr>
      </p:pic>
      <p:sp>
        <p:nvSpPr>
          <p:cNvPr id="3" name="object 17">
            <a:extLst>
              <a:ext uri="{FF2B5EF4-FFF2-40B4-BE49-F238E27FC236}">
                <a16:creationId xmlns:a16="http://schemas.microsoft.com/office/drawing/2014/main" id="{82141F57-D681-FDD9-514D-FB4F47E63CE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5</a:t>
            </a:fld>
            <a:endParaRPr spc="23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FF5E32-A890-4D62-A9C8-A1FF36E7F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358" y="1186984"/>
            <a:ext cx="9542122" cy="375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5231387" y="5275191"/>
            <a:ext cx="5657345" cy="36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defTabSz="1036782" latinLnBrk="0">
              <a:buClr>
                <a:srgbClr val="000000"/>
              </a:buClr>
              <a:buSzPts val="1000"/>
            </a:pPr>
            <a:r>
              <a:rPr lang="en" sz="1000" i="1" kern="0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Source: Marios </a:t>
            </a:r>
            <a:r>
              <a:rPr lang="en" sz="1000" i="1" kern="0" dirty="0" err="1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Fournakis</a:t>
            </a:r>
            <a:r>
              <a:rPr lang="en" sz="1000" i="1" kern="0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" sz="1000" i="1" kern="0" dirty="0" err="1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Tinyml</a:t>
            </a:r>
            <a:r>
              <a:rPr lang="en" sz="1000" i="1" kern="0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talks: a practical guide to neural network quantization </a:t>
            </a:r>
            <a:endParaRPr sz="1000" i="1" kern="0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1B1BD7E6-5801-FAD3-18D1-272CEF58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3. Quantization - Purpose</a:t>
            </a:r>
            <a:endParaRPr lang="ko-KR" altLang="en-US" dirty="0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D0F0826-D5BC-84F6-8A56-F29988CE3B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0955" y="535478"/>
            <a:ext cx="10006053" cy="395010"/>
          </a:xfrm>
        </p:spPr>
        <p:txBody>
          <a:bodyPr/>
          <a:lstStyle/>
          <a:p>
            <a:r>
              <a:rPr lang="en" altLang="ko-KR" dirty="0">
                <a:sym typeface="Arial"/>
              </a:rPr>
              <a:t>Benefits of Quantization</a:t>
            </a:r>
          </a:p>
          <a:p>
            <a:endParaRPr lang="ko-KR" altLang="en-US" dirty="0"/>
          </a:p>
        </p:txBody>
      </p:sp>
      <p:sp>
        <p:nvSpPr>
          <p:cNvPr id="2" name="object 17">
            <a:extLst>
              <a:ext uri="{FF2B5EF4-FFF2-40B4-BE49-F238E27FC236}">
                <a16:creationId xmlns:a16="http://schemas.microsoft.com/office/drawing/2014/main" id="{E1767F0E-C21B-56D5-5159-04330DC156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6</a:t>
            </a:fld>
            <a:endParaRPr spc="23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Number Representation</a:t>
            </a:r>
            <a:endParaRPr spc="-39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7</a:t>
            </a:fld>
            <a:endParaRPr spc="23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218EB5D-D295-927B-8D93-89686F5234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39" dirty="0"/>
              <a:t>Integer</a:t>
            </a:r>
            <a:endParaRPr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9C89E15-3298-5141-919E-15531844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12700">
            <a:noFill/>
            <a:miter lim="400000"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r>
              <a:rPr lang="en" altLang="ko-KR" dirty="0"/>
              <a:t>Unsigned Integer</a:t>
            </a:r>
          </a:p>
          <a:p>
            <a:pPr lvl="1"/>
            <a:r>
              <a:rPr lang="en" altLang="ko-KR" dirty="0"/>
              <a:t>n-bit Range:[0,	2</a:t>
            </a:r>
            <a:r>
              <a:rPr lang="en" altLang="ko-KR" baseline="30000" dirty="0"/>
              <a:t>n − 1</a:t>
            </a:r>
            <a:r>
              <a:rPr lang="en" altLang="ko-KR" dirty="0"/>
              <a:t>]</a:t>
            </a:r>
          </a:p>
          <a:p>
            <a:pPr lvl="1"/>
            <a:endParaRPr lang="en" altLang="ko-KR" dirty="0"/>
          </a:p>
          <a:p>
            <a:r>
              <a:rPr lang="en" altLang="ko-KR" dirty="0"/>
              <a:t>Signed Integer</a:t>
            </a:r>
          </a:p>
          <a:p>
            <a:pPr lvl="1"/>
            <a:r>
              <a:rPr lang="en" altLang="ko-KR" dirty="0"/>
              <a:t>Sign-Magnitude Representation</a:t>
            </a:r>
          </a:p>
          <a:p>
            <a:pPr lvl="1"/>
            <a:r>
              <a:rPr lang="en" altLang="ko-KR" dirty="0"/>
              <a:t>n-bit Range: [−2</a:t>
            </a:r>
            <a:r>
              <a:rPr lang="en" altLang="ko-KR" baseline="30000" dirty="0"/>
              <a:t>n−1 </a:t>
            </a:r>
            <a:r>
              <a:rPr lang="en" altLang="ko-KR" dirty="0"/>
              <a:t>+ 1,</a:t>
            </a:r>
            <a:r>
              <a:rPr lang="ko-KR" altLang="en-US" dirty="0"/>
              <a:t>  </a:t>
            </a:r>
            <a:r>
              <a:rPr lang="en" altLang="ko-KR" dirty="0"/>
              <a:t>2</a:t>
            </a:r>
            <a:r>
              <a:rPr lang="en" altLang="ko-KR" baseline="30000" dirty="0"/>
              <a:t>n−1 </a:t>
            </a:r>
            <a:r>
              <a:rPr lang="en" altLang="ko-KR" dirty="0"/>
              <a:t>− 1]</a:t>
            </a:r>
          </a:p>
          <a:p>
            <a:pPr lvl="1"/>
            <a:r>
              <a:rPr lang="en" altLang="ko-KR" dirty="0"/>
              <a:t>Both 000…00 and 100…00 represent 0</a:t>
            </a:r>
          </a:p>
          <a:p>
            <a:pPr marL="307479" lvl="1" indent="0">
              <a:buNone/>
            </a:pPr>
            <a:endParaRPr lang="en" altLang="ko-KR" dirty="0"/>
          </a:p>
          <a:p>
            <a:r>
              <a:rPr lang="en" altLang="ko-KR" dirty="0"/>
              <a:t>Two’s Complement Representation</a:t>
            </a:r>
          </a:p>
          <a:p>
            <a:pPr lvl="1"/>
            <a:r>
              <a:rPr lang="en" altLang="ko-KR" dirty="0"/>
              <a:t>n-bit Range: [−2</a:t>
            </a:r>
            <a:r>
              <a:rPr lang="en" altLang="ko-KR" baseline="30000" dirty="0"/>
              <a:t>n−1</a:t>
            </a:r>
            <a:r>
              <a:rPr lang="en" altLang="ko-KR" dirty="0"/>
              <a:t>,</a:t>
            </a:r>
            <a:r>
              <a:rPr lang="ko-KR" altLang="en-US" dirty="0"/>
              <a:t>  </a:t>
            </a:r>
            <a:r>
              <a:rPr lang="en" altLang="ko-KR" dirty="0"/>
              <a:t>2</a:t>
            </a:r>
            <a:r>
              <a:rPr lang="en" altLang="ko-KR" baseline="30000" dirty="0"/>
              <a:t>n−1 </a:t>
            </a:r>
            <a:r>
              <a:rPr lang="en" altLang="ko-KR" dirty="0"/>
              <a:t>− 1] </a:t>
            </a:r>
          </a:p>
          <a:p>
            <a:pPr lvl="1"/>
            <a:r>
              <a:rPr lang="en" altLang="ko-KR" dirty="0"/>
              <a:t>000…00 represents 0 </a:t>
            </a:r>
          </a:p>
          <a:p>
            <a:pPr lvl="1"/>
            <a:r>
              <a:rPr lang="en" altLang="ko-KR" dirty="0"/>
              <a:t>100…00 represents −2</a:t>
            </a:r>
            <a:r>
              <a:rPr lang="en" altLang="ko-KR" baseline="30000" dirty="0"/>
              <a:t>n−1</a:t>
            </a:r>
          </a:p>
          <a:p>
            <a:pPr lvl="1"/>
            <a:endParaRPr lang="en" altLang="ko-KR" dirty="0"/>
          </a:p>
          <a:p>
            <a:endParaRPr lang="en" altLang="ko-KR" dirty="0"/>
          </a:p>
          <a:p>
            <a:pPr lvl="1"/>
            <a:endParaRPr lang="en" altLang="ko-KR" dirty="0"/>
          </a:p>
          <a:p>
            <a:endParaRPr lang="ko-KR" altLang="en-US" dirty="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630042" y="1304126"/>
          <a:ext cx="2591008" cy="323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630042" y="2534668"/>
          <a:ext cx="2591008" cy="323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437151" y="1586674"/>
            <a:ext cx="3272491" cy="1679514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R="590755" algn="r">
              <a:lnSpc>
                <a:spcPts val="1529"/>
              </a:lnSpc>
              <a:spcBef>
                <a:spcPts val="70"/>
              </a:spcBef>
              <a:tabLst>
                <a:tab pos="323867" algn="l"/>
                <a:tab pos="647735" algn="l"/>
                <a:tab pos="971929" algn="l"/>
                <a:tab pos="1295797" algn="l"/>
                <a:tab pos="1619664" algn="l"/>
                <a:tab pos="1943859" algn="l"/>
                <a:tab pos="2267726" algn="l"/>
              </a:tabLst>
            </a:pP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endParaRPr sz="1341" dirty="0">
              <a:latin typeface="Trebuchet MS"/>
              <a:cs typeface="Trebuchet MS"/>
            </a:endParaRPr>
          </a:p>
          <a:p>
            <a:pPr marL="277367">
              <a:lnSpc>
                <a:spcPts val="1746"/>
              </a:lnSpc>
            </a:pP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7</a:t>
            </a:r>
            <a:r>
              <a:rPr sz="1354" b="1" spc="-19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6</a:t>
            </a:r>
            <a:r>
              <a:rPr sz="1354" b="1" spc="-19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5</a:t>
            </a:r>
            <a:r>
              <a:rPr sz="1354" b="1" spc="-19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4</a:t>
            </a:r>
            <a:r>
              <a:rPr sz="1354" b="1" spc="-19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3</a:t>
            </a:r>
            <a:r>
              <a:rPr sz="1354" b="1" spc="-19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2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8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1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8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0</a:t>
            </a:r>
            <a:r>
              <a:rPr sz="1354" b="1" spc="359" baseline="20634" dirty="0">
                <a:latin typeface="Arial"/>
                <a:cs typeface="Arial"/>
              </a:rPr>
              <a:t> </a:t>
            </a:r>
            <a:r>
              <a:rPr sz="2282" b="1" spc="39" baseline="-2824" dirty="0">
                <a:latin typeface="Arial"/>
                <a:cs typeface="Arial"/>
              </a:rPr>
              <a:t>=</a:t>
            </a:r>
            <a:r>
              <a:rPr sz="2282" b="1" spc="15" baseline="-2824" dirty="0">
                <a:latin typeface="Arial"/>
                <a:cs typeface="Arial"/>
              </a:rPr>
              <a:t> </a:t>
            </a:r>
            <a:r>
              <a:rPr sz="2282" b="1" spc="-19" baseline="-2824" dirty="0">
                <a:latin typeface="Arial"/>
                <a:cs typeface="Arial"/>
              </a:rPr>
              <a:t>49</a:t>
            </a:r>
            <a:endParaRPr sz="2282" baseline="-2824" dirty="0">
              <a:latin typeface="Arial"/>
              <a:cs typeface="Arial"/>
            </a:endParaRPr>
          </a:p>
          <a:p>
            <a:pPr>
              <a:spcBef>
                <a:spcPts val="668"/>
              </a:spcBef>
            </a:pPr>
            <a:endParaRPr sz="1341" dirty="0">
              <a:latin typeface="Arial"/>
              <a:cs typeface="Arial"/>
            </a:endParaRPr>
          </a:p>
          <a:p>
            <a:pPr marL="19648"/>
            <a:r>
              <a:rPr sz="1341" b="1" dirty="0">
                <a:solidFill>
                  <a:srgbClr val="00ADBA"/>
                </a:solidFill>
                <a:latin typeface="Arial"/>
                <a:cs typeface="Arial"/>
              </a:rPr>
              <a:t>Sign</a:t>
            </a:r>
            <a:r>
              <a:rPr sz="1341" b="1" spc="-54" dirty="0">
                <a:solidFill>
                  <a:srgbClr val="00ADBA"/>
                </a:solidFill>
                <a:latin typeface="Arial"/>
                <a:cs typeface="Arial"/>
              </a:rPr>
              <a:t> </a:t>
            </a:r>
            <a:r>
              <a:rPr sz="1341" b="1" spc="-13" dirty="0">
                <a:solidFill>
                  <a:srgbClr val="00ADBA"/>
                </a:solidFill>
                <a:latin typeface="Arial"/>
                <a:cs typeface="Arial"/>
              </a:rPr>
              <a:t>Bit</a:t>
            </a:r>
            <a:endParaRPr sz="1341" dirty="0">
              <a:latin typeface="Arial"/>
              <a:cs typeface="Arial"/>
            </a:endParaRPr>
          </a:p>
          <a:p>
            <a:pPr>
              <a:spcBef>
                <a:spcPts val="1055"/>
              </a:spcBef>
            </a:pPr>
            <a:endParaRPr sz="1341" dirty="0">
              <a:latin typeface="Arial"/>
              <a:cs typeface="Arial"/>
            </a:endParaRPr>
          </a:p>
          <a:p>
            <a:pPr marR="590755" algn="r">
              <a:lnSpc>
                <a:spcPts val="1529"/>
              </a:lnSpc>
              <a:tabLst>
                <a:tab pos="323867" algn="l"/>
                <a:tab pos="647735" algn="l"/>
                <a:tab pos="971929" algn="l"/>
                <a:tab pos="1295797" algn="l"/>
                <a:tab pos="1619664" algn="l"/>
                <a:tab pos="1943859" algn="l"/>
              </a:tabLst>
            </a:pP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endParaRPr sz="1341" dirty="0">
              <a:latin typeface="Trebuchet MS"/>
              <a:cs typeface="Trebuchet MS"/>
            </a:endParaRPr>
          </a:p>
          <a:p>
            <a:pPr marL="322230">
              <a:lnSpc>
                <a:spcPts val="1746"/>
              </a:lnSpc>
              <a:tabLst>
                <a:tab pos="601234" algn="l"/>
              </a:tabLst>
            </a:pPr>
            <a:r>
              <a:rPr sz="1341" b="1" spc="80" dirty="0">
                <a:latin typeface="Arial"/>
                <a:cs typeface="Arial"/>
              </a:rPr>
              <a:t>-</a:t>
            </a:r>
            <a:r>
              <a:rPr sz="1341" b="1" dirty="0">
                <a:latin typeface="Arial"/>
                <a:cs typeface="Arial"/>
              </a:rPr>
              <a:t>	2</a:t>
            </a:r>
            <a:r>
              <a:rPr sz="1354" b="1" baseline="20634" dirty="0">
                <a:latin typeface="Arial"/>
                <a:cs typeface="Arial"/>
              </a:rPr>
              <a:t>6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5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4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3</a:t>
            </a:r>
            <a:r>
              <a:rPr sz="1354" b="1" spc="-11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2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1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0</a:t>
            </a:r>
            <a:r>
              <a:rPr sz="1354" b="1" spc="367" baseline="20634" dirty="0">
                <a:latin typeface="Arial"/>
                <a:cs typeface="Arial"/>
              </a:rPr>
              <a:t> </a:t>
            </a:r>
            <a:r>
              <a:rPr sz="2282" b="1" spc="39" baseline="-2824" dirty="0">
                <a:latin typeface="Arial"/>
                <a:cs typeface="Arial"/>
              </a:rPr>
              <a:t>=</a:t>
            </a:r>
            <a:r>
              <a:rPr sz="2282" b="1" spc="19" baseline="-2824" dirty="0">
                <a:latin typeface="Arial"/>
                <a:cs typeface="Arial"/>
              </a:rPr>
              <a:t> </a:t>
            </a:r>
            <a:r>
              <a:rPr sz="2282" b="1" baseline="-2824" dirty="0">
                <a:latin typeface="Arial"/>
                <a:cs typeface="Arial"/>
              </a:rPr>
              <a:t>-</a:t>
            </a:r>
            <a:r>
              <a:rPr sz="2282" b="1" spc="42" baseline="-2824" dirty="0">
                <a:latin typeface="Arial"/>
                <a:cs typeface="Arial"/>
              </a:rPr>
              <a:t>49</a:t>
            </a:r>
            <a:endParaRPr sz="2282" baseline="-2824" dirty="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630042" y="3804368"/>
          <a:ext cx="2591008" cy="323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553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653313" y="4086915"/>
            <a:ext cx="3043256" cy="41929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89399">
              <a:lnSpc>
                <a:spcPts val="1529"/>
              </a:lnSpc>
              <a:spcBef>
                <a:spcPts val="70"/>
              </a:spcBef>
              <a:tabLst>
                <a:tab pos="413267" algn="l"/>
                <a:tab pos="737461" algn="l"/>
                <a:tab pos="1061329" algn="l"/>
                <a:tab pos="1385196" algn="l"/>
                <a:tab pos="1709391" algn="l"/>
                <a:tab pos="2033258" algn="l"/>
                <a:tab pos="2357453" algn="l"/>
              </a:tabLst>
            </a:pP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r>
              <a:rPr sz="1341" dirty="0">
                <a:latin typeface="Trebuchet MS"/>
                <a:cs typeface="Trebuchet MS"/>
              </a:rPr>
              <a:t>	</a:t>
            </a:r>
            <a:r>
              <a:rPr sz="1341" spc="85" dirty="0">
                <a:latin typeface="Trebuchet MS"/>
                <a:cs typeface="Trebuchet MS"/>
              </a:rPr>
              <a:t>×</a:t>
            </a:r>
            <a:endParaRPr sz="1341">
              <a:latin typeface="Trebuchet MS"/>
              <a:cs typeface="Trebuchet MS"/>
            </a:endParaRPr>
          </a:p>
          <a:p>
            <a:pPr marL="26198">
              <a:lnSpc>
                <a:spcPts val="1746"/>
              </a:lnSpc>
            </a:pPr>
            <a:r>
              <a:rPr sz="1341" b="1" spc="39" dirty="0">
                <a:latin typeface="Arial"/>
                <a:cs typeface="Arial"/>
              </a:rPr>
              <a:t>-</a:t>
            </a:r>
            <a:r>
              <a:rPr sz="1341" b="1" spc="44" dirty="0">
                <a:latin typeface="Arial"/>
                <a:cs typeface="Arial"/>
              </a:rPr>
              <a:t>2</a:t>
            </a:r>
            <a:r>
              <a:rPr sz="1354" b="1" spc="65" baseline="20634" dirty="0">
                <a:latin typeface="Arial"/>
                <a:cs typeface="Arial"/>
              </a:rPr>
              <a:t>7</a:t>
            </a:r>
            <a:r>
              <a:rPr sz="2011" spc="65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6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5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0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4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3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2</a:t>
            </a:r>
            <a:r>
              <a:rPr sz="1354" b="1" spc="-11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1</a:t>
            </a:r>
            <a:r>
              <a:rPr sz="1354" b="1" spc="-15" baseline="20634" dirty="0">
                <a:latin typeface="Arial"/>
                <a:cs typeface="Arial"/>
              </a:rPr>
              <a:t> </a:t>
            </a:r>
            <a:r>
              <a:rPr sz="2011" spc="166" baseline="1068" dirty="0">
                <a:latin typeface="Trebuchet MS"/>
                <a:cs typeface="Trebuchet MS"/>
              </a:rPr>
              <a:t>+</a:t>
            </a:r>
            <a:r>
              <a:rPr sz="2011" spc="-243" baseline="1068" dirty="0">
                <a:latin typeface="Trebuchet MS"/>
                <a:cs typeface="Trebuchet MS"/>
              </a:rPr>
              <a:t> </a:t>
            </a:r>
            <a:r>
              <a:rPr sz="1341" b="1" dirty="0">
                <a:latin typeface="Arial"/>
                <a:cs typeface="Arial"/>
              </a:rPr>
              <a:t>2</a:t>
            </a:r>
            <a:r>
              <a:rPr sz="1354" b="1" baseline="20634" dirty="0">
                <a:latin typeface="Arial"/>
                <a:cs typeface="Arial"/>
              </a:rPr>
              <a:t>0</a:t>
            </a:r>
            <a:r>
              <a:rPr sz="1354" b="1" spc="367" baseline="20634" dirty="0">
                <a:latin typeface="Arial"/>
                <a:cs typeface="Arial"/>
              </a:rPr>
              <a:t> </a:t>
            </a:r>
            <a:r>
              <a:rPr sz="2282" b="1" spc="39" baseline="-2824" dirty="0">
                <a:latin typeface="Arial"/>
                <a:cs typeface="Arial"/>
              </a:rPr>
              <a:t>=</a:t>
            </a:r>
            <a:r>
              <a:rPr sz="2282" b="1" spc="19" baseline="-2824" dirty="0">
                <a:latin typeface="Arial"/>
                <a:cs typeface="Arial"/>
              </a:rPr>
              <a:t> </a:t>
            </a:r>
            <a:r>
              <a:rPr sz="2282" b="1" baseline="-2824" dirty="0">
                <a:latin typeface="Arial"/>
                <a:cs typeface="Arial"/>
              </a:rPr>
              <a:t>-</a:t>
            </a:r>
            <a:r>
              <a:rPr sz="2282" b="1" spc="42" baseline="-2824" dirty="0">
                <a:latin typeface="Arial"/>
                <a:cs typeface="Arial"/>
              </a:rPr>
              <a:t>49</a:t>
            </a:r>
            <a:endParaRPr sz="2282" baseline="-2824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62DD4-BC3F-C217-3525-C288B835B213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Number Representation</a:t>
            </a:r>
            <a:endParaRPr spc="-23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8</a:t>
            </a:fld>
            <a:endParaRPr spc="23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4078A877-2ABB-88B7-155F-03935BEFC6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Fixed/Floating-point number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D548830-85AD-5D61-E6F0-7C8CE12A3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266" y="946501"/>
            <a:ext cx="4705246" cy="4595072"/>
          </a:xfrm>
        </p:spPr>
        <p:txBody>
          <a:bodyPr/>
          <a:lstStyle/>
          <a:p>
            <a:r>
              <a:rPr lang="en" altLang="ko-KR" spc="-75" dirty="0"/>
              <a:t>Fixed-</a:t>
            </a:r>
            <a:r>
              <a:rPr lang="en" altLang="ko-KR" spc="-49" dirty="0"/>
              <a:t>Point</a:t>
            </a:r>
            <a:r>
              <a:rPr lang="en" altLang="ko-KR" spc="-199" dirty="0"/>
              <a:t> </a:t>
            </a:r>
            <a:r>
              <a:rPr lang="en" altLang="ko-KR" spc="-23" dirty="0"/>
              <a:t>Number</a:t>
            </a:r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154ABF8-9E45-3269-2308-7D1002F9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11" y="1825781"/>
            <a:ext cx="4029409" cy="254408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9B6790DC-4744-BBB9-AFFB-B787A80D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633" y="1663642"/>
            <a:ext cx="5579561" cy="2868366"/>
          </a:xfrm>
          <a:prstGeom prst="rect">
            <a:avLst/>
          </a:prstGeom>
        </p:spPr>
      </p:pic>
      <p:sp>
        <p:nvSpPr>
          <p:cNvPr id="3" name="텍스트 개체 틀 16">
            <a:extLst>
              <a:ext uri="{FF2B5EF4-FFF2-40B4-BE49-F238E27FC236}">
                <a16:creationId xmlns:a16="http://schemas.microsoft.com/office/drawing/2014/main" id="{E5465229-1D61-8585-1F5E-7A30AFE3B2C6}"/>
              </a:ext>
            </a:extLst>
          </p:cNvPr>
          <p:cNvSpPr txBox="1">
            <a:spLocks/>
          </p:cNvSpPr>
          <p:nvPr/>
        </p:nvSpPr>
        <p:spPr>
          <a:xfrm>
            <a:off x="4627565" y="938404"/>
            <a:ext cx="4705246" cy="4595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>
            <a:lvl1pPr marL="205582" marR="0" indent="-196644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marR="0" indent="-198432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marR="0" indent="-200219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marR="0" indent="-148377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marR="0" indent="-159103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  <a:lvl6pPr marL="357534" marR="0" indent="2402626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6pPr>
            <a:lvl7pPr marL="357534" marR="0" indent="291747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7pPr>
            <a:lvl8pPr marL="357534" marR="0" indent="343232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8pPr>
            <a:lvl9pPr marL="357534" marR="0" indent="394717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9pPr>
          </a:lstStyle>
          <a:p>
            <a:r>
              <a:rPr lang="en" altLang="ko-KR" kern="0" spc="-75" dirty="0"/>
              <a:t>Floating-</a:t>
            </a:r>
            <a:r>
              <a:rPr lang="en" altLang="ko-KR" kern="0" spc="-49" dirty="0"/>
              <a:t>Point</a:t>
            </a:r>
            <a:r>
              <a:rPr lang="en" altLang="ko-KR" kern="0" spc="-199" dirty="0"/>
              <a:t> </a:t>
            </a:r>
            <a:r>
              <a:rPr lang="en" altLang="ko-KR" kern="0" spc="-23" dirty="0"/>
              <a:t>Number</a:t>
            </a:r>
            <a:endParaRPr lang="ko-KR" altLang="en-US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7A1E5-EC22-3488-A3CF-2328FF05B39F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1D338-74B7-670D-09C5-73F669B9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Quantization – Number Representation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2CD0EC-55F7-3167-55C3-027C6947B4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kern="0" spc="-75" dirty="0"/>
              <a:t>Floating-</a:t>
            </a:r>
            <a:r>
              <a:rPr lang="en" altLang="ko-KR" kern="0" spc="-49" dirty="0"/>
              <a:t>Point</a:t>
            </a:r>
            <a:r>
              <a:rPr lang="en" altLang="ko-KR" kern="0" spc="-199" dirty="0"/>
              <a:t> </a:t>
            </a:r>
            <a:r>
              <a:rPr lang="en" altLang="ko-KR" kern="0" spc="-23" dirty="0"/>
              <a:t>Number</a:t>
            </a:r>
            <a:endParaRPr lang="ko-KR" altLang="en-US" kern="0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1AC121-77E6-A994-1A5A-6EE87D0FE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Exponent Width → Range; Fraction Width → Precision</a:t>
            </a:r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r>
              <a:rPr kumimoji="1" lang="en" altLang="ko-KR" dirty="0"/>
              <a:t>INT4 and FP4</a:t>
            </a: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4E728F-173F-A0F8-2AD1-74783510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11"/>
          <a:stretch/>
        </p:blipFill>
        <p:spPr>
          <a:xfrm>
            <a:off x="835768" y="1393308"/>
            <a:ext cx="5651659" cy="14741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308B70-872A-E79F-B11C-8B265397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8" y="3346473"/>
            <a:ext cx="4924009" cy="2195100"/>
          </a:xfrm>
          <a:prstGeom prst="rect">
            <a:avLst/>
          </a:prstGeom>
        </p:spPr>
      </p:pic>
      <p:sp>
        <p:nvSpPr>
          <p:cNvPr id="7" name="object 17">
            <a:extLst>
              <a:ext uri="{FF2B5EF4-FFF2-40B4-BE49-F238E27FC236}">
                <a16:creationId xmlns:a16="http://schemas.microsoft.com/office/drawing/2014/main" id="{A7101F8C-514E-FDFB-7366-9ABD07DB7CC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9</a:t>
            </a:fld>
            <a:endParaRPr spc="23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F1B3E-77F7-F30B-EADC-664B5F70498D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281021464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Linear/Non-linear</a:t>
            </a:r>
            <a:endParaRPr spc="-72"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10</a:t>
            </a:fld>
            <a:endParaRPr spc="23" dirty="0"/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A5A6BAA6-860A-B93C-9281-5B3D8F96B1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77" dirty="0"/>
              <a:t>Linear</a:t>
            </a:r>
            <a:r>
              <a:rPr lang="en" altLang="ko-KR" spc="-170" dirty="0"/>
              <a:t> </a:t>
            </a:r>
            <a:r>
              <a:rPr lang="en" altLang="ko-KR" spc="-72" dirty="0"/>
              <a:t>Quantization</a:t>
            </a:r>
            <a:endParaRPr lang="ko-KR" altLang="en-US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25585"/>
              </p:ext>
            </p:extLst>
          </p:nvPr>
        </p:nvGraphicFramePr>
        <p:xfrm>
          <a:off x="2967289" y="3993604"/>
          <a:ext cx="1552248" cy="1279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199">
                <a:tc>
                  <a:txBody>
                    <a:bodyPr/>
                    <a:lstStyle/>
                    <a:p>
                      <a:pPr algn="ctr">
                        <a:lnSpc>
                          <a:spcPts val="3095"/>
                        </a:lnSpc>
                        <a:spcBef>
                          <a:spcPts val="335"/>
                        </a:spcBef>
                      </a:pPr>
                      <a:r>
                        <a:rPr sz="1300" b="1" spc="-10" dirty="0">
                          <a:latin typeface="Arial"/>
                          <a:cs typeface="Arial"/>
                        </a:rPr>
                        <a:t>Binary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1941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95"/>
                        </a:lnSpc>
                        <a:spcBef>
                          <a:spcPts val="335"/>
                        </a:spcBef>
                      </a:pPr>
                      <a:r>
                        <a:rPr sz="1300" b="1" spc="-10" dirty="0">
                          <a:latin typeface="Arial"/>
                          <a:cs typeface="Arial"/>
                        </a:rPr>
                        <a:t>Decimal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19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70" dirty="0">
                          <a:latin typeface="Trebuchet MS"/>
                          <a:cs typeface="Trebuchet MS"/>
                        </a:rPr>
                        <a:t>00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70" dirty="0">
                          <a:latin typeface="Trebuchet MS"/>
                          <a:cs typeface="Trebuchet MS"/>
                        </a:rPr>
                        <a:t>11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6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70" dirty="0">
                          <a:latin typeface="Trebuchet MS"/>
                          <a:cs typeface="Trebuchet MS"/>
                        </a:rPr>
                        <a:t>10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6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300" spc="45" dirty="0">
                          <a:latin typeface="Trebuchet MS"/>
                          <a:cs typeface="Trebuchet MS"/>
                        </a:rPr>
                        <a:t>2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35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00242"/>
              </p:ext>
            </p:extLst>
          </p:nvPr>
        </p:nvGraphicFramePr>
        <p:xfrm>
          <a:off x="8283570" y="1593313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41811" y="1132982"/>
            <a:ext cx="941500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 marR="2620" indent="188950">
              <a:lnSpc>
                <a:spcPct val="100400"/>
              </a:lnSpc>
              <a:spcBef>
                <a:spcPts val="64"/>
              </a:spcBef>
            </a:pPr>
            <a:r>
              <a:rPr lang="en" sz="1341" spc="-5" dirty="0">
                <a:latin typeface="Trebuchet MS"/>
                <a:cs typeface="Trebuchet MS"/>
              </a:rPr>
              <a:t>W</a:t>
            </a:r>
            <a:r>
              <a:rPr sz="1341" spc="-5" dirty="0">
                <a:latin typeface="Trebuchet MS"/>
                <a:cs typeface="Trebuchet MS"/>
              </a:rPr>
              <a:t>eights</a:t>
            </a:r>
            <a:br>
              <a:rPr lang="en-US" sz="1341" spc="-5" dirty="0">
                <a:latin typeface="Trebuchet MS"/>
                <a:cs typeface="Trebuchet MS"/>
              </a:rPr>
            </a:br>
            <a:r>
              <a:rPr sz="1341" spc="-21" dirty="0">
                <a:latin typeface="Trebuchet MS"/>
                <a:cs typeface="Trebuchet MS"/>
              </a:rPr>
              <a:t>(32-</a:t>
            </a:r>
            <a:r>
              <a:rPr sz="1341" dirty="0">
                <a:latin typeface="Trebuchet MS"/>
                <a:cs typeface="Trebuchet MS"/>
              </a:rPr>
              <a:t>bit</a:t>
            </a:r>
            <a:r>
              <a:rPr sz="1341" spc="-67" dirty="0">
                <a:latin typeface="Trebuchet MS"/>
                <a:cs typeface="Trebuchet MS"/>
              </a:rPr>
              <a:t> </a:t>
            </a:r>
            <a:r>
              <a:rPr sz="1341" spc="-62" dirty="0">
                <a:latin typeface="Trebuchet MS"/>
                <a:cs typeface="Trebuchet MS"/>
              </a:rPr>
              <a:t>float)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0416" y="1132982"/>
            <a:ext cx="1417981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0582" marR="2620" indent="-54360">
              <a:lnSpc>
                <a:spcPct val="100400"/>
              </a:lnSpc>
              <a:spcBef>
                <a:spcPts val="64"/>
              </a:spcBef>
            </a:pPr>
            <a:r>
              <a:rPr sz="1341" dirty="0">
                <a:latin typeface="Trebuchet MS"/>
                <a:cs typeface="Trebuchet MS"/>
              </a:rPr>
              <a:t>quantized</a:t>
            </a:r>
            <a:r>
              <a:rPr sz="1341" spc="-26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weights </a:t>
            </a:r>
            <a:r>
              <a:rPr sz="1341" spc="-31" dirty="0">
                <a:latin typeface="Trebuchet MS"/>
                <a:cs typeface="Trebuchet MS"/>
              </a:rPr>
              <a:t>(2-</a:t>
            </a:r>
            <a:r>
              <a:rPr sz="1341" spc="-5" dirty="0">
                <a:latin typeface="Trebuchet MS"/>
                <a:cs typeface="Trebuchet MS"/>
              </a:rPr>
              <a:t>bit</a:t>
            </a:r>
            <a:r>
              <a:rPr sz="1341" spc="-52" dirty="0">
                <a:latin typeface="Trebuchet MS"/>
                <a:cs typeface="Trebuchet MS"/>
              </a:rPr>
              <a:t> </a:t>
            </a:r>
            <a:r>
              <a:rPr sz="1341" spc="36" dirty="0">
                <a:latin typeface="Trebuchet MS"/>
                <a:cs typeface="Trebuchet MS"/>
              </a:rPr>
              <a:t>signed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10" dirty="0">
                <a:latin typeface="Trebuchet MS"/>
                <a:cs typeface="Trebuchet MS"/>
              </a:rPr>
              <a:t>int)</a:t>
            </a:r>
            <a:endParaRPr sz="1341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791" y="1132982"/>
            <a:ext cx="941500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 marR="2620" indent="262303">
              <a:lnSpc>
                <a:spcPct val="100400"/>
              </a:lnSpc>
              <a:spcBef>
                <a:spcPts val="64"/>
              </a:spcBef>
            </a:pPr>
            <a:r>
              <a:rPr sz="1341" u="sng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scale</a:t>
            </a:r>
            <a:r>
              <a:rPr sz="1341" spc="-5" dirty="0">
                <a:latin typeface="Trebuchet MS"/>
                <a:cs typeface="Trebuchet MS"/>
              </a:rPr>
              <a:t> </a:t>
            </a:r>
            <a:br>
              <a:rPr lang="en-US" sz="1341" spc="-5" dirty="0">
                <a:latin typeface="Trebuchet MS"/>
                <a:cs typeface="Trebuchet MS"/>
              </a:rPr>
            </a:br>
            <a:r>
              <a:rPr sz="1341" spc="-21" dirty="0">
                <a:latin typeface="Trebuchet MS"/>
                <a:cs typeface="Trebuchet MS"/>
              </a:rPr>
              <a:t>(32-</a:t>
            </a:r>
            <a:r>
              <a:rPr sz="1341" dirty="0">
                <a:latin typeface="Trebuchet MS"/>
                <a:cs typeface="Trebuchet MS"/>
              </a:rPr>
              <a:t>bit</a:t>
            </a:r>
            <a:r>
              <a:rPr sz="1341" spc="-67" dirty="0">
                <a:latin typeface="Trebuchet MS"/>
                <a:cs typeface="Trebuchet MS"/>
              </a:rPr>
              <a:t> </a:t>
            </a:r>
            <a:r>
              <a:rPr sz="1341" spc="-62" dirty="0">
                <a:latin typeface="Trebuchet MS"/>
                <a:cs typeface="Trebuchet MS"/>
              </a:rPr>
              <a:t>float)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2987" y="1132982"/>
            <a:ext cx="1261446" cy="421605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34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zero</a:t>
            </a:r>
            <a:r>
              <a:rPr sz="1341" u="sng" spc="-52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341" u="sng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point</a:t>
            </a:r>
            <a:endParaRPr sz="1341">
              <a:latin typeface="Trebuchet MS"/>
              <a:cs typeface="Trebuchet MS"/>
            </a:endParaRPr>
          </a:p>
          <a:p>
            <a:pPr algn="ctr">
              <a:spcBef>
                <a:spcPts val="8"/>
              </a:spcBef>
            </a:pPr>
            <a:r>
              <a:rPr sz="1341" spc="-31" dirty="0">
                <a:latin typeface="Trebuchet MS"/>
                <a:cs typeface="Trebuchet MS"/>
              </a:rPr>
              <a:t>(2-</a:t>
            </a:r>
            <a:r>
              <a:rPr sz="1341" spc="-5" dirty="0">
                <a:latin typeface="Trebuchet MS"/>
                <a:cs typeface="Trebuchet MS"/>
              </a:rPr>
              <a:t>bit</a:t>
            </a:r>
            <a:r>
              <a:rPr sz="1341" spc="-52" dirty="0">
                <a:latin typeface="Trebuchet MS"/>
                <a:cs typeface="Trebuchet MS"/>
              </a:rPr>
              <a:t> </a:t>
            </a:r>
            <a:r>
              <a:rPr sz="1341" spc="36" dirty="0">
                <a:latin typeface="Trebuchet MS"/>
                <a:cs typeface="Trebuchet MS"/>
              </a:rPr>
              <a:t>signed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52" dirty="0">
                <a:latin typeface="Trebuchet MS"/>
                <a:cs typeface="Trebuchet MS"/>
              </a:rPr>
              <a:t>int)</a:t>
            </a:r>
            <a:endParaRPr sz="1341">
              <a:latin typeface="Trebuchet MS"/>
              <a:cs typeface="Trebuchet M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81259"/>
              </p:ext>
            </p:extLst>
          </p:nvPr>
        </p:nvGraphicFramePr>
        <p:xfrm>
          <a:off x="345598" y="1593313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48650"/>
              </p:ext>
            </p:extLst>
          </p:nvPr>
        </p:nvGraphicFramePr>
        <p:xfrm>
          <a:off x="2878189" y="1593313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2222774" y="2347320"/>
            <a:ext cx="327806" cy="230872"/>
            <a:chOff x="4310092" y="4770865"/>
            <a:chExt cx="635635" cy="447675"/>
          </a:xfrm>
        </p:grpSpPr>
        <p:sp>
          <p:nvSpPr>
            <p:cNvPr id="13" name="object 13"/>
            <p:cNvSpPr/>
            <p:nvPr/>
          </p:nvSpPr>
          <p:spPr>
            <a:xfrm>
              <a:off x="4325799" y="4786571"/>
              <a:ext cx="604520" cy="416559"/>
            </a:xfrm>
            <a:custGeom>
              <a:avLst/>
              <a:gdLst/>
              <a:ahLst/>
              <a:cxnLst/>
              <a:rect l="l" t="t" r="r" b="b"/>
              <a:pathLst>
                <a:path w="604520" h="416560">
                  <a:moveTo>
                    <a:pt x="287590" y="0"/>
                  </a:moveTo>
                  <a:lnTo>
                    <a:pt x="287590" y="113376"/>
                  </a:lnTo>
                  <a:lnTo>
                    <a:pt x="0" y="113376"/>
                  </a:lnTo>
                  <a:lnTo>
                    <a:pt x="0" y="302704"/>
                  </a:lnTo>
                  <a:lnTo>
                    <a:pt x="287590" y="302704"/>
                  </a:lnTo>
                  <a:lnTo>
                    <a:pt x="287590" y="416080"/>
                  </a:lnTo>
                  <a:lnTo>
                    <a:pt x="603925" y="208040"/>
                  </a:lnTo>
                  <a:lnTo>
                    <a:pt x="287590" y="0"/>
                  </a:lnTo>
                  <a:close/>
                </a:path>
              </a:pathLst>
            </a:custGeom>
            <a:solidFill>
              <a:srgbClr val="CFE2F3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325799" y="4786571"/>
              <a:ext cx="604520" cy="416559"/>
            </a:xfrm>
            <a:custGeom>
              <a:avLst/>
              <a:gdLst/>
              <a:ahLst/>
              <a:cxnLst/>
              <a:rect l="l" t="t" r="r" b="b"/>
              <a:pathLst>
                <a:path w="604520" h="416560">
                  <a:moveTo>
                    <a:pt x="287589" y="302704"/>
                  </a:moveTo>
                  <a:lnTo>
                    <a:pt x="287589" y="416080"/>
                  </a:lnTo>
                  <a:lnTo>
                    <a:pt x="603924" y="208040"/>
                  </a:lnTo>
                  <a:lnTo>
                    <a:pt x="287589" y="0"/>
                  </a:lnTo>
                  <a:lnTo>
                    <a:pt x="287589" y="113376"/>
                  </a:lnTo>
                  <a:lnTo>
                    <a:pt x="0" y="113376"/>
                  </a:lnTo>
                  <a:lnTo>
                    <a:pt x="0" y="302704"/>
                  </a:lnTo>
                  <a:lnTo>
                    <a:pt x="287589" y="302704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15" name="object 15"/>
          <p:cNvSpPr/>
          <p:nvPr/>
        </p:nvSpPr>
        <p:spPr>
          <a:xfrm>
            <a:off x="6310050" y="2341081"/>
            <a:ext cx="243316" cy="243316"/>
          </a:xfrm>
          <a:custGeom>
            <a:avLst/>
            <a:gdLst/>
            <a:ahLst/>
            <a:cxnLst/>
            <a:rect l="l" t="t" r="r" b="b"/>
            <a:pathLst>
              <a:path w="471804" h="471804">
                <a:moveTo>
                  <a:pt x="75086" y="264"/>
                </a:moveTo>
                <a:lnTo>
                  <a:pt x="73777" y="264"/>
                </a:lnTo>
                <a:lnTo>
                  <a:pt x="73128" y="500"/>
                </a:lnTo>
                <a:lnTo>
                  <a:pt x="0" y="73633"/>
                </a:lnTo>
                <a:lnTo>
                  <a:pt x="0" y="75238"/>
                </a:lnTo>
                <a:lnTo>
                  <a:pt x="160089" y="235301"/>
                </a:lnTo>
                <a:lnTo>
                  <a:pt x="160064" y="236388"/>
                </a:lnTo>
                <a:lnTo>
                  <a:pt x="0" y="396451"/>
                </a:lnTo>
                <a:lnTo>
                  <a:pt x="0" y="398056"/>
                </a:lnTo>
                <a:lnTo>
                  <a:pt x="73631" y="471690"/>
                </a:lnTo>
                <a:lnTo>
                  <a:pt x="75233" y="471690"/>
                </a:lnTo>
                <a:lnTo>
                  <a:pt x="235301" y="311602"/>
                </a:lnTo>
                <a:lnTo>
                  <a:pt x="386828" y="311602"/>
                </a:lnTo>
                <a:lnTo>
                  <a:pt x="311603" y="236388"/>
                </a:lnTo>
                <a:lnTo>
                  <a:pt x="311603" y="235301"/>
                </a:lnTo>
                <a:lnTo>
                  <a:pt x="386817" y="160088"/>
                </a:lnTo>
                <a:lnTo>
                  <a:pt x="235322" y="160088"/>
                </a:lnTo>
                <a:lnTo>
                  <a:pt x="75735" y="500"/>
                </a:lnTo>
                <a:lnTo>
                  <a:pt x="75086" y="264"/>
                </a:lnTo>
                <a:close/>
              </a:path>
              <a:path w="471804" h="471804">
                <a:moveTo>
                  <a:pt x="386828" y="311602"/>
                </a:moveTo>
                <a:lnTo>
                  <a:pt x="236401" y="311602"/>
                </a:lnTo>
                <a:lnTo>
                  <a:pt x="396448" y="471690"/>
                </a:lnTo>
                <a:lnTo>
                  <a:pt x="398061" y="471690"/>
                </a:lnTo>
                <a:lnTo>
                  <a:pt x="471692" y="398056"/>
                </a:lnTo>
                <a:lnTo>
                  <a:pt x="471692" y="396451"/>
                </a:lnTo>
                <a:lnTo>
                  <a:pt x="386828" y="311602"/>
                </a:lnTo>
                <a:close/>
              </a:path>
              <a:path w="471804" h="471804">
                <a:moveTo>
                  <a:pt x="398061" y="0"/>
                </a:moveTo>
                <a:lnTo>
                  <a:pt x="396448" y="0"/>
                </a:lnTo>
                <a:lnTo>
                  <a:pt x="236390" y="160088"/>
                </a:lnTo>
                <a:lnTo>
                  <a:pt x="386817" y="160088"/>
                </a:lnTo>
                <a:lnTo>
                  <a:pt x="471681" y="75238"/>
                </a:lnTo>
                <a:lnTo>
                  <a:pt x="471681" y="73633"/>
                </a:lnTo>
                <a:lnTo>
                  <a:pt x="39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16" name="object 16"/>
          <p:cNvSpPr txBox="1"/>
          <p:nvPr/>
        </p:nvSpPr>
        <p:spPr>
          <a:xfrm>
            <a:off x="6798576" y="2241155"/>
            <a:ext cx="685740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b="1" spc="-10" dirty="0">
                <a:solidFill>
                  <a:srgbClr val="A31F34"/>
                </a:solidFill>
                <a:latin typeface="Arial"/>
                <a:cs typeface="Arial"/>
              </a:rPr>
              <a:t>1.07</a:t>
            </a:r>
            <a:endParaRPr sz="2707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0733" y="2241155"/>
            <a:ext cx="346145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b="1" spc="72" dirty="0">
                <a:solidFill>
                  <a:srgbClr val="A31F34"/>
                </a:solidFill>
                <a:latin typeface="Arial"/>
                <a:cs typeface="Arial"/>
              </a:rPr>
              <a:t>-</a:t>
            </a:r>
            <a:r>
              <a:rPr sz="2707" b="1" spc="93" dirty="0">
                <a:solidFill>
                  <a:srgbClr val="A31F34"/>
                </a:solidFill>
                <a:latin typeface="Arial"/>
                <a:cs typeface="Arial"/>
              </a:rPr>
              <a:t>1</a:t>
            </a:r>
            <a:endParaRPr sz="2707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53987" y="2182598"/>
            <a:ext cx="125097" cy="53014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3404" spc="-402" dirty="0">
                <a:latin typeface="Trebuchet MS"/>
                <a:cs typeface="Trebuchet MS"/>
              </a:rPr>
              <a:t>(</a:t>
            </a:r>
            <a:endParaRPr sz="3404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39795" y="2182598"/>
            <a:ext cx="125097" cy="53014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3404" spc="-402" dirty="0">
                <a:latin typeface="Trebuchet MS"/>
                <a:cs typeface="Trebuchet MS"/>
              </a:rPr>
              <a:t>)</a:t>
            </a:r>
            <a:endParaRPr sz="3404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42335" y="2462709"/>
            <a:ext cx="243316" cy="0"/>
          </a:xfrm>
          <a:custGeom>
            <a:avLst/>
            <a:gdLst/>
            <a:ahLst/>
            <a:cxnLst/>
            <a:rect l="l" t="t" r="r" b="b"/>
            <a:pathLst>
              <a:path w="471804">
                <a:moveTo>
                  <a:pt x="0" y="0"/>
                </a:moveTo>
                <a:lnTo>
                  <a:pt x="471189" y="0"/>
                </a:lnTo>
              </a:path>
            </a:pathLst>
          </a:custGeom>
          <a:ln w="94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1" name="object 21"/>
          <p:cNvSpPr txBox="1"/>
          <p:nvPr/>
        </p:nvSpPr>
        <p:spPr>
          <a:xfrm>
            <a:off x="7747362" y="2182598"/>
            <a:ext cx="272462" cy="53014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3404" spc="222" dirty="0">
                <a:latin typeface="Trebuchet MS"/>
                <a:cs typeface="Trebuchet MS"/>
              </a:rPr>
              <a:t>=</a:t>
            </a:r>
            <a:endParaRPr sz="3404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13772" y="1132982"/>
            <a:ext cx="1731705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377572" marR="2620" indent="-371350">
              <a:lnSpc>
                <a:spcPct val="100400"/>
              </a:lnSpc>
              <a:spcBef>
                <a:spcPts val="64"/>
              </a:spcBef>
            </a:pPr>
            <a:r>
              <a:rPr sz="1341" dirty="0">
                <a:latin typeface="Trebuchet MS"/>
                <a:cs typeface="Trebuchet MS"/>
              </a:rPr>
              <a:t>reconstructed</a:t>
            </a:r>
            <a:r>
              <a:rPr sz="1341" spc="31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weights </a:t>
            </a:r>
            <a:r>
              <a:rPr sz="1341" spc="-21" dirty="0">
                <a:latin typeface="Trebuchet MS"/>
                <a:cs typeface="Trebuchet MS"/>
              </a:rPr>
              <a:t>(32-</a:t>
            </a:r>
            <a:r>
              <a:rPr sz="1341" dirty="0">
                <a:latin typeface="Trebuchet MS"/>
                <a:cs typeface="Trebuchet MS"/>
              </a:rPr>
              <a:t>bit</a:t>
            </a:r>
            <a:r>
              <a:rPr sz="1341" spc="-67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float)</a:t>
            </a:r>
            <a:endParaRPr sz="1341">
              <a:latin typeface="Trebuchet MS"/>
              <a:cs typeface="Trebuchet MS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42779"/>
              </p:ext>
            </p:extLst>
          </p:nvPr>
        </p:nvGraphicFramePr>
        <p:xfrm>
          <a:off x="8283570" y="3720905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0.41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0.16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0.22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0.27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0.46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8455792" y="3443352"/>
            <a:ext cx="1555553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spc="-10" dirty="0">
                <a:latin typeface="Trebuchet MS"/>
                <a:cs typeface="Trebuchet MS"/>
              </a:rPr>
              <a:t>quantization</a:t>
            </a:r>
            <a:r>
              <a:rPr sz="1341" spc="-54" dirty="0">
                <a:latin typeface="Trebuchet MS"/>
                <a:cs typeface="Trebuchet MS"/>
              </a:rPr>
              <a:t> </a:t>
            </a:r>
            <a:r>
              <a:rPr sz="1341" spc="-23" dirty="0">
                <a:latin typeface="Trebuchet MS"/>
                <a:cs typeface="Trebuchet MS"/>
              </a:rPr>
              <a:t>error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0734" y="3216746"/>
            <a:ext cx="2319201" cy="453212"/>
          </a:xfrm>
          <a:prstGeom prst="rect">
            <a:avLst/>
          </a:prstGeom>
        </p:spPr>
        <p:txBody>
          <a:bodyPr vert="horz" wrap="square" lIns="0" tIns="17029" rIns="0" bIns="0" rtlCol="0">
            <a:spAutoFit/>
          </a:bodyPr>
          <a:lstStyle/>
          <a:p>
            <a:pPr marL="6549" marR="2620" indent="343843">
              <a:lnSpc>
                <a:spcPts val="1702"/>
              </a:lnSpc>
              <a:spcBef>
                <a:spcPts val="134"/>
              </a:spcBef>
            </a:pPr>
            <a:r>
              <a:rPr sz="1444" dirty="0">
                <a:solidFill>
                  <a:srgbClr val="5E5E5E"/>
                </a:solidFill>
                <a:latin typeface="Trebuchet MS"/>
                <a:cs typeface="Trebuchet MS"/>
              </a:rPr>
              <a:t>we</a:t>
            </a:r>
            <a:r>
              <a:rPr sz="1444" spc="-41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spc="-80" dirty="0">
                <a:solidFill>
                  <a:srgbClr val="5E5E5E"/>
                </a:solidFill>
                <a:latin typeface="Trebuchet MS"/>
                <a:cs typeface="Trebuchet MS"/>
              </a:rPr>
              <a:t>will</a:t>
            </a:r>
            <a:r>
              <a:rPr sz="1444" spc="-34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spc="-26" dirty="0">
                <a:solidFill>
                  <a:srgbClr val="5E5E5E"/>
                </a:solidFill>
                <a:latin typeface="Trebuchet MS"/>
                <a:cs typeface="Trebuchet MS"/>
              </a:rPr>
              <a:t>learn</a:t>
            </a:r>
            <a:r>
              <a:rPr sz="1444" spc="-39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spc="26" dirty="0">
                <a:solidFill>
                  <a:srgbClr val="5E5E5E"/>
                </a:solidFill>
                <a:latin typeface="Trebuchet MS"/>
                <a:cs typeface="Trebuchet MS"/>
              </a:rPr>
              <a:t>how</a:t>
            </a:r>
            <a:r>
              <a:rPr sz="1444" spc="-36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spc="-13" dirty="0">
                <a:solidFill>
                  <a:srgbClr val="5E5E5E"/>
                </a:solidFill>
                <a:latin typeface="Trebuchet MS"/>
                <a:cs typeface="Trebuchet MS"/>
              </a:rPr>
              <a:t>to </a:t>
            </a:r>
            <a:r>
              <a:rPr sz="1444" spc="-26" dirty="0">
                <a:solidFill>
                  <a:srgbClr val="5E5E5E"/>
                </a:solidFill>
                <a:latin typeface="Trebuchet MS"/>
                <a:cs typeface="Trebuchet MS"/>
              </a:rPr>
              <a:t>determine</a:t>
            </a:r>
            <a:r>
              <a:rPr sz="1444" spc="-52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dirty="0">
                <a:solidFill>
                  <a:srgbClr val="5E5E5E"/>
                </a:solidFill>
                <a:latin typeface="Trebuchet MS"/>
                <a:cs typeface="Trebuchet MS"/>
              </a:rPr>
              <a:t>these</a:t>
            </a:r>
            <a:r>
              <a:rPr sz="1444" spc="-52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444" spc="-5" dirty="0">
                <a:solidFill>
                  <a:srgbClr val="5E5E5E"/>
                </a:solidFill>
                <a:latin typeface="Trebuchet MS"/>
                <a:cs typeface="Trebuchet MS"/>
              </a:rPr>
              <a:t>parameters</a:t>
            </a:r>
            <a:endParaRPr sz="1444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66867" y="2738367"/>
            <a:ext cx="193540" cy="362518"/>
            <a:chOff x="10794488" y="5529128"/>
            <a:chExt cx="375285" cy="702945"/>
          </a:xfrm>
        </p:grpSpPr>
        <p:sp>
          <p:nvSpPr>
            <p:cNvPr id="27" name="object 27"/>
            <p:cNvSpPr/>
            <p:nvPr/>
          </p:nvSpPr>
          <p:spPr>
            <a:xfrm>
              <a:off x="10804959" y="5539598"/>
              <a:ext cx="322580" cy="612775"/>
            </a:xfrm>
            <a:custGeom>
              <a:avLst/>
              <a:gdLst/>
              <a:ahLst/>
              <a:cxnLst/>
              <a:rect l="l" t="t" r="r" b="b"/>
              <a:pathLst>
                <a:path w="322579" h="612775">
                  <a:moveTo>
                    <a:pt x="0" y="0"/>
                  </a:moveTo>
                  <a:lnTo>
                    <a:pt x="317571" y="603106"/>
                  </a:lnTo>
                  <a:lnTo>
                    <a:pt x="322450" y="612371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1078060" y="6119288"/>
              <a:ext cx="91440" cy="112395"/>
            </a:xfrm>
            <a:custGeom>
              <a:avLst/>
              <a:gdLst/>
              <a:ahLst/>
              <a:cxnLst/>
              <a:rect l="l" t="t" r="r" b="b"/>
              <a:pathLst>
                <a:path w="91440" h="112395">
                  <a:moveTo>
                    <a:pt x="88939" y="0"/>
                  </a:moveTo>
                  <a:lnTo>
                    <a:pt x="0" y="46834"/>
                  </a:lnTo>
                  <a:lnTo>
                    <a:pt x="91306" y="112360"/>
                  </a:lnTo>
                  <a:lnTo>
                    <a:pt x="88939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6819" y="2738367"/>
            <a:ext cx="193540" cy="362518"/>
            <a:chOff x="13431518" y="5529128"/>
            <a:chExt cx="375285" cy="702945"/>
          </a:xfrm>
        </p:grpSpPr>
        <p:sp>
          <p:nvSpPr>
            <p:cNvPr id="30" name="object 30"/>
            <p:cNvSpPr/>
            <p:nvPr/>
          </p:nvSpPr>
          <p:spPr>
            <a:xfrm>
              <a:off x="13473475" y="5539598"/>
              <a:ext cx="322580" cy="612775"/>
            </a:xfrm>
            <a:custGeom>
              <a:avLst/>
              <a:gdLst/>
              <a:ahLst/>
              <a:cxnLst/>
              <a:rect l="l" t="t" r="r" b="b"/>
              <a:pathLst>
                <a:path w="322580" h="612775">
                  <a:moveTo>
                    <a:pt x="322450" y="0"/>
                  </a:moveTo>
                  <a:lnTo>
                    <a:pt x="4878" y="603106"/>
                  </a:lnTo>
                  <a:lnTo>
                    <a:pt x="0" y="612371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3431518" y="6119288"/>
              <a:ext cx="91440" cy="112395"/>
            </a:xfrm>
            <a:custGeom>
              <a:avLst/>
              <a:gdLst/>
              <a:ahLst/>
              <a:cxnLst/>
              <a:rect l="l" t="t" r="r" b="b"/>
              <a:pathLst>
                <a:path w="91440" h="112395">
                  <a:moveTo>
                    <a:pt x="2366" y="0"/>
                  </a:moveTo>
                  <a:lnTo>
                    <a:pt x="0" y="112360"/>
                  </a:lnTo>
                  <a:lnTo>
                    <a:pt x="91306" y="46834"/>
                  </a:lnTo>
                  <a:lnTo>
                    <a:pt x="2366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7FB7FA-31E3-A74C-6FCE-83273FDA500C}"/>
              </a:ext>
            </a:extLst>
          </p:cNvPr>
          <p:cNvSpPr txBox="1"/>
          <p:nvPr/>
        </p:nvSpPr>
        <p:spPr>
          <a:xfrm>
            <a:off x="5197447" y="5391903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Linear/Non-linear</a:t>
            </a:r>
            <a:endParaRPr spc="-64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11</a:t>
            </a:fld>
            <a:endParaRPr spc="23" dirty="0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F9FDDA6E-D285-D41E-608E-BAFD582854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77" dirty="0"/>
              <a:t>Linear</a:t>
            </a:r>
            <a:r>
              <a:rPr lang="en" altLang="ko-KR" spc="-168" dirty="0"/>
              <a:t> </a:t>
            </a:r>
            <a:r>
              <a:rPr lang="en" altLang="ko-KR" spc="-64" dirty="0"/>
              <a:t>Quantization</a:t>
            </a:r>
            <a:endParaRPr lang="ko-KR" alt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1649878" y="1235666"/>
            <a:ext cx="1330059" cy="4337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 marR="2620" indent="188950" algn="ctr">
              <a:lnSpc>
                <a:spcPct val="100400"/>
              </a:lnSpc>
              <a:spcBef>
                <a:spcPts val="64"/>
              </a:spcBef>
            </a:pPr>
            <a:r>
              <a:rPr sz="1341" spc="-5" dirty="0">
                <a:latin typeface="Trebuchet MS"/>
                <a:cs typeface="Trebuchet MS"/>
              </a:rPr>
              <a:t>weights </a:t>
            </a:r>
            <a:endParaRPr lang="en-US" sz="1341" spc="-5" dirty="0">
              <a:latin typeface="Trebuchet MS"/>
              <a:cs typeface="Trebuchet MS"/>
            </a:endParaRPr>
          </a:p>
          <a:p>
            <a:pPr marL="6549" marR="2620" indent="188950" algn="ctr">
              <a:lnSpc>
                <a:spcPct val="100400"/>
              </a:lnSpc>
              <a:spcBef>
                <a:spcPts val="64"/>
              </a:spcBef>
            </a:pPr>
            <a:r>
              <a:rPr sz="1341" spc="-21" dirty="0">
                <a:latin typeface="Trebuchet MS"/>
                <a:cs typeface="Trebuchet MS"/>
              </a:rPr>
              <a:t>(32-</a:t>
            </a:r>
            <a:r>
              <a:rPr sz="1341" dirty="0">
                <a:latin typeface="Trebuchet MS"/>
                <a:cs typeface="Trebuchet MS"/>
              </a:rPr>
              <a:t>bit</a:t>
            </a:r>
            <a:r>
              <a:rPr sz="1341" spc="-67" dirty="0">
                <a:latin typeface="Trebuchet MS"/>
                <a:cs typeface="Trebuchet MS"/>
              </a:rPr>
              <a:t> </a:t>
            </a:r>
            <a:r>
              <a:rPr sz="1341" spc="-62" dirty="0">
                <a:latin typeface="Trebuchet MS"/>
                <a:cs typeface="Trebuchet MS"/>
              </a:rPr>
              <a:t>float)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0716" y="1235666"/>
            <a:ext cx="1417981" cy="420944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0582" marR="2620" indent="-54360">
              <a:lnSpc>
                <a:spcPct val="100400"/>
              </a:lnSpc>
              <a:spcBef>
                <a:spcPts val="64"/>
              </a:spcBef>
            </a:pPr>
            <a:r>
              <a:rPr sz="1341" dirty="0">
                <a:latin typeface="Trebuchet MS"/>
                <a:cs typeface="Trebuchet MS"/>
              </a:rPr>
              <a:t>quantized</a:t>
            </a:r>
            <a:r>
              <a:rPr sz="1341" spc="-26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weights </a:t>
            </a:r>
            <a:r>
              <a:rPr sz="1341" spc="-31" dirty="0">
                <a:latin typeface="Trebuchet MS"/>
                <a:cs typeface="Trebuchet MS"/>
              </a:rPr>
              <a:t>(2-</a:t>
            </a:r>
            <a:r>
              <a:rPr sz="1341" spc="-5" dirty="0">
                <a:latin typeface="Trebuchet MS"/>
                <a:cs typeface="Trebuchet MS"/>
              </a:rPr>
              <a:t>bit</a:t>
            </a:r>
            <a:r>
              <a:rPr sz="1341" spc="-52" dirty="0">
                <a:latin typeface="Trebuchet MS"/>
                <a:cs typeface="Trebuchet MS"/>
              </a:rPr>
              <a:t> </a:t>
            </a:r>
            <a:r>
              <a:rPr sz="1341" spc="36" dirty="0">
                <a:latin typeface="Trebuchet MS"/>
                <a:cs typeface="Trebuchet MS"/>
              </a:rPr>
              <a:t>signed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10" dirty="0">
                <a:latin typeface="Trebuchet MS"/>
                <a:cs typeface="Trebuchet MS"/>
              </a:rPr>
              <a:t>int)</a:t>
            </a:r>
            <a:endParaRPr sz="1341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6313" y="1235666"/>
            <a:ext cx="1518004" cy="4337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 marR="2620" indent="262303" algn="ctr">
              <a:lnSpc>
                <a:spcPct val="100400"/>
              </a:lnSpc>
              <a:spcBef>
                <a:spcPts val="64"/>
              </a:spcBef>
            </a:pPr>
            <a:r>
              <a:rPr sz="1341" spc="-5" dirty="0">
                <a:latin typeface="Trebuchet MS"/>
                <a:cs typeface="Trebuchet MS"/>
              </a:rPr>
              <a:t>scale </a:t>
            </a:r>
            <a:endParaRPr lang="en-US" sz="1341" spc="-5" dirty="0">
              <a:latin typeface="Trebuchet MS"/>
              <a:cs typeface="Trebuchet MS"/>
            </a:endParaRPr>
          </a:p>
          <a:p>
            <a:pPr marL="6549" marR="2620" indent="262303" algn="ctr">
              <a:lnSpc>
                <a:spcPct val="100400"/>
              </a:lnSpc>
              <a:spcBef>
                <a:spcPts val="64"/>
              </a:spcBef>
            </a:pPr>
            <a:r>
              <a:rPr sz="1341" spc="-21" dirty="0">
                <a:latin typeface="Trebuchet MS"/>
                <a:cs typeface="Trebuchet MS"/>
              </a:rPr>
              <a:t>(32-</a:t>
            </a:r>
            <a:r>
              <a:rPr sz="1341" dirty="0">
                <a:latin typeface="Trebuchet MS"/>
                <a:cs typeface="Trebuchet MS"/>
              </a:rPr>
              <a:t>bit</a:t>
            </a:r>
            <a:r>
              <a:rPr sz="1341" spc="-67" dirty="0">
                <a:latin typeface="Trebuchet MS"/>
                <a:cs typeface="Trebuchet MS"/>
              </a:rPr>
              <a:t> </a:t>
            </a:r>
            <a:r>
              <a:rPr sz="1341" spc="-62" dirty="0">
                <a:latin typeface="Trebuchet MS"/>
                <a:cs typeface="Trebuchet MS"/>
              </a:rPr>
              <a:t>float)</a:t>
            </a:r>
            <a:endParaRPr sz="1341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3288" y="1235666"/>
            <a:ext cx="1261446" cy="421605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341" dirty="0">
                <a:latin typeface="Trebuchet MS"/>
                <a:cs typeface="Trebuchet MS"/>
              </a:rPr>
              <a:t>zero</a:t>
            </a:r>
            <a:r>
              <a:rPr sz="1341" spc="-52" dirty="0">
                <a:latin typeface="Trebuchet MS"/>
                <a:cs typeface="Trebuchet MS"/>
              </a:rPr>
              <a:t> </a:t>
            </a:r>
            <a:r>
              <a:rPr sz="1341" spc="-5" dirty="0">
                <a:latin typeface="Trebuchet MS"/>
                <a:cs typeface="Trebuchet MS"/>
              </a:rPr>
              <a:t>point</a:t>
            </a:r>
            <a:endParaRPr sz="1341">
              <a:latin typeface="Trebuchet MS"/>
              <a:cs typeface="Trebuchet MS"/>
            </a:endParaRPr>
          </a:p>
          <a:p>
            <a:pPr algn="ctr">
              <a:spcBef>
                <a:spcPts val="8"/>
              </a:spcBef>
            </a:pPr>
            <a:r>
              <a:rPr sz="1341" spc="-31" dirty="0">
                <a:latin typeface="Trebuchet MS"/>
                <a:cs typeface="Trebuchet MS"/>
              </a:rPr>
              <a:t>(2-</a:t>
            </a:r>
            <a:r>
              <a:rPr sz="1341" spc="-5" dirty="0">
                <a:latin typeface="Trebuchet MS"/>
                <a:cs typeface="Trebuchet MS"/>
              </a:rPr>
              <a:t>bit</a:t>
            </a:r>
            <a:r>
              <a:rPr sz="1341" spc="-52" dirty="0">
                <a:latin typeface="Trebuchet MS"/>
                <a:cs typeface="Trebuchet MS"/>
              </a:rPr>
              <a:t> </a:t>
            </a:r>
            <a:r>
              <a:rPr sz="1341" spc="36" dirty="0">
                <a:latin typeface="Trebuchet MS"/>
                <a:cs typeface="Trebuchet MS"/>
              </a:rPr>
              <a:t>signed</a:t>
            </a:r>
            <a:r>
              <a:rPr sz="1341" spc="-49" dirty="0">
                <a:latin typeface="Trebuchet MS"/>
                <a:cs typeface="Trebuchet MS"/>
              </a:rPr>
              <a:t> </a:t>
            </a:r>
            <a:r>
              <a:rPr sz="1341" spc="-52" dirty="0">
                <a:latin typeface="Trebuchet MS"/>
                <a:cs typeface="Trebuchet MS"/>
              </a:rPr>
              <a:t>int)</a:t>
            </a:r>
            <a:endParaRPr sz="1341">
              <a:latin typeface="Trebuchet MS"/>
              <a:cs typeface="Trebuchet M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44394" y="1819836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076985" y="1819836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9E6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5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35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423073" y="2575133"/>
            <a:ext cx="327806" cy="230872"/>
            <a:chOff x="6637544" y="4993254"/>
            <a:chExt cx="635635" cy="447675"/>
          </a:xfrm>
        </p:grpSpPr>
        <p:sp>
          <p:nvSpPr>
            <p:cNvPr id="11" name="object 11"/>
            <p:cNvSpPr/>
            <p:nvPr/>
          </p:nvSpPr>
          <p:spPr>
            <a:xfrm>
              <a:off x="6653250" y="5008960"/>
              <a:ext cx="604520" cy="416559"/>
            </a:xfrm>
            <a:custGeom>
              <a:avLst/>
              <a:gdLst/>
              <a:ahLst/>
              <a:cxnLst/>
              <a:rect l="l" t="t" r="r" b="b"/>
              <a:pathLst>
                <a:path w="604520" h="416560">
                  <a:moveTo>
                    <a:pt x="287590" y="0"/>
                  </a:moveTo>
                  <a:lnTo>
                    <a:pt x="287590" y="113375"/>
                  </a:lnTo>
                  <a:lnTo>
                    <a:pt x="0" y="113375"/>
                  </a:lnTo>
                  <a:lnTo>
                    <a:pt x="0" y="302703"/>
                  </a:lnTo>
                  <a:lnTo>
                    <a:pt x="287590" y="302703"/>
                  </a:lnTo>
                  <a:lnTo>
                    <a:pt x="287590" y="416080"/>
                  </a:lnTo>
                  <a:lnTo>
                    <a:pt x="603925" y="208039"/>
                  </a:lnTo>
                  <a:lnTo>
                    <a:pt x="287590" y="0"/>
                  </a:lnTo>
                  <a:close/>
                </a:path>
              </a:pathLst>
            </a:custGeom>
            <a:solidFill>
              <a:srgbClr val="CFE2F3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653250" y="5008960"/>
              <a:ext cx="604520" cy="416559"/>
            </a:xfrm>
            <a:custGeom>
              <a:avLst/>
              <a:gdLst/>
              <a:ahLst/>
              <a:cxnLst/>
              <a:rect l="l" t="t" r="r" b="b"/>
              <a:pathLst>
                <a:path w="604520" h="416560">
                  <a:moveTo>
                    <a:pt x="287589" y="302704"/>
                  </a:moveTo>
                  <a:lnTo>
                    <a:pt x="287589" y="416080"/>
                  </a:lnTo>
                  <a:lnTo>
                    <a:pt x="603924" y="208040"/>
                  </a:lnTo>
                  <a:lnTo>
                    <a:pt x="287589" y="0"/>
                  </a:lnTo>
                  <a:lnTo>
                    <a:pt x="287589" y="113376"/>
                  </a:lnTo>
                  <a:lnTo>
                    <a:pt x="0" y="113376"/>
                  </a:lnTo>
                  <a:lnTo>
                    <a:pt x="0" y="302704"/>
                  </a:lnTo>
                  <a:lnTo>
                    <a:pt x="287589" y="302704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13" name="object 13"/>
          <p:cNvSpPr/>
          <p:nvPr/>
        </p:nvSpPr>
        <p:spPr>
          <a:xfrm>
            <a:off x="7510346" y="2568894"/>
            <a:ext cx="243316" cy="243316"/>
          </a:xfrm>
          <a:custGeom>
            <a:avLst/>
            <a:gdLst/>
            <a:ahLst/>
            <a:cxnLst/>
            <a:rect l="l" t="t" r="r" b="b"/>
            <a:pathLst>
              <a:path w="471805" h="471804">
                <a:moveTo>
                  <a:pt x="75097" y="264"/>
                </a:moveTo>
                <a:lnTo>
                  <a:pt x="73788" y="264"/>
                </a:lnTo>
                <a:lnTo>
                  <a:pt x="73139" y="500"/>
                </a:lnTo>
                <a:lnTo>
                  <a:pt x="0" y="73634"/>
                </a:lnTo>
                <a:lnTo>
                  <a:pt x="0" y="75238"/>
                </a:lnTo>
                <a:lnTo>
                  <a:pt x="160089" y="235302"/>
                </a:lnTo>
                <a:lnTo>
                  <a:pt x="160064" y="236388"/>
                </a:lnTo>
                <a:lnTo>
                  <a:pt x="0" y="396452"/>
                </a:lnTo>
                <a:lnTo>
                  <a:pt x="0" y="398056"/>
                </a:lnTo>
                <a:lnTo>
                  <a:pt x="73641" y="471690"/>
                </a:lnTo>
                <a:lnTo>
                  <a:pt x="75243" y="471690"/>
                </a:lnTo>
                <a:lnTo>
                  <a:pt x="235301" y="311602"/>
                </a:lnTo>
                <a:lnTo>
                  <a:pt x="386828" y="311602"/>
                </a:lnTo>
                <a:lnTo>
                  <a:pt x="311603" y="236388"/>
                </a:lnTo>
                <a:lnTo>
                  <a:pt x="311603" y="235302"/>
                </a:lnTo>
                <a:lnTo>
                  <a:pt x="386816" y="160089"/>
                </a:lnTo>
                <a:lnTo>
                  <a:pt x="235333" y="160089"/>
                </a:lnTo>
                <a:lnTo>
                  <a:pt x="75746" y="500"/>
                </a:lnTo>
                <a:lnTo>
                  <a:pt x="75097" y="264"/>
                </a:lnTo>
                <a:close/>
              </a:path>
              <a:path w="471805" h="471804">
                <a:moveTo>
                  <a:pt x="386828" y="311602"/>
                </a:moveTo>
                <a:lnTo>
                  <a:pt x="236401" y="311602"/>
                </a:lnTo>
                <a:lnTo>
                  <a:pt x="396459" y="471690"/>
                </a:lnTo>
                <a:lnTo>
                  <a:pt x="398061" y="471690"/>
                </a:lnTo>
                <a:lnTo>
                  <a:pt x="471692" y="398056"/>
                </a:lnTo>
                <a:lnTo>
                  <a:pt x="471692" y="396452"/>
                </a:lnTo>
                <a:lnTo>
                  <a:pt x="386828" y="311602"/>
                </a:lnTo>
                <a:close/>
              </a:path>
              <a:path w="471805" h="471804">
                <a:moveTo>
                  <a:pt x="398061" y="0"/>
                </a:moveTo>
                <a:lnTo>
                  <a:pt x="396459" y="0"/>
                </a:lnTo>
                <a:lnTo>
                  <a:pt x="236390" y="160089"/>
                </a:lnTo>
                <a:lnTo>
                  <a:pt x="386816" y="160089"/>
                </a:lnTo>
                <a:lnTo>
                  <a:pt x="471681" y="75238"/>
                </a:lnTo>
                <a:lnTo>
                  <a:pt x="471681" y="73634"/>
                </a:lnTo>
                <a:lnTo>
                  <a:pt x="3980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14" name="object 14"/>
          <p:cNvSpPr txBox="1"/>
          <p:nvPr/>
        </p:nvSpPr>
        <p:spPr>
          <a:xfrm>
            <a:off x="7998878" y="2468967"/>
            <a:ext cx="685740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b="1" spc="-10" dirty="0">
                <a:latin typeface="Arial"/>
                <a:cs typeface="Arial"/>
              </a:rPr>
              <a:t>1.07</a:t>
            </a:r>
            <a:endParaRPr sz="270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1033" y="2468967"/>
            <a:ext cx="346145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b="1" spc="72" dirty="0">
                <a:latin typeface="Arial"/>
                <a:cs typeface="Arial"/>
              </a:rPr>
              <a:t>-</a:t>
            </a:r>
            <a:r>
              <a:rPr sz="2707" b="1" spc="93" dirty="0">
                <a:latin typeface="Arial"/>
                <a:cs typeface="Arial"/>
              </a:rPr>
              <a:t>1</a:t>
            </a:r>
            <a:endParaRPr sz="270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286" y="2410411"/>
            <a:ext cx="125097" cy="53014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3404" spc="-402" dirty="0">
                <a:latin typeface="Trebuchet MS"/>
                <a:cs typeface="Trebuchet MS"/>
              </a:rPr>
              <a:t>(</a:t>
            </a:r>
            <a:endParaRPr sz="3404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0092" y="2410411"/>
            <a:ext cx="125097" cy="53014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3404" spc="-402" dirty="0">
                <a:latin typeface="Trebuchet MS"/>
                <a:cs typeface="Trebuchet MS"/>
              </a:rPr>
              <a:t>)</a:t>
            </a:r>
            <a:endParaRPr sz="3404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42632" y="2690522"/>
            <a:ext cx="243316" cy="0"/>
          </a:xfrm>
          <a:custGeom>
            <a:avLst/>
            <a:gdLst/>
            <a:ahLst/>
            <a:cxnLst/>
            <a:rect l="l" t="t" r="r" b="b"/>
            <a:pathLst>
              <a:path w="471804">
                <a:moveTo>
                  <a:pt x="0" y="0"/>
                </a:moveTo>
                <a:lnTo>
                  <a:pt x="471189" y="0"/>
                </a:lnTo>
              </a:path>
            </a:pathLst>
          </a:custGeom>
          <a:ln w="94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19" name="object 19"/>
          <p:cNvSpPr txBox="1"/>
          <p:nvPr/>
        </p:nvSpPr>
        <p:spPr>
          <a:xfrm>
            <a:off x="1684509" y="3576631"/>
            <a:ext cx="1456623" cy="85349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R="19321" algn="ctr">
              <a:spcBef>
                <a:spcPts val="64"/>
              </a:spcBef>
            </a:pPr>
            <a:r>
              <a:rPr sz="2707" i="1" spc="-26" dirty="0">
                <a:latin typeface="Times New Roman"/>
                <a:cs typeface="Times New Roman"/>
              </a:rPr>
              <a:t>r</a:t>
            </a:r>
            <a:endParaRPr sz="2707" dirty="0">
              <a:latin typeface="Times New Roman"/>
              <a:cs typeface="Times New Roman"/>
            </a:endParaRPr>
          </a:p>
          <a:p>
            <a:pPr algn="ctr">
              <a:spcBef>
                <a:spcPts val="1297"/>
              </a:spcBef>
            </a:pPr>
            <a:r>
              <a:rPr sz="1702" b="1" dirty="0">
                <a:solidFill>
                  <a:srgbClr val="A31F34"/>
                </a:solidFill>
                <a:latin typeface="Arial"/>
                <a:cs typeface="Arial"/>
              </a:rPr>
              <a:t>Floating-</a:t>
            </a:r>
            <a:r>
              <a:rPr sz="1702" b="1" spc="-5" dirty="0">
                <a:solidFill>
                  <a:srgbClr val="A31F34"/>
                </a:solidFill>
                <a:latin typeface="Arial"/>
                <a:cs typeface="Arial"/>
              </a:rPr>
              <a:t>point</a:t>
            </a:r>
            <a:endParaRPr sz="1702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44426" y="3612572"/>
            <a:ext cx="186008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i="1" spc="-26" dirty="0">
                <a:latin typeface="Times New Roman"/>
                <a:cs typeface="Times New Roman"/>
              </a:rPr>
              <a:t>S</a:t>
            </a:r>
            <a:endParaRPr sz="270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3137" y="3540515"/>
            <a:ext cx="745013" cy="891970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algn="ctr">
              <a:spcBef>
                <a:spcPts val="64"/>
              </a:spcBef>
            </a:pPr>
            <a:r>
              <a:rPr sz="2707" i="1" spc="-26" dirty="0">
                <a:latin typeface="Times New Roman"/>
                <a:cs typeface="Times New Roman"/>
              </a:rPr>
              <a:t>q</a:t>
            </a:r>
            <a:endParaRPr sz="2707">
              <a:latin typeface="Times New Roman"/>
              <a:cs typeface="Times New Roman"/>
            </a:endParaRPr>
          </a:p>
          <a:p>
            <a:pPr algn="ctr">
              <a:spcBef>
                <a:spcPts val="1581"/>
              </a:spcBef>
            </a:pPr>
            <a:r>
              <a:rPr sz="1702" b="1" spc="-5" dirty="0">
                <a:solidFill>
                  <a:srgbClr val="A31F34"/>
                </a:solidFill>
                <a:latin typeface="Arial"/>
                <a:cs typeface="Arial"/>
              </a:rPr>
              <a:t>Integer</a:t>
            </a:r>
            <a:endParaRPr sz="1702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31537" y="3408846"/>
            <a:ext cx="745013" cy="1021368"/>
          </a:xfrm>
          <a:prstGeom prst="rect">
            <a:avLst/>
          </a:prstGeom>
        </p:spPr>
        <p:txBody>
          <a:bodyPr vert="horz" wrap="square" lIns="0" tIns="212533" rIns="0" bIns="0" rtlCol="0">
            <a:spAutoFit/>
          </a:bodyPr>
          <a:lstStyle/>
          <a:p>
            <a:pPr marR="11134" algn="ctr">
              <a:spcBef>
                <a:spcPts val="1673"/>
              </a:spcBef>
            </a:pPr>
            <a:r>
              <a:rPr sz="2707" i="1" spc="-26" dirty="0">
                <a:latin typeface="Times New Roman"/>
                <a:cs typeface="Times New Roman"/>
              </a:rPr>
              <a:t>Z</a:t>
            </a:r>
            <a:endParaRPr sz="2707" dirty="0">
              <a:latin typeface="Times New Roman"/>
              <a:cs typeface="Times New Roman"/>
            </a:endParaRPr>
          </a:p>
          <a:p>
            <a:pPr algn="ctr">
              <a:spcBef>
                <a:spcPts val="1008"/>
              </a:spcBef>
            </a:pPr>
            <a:r>
              <a:rPr sz="1702" b="1" spc="-5" dirty="0">
                <a:solidFill>
                  <a:srgbClr val="A31F34"/>
                </a:solidFill>
                <a:latin typeface="Arial"/>
                <a:cs typeface="Arial"/>
              </a:rPr>
              <a:t>Integer</a:t>
            </a:r>
            <a:endParaRPr sz="1702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65303" y="3587863"/>
            <a:ext cx="512504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  <a:tabLst>
                <a:tab pos="390344" algn="l"/>
              </a:tabLst>
            </a:pPr>
            <a:r>
              <a:rPr sz="2707" spc="333" dirty="0">
                <a:latin typeface="Cambria"/>
                <a:cs typeface="Cambria"/>
              </a:rPr>
              <a:t>=</a:t>
            </a:r>
            <a:r>
              <a:rPr sz="2707" dirty="0">
                <a:latin typeface="Cambria"/>
                <a:cs typeface="Cambria"/>
              </a:rPr>
              <a:t>	</a:t>
            </a:r>
            <a:r>
              <a:rPr sz="2707" spc="-160" dirty="0">
                <a:latin typeface="Cambria"/>
                <a:cs typeface="Cambria"/>
              </a:rPr>
              <a:t>(</a:t>
            </a:r>
            <a:endParaRPr sz="2707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33685" y="3587863"/>
            <a:ext cx="249866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spc="474" dirty="0">
                <a:latin typeface="Cambria"/>
                <a:cs typeface="Cambria"/>
              </a:rPr>
              <a:t>–</a:t>
            </a:r>
            <a:endParaRPr sz="2707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14835" y="3587517"/>
            <a:ext cx="234474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spc="199" dirty="0">
                <a:latin typeface="Cambria"/>
                <a:cs typeface="Cambria"/>
              </a:rPr>
              <a:t>×</a:t>
            </a:r>
            <a:endParaRPr sz="2707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41777" y="3586653"/>
            <a:ext cx="128371" cy="424856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707" spc="-160" dirty="0">
                <a:latin typeface="Cambria"/>
                <a:cs typeface="Cambria"/>
              </a:rPr>
              <a:t>)</a:t>
            </a:r>
            <a:endParaRPr sz="2707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2603" y="4481506"/>
            <a:ext cx="2234712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222352" indent="-215802">
              <a:spcBef>
                <a:spcPts val="59"/>
              </a:spcBef>
              <a:buSzPct val="123728"/>
              <a:buChar char="•"/>
              <a:tabLst>
                <a:tab pos="222352" algn="l"/>
              </a:tabLst>
            </a:pPr>
            <a:r>
              <a:rPr sz="1521" spc="-18" dirty="0">
                <a:solidFill>
                  <a:srgbClr val="A31F34"/>
                </a:solidFill>
                <a:latin typeface="Trebuchet MS"/>
                <a:cs typeface="Trebuchet MS"/>
              </a:rPr>
              <a:t>quantization</a:t>
            </a:r>
            <a:r>
              <a:rPr sz="1521" spc="-75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10" dirty="0">
                <a:solidFill>
                  <a:srgbClr val="A31F34"/>
                </a:solidFill>
                <a:latin typeface="Trebuchet MS"/>
                <a:cs typeface="Trebuchet MS"/>
              </a:rPr>
              <a:t>parameter</a:t>
            </a:r>
            <a:endParaRPr sz="1521" dirty="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02603" y="4700754"/>
            <a:ext cx="2508484" cy="659039"/>
          </a:xfrm>
          <a:prstGeom prst="rect">
            <a:avLst/>
          </a:prstGeom>
        </p:spPr>
        <p:txBody>
          <a:bodyPr vert="horz" wrap="square" lIns="0" tIns="33730" rIns="0" bIns="0" rtlCol="0">
            <a:spAutoFit/>
          </a:bodyPr>
          <a:lstStyle/>
          <a:p>
            <a:pPr marL="222352" marR="2620" indent="-216130">
              <a:lnSpc>
                <a:spcPct val="88800"/>
              </a:lnSpc>
              <a:spcBef>
                <a:spcPts val="266"/>
              </a:spcBef>
              <a:buSzPct val="123728"/>
              <a:buChar char="•"/>
              <a:tabLst>
                <a:tab pos="222352" algn="l"/>
              </a:tabLst>
            </a:pPr>
            <a:r>
              <a:rPr sz="1521" spc="-18" dirty="0">
                <a:solidFill>
                  <a:srgbClr val="A31F34"/>
                </a:solidFill>
                <a:latin typeface="Trebuchet MS"/>
                <a:cs typeface="Trebuchet MS"/>
              </a:rPr>
              <a:t>allow</a:t>
            </a:r>
            <a:r>
              <a:rPr sz="1521" spc="-46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52" dirty="0">
                <a:solidFill>
                  <a:srgbClr val="A31F34"/>
                </a:solidFill>
                <a:latin typeface="Trebuchet MS"/>
                <a:cs typeface="Trebuchet MS"/>
              </a:rPr>
              <a:t>real</a:t>
            </a:r>
            <a:r>
              <a:rPr sz="1521" spc="-46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dirty="0">
                <a:solidFill>
                  <a:srgbClr val="A31F34"/>
                </a:solidFill>
                <a:latin typeface="Trebuchet MS"/>
                <a:cs typeface="Trebuchet MS"/>
              </a:rPr>
              <a:t>number</a:t>
            </a:r>
            <a:r>
              <a:rPr sz="1521" spc="-46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i="1" dirty="0">
                <a:solidFill>
                  <a:srgbClr val="A31F34"/>
                </a:solidFill>
                <a:latin typeface="Arial"/>
                <a:cs typeface="Arial"/>
              </a:rPr>
              <a:t>r=0</a:t>
            </a:r>
            <a:r>
              <a:rPr sz="1521" i="1" spc="-8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1521" spc="-13" dirty="0">
                <a:solidFill>
                  <a:srgbClr val="A31F34"/>
                </a:solidFill>
                <a:latin typeface="Trebuchet MS"/>
                <a:cs typeface="Trebuchet MS"/>
              </a:rPr>
              <a:t>be exactly</a:t>
            </a:r>
            <a:r>
              <a:rPr sz="1521" spc="-62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18" dirty="0">
                <a:solidFill>
                  <a:srgbClr val="A31F34"/>
                </a:solidFill>
                <a:latin typeface="Trebuchet MS"/>
                <a:cs typeface="Trebuchet MS"/>
              </a:rPr>
              <a:t>representable</a:t>
            </a:r>
            <a:r>
              <a:rPr sz="1521" spc="-59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39" dirty="0">
                <a:solidFill>
                  <a:srgbClr val="A31F34"/>
                </a:solidFill>
                <a:latin typeface="Trebuchet MS"/>
                <a:cs typeface="Trebuchet MS"/>
              </a:rPr>
              <a:t>by</a:t>
            </a:r>
            <a:r>
              <a:rPr sz="1521" spc="-59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26" dirty="0">
                <a:solidFill>
                  <a:srgbClr val="A31F34"/>
                </a:solidFill>
                <a:latin typeface="Trebuchet MS"/>
                <a:cs typeface="Trebuchet MS"/>
              </a:rPr>
              <a:t>a </a:t>
            </a:r>
            <a:r>
              <a:rPr sz="1521" dirty="0">
                <a:solidFill>
                  <a:srgbClr val="A31F34"/>
                </a:solidFill>
                <a:latin typeface="Trebuchet MS"/>
                <a:cs typeface="Trebuchet MS"/>
              </a:rPr>
              <a:t>quantized</a:t>
            </a:r>
            <a:r>
              <a:rPr sz="1521" spc="-103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5" dirty="0">
                <a:solidFill>
                  <a:srgbClr val="A31F34"/>
                </a:solidFill>
                <a:latin typeface="Trebuchet MS"/>
                <a:cs typeface="Trebuchet MS"/>
              </a:rPr>
              <a:t>integer</a:t>
            </a:r>
            <a:endParaRPr sz="1521" dirty="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13110" y="4433263"/>
            <a:ext cx="2160047" cy="411313"/>
            <a:chOff x="5066977" y="8596280"/>
            <a:chExt cx="4188460" cy="797560"/>
          </a:xfrm>
        </p:grpSpPr>
        <p:sp>
          <p:nvSpPr>
            <p:cNvPr id="30" name="object 30"/>
            <p:cNvSpPr/>
            <p:nvPr/>
          </p:nvSpPr>
          <p:spPr>
            <a:xfrm>
              <a:off x="5223082" y="8622457"/>
              <a:ext cx="4006215" cy="745490"/>
            </a:xfrm>
            <a:custGeom>
              <a:avLst/>
              <a:gdLst/>
              <a:ahLst/>
              <a:cxnLst/>
              <a:rect l="l" t="t" r="r" b="b"/>
              <a:pathLst>
                <a:path w="4006215" h="745490">
                  <a:moveTo>
                    <a:pt x="4006106" y="0"/>
                  </a:moveTo>
                  <a:lnTo>
                    <a:pt x="3963277" y="31402"/>
                  </a:lnTo>
                  <a:lnTo>
                    <a:pt x="3920416" y="62129"/>
                  </a:lnTo>
                  <a:lnTo>
                    <a:pt x="3877523" y="92180"/>
                  </a:lnTo>
                  <a:lnTo>
                    <a:pt x="3834597" y="121555"/>
                  </a:lnTo>
                  <a:lnTo>
                    <a:pt x="3791639" y="150253"/>
                  </a:lnTo>
                  <a:lnTo>
                    <a:pt x="3748649" y="178275"/>
                  </a:lnTo>
                  <a:lnTo>
                    <a:pt x="3705626" y="205621"/>
                  </a:lnTo>
                  <a:lnTo>
                    <a:pt x="3662571" y="232291"/>
                  </a:lnTo>
                  <a:lnTo>
                    <a:pt x="3619483" y="258285"/>
                  </a:lnTo>
                  <a:lnTo>
                    <a:pt x="3576363" y="283603"/>
                  </a:lnTo>
                  <a:lnTo>
                    <a:pt x="3533211" y="308245"/>
                  </a:lnTo>
                  <a:lnTo>
                    <a:pt x="3490027" y="332210"/>
                  </a:lnTo>
                  <a:lnTo>
                    <a:pt x="3446810" y="355499"/>
                  </a:lnTo>
                  <a:lnTo>
                    <a:pt x="3403560" y="378112"/>
                  </a:lnTo>
                  <a:lnTo>
                    <a:pt x="3360279" y="400049"/>
                  </a:lnTo>
                  <a:lnTo>
                    <a:pt x="3316965" y="421310"/>
                  </a:lnTo>
                  <a:lnTo>
                    <a:pt x="3273618" y="441895"/>
                  </a:lnTo>
                  <a:lnTo>
                    <a:pt x="3230240" y="461803"/>
                  </a:lnTo>
                  <a:lnTo>
                    <a:pt x="3186828" y="481036"/>
                  </a:lnTo>
                  <a:lnTo>
                    <a:pt x="3143385" y="499592"/>
                  </a:lnTo>
                  <a:lnTo>
                    <a:pt x="3099909" y="517472"/>
                  </a:lnTo>
                  <a:lnTo>
                    <a:pt x="3056401" y="534676"/>
                  </a:lnTo>
                  <a:lnTo>
                    <a:pt x="3012861" y="551204"/>
                  </a:lnTo>
                  <a:lnTo>
                    <a:pt x="2969288" y="567056"/>
                  </a:lnTo>
                  <a:lnTo>
                    <a:pt x="2925683" y="582231"/>
                  </a:lnTo>
                  <a:lnTo>
                    <a:pt x="2882045" y="596731"/>
                  </a:lnTo>
                  <a:lnTo>
                    <a:pt x="2838375" y="610554"/>
                  </a:lnTo>
                  <a:lnTo>
                    <a:pt x="2794673" y="623701"/>
                  </a:lnTo>
                  <a:lnTo>
                    <a:pt x="2750938" y="636172"/>
                  </a:lnTo>
                  <a:lnTo>
                    <a:pt x="2707171" y="647967"/>
                  </a:lnTo>
                  <a:lnTo>
                    <a:pt x="2663372" y="659086"/>
                  </a:lnTo>
                  <a:lnTo>
                    <a:pt x="2619540" y="669528"/>
                  </a:lnTo>
                  <a:lnTo>
                    <a:pt x="2575676" y="679294"/>
                  </a:lnTo>
                  <a:lnTo>
                    <a:pt x="2531780" y="688385"/>
                  </a:lnTo>
                  <a:lnTo>
                    <a:pt x="2487851" y="696799"/>
                  </a:lnTo>
                  <a:lnTo>
                    <a:pt x="2443890" y="704537"/>
                  </a:lnTo>
                  <a:lnTo>
                    <a:pt x="2399896" y="711599"/>
                  </a:lnTo>
                  <a:lnTo>
                    <a:pt x="2355870" y="717984"/>
                  </a:lnTo>
                  <a:lnTo>
                    <a:pt x="2311812" y="723694"/>
                  </a:lnTo>
                  <a:lnTo>
                    <a:pt x="2267721" y="728727"/>
                  </a:lnTo>
                  <a:lnTo>
                    <a:pt x="2223599" y="733084"/>
                  </a:lnTo>
                  <a:lnTo>
                    <a:pt x="2179443" y="736766"/>
                  </a:lnTo>
                  <a:lnTo>
                    <a:pt x="2135256" y="739770"/>
                  </a:lnTo>
                  <a:lnTo>
                    <a:pt x="2091036" y="742099"/>
                  </a:lnTo>
                  <a:lnTo>
                    <a:pt x="2046783" y="743752"/>
                  </a:lnTo>
                  <a:lnTo>
                    <a:pt x="2002499" y="744728"/>
                  </a:lnTo>
                  <a:lnTo>
                    <a:pt x="1958182" y="745029"/>
                  </a:lnTo>
                  <a:lnTo>
                    <a:pt x="1913832" y="744653"/>
                  </a:lnTo>
                  <a:lnTo>
                    <a:pt x="1869450" y="743601"/>
                  </a:lnTo>
                  <a:lnTo>
                    <a:pt x="1825036" y="741873"/>
                  </a:lnTo>
                  <a:lnTo>
                    <a:pt x="1780590" y="739469"/>
                  </a:lnTo>
                  <a:lnTo>
                    <a:pt x="1736111" y="736389"/>
                  </a:lnTo>
                  <a:lnTo>
                    <a:pt x="1691600" y="732632"/>
                  </a:lnTo>
                  <a:lnTo>
                    <a:pt x="1647056" y="728199"/>
                  </a:lnTo>
                  <a:lnTo>
                    <a:pt x="1602480" y="723091"/>
                  </a:lnTo>
                  <a:lnTo>
                    <a:pt x="1557872" y="717306"/>
                  </a:lnTo>
                  <a:lnTo>
                    <a:pt x="1513231" y="710845"/>
                  </a:lnTo>
                  <a:lnTo>
                    <a:pt x="1468558" y="703708"/>
                  </a:lnTo>
                  <a:lnTo>
                    <a:pt x="1423853" y="695894"/>
                  </a:lnTo>
                  <a:lnTo>
                    <a:pt x="1379115" y="687405"/>
                  </a:lnTo>
                  <a:lnTo>
                    <a:pt x="1334345" y="678239"/>
                  </a:lnTo>
                  <a:lnTo>
                    <a:pt x="1289543" y="668397"/>
                  </a:lnTo>
                  <a:lnTo>
                    <a:pt x="1244708" y="657879"/>
                  </a:lnTo>
                  <a:lnTo>
                    <a:pt x="1199841" y="646685"/>
                  </a:lnTo>
                  <a:lnTo>
                    <a:pt x="1154942" y="634815"/>
                  </a:lnTo>
                  <a:lnTo>
                    <a:pt x="1110010" y="622269"/>
                  </a:lnTo>
                  <a:lnTo>
                    <a:pt x="1065046" y="609046"/>
                  </a:lnTo>
                  <a:lnTo>
                    <a:pt x="1020049" y="595148"/>
                  </a:lnTo>
                  <a:lnTo>
                    <a:pt x="975020" y="580573"/>
                  </a:lnTo>
                  <a:lnTo>
                    <a:pt x="929959" y="565322"/>
                  </a:lnTo>
                  <a:lnTo>
                    <a:pt x="884865" y="549395"/>
                  </a:lnTo>
                  <a:lnTo>
                    <a:pt x="839740" y="532792"/>
                  </a:lnTo>
                  <a:lnTo>
                    <a:pt x="794581" y="515512"/>
                  </a:lnTo>
                  <a:lnTo>
                    <a:pt x="749391" y="497557"/>
                  </a:lnTo>
                  <a:lnTo>
                    <a:pt x="704168" y="478925"/>
                  </a:lnTo>
                  <a:lnTo>
                    <a:pt x="658912" y="459617"/>
                  </a:lnTo>
                  <a:lnTo>
                    <a:pt x="613624" y="439633"/>
                  </a:lnTo>
                  <a:lnTo>
                    <a:pt x="568304" y="418973"/>
                  </a:lnTo>
                  <a:lnTo>
                    <a:pt x="522952" y="397637"/>
                  </a:lnTo>
                  <a:lnTo>
                    <a:pt x="477567" y="375625"/>
                  </a:lnTo>
                  <a:lnTo>
                    <a:pt x="432150" y="352936"/>
                  </a:lnTo>
                  <a:lnTo>
                    <a:pt x="386700" y="329572"/>
                  </a:lnTo>
                  <a:lnTo>
                    <a:pt x="341219" y="305531"/>
                  </a:lnTo>
                  <a:lnTo>
                    <a:pt x="295704" y="280814"/>
                  </a:lnTo>
                  <a:lnTo>
                    <a:pt x="250158" y="255421"/>
                  </a:lnTo>
                  <a:lnTo>
                    <a:pt x="204579" y="229352"/>
                  </a:lnTo>
                  <a:lnTo>
                    <a:pt x="158967" y="202606"/>
                  </a:lnTo>
                  <a:lnTo>
                    <a:pt x="113324" y="175185"/>
                  </a:lnTo>
                  <a:lnTo>
                    <a:pt x="67648" y="147087"/>
                  </a:lnTo>
                  <a:lnTo>
                    <a:pt x="21939" y="118313"/>
                  </a:lnTo>
                  <a:lnTo>
                    <a:pt x="0" y="103734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066977" y="8622457"/>
              <a:ext cx="237490" cy="207645"/>
            </a:xfrm>
            <a:custGeom>
              <a:avLst/>
              <a:gdLst/>
              <a:ahLst/>
              <a:cxnLst/>
              <a:rect l="l" t="t" r="r" b="b"/>
              <a:pathLst>
                <a:path w="237489" h="207645">
                  <a:moveTo>
                    <a:pt x="0" y="0"/>
                  </a:moveTo>
                  <a:lnTo>
                    <a:pt x="118796" y="207175"/>
                  </a:lnTo>
                  <a:lnTo>
                    <a:pt x="237018" y="29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43082" y="4170114"/>
            <a:ext cx="2234712" cy="553548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37865">
              <a:spcBef>
                <a:spcPts val="49"/>
              </a:spcBef>
            </a:pPr>
            <a:r>
              <a:rPr sz="1702" b="1" dirty="0">
                <a:solidFill>
                  <a:srgbClr val="A31F34"/>
                </a:solidFill>
                <a:latin typeface="Arial"/>
                <a:cs typeface="Arial"/>
              </a:rPr>
              <a:t>Floating-</a:t>
            </a:r>
            <a:r>
              <a:rPr sz="1702" b="1" spc="-5" dirty="0">
                <a:solidFill>
                  <a:srgbClr val="A31F34"/>
                </a:solidFill>
                <a:latin typeface="Arial"/>
                <a:cs typeface="Arial"/>
              </a:rPr>
              <a:t>point</a:t>
            </a:r>
            <a:endParaRPr sz="1702" dirty="0">
              <a:latin typeface="Arial"/>
              <a:cs typeface="Arial"/>
            </a:endParaRPr>
          </a:p>
          <a:p>
            <a:pPr marL="222352" indent="-215802">
              <a:spcBef>
                <a:spcPts val="420"/>
              </a:spcBef>
              <a:buSzPct val="123728"/>
              <a:buChar char="•"/>
              <a:tabLst>
                <a:tab pos="222352" algn="l"/>
              </a:tabLst>
            </a:pPr>
            <a:r>
              <a:rPr sz="1521" spc="-18" dirty="0">
                <a:solidFill>
                  <a:srgbClr val="A31F34"/>
                </a:solidFill>
                <a:latin typeface="Trebuchet MS"/>
                <a:cs typeface="Trebuchet MS"/>
              </a:rPr>
              <a:t>quantization</a:t>
            </a:r>
            <a:r>
              <a:rPr sz="1521" spc="-75" dirty="0">
                <a:solidFill>
                  <a:srgbClr val="A31F34"/>
                </a:solidFill>
                <a:latin typeface="Trebuchet MS"/>
                <a:cs typeface="Trebuchet MS"/>
              </a:rPr>
              <a:t> </a:t>
            </a:r>
            <a:r>
              <a:rPr sz="1521" spc="-10" dirty="0">
                <a:solidFill>
                  <a:srgbClr val="A31F34"/>
                </a:solidFill>
                <a:latin typeface="Trebuchet MS"/>
                <a:cs typeface="Trebuchet MS"/>
              </a:rPr>
              <a:t>parameter</a:t>
            </a:r>
            <a:endParaRPr sz="1521" dirty="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71122" y="5322543"/>
            <a:ext cx="6835454" cy="125756"/>
          </a:xfrm>
          <a:prstGeom prst="rect">
            <a:avLst/>
          </a:prstGeom>
        </p:spPr>
        <p:txBody>
          <a:bodyPr vert="horz" wrap="square" lIns="0" tIns="2620" rIns="0" bIns="0" rtlCol="0">
            <a:spAutoFit/>
          </a:bodyPr>
          <a:lstStyle/>
          <a:p>
            <a:pPr marL="6549">
              <a:spcBef>
                <a:spcPts val="21"/>
              </a:spcBef>
              <a:tabLst>
                <a:tab pos="5347249" algn="l"/>
              </a:tabLst>
            </a:pP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Quantization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2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Training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Neural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Networks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 Efficient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Integer-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Arithmetic-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Only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Inference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[Jacob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sz="800" i="1" spc="26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i="1" spc="-23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al.</a:t>
            </a:r>
            <a:r>
              <a:rPr sz="800" spc="-2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,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9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CVPR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2018]</a:t>
            </a:r>
            <a:endParaRPr sz="8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8B3E5-9B93-66A8-03B5-FCC148127844}"/>
              </a:ext>
            </a:extLst>
          </p:cNvPr>
          <p:cNvSpPr txBox="1"/>
          <p:nvPr/>
        </p:nvSpPr>
        <p:spPr>
          <a:xfrm>
            <a:off x="5231387" y="5382486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Linear/Non-linear</a:t>
            </a:r>
            <a:endParaRPr spc="-57" dirty="0"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12</a:t>
            </a:fld>
            <a:endParaRPr spc="23" dirty="0"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4A7DA76E-EBEC-DFD9-9B55-BE66A0C00D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49" dirty="0"/>
              <a:t>Scale</a:t>
            </a:r>
            <a:r>
              <a:rPr lang="en" altLang="ko-KR" spc="-209" dirty="0"/>
              <a:t> </a:t>
            </a:r>
            <a:r>
              <a:rPr lang="en" altLang="ko-KR" dirty="0"/>
              <a:t>of</a:t>
            </a:r>
            <a:r>
              <a:rPr lang="en" altLang="ko-KR" spc="-204" dirty="0"/>
              <a:t> </a:t>
            </a:r>
            <a:r>
              <a:rPr lang="en" altLang="ko-KR" spc="-77" dirty="0"/>
              <a:t>Linear</a:t>
            </a:r>
            <a:r>
              <a:rPr lang="en" altLang="ko-KR" spc="-173" dirty="0"/>
              <a:t> </a:t>
            </a:r>
            <a:r>
              <a:rPr lang="en" altLang="ko-KR" spc="-57" dirty="0"/>
              <a:t>Quantization</a:t>
            </a:r>
            <a:endParaRPr lang="ko-KR" altLang="en-US" dirty="0"/>
          </a:p>
        </p:txBody>
      </p:sp>
      <p:grpSp>
        <p:nvGrpSpPr>
          <p:cNvPr id="4" name="object 4"/>
          <p:cNvGrpSpPr/>
          <p:nvPr/>
        </p:nvGrpSpPr>
        <p:grpSpPr>
          <a:xfrm>
            <a:off x="1044356" y="1700456"/>
            <a:ext cx="4160939" cy="376928"/>
            <a:chOff x="2025069" y="4081092"/>
            <a:chExt cx="8068309" cy="730885"/>
          </a:xfrm>
        </p:grpSpPr>
        <p:sp>
          <p:nvSpPr>
            <p:cNvPr id="5" name="object 5"/>
            <p:cNvSpPr/>
            <p:nvPr/>
          </p:nvSpPr>
          <p:spPr>
            <a:xfrm>
              <a:off x="2025069" y="4447093"/>
              <a:ext cx="7815580" cy="0"/>
            </a:xfrm>
            <a:custGeom>
              <a:avLst/>
              <a:gdLst/>
              <a:ahLst/>
              <a:cxnLst/>
              <a:rect l="l" t="t" r="r" b="b"/>
              <a:pathLst>
                <a:path w="7815580">
                  <a:moveTo>
                    <a:pt x="0" y="0"/>
                  </a:moveTo>
                  <a:lnTo>
                    <a:pt x="4752194" y="0"/>
                  </a:lnTo>
                </a:path>
                <a:path w="7815580">
                  <a:moveTo>
                    <a:pt x="4846432" y="0"/>
                  </a:moveTo>
                  <a:lnTo>
                    <a:pt x="7815366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" name="object 6"/>
            <p:cNvSpPr/>
            <p:nvPr/>
          </p:nvSpPr>
          <p:spPr>
            <a:xfrm>
              <a:off x="9803788" y="4302594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" name="object 7"/>
            <p:cNvSpPr/>
            <p:nvPr/>
          </p:nvSpPr>
          <p:spPr>
            <a:xfrm>
              <a:off x="2841574" y="4082306"/>
              <a:ext cx="6435090" cy="729615"/>
            </a:xfrm>
            <a:custGeom>
              <a:avLst/>
              <a:gdLst/>
              <a:ahLst/>
              <a:cxnLst/>
              <a:rect l="l" t="t" r="r" b="b"/>
              <a:pathLst>
                <a:path w="6435090" h="729614">
                  <a:moveTo>
                    <a:pt x="3935679" y="0"/>
                  </a:moveTo>
                  <a:lnTo>
                    <a:pt x="0" y="0"/>
                  </a:lnTo>
                  <a:lnTo>
                    <a:pt x="0" y="729576"/>
                  </a:lnTo>
                  <a:lnTo>
                    <a:pt x="3935679" y="729576"/>
                  </a:lnTo>
                  <a:lnTo>
                    <a:pt x="3935679" y="0"/>
                  </a:lnTo>
                  <a:close/>
                </a:path>
                <a:path w="6435090" h="729614">
                  <a:moveTo>
                    <a:pt x="6434683" y="0"/>
                  </a:moveTo>
                  <a:lnTo>
                    <a:pt x="4029926" y="0"/>
                  </a:lnTo>
                  <a:lnTo>
                    <a:pt x="4029926" y="729576"/>
                  </a:lnTo>
                  <a:lnTo>
                    <a:pt x="6434683" y="729576"/>
                  </a:lnTo>
                  <a:lnTo>
                    <a:pt x="6434683" y="0"/>
                  </a:lnTo>
                  <a:close/>
                </a:path>
              </a:pathLst>
            </a:custGeom>
            <a:solidFill>
              <a:srgbClr val="0080C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" name="object 8"/>
            <p:cNvSpPr/>
            <p:nvPr/>
          </p:nvSpPr>
          <p:spPr>
            <a:xfrm>
              <a:off x="6824382" y="4081092"/>
              <a:ext cx="0" cy="729615"/>
            </a:xfrm>
            <a:custGeom>
              <a:avLst/>
              <a:gdLst/>
              <a:ahLst/>
              <a:cxnLst/>
              <a:rect l="l" t="t" r="r" b="b"/>
              <a:pathLst>
                <a:path h="729614">
                  <a:moveTo>
                    <a:pt x="0" y="729580"/>
                  </a:moveTo>
                  <a:lnTo>
                    <a:pt x="0" y="0"/>
                  </a:lnTo>
                </a:path>
              </a:pathLst>
            </a:custGeom>
            <a:ln w="94237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44356" y="2106859"/>
            <a:ext cx="4160939" cy="1204793"/>
            <a:chOff x="2025069" y="4869131"/>
            <a:chExt cx="8068309" cy="2336165"/>
          </a:xfrm>
        </p:grpSpPr>
        <p:sp>
          <p:nvSpPr>
            <p:cNvPr id="10" name="object 10"/>
            <p:cNvSpPr/>
            <p:nvPr/>
          </p:nvSpPr>
          <p:spPr>
            <a:xfrm>
              <a:off x="2025069" y="7060390"/>
              <a:ext cx="7815580" cy="0"/>
            </a:xfrm>
            <a:custGeom>
              <a:avLst/>
              <a:gdLst/>
              <a:ahLst/>
              <a:cxnLst/>
              <a:rect l="l" t="t" r="r" b="b"/>
              <a:pathLst>
                <a:path w="7815580">
                  <a:moveTo>
                    <a:pt x="0" y="0"/>
                  </a:moveTo>
                  <a:lnTo>
                    <a:pt x="7778718" y="0"/>
                  </a:lnTo>
                  <a:lnTo>
                    <a:pt x="7815366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1" name="object 11"/>
            <p:cNvSpPr/>
            <p:nvPr/>
          </p:nvSpPr>
          <p:spPr>
            <a:xfrm>
              <a:off x="9803788" y="691589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1800" y="6929431"/>
              <a:ext cx="3912870" cy="262255"/>
            </a:xfrm>
            <a:custGeom>
              <a:avLst/>
              <a:gdLst/>
              <a:ahLst/>
              <a:cxnLst/>
              <a:rect l="l" t="t" r="r" b="b"/>
              <a:pathLst>
                <a:path w="3912870" h="262254">
                  <a:moveTo>
                    <a:pt x="261937" y="110680"/>
                  </a:moveTo>
                  <a:lnTo>
                    <a:pt x="249516" y="71653"/>
                  </a:lnTo>
                  <a:lnTo>
                    <a:pt x="224675" y="37261"/>
                  </a:lnTo>
                  <a:lnTo>
                    <a:pt x="190271" y="12420"/>
                  </a:lnTo>
                  <a:lnTo>
                    <a:pt x="151244" y="0"/>
                  </a:lnTo>
                  <a:lnTo>
                    <a:pt x="110680" y="0"/>
                  </a:lnTo>
                  <a:lnTo>
                    <a:pt x="71653" y="12420"/>
                  </a:lnTo>
                  <a:lnTo>
                    <a:pt x="37261" y="37261"/>
                  </a:lnTo>
                  <a:lnTo>
                    <a:pt x="12420" y="71653"/>
                  </a:lnTo>
                  <a:lnTo>
                    <a:pt x="0" y="110680"/>
                  </a:lnTo>
                  <a:lnTo>
                    <a:pt x="0" y="151257"/>
                  </a:lnTo>
                  <a:lnTo>
                    <a:pt x="12420" y="190271"/>
                  </a:lnTo>
                  <a:lnTo>
                    <a:pt x="37261" y="224675"/>
                  </a:lnTo>
                  <a:lnTo>
                    <a:pt x="71653" y="249516"/>
                  </a:lnTo>
                  <a:lnTo>
                    <a:pt x="110680" y="261937"/>
                  </a:lnTo>
                  <a:lnTo>
                    <a:pt x="151244" y="261937"/>
                  </a:lnTo>
                  <a:lnTo>
                    <a:pt x="190271" y="249516"/>
                  </a:lnTo>
                  <a:lnTo>
                    <a:pt x="224675" y="224675"/>
                  </a:lnTo>
                  <a:lnTo>
                    <a:pt x="249516" y="190271"/>
                  </a:lnTo>
                  <a:lnTo>
                    <a:pt x="261937" y="151257"/>
                  </a:lnTo>
                  <a:lnTo>
                    <a:pt x="261937" y="110680"/>
                  </a:lnTo>
                  <a:close/>
                </a:path>
                <a:path w="3912870" h="262254">
                  <a:moveTo>
                    <a:pt x="783475" y="110680"/>
                  </a:moveTo>
                  <a:lnTo>
                    <a:pt x="771055" y="71653"/>
                  </a:lnTo>
                  <a:lnTo>
                    <a:pt x="746213" y="37261"/>
                  </a:lnTo>
                  <a:lnTo>
                    <a:pt x="711809" y="12420"/>
                  </a:lnTo>
                  <a:lnTo>
                    <a:pt x="672782" y="0"/>
                  </a:lnTo>
                  <a:lnTo>
                    <a:pt x="632218" y="0"/>
                  </a:lnTo>
                  <a:lnTo>
                    <a:pt x="593191" y="12420"/>
                  </a:lnTo>
                  <a:lnTo>
                    <a:pt x="558800" y="37261"/>
                  </a:lnTo>
                  <a:lnTo>
                    <a:pt x="533958" y="71653"/>
                  </a:lnTo>
                  <a:lnTo>
                    <a:pt x="521538" y="110680"/>
                  </a:lnTo>
                  <a:lnTo>
                    <a:pt x="521538" y="151257"/>
                  </a:lnTo>
                  <a:lnTo>
                    <a:pt x="533958" y="190271"/>
                  </a:lnTo>
                  <a:lnTo>
                    <a:pt x="558800" y="224675"/>
                  </a:lnTo>
                  <a:lnTo>
                    <a:pt x="593191" y="249516"/>
                  </a:lnTo>
                  <a:lnTo>
                    <a:pt x="632218" y="261937"/>
                  </a:lnTo>
                  <a:lnTo>
                    <a:pt x="672782" y="261937"/>
                  </a:lnTo>
                  <a:lnTo>
                    <a:pt x="711809" y="249516"/>
                  </a:lnTo>
                  <a:lnTo>
                    <a:pt x="746213" y="224675"/>
                  </a:lnTo>
                  <a:lnTo>
                    <a:pt x="771055" y="190271"/>
                  </a:lnTo>
                  <a:lnTo>
                    <a:pt x="783475" y="151257"/>
                  </a:lnTo>
                  <a:lnTo>
                    <a:pt x="783475" y="110680"/>
                  </a:lnTo>
                  <a:close/>
                </a:path>
                <a:path w="3912870" h="262254">
                  <a:moveTo>
                    <a:pt x="1305013" y="110680"/>
                  </a:moveTo>
                  <a:lnTo>
                    <a:pt x="1292593" y="71653"/>
                  </a:lnTo>
                  <a:lnTo>
                    <a:pt x="1267752" y="37261"/>
                  </a:lnTo>
                  <a:lnTo>
                    <a:pt x="1233347" y="12420"/>
                  </a:lnTo>
                  <a:lnTo>
                    <a:pt x="1194320" y="0"/>
                  </a:lnTo>
                  <a:lnTo>
                    <a:pt x="1153756" y="0"/>
                  </a:lnTo>
                  <a:lnTo>
                    <a:pt x="1114729" y="12420"/>
                  </a:lnTo>
                  <a:lnTo>
                    <a:pt x="1080338" y="37261"/>
                  </a:lnTo>
                  <a:lnTo>
                    <a:pt x="1055497" y="71653"/>
                  </a:lnTo>
                  <a:lnTo>
                    <a:pt x="1043076" y="110680"/>
                  </a:lnTo>
                  <a:lnTo>
                    <a:pt x="1043076" y="151257"/>
                  </a:lnTo>
                  <a:lnTo>
                    <a:pt x="1055497" y="190271"/>
                  </a:lnTo>
                  <a:lnTo>
                    <a:pt x="1080338" y="224675"/>
                  </a:lnTo>
                  <a:lnTo>
                    <a:pt x="1114729" y="249516"/>
                  </a:lnTo>
                  <a:lnTo>
                    <a:pt x="1153756" y="261937"/>
                  </a:lnTo>
                  <a:lnTo>
                    <a:pt x="1194320" y="261937"/>
                  </a:lnTo>
                  <a:lnTo>
                    <a:pt x="1233347" y="249516"/>
                  </a:lnTo>
                  <a:lnTo>
                    <a:pt x="1267752" y="224675"/>
                  </a:lnTo>
                  <a:lnTo>
                    <a:pt x="1292593" y="190271"/>
                  </a:lnTo>
                  <a:lnTo>
                    <a:pt x="1305013" y="151257"/>
                  </a:lnTo>
                  <a:lnTo>
                    <a:pt x="1305013" y="110680"/>
                  </a:lnTo>
                  <a:close/>
                </a:path>
                <a:path w="3912870" h="262254">
                  <a:moveTo>
                    <a:pt x="1826552" y="110680"/>
                  </a:moveTo>
                  <a:lnTo>
                    <a:pt x="1814131" y="71653"/>
                  </a:lnTo>
                  <a:lnTo>
                    <a:pt x="1789290" y="37261"/>
                  </a:lnTo>
                  <a:lnTo>
                    <a:pt x="1754886" y="12420"/>
                  </a:lnTo>
                  <a:lnTo>
                    <a:pt x="1715871" y="0"/>
                  </a:lnTo>
                  <a:lnTo>
                    <a:pt x="1675295" y="0"/>
                  </a:lnTo>
                  <a:lnTo>
                    <a:pt x="1636268" y="12420"/>
                  </a:lnTo>
                  <a:lnTo>
                    <a:pt x="1601876" y="37261"/>
                  </a:lnTo>
                  <a:lnTo>
                    <a:pt x="1577035" y="71653"/>
                  </a:lnTo>
                  <a:lnTo>
                    <a:pt x="1564614" y="110680"/>
                  </a:lnTo>
                  <a:lnTo>
                    <a:pt x="1564614" y="151257"/>
                  </a:lnTo>
                  <a:lnTo>
                    <a:pt x="1577035" y="190271"/>
                  </a:lnTo>
                  <a:lnTo>
                    <a:pt x="1601876" y="224675"/>
                  </a:lnTo>
                  <a:lnTo>
                    <a:pt x="1636268" y="249516"/>
                  </a:lnTo>
                  <a:lnTo>
                    <a:pt x="1675295" y="261937"/>
                  </a:lnTo>
                  <a:lnTo>
                    <a:pt x="1715871" y="261937"/>
                  </a:lnTo>
                  <a:lnTo>
                    <a:pt x="1754886" y="249516"/>
                  </a:lnTo>
                  <a:lnTo>
                    <a:pt x="1789290" y="224675"/>
                  </a:lnTo>
                  <a:lnTo>
                    <a:pt x="1814131" y="190271"/>
                  </a:lnTo>
                  <a:lnTo>
                    <a:pt x="1826552" y="151257"/>
                  </a:lnTo>
                  <a:lnTo>
                    <a:pt x="1826552" y="110680"/>
                  </a:lnTo>
                  <a:close/>
                </a:path>
                <a:path w="3912870" h="262254">
                  <a:moveTo>
                    <a:pt x="2348090" y="110680"/>
                  </a:moveTo>
                  <a:lnTo>
                    <a:pt x="2335669" y="71653"/>
                  </a:lnTo>
                  <a:lnTo>
                    <a:pt x="2310828" y="37261"/>
                  </a:lnTo>
                  <a:lnTo>
                    <a:pt x="2276437" y="12420"/>
                  </a:lnTo>
                  <a:lnTo>
                    <a:pt x="2237409" y="0"/>
                  </a:lnTo>
                  <a:lnTo>
                    <a:pt x="2196833" y="0"/>
                  </a:lnTo>
                  <a:lnTo>
                    <a:pt x="2157806" y="12420"/>
                  </a:lnTo>
                  <a:lnTo>
                    <a:pt x="2123414" y="37261"/>
                  </a:lnTo>
                  <a:lnTo>
                    <a:pt x="2098573" y="71653"/>
                  </a:lnTo>
                  <a:lnTo>
                    <a:pt x="2086152" y="110680"/>
                  </a:lnTo>
                  <a:lnTo>
                    <a:pt x="2086152" y="151257"/>
                  </a:lnTo>
                  <a:lnTo>
                    <a:pt x="2098573" y="190271"/>
                  </a:lnTo>
                  <a:lnTo>
                    <a:pt x="2123414" y="224675"/>
                  </a:lnTo>
                  <a:lnTo>
                    <a:pt x="2157806" y="249516"/>
                  </a:lnTo>
                  <a:lnTo>
                    <a:pt x="2196833" y="261937"/>
                  </a:lnTo>
                  <a:lnTo>
                    <a:pt x="2237409" y="261937"/>
                  </a:lnTo>
                  <a:lnTo>
                    <a:pt x="2276437" y="249516"/>
                  </a:lnTo>
                  <a:lnTo>
                    <a:pt x="2310828" y="224675"/>
                  </a:lnTo>
                  <a:lnTo>
                    <a:pt x="2335669" y="190271"/>
                  </a:lnTo>
                  <a:lnTo>
                    <a:pt x="2348090" y="151257"/>
                  </a:lnTo>
                  <a:lnTo>
                    <a:pt x="2348090" y="110680"/>
                  </a:lnTo>
                  <a:close/>
                </a:path>
                <a:path w="3912870" h="262254">
                  <a:moveTo>
                    <a:pt x="2869628" y="110680"/>
                  </a:moveTo>
                  <a:lnTo>
                    <a:pt x="2857208" y="71653"/>
                  </a:lnTo>
                  <a:lnTo>
                    <a:pt x="2832366" y="37261"/>
                  </a:lnTo>
                  <a:lnTo>
                    <a:pt x="2797975" y="12420"/>
                  </a:lnTo>
                  <a:lnTo>
                    <a:pt x="2758948" y="0"/>
                  </a:lnTo>
                  <a:lnTo>
                    <a:pt x="2718371" y="0"/>
                  </a:lnTo>
                  <a:lnTo>
                    <a:pt x="2679344" y="12420"/>
                  </a:lnTo>
                  <a:lnTo>
                    <a:pt x="2644952" y="37261"/>
                  </a:lnTo>
                  <a:lnTo>
                    <a:pt x="2620111" y="71653"/>
                  </a:lnTo>
                  <a:lnTo>
                    <a:pt x="2607691" y="110680"/>
                  </a:lnTo>
                  <a:lnTo>
                    <a:pt x="2607691" y="151257"/>
                  </a:lnTo>
                  <a:lnTo>
                    <a:pt x="2620111" y="190271"/>
                  </a:lnTo>
                  <a:lnTo>
                    <a:pt x="2644952" y="224675"/>
                  </a:lnTo>
                  <a:lnTo>
                    <a:pt x="2679344" y="249516"/>
                  </a:lnTo>
                  <a:lnTo>
                    <a:pt x="2718371" y="261937"/>
                  </a:lnTo>
                  <a:lnTo>
                    <a:pt x="2758948" y="261937"/>
                  </a:lnTo>
                  <a:lnTo>
                    <a:pt x="2797975" y="249516"/>
                  </a:lnTo>
                  <a:lnTo>
                    <a:pt x="2832366" y="224675"/>
                  </a:lnTo>
                  <a:lnTo>
                    <a:pt x="2857208" y="190271"/>
                  </a:lnTo>
                  <a:lnTo>
                    <a:pt x="2869628" y="151257"/>
                  </a:lnTo>
                  <a:lnTo>
                    <a:pt x="2869628" y="110680"/>
                  </a:lnTo>
                  <a:close/>
                </a:path>
                <a:path w="3912870" h="262254">
                  <a:moveTo>
                    <a:pt x="3391166" y="110680"/>
                  </a:moveTo>
                  <a:lnTo>
                    <a:pt x="3378746" y="71653"/>
                  </a:lnTo>
                  <a:lnTo>
                    <a:pt x="3353905" y="37261"/>
                  </a:lnTo>
                  <a:lnTo>
                    <a:pt x="3319513" y="12420"/>
                  </a:lnTo>
                  <a:lnTo>
                    <a:pt x="3280486" y="0"/>
                  </a:lnTo>
                  <a:lnTo>
                    <a:pt x="3239909" y="0"/>
                  </a:lnTo>
                  <a:lnTo>
                    <a:pt x="3200882" y="12420"/>
                  </a:lnTo>
                  <a:lnTo>
                    <a:pt x="3166491" y="37261"/>
                  </a:lnTo>
                  <a:lnTo>
                    <a:pt x="3141649" y="71653"/>
                  </a:lnTo>
                  <a:lnTo>
                    <a:pt x="3129229" y="110680"/>
                  </a:lnTo>
                  <a:lnTo>
                    <a:pt x="3129229" y="151257"/>
                  </a:lnTo>
                  <a:lnTo>
                    <a:pt x="3141649" y="190271"/>
                  </a:lnTo>
                  <a:lnTo>
                    <a:pt x="3166491" y="224675"/>
                  </a:lnTo>
                  <a:lnTo>
                    <a:pt x="3200882" y="249516"/>
                  </a:lnTo>
                  <a:lnTo>
                    <a:pt x="3239909" y="261937"/>
                  </a:lnTo>
                  <a:lnTo>
                    <a:pt x="3280486" y="261937"/>
                  </a:lnTo>
                  <a:lnTo>
                    <a:pt x="3319513" y="249516"/>
                  </a:lnTo>
                  <a:lnTo>
                    <a:pt x="3353905" y="224675"/>
                  </a:lnTo>
                  <a:lnTo>
                    <a:pt x="3378746" y="190271"/>
                  </a:lnTo>
                  <a:lnTo>
                    <a:pt x="3391166" y="151257"/>
                  </a:lnTo>
                  <a:lnTo>
                    <a:pt x="3391166" y="110680"/>
                  </a:lnTo>
                  <a:close/>
                </a:path>
                <a:path w="3912870" h="262254">
                  <a:moveTo>
                    <a:pt x="3912705" y="110680"/>
                  </a:moveTo>
                  <a:lnTo>
                    <a:pt x="3900284" y="71653"/>
                  </a:lnTo>
                  <a:lnTo>
                    <a:pt x="3875443" y="37261"/>
                  </a:lnTo>
                  <a:lnTo>
                    <a:pt x="3841051" y="12420"/>
                  </a:lnTo>
                  <a:lnTo>
                    <a:pt x="3802024" y="0"/>
                  </a:lnTo>
                  <a:lnTo>
                    <a:pt x="3761448" y="0"/>
                  </a:lnTo>
                  <a:lnTo>
                    <a:pt x="3722420" y="12420"/>
                  </a:lnTo>
                  <a:lnTo>
                    <a:pt x="3688029" y="37261"/>
                  </a:lnTo>
                  <a:lnTo>
                    <a:pt x="3663188" y="71653"/>
                  </a:lnTo>
                  <a:lnTo>
                    <a:pt x="3650767" y="110680"/>
                  </a:lnTo>
                  <a:lnTo>
                    <a:pt x="3650767" y="151257"/>
                  </a:lnTo>
                  <a:lnTo>
                    <a:pt x="3663188" y="190271"/>
                  </a:lnTo>
                  <a:lnTo>
                    <a:pt x="3688029" y="224675"/>
                  </a:lnTo>
                  <a:lnTo>
                    <a:pt x="3722420" y="249516"/>
                  </a:lnTo>
                  <a:lnTo>
                    <a:pt x="3761448" y="261937"/>
                  </a:lnTo>
                  <a:lnTo>
                    <a:pt x="3802024" y="261937"/>
                  </a:lnTo>
                  <a:lnTo>
                    <a:pt x="3841051" y="249516"/>
                  </a:lnTo>
                  <a:lnTo>
                    <a:pt x="3875443" y="224675"/>
                  </a:lnTo>
                  <a:lnTo>
                    <a:pt x="3900284" y="190271"/>
                  </a:lnTo>
                  <a:lnTo>
                    <a:pt x="3912705" y="151257"/>
                  </a:lnTo>
                  <a:lnTo>
                    <a:pt x="3912705" y="11068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076733" y="5135169"/>
              <a:ext cx="650240" cy="1700530"/>
            </a:xfrm>
            <a:custGeom>
              <a:avLst/>
              <a:gdLst/>
              <a:ahLst/>
              <a:cxnLst/>
              <a:rect l="l" t="t" r="r" b="b"/>
              <a:pathLst>
                <a:path w="650240" h="1700529">
                  <a:moveTo>
                    <a:pt x="649937" y="0"/>
                  </a:moveTo>
                  <a:lnTo>
                    <a:pt x="634984" y="39123"/>
                  </a:lnTo>
                  <a:lnTo>
                    <a:pt x="0" y="1700464"/>
                  </a:lnTo>
                </a:path>
              </a:pathLst>
            </a:custGeom>
            <a:ln w="83767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9137" y="4869131"/>
              <a:ext cx="305435" cy="363855"/>
            </a:xfrm>
            <a:custGeom>
              <a:avLst/>
              <a:gdLst/>
              <a:ahLst/>
              <a:cxnLst/>
              <a:rect l="l" t="t" r="r" b="b"/>
              <a:pathLst>
                <a:path w="305434" h="363854">
                  <a:moveTo>
                    <a:pt x="269214" y="0"/>
                  </a:moveTo>
                  <a:lnTo>
                    <a:pt x="0" y="246844"/>
                  </a:lnTo>
                  <a:lnTo>
                    <a:pt x="305161" y="363478"/>
                  </a:lnTo>
                  <a:lnTo>
                    <a:pt x="269214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432770" y="5139145"/>
              <a:ext cx="294005" cy="764540"/>
            </a:xfrm>
            <a:custGeom>
              <a:avLst/>
              <a:gdLst/>
              <a:ahLst/>
              <a:cxnLst/>
              <a:rect l="l" t="t" r="r" b="b"/>
              <a:pathLst>
                <a:path w="294004" h="764539">
                  <a:moveTo>
                    <a:pt x="293763" y="0"/>
                  </a:moveTo>
                  <a:lnTo>
                    <a:pt x="278741" y="39096"/>
                  </a:lnTo>
                  <a:lnTo>
                    <a:pt x="0" y="764542"/>
                  </a:lnTo>
                </a:path>
              </a:pathLst>
            </a:custGeom>
            <a:ln w="83767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559032" y="4873286"/>
              <a:ext cx="305435" cy="363855"/>
            </a:xfrm>
            <a:custGeom>
              <a:avLst/>
              <a:gdLst/>
              <a:ahLst/>
              <a:cxnLst/>
              <a:rect l="l" t="t" r="r" b="b"/>
              <a:pathLst>
                <a:path w="305434" h="363854">
                  <a:moveTo>
                    <a:pt x="269650" y="0"/>
                  </a:moveTo>
                  <a:lnTo>
                    <a:pt x="0" y="246370"/>
                  </a:lnTo>
                  <a:lnTo>
                    <a:pt x="304956" y="363541"/>
                  </a:lnTo>
                  <a:lnTo>
                    <a:pt x="26965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4259" y="4928598"/>
              <a:ext cx="1015365" cy="1914525"/>
            </a:xfrm>
            <a:custGeom>
              <a:avLst/>
              <a:gdLst/>
              <a:ahLst/>
              <a:cxnLst/>
              <a:rect l="l" t="t" r="r" b="b"/>
              <a:pathLst>
                <a:path w="1015364" h="1914525">
                  <a:moveTo>
                    <a:pt x="1015011" y="1914396"/>
                  </a:moveTo>
                  <a:lnTo>
                    <a:pt x="0" y="0"/>
                  </a:lnTo>
                </a:path>
              </a:pathLst>
            </a:custGeom>
            <a:ln w="62825">
              <a:solidFill>
                <a:srgbClr val="BD627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694515" y="4942347"/>
              <a:ext cx="1511300" cy="1955800"/>
            </a:xfrm>
            <a:custGeom>
              <a:avLst/>
              <a:gdLst/>
              <a:ahLst/>
              <a:cxnLst/>
              <a:rect l="l" t="t" r="r" b="b"/>
              <a:pathLst>
                <a:path w="1511300" h="1955800">
                  <a:moveTo>
                    <a:pt x="0" y="1955703"/>
                  </a:moveTo>
                  <a:lnTo>
                    <a:pt x="1510739" y="0"/>
                  </a:lnTo>
                </a:path>
              </a:pathLst>
            </a:custGeom>
            <a:ln w="62825">
              <a:solidFill>
                <a:srgbClr val="BD627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7780" y="1600768"/>
            <a:ext cx="153915" cy="4446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836" i="1" spc="-26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endParaRPr sz="2836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5525" y="1449770"/>
            <a:ext cx="299315" cy="222225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19648">
              <a:spcBef>
                <a:spcPts val="62"/>
              </a:spcBef>
            </a:pPr>
            <a:r>
              <a:rPr sz="2089" i="1" spc="-15" baseline="14403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980" spc="-10" dirty="0">
                <a:solidFill>
                  <a:srgbClr val="0080CC"/>
                </a:solidFill>
                <a:latin typeface="Cambria"/>
                <a:cs typeface="Cambria"/>
              </a:rPr>
              <a:t>min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400" y="2910736"/>
            <a:ext cx="194195" cy="4446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836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2836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32727" y="1449129"/>
            <a:ext cx="320274" cy="222225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19648">
              <a:spcBef>
                <a:spcPts val="62"/>
              </a:spcBef>
            </a:pPr>
            <a:r>
              <a:rPr sz="2089" i="1" spc="-15" baseline="14403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980" spc="-10" dirty="0">
                <a:solidFill>
                  <a:srgbClr val="0080CC"/>
                </a:solidFill>
                <a:latin typeface="Cambria"/>
                <a:cs typeface="Cambria"/>
              </a:rPr>
              <a:t>max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94159" y="3350351"/>
            <a:ext cx="861268" cy="481764"/>
          </a:xfrm>
          <a:prstGeom prst="rect">
            <a:avLst/>
          </a:prstGeom>
        </p:spPr>
        <p:txBody>
          <a:bodyPr vert="horz" wrap="square" lIns="0" tIns="7205" rIns="0" bIns="0" rtlCol="0">
            <a:spAutoFit/>
          </a:bodyPr>
          <a:lstStyle/>
          <a:p>
            <a:pPr marR="5240" algn="ctr">
              <a:lnSpc>
                <a:spcPts val="2212"/>
              </a:lnSpc>
              <a:spcBef>
                <a:spcPts val="57"/>
              </a:spcBef>
            </a:pPr>
            <a:r>
              <a:rPr sz="1908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Z</a:t>
            </a:r>
            <a:endParaRPr sz="1908">
              <a:latin typeface="Times New Roman"/>
              <a:cs typeface="Times New Roman"/>
            </a:endParaRPr>
          </a:p>
          <a:p>
            <a:pPr algn="ctr">
              <a:lnSpc>
                <a:spcPts val="1532"/>
              </a:lnSpc>
            </a:pPr>
            <a:r>
              <a:rPr sz="1341" b="1" dirty="0">
                <a:latin typeface="Arial"/>
                <a:cs typeface="Arial"/>
              </a:rPr>
              <a:t>Zero</a:t>
            </a:r>
            <a:r>
              <a:rPr sz="1341" b="1" spc="70" dirty="0">
                <a:latin typeface="Arial"/>
                <a:cs typeface="Arial"/>
              </a:rPr>
              <a:t> </a:t>
            </a:r>
            <a:r>
              <a:rPr sz="1341" b="1" spc="-10" dirty="0">
                <a:latin typeface="Arial"/>
                <a:cs typeface="Arial"/>
              </a:rPr>
              <a:t>point</a:t>
            </a:r>
            <a:endParaRPr sz="1341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68329" y="1447186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spc="-44" dirty="0">
                <a:solidFill>
                  <a:srgbClr val="0080CC"/>
                </a:solidFill>
                <a:latin typeface="Cambria"/>
                <a:cs typeface="Cambria"/>
              </a:rPr>
              <a:t>0</a:t>
            </a:r>
            <a:endParaRPr sz="1392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06794" y="2444861"/>
            <a:ext cx="1167788" cy="740385"/>
          </a:xfrm>
          <a:prstGeom prst="rect">
            <a:avLst/>
          </a:prstGeom>
        </p:spPr>
        <p:txBody>
          <a:bodyPr vert="horz" wrap="square" lIns="0" tIns="22596" rIns="0" bIns="0" rtlCol="0">
            <a:spAutoFit/>
          </a:bodyPr>
          <a:lstStyle/>
          <a:p>
            <a:pPr marL="104790">
              <a:spcBef>
                <a:spcPts val="178"/>
              </a:spcBef>
            </a:pPr>
            <a:r>
              <a:rPr sz="1908" spc="157" dirty="0">
                <a:solidFill>
                  <a:srgbClr val="0080CC"/>
                </a:solidFill>
                <a:latin typeface="Cambria"/>
                <a:cs typeface="Cambria"/>
              </a:rPr>
              <a:t>×</a:t>
            </a:r>
            <a:r>
              <a:rPr sz="1908" spc="3" dirty="0">
                <a:solidFill>
                  <a:srgbClr val="0080CC"/>
                </a:solidFill>
                <a:latin typeface="Cambria"/>
                <a:cs typeface="Cambria"/>
              </a:rPr>
              <a:t> </a:t>
            </a:r>
            <a:r>
              <a:rPr sz="1908" i="1" spc="-26" dirty="0">
                <a:solidFill>
                  <a:srgbClr val="0080CC"/>
                </a:solidFill>
                <a:latin typeface="Times New Roman"/>
                <a:cs typeface="Times New Roman"/>
              </a:rPr>
              <a:t>S</a:t>
            </a:r>
            <a:endParaRPr sz="1908">
              <a:latin typeface="Times New Roman"/>
              <a:cs typeface="Times New Roman"/>
            </a:endParaRPr>
          </a:p>
          <a:p>
            <a:pPr marL="356614" marR="2620" indent="-350392">
              <a:lnSpc>
                <a:spcPct val="103099"/>
              </a:lnSpc>
              <a:spcBef>
                <a:spcPts val="59"/>
              </a:spcBef>
            </a:pPr>
            <a:r>
              <a:rPr sz="1341" b="1" dirty="0">
                <a:latin typeface="Arial"/>
                <a:cs typeface="Arial"/>
              </a:rPr>
              <a:t>Floating-</a:t>
            </a:r>
            <a:r>
              <a:rPr sz="1341" b="1" spc="-5" dirty="0">
                <a:latin typeface="Arial"/>
                <a:cs typeface="Arial"/>
              </a:rPr>
              <a:t>point Scale</a:t>
            </a:r>
            <a:endParaRPr sz="134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99288" y="3351282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1392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82126" y="3447509"/>
            <a:ext cx="210241" cy="159408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6549">
              <a:spcBef>
                <a:spcPts val="67"/>
              </a:spcBef>
            </a:pPr>
            <a:r>
              <a:rPr sz="980" spc="-21" dirty="0">
                <a:solidFill>
                  <a:srgbClr val="A31F34"/>
                </a:solidFill>
                <a:latin typeface="Cambria"/>
                <a:cs typeface="Cambria"/>
              </a:rPr>
              <a:t>min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1784" y="3350641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1392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54623" y="3446868"/>
            <a:ext cx="231199" cy="159408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6549">
              <a:spcBef>
                <a:spcPts val="67"/>
              </a:spcBef>
            </a:pPr>
            <a:r>
              <a:rPr sz="980" spc="-13" dirty="0">
                <a:solidFill>
                  <a:srgbClr val="A31F34"/>
                </a:solidFill>
                <a:latin typeface="Cambria"/>
                <a:cs typeface="Cambria"/>
              </a:rPr>
              <a:t>max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5444" y="1628600"/>
            <a:ext cx="2029710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26852">
              <a:spcBef>
                <a:spcPts val="70"/>
              </a:spcBef>
            </a:pPr>
            <a:r>
              <a:rPr sz="1341" b="1" dirty="0">
                <a:latin typeface="Arial"/>
                <a:cs typeface="Arial"/>
              </a:rPr>
              <a:t>Floating-</a:t>
            </a:r>
            <a:r>
              <a:rPr sz="1341" b="1" spc="-5" dirty="0">
                <a:latin typeface="Arial"/>
                <a:cs typeface="Arial"/>
              </a:rPr>
              <a:t>point</a:t>
            </a:r>
            <a:endParaRPr sz="1341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65444" y="1873045"/>
            <a:ext cx="2029710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367421">
              <a:spcBef>
                <a:spcPts val="70"/>
              </a:spcBef>
            </a:pPr>
            <a:r>
              <a:rPr sz="1341" b="1" spc="-5" dirty="0">
                <a:latin typeface="Arial"/>
                <a:cs typeface="Arial"/>
              </a:rPr>
              <a:t>range</a:t>
            </a:r>
            <a:endParaRPr sz="1341" dirty="0">
              <a:latin typeface="Arial"/>
              <a:cs typeface="Arial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027A7F05-29C5-A4E8-55F2-FE41C62C8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669" y="1181459"/>
            <a:ext cx="2889622" cy="242593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922992DF-367B-47CA-4FAA-E46966E83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291" y="4059551"/>
            <a:ext cx="1230757" cy="123744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128B90D-B855-76F3-28BD-CDEB04A78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839" y="3677326"/>
            <a:ext cx="1664101" cy="91728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AF15CC8-91C7-86B0-A0AD-A9CDB31E9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355" y="4054405"/>
            <a:ext cx="4260921" cy="115741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94F513F8-25DF-F91D-8CB4-2A94609B9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5276" y="4345623"/>
            <a:ext cx="1072862" cy="818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FA3675-EB04-D83E-E1AF-CA65D6454BC8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81E6-B00F-D052-E149-F81A581C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944FEC-E8E2-F45D-4BBA-80E1B91AF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Linear/Non-linear</a:t>
            </a:r>
            <a:endParaRPr spc="-57"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1582ECA-1A0E-673C-E250-3E4668D5A18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13</a:t>
            </a:fld>
            <a:endParaRPr spc="23" dirty="0"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1B8521B0-ECBC-100F-7BED-0C9AD4FA9B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49" dirty="0"/>
              <a:t>Zero point</a:t>
            </a:r>
            <a:r>
              <a:rPr lang="en" altLang="ko-KR" spc="-209" dirty="0"/>
              <a:t> </a:t>
            </a:r>
            <a:r>
              <a:rPr lang="en" altLang="ko-KR" dirty="0"/>
              <a:t>of</a:t>
            </a:r>
            <a:r>
              <a:rPr lang="en" altLang="ko-KR" spc="-204" dirty="0"/>
              <a:t> </a:t>
            </a:r>
            <a:r>
              <a:rPr lang="en" altLang="ko-KR" spc="-77" dirty="0"/>
              <a:t>Linear</a:t>
            </a:r>
            <a:r>
              <a:rPr lang="en" altLang="ko-KR" spc="-173" dirty="0"/>
              <a:t> </a:t>
            </a:r>
            <a:r>
              <a:rPr lang="en" altLang="ko-KR" spc="-57" dirty="0"/>
              <a:t>Quantization</a:t>
            </a:r>
            <a:endParaRPr lang="ko-KR" altLang="en-US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DEBC315-9ED6-7D14-3050-452794B68BAA}"/>
              </a:ext>
            </a:extLst>
          </p:cNvPr>
          <p:cNvGrpSpPr/>
          <p:nvPr/>
        </p:nvGrpSpPr>
        <p:grpSpPr>
          <a:xfrm>
            <a:off x="1044356" y="1700456"/>
            <a:ext cx="4160939" cy="376928"/>
            <a:chOff x="2025069" y="4081092"/>
            <a:chExt cx="8068309" cy="73088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25F562-7057-62F9-0236-E3E88791B631}"/>
                </a:ext>
              </a:extLst>
            </p:cNvPr>
            <p:cNvSpPr/>
            <p:nvPr/>
          </p:nvSpPr>
          <p:spPr>
            <a:xfrm>
              <a:off x="2025069" y="4447093"/>
              <a:ext cx="7815580" cy="0"/>
            </a:xfrm>
            <a:custGeom>
              <a:avLst/>
              <a:gdLst/>
              <a:ahLst/>
              <a:cxnLst/>
              <a:rect l="l" t="t" r="r" b="b"/>
              <a:pathLst>
                <a:path w="7815580">
                  <a:moveTo>
                    <a:pt x="0" y="0"/>
                  </a:moveTo>
                  <a:lnTo>
                    <a:pt x="4752194" y="0"/>
                  </a:lnTo>
                </a:path>
                <a:path w="7815580">
                  <a:moveTo>
                    <a:pt x="4846432" y="0"/>
                  </a:moveTo>
                  <a:lnTo>
                    <a:pt x="7815366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98E47DE-2EE2-2753-1CD8-582C82C0F092}"/>
                </a:ext>
              </a:extLst>
            </p:cNvPr>
            <p:cNvSpPr/>
            <p:nvPr/>
          </p:nvSpPr>
          <p:spPr>
            <a:xfrm>
              <a:off x="9803788" y="4302594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04D0683-BF73-2A68-FB0A-31A1EFE36EB8}"/>
                </a:ext>
              </a:extLst>
            </p:cNvPr>
            <p:cNvSpPr/>
            <p:nvPr/>
          </p:nvSpPr>
          <p:spPr>
            <a:xfrm>
              <a:off x="2841574" y="4082306"/>
              <a:ext cx="6435090" cy="729615"/>
            </a:xfrm>
            <a:custGeom>
              <a:avLst/>
              <a:gdLst/>
              <a:ahLst/>
              <a:cxnLst/>
              <a:rect l="l" t="t" r="r" b="b"/>
              <a:pathLst>
                <a:path w="6435090" h="729614">
                  <a:moveTo>
                    <a:pt x="3935679" y="0"/>
                  </a:moveTo>
                  <a:lnTo>
                    <a:pt x="0" y="0"/>
                  </a:lnTo>
                  <a:lnTo>
                    <a:pt x="0" y="729576"/>
                  </a:lnTo>
                  <a:lnTo>
                    <a:pt x="3935679" y="729576"/>
                  </a:lnTo>
                  <a:lnTo>
                    <a:pt x="3935679" y="0"/>
                  </a:lnTo>
                  <a:close/>
                </a:path>
                <a:path w="6435090" h="729614">
                  <a:moveTo>
                    <a:pt x="6434683" y="0"/>
                  </a:moveTo>
                  <a:lnTo>
                    <a:pt x="4029926" y="0"/>
                  </a:lnTo>
                  <a:lnTo>
                    <a:pt x="4029926" y="729576"/>
                  </a:lnTo>
                  <a:lnTo>
                    <a:pt x="6434683" y="729576"/>
                  </a:lnTo>
                  <a:lnTo>
                    <a:pt x="6434683" y="0"/>
                  </a:lnTo>
                  <a:close/>
                </a:path>
              </a:pathLst>
            </a:custGeom>
            <a:solidFill>
              <a:srgbClr val="0080C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AFD818F-02B7-5326-1B00-336B315D2E3D}"/>
                </a:ext>
              </a:extLst>
            </p:cNvPr>
            <p:cNvSpPr/>
            <p:nvPr/>
          </p:nvSpPr>
          <p:spPr>
            <a:xfrm>
              <a:off x="6824382" y="4081092"/>
              <a:ext cx="0" cy="729615"/>
            </a:xfrm>
            <a:custGeom>
              <a:avLst/>
              <a:gdLst/>
              <a:ahLst/>
              <a:cxnLst/>
              <a:rect l="l" t="t" r="r" b="b"/>
              <a:pathLst>
                <a:path h="729614">
                  <a:moveTo>
                    <a:pt x="0" y="729580"/>
                  </a:moveTo>
                  <a:lnTo>
                    <a:pt x="0" y="0"/>
                  </a:lnTo>
                </a:path>
              </a:pathLst>
            </a:custGeom>
            <a:ln w="94237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0015D9D6-81C3-0499-201B-79385BA704E9}"/>
              </a:ext>
            </a:extLst>
          </p:cNvPr>
          <p:cNvGrpSpPr/>
          <p:nvPr/>
        </p:nvGrpSpPr>
        <p:grpSpPr>
          <a:xfrm>
            <a:off x="1044356" y="2106859"/>
            <a:ext cx="4160939" cy="1204793"/>
            <a:chOff x="2025069" y="4869131"/>
            <a:chExt cx="8068309" cy="233616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0A38048-78B9-4A0C-2103-660E4E4D70F6}"/>
                </a:ext>
              </a:extLst>
            </p:cNvPr>
            <p:cNvSpPr/>
            <p:nvPr/>
          </p:nvSpPr>
          <p:spPr>
            <a:xfrm>
              <a:off x="2025069" y="7060390"/>
              <a:ext cx="7815580" cy="0"/>
            </a:xfrm>
            <a:custGeom>
              <a:avLst/>
              <a:gdLst/>
              <a:ahLst/>
              <a:cxnLst/>
              <a:rect l="l" t="t" r="r" b="b"/>
              <a:pathLst>
                <a:path w="7815580">
                  <a:moveTo>
                    <a:pt x="0" y="0"/>
                  </a:moveTo>
                  <a:lnTo>
                    <a:pt x="7778718" y="0"/>
                  </a:lnTo>
                  <a:lnTo>
                    <a:pt x="7815366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F750CD3-47F2-679E-4F53-692A9137825A}"/>
                </a:ext>
              </a:extLst>
            </p:cNvPr>
            <p:cNvSpPr/>
            <p:nvPr/>
          </p:nvSpPr>
          <p:spPr>
            <a:xfrm>
              <a:off x="9803788" y="691589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AAFB4FC-DA1D-BBD3-0DF9-E0BDB3B4A69F}"/>
                </a:ext>
              </a:extLst>
            </p:cNvPr>
            <p:cNvSpPr/>
            <p:nvPr/>
          </p:nvSpPr>
          <p:spPr>
            <a:xfrm>
              <a:off x="3841800" y="6929431"/>
              <a:ext cx="3912870" cy="262255"/>
            </a:xfrm>
            <a:custGeom>
              <a:avLst/>
              <a:gdLst/>
              <a:ahLst/>
              <a:cxnLst/>
              <a:rect l="l" t="t" r="r" b="b"/>
              <a:pathLst>
                <a:path w="3912870" h="262254">
                  <a:moveTo>
                    <a:pt x="261937" y="110680"/>
                  </a:moveTo>
                  <a:lnTo>
                    <a:pt x="249516" y="71653"/>
                  </a:lnTo>
                  <a:lnTo>
                    <a:pt x="224675" y="37261"/>
                  </a:lnTo>
                  <a:lnTo>
                    <a:pt x="190271" y="12420"/>
                  </a:lnTo>
                  <a:lnTo>
                    <a:pt x="151244" y="0"/>
                  </a:lnTo>
                  <a:lnTo>
                    <a:pt x="110680" y="0"/>
                  </a:lnTo>
                  <a:lnTo>
                    <a:pt x="71653" y="12420"/>
                  </a:lnTo>
                  <a:lnTo>
                    <a:pt x="37261" y="37261"/>
                  </a:lnTo>
                  <a:lnTo>
                    <a:pt x="12420" y="71653"/>
                  </a:lnTo>
                  <a:lnTo>
                    <a:pt x="0" y="110680"/>
                  </a:lnTo>
                  <a:lnTo>
                    <a:pt x="0" y="151257"/>
                  </a:lnTo>
                  <a:lnTo>
                    <a:pt x="12420" y="190271"/>
                  </a:lnTo>
                  <a:lnTo>
                    <a:pt x="37261" y="224675"/>
                  </a:lnTo>
                  <a:lnTo>
                    <a:pt x="71653" y="249516"/>
                  </a:lnTo>
                  <a:lnTo>
                    <a:pt x="110680" y="261937"/>
                  </a:lnTo>
                  <a:lnTo>
                    <a:pt x="151244" y="261937"/>
                  </a:lnTo>
                  <a:lnTo>
                    <a:pt x="190271" y="249516"/>
                  </a:lnTo>
                  <a:lnTo>
                    <a:pt x="224675" y="224675"/>
                  </a:lnTo>
                  <a:lnTo>
                    <a:pt x="249516" y="190271"/>
                  </a:lnTo>
                  <a:lnTo>
                    <a:pt x="261937" y="151257"/>
                  </a:lnTo>
                  <a:lnTo>
                    <a:pt x="261937" y="110680"/>
                  </a:lnTo>
                  <a:close/>
                </a:path>
                <a:path w="3912870" h="262254">
                  <a:moveTo>
                    <a:pt x="783475" y="110680"/>
                  </a:moveTo>
                  <a:lnTo>
                    <a:pt x="771055" y="71653"/>
                  </a:lnTo>
                  <a:lnTo>
                    <a:pt x="746213" y="37261"/>
                  </a:lnTo>
                  <a:lnTo>
                    <a:pt x="711809" y="12420"/>
                  </a:lnTo>
                  <a:lnTo>
                    <a:pt x="672782" y="0"/>
                  </a:lnTo>
                  <a:lnTo>
                    <a:pt x="632218" y="0"/>
                  </a:lnTo>
                  <a:lnTo>
                    <a:pt x="593191" y="12420"/>
                  </a:lnTo>
                  <a:lnTo>
                    <a:pt x="558800" y="37261"/>
                  </a:lnTo>
                  <a:lnTo>
                    <a:pt x="533958" y="71653"/>
                  </a:lnTo>
                  <a:lnTo>
                    <a:pt x="521538" y="110680"/>
                  </a:lnTo>
                  <a:lnTo>
                    <a:pt x="521538" y="151257"/>
                  </a:lnTo>
                  <a:lnTo>
                    <a:pt x="533958" y="190271"/>
                  </a:lnTo>
                  <a:lnTo>
                    <a:pt x="558800" y="224675"/>
                  </a:lnTo>
                  <a:lnTo>
                    <a:pt x="593191" y="249516"/>
                  </a:lnTo>
                  <a:lnTo>
                    <a:pt x="632218" y="261937"/>
                  </a:lnTo>
                  <a:lnTo>
                    <a:pt x="672782" y="261937"/>
                  </a:lnTo>
                  <a:lnTo>
                    <a:pt x="711809" y="249516"/>
                  </a:lnTo>
                  <a:lnTo>
                    <a:pt x="746213" y="224675"/>
                  </a:lnTo>
                  <a:lnTo>
                    <a:pt x="771055" y="190271"/>
                  </a:lnTo>
                  <a:lnTo>
                    <a:pt x="783475" y="151257"/>
                  </a:lnTo>
                  <a:lnTo>
                    <a:pt x="783475" y="110680"/>
                  </a:lnTo>
                  <a:close/>
                </a:path>
                <a:path w="3912870" h="262254">
                  <a:moveTo>
                    <a:pt x="1305013" y="110680"/>
                  </a:moveTo>
                  <a:lnTo>
                    <a:pt x="1292593" y="71653"/>
                  </a:lnTo>
                  <a:lnTo>
                    <a:pt x="1267752" y="37261"/>
                  </a:lnTo>
                  <a:lnTo>
                    <a:pt x="1233347" y="12420"/>
                  </a:lnTo>
                  <a:lnTo>
                    <a:pt x="1194320" y="0"/>
                  </a:lnTo>
                  <a:lnTo>
                    <a:pt x="1153756" y="0"/>
                  </a:lnTo>
                  <a:lnTo>
                    <a:pt x="1114729" y="12420"/>
                  </a:lnTo>
                  <a:lnTo>
                    <a:pt x="1080338" y="37261"/>
                  </a:lnTo>
                  <a:lnTo>
                    <a:pt x="1055497" y="71653"/>
                  </a:lnTo>
                  <a:lnTo>
                    <a:pt x="1043076" y="110680"/>
                  </a:lnTo>
                  <a:lnTo>
                    <a:pt x="1043076" y="151257"/>
                  </a:lnTo>
                  <a:lnTo>
                    <a:pt x="1055497" y="190271"/>
                  </a:lnTo>
                  <a:lnTo>
                    <a:pt x="1080338" y="224675"/>
                  </a:lnTo>
                  <a:lnTo>
                    <a:pt x="1114729" y="249516"/>
                  </a:lnTo>
                  <a:lnTo>
                    <a:pt x="1153756" y="261937"/>
                  </a:lnTo>
                  <a:lnTo>
                    <a:pt x="1194320" y="261937"/>
                  </a:lnTo>
                  <a:lnTo>
                    <a:pt x="1233347" y="249516"/>
                  </a:lnTo>
                  <a:lnTo>
                    <a:pt x="1267752" y="224675"/>
                  </a:lnTo>
                  <a:lnTo>
                    <a:pt x="1292593" y="190271"/>
                  </a:lnTo>
                  <a:lnTo>
                    <a:pt x="1305013" y="151257"/>
                  </a:lnTo>
                  <a:lnTo>
                    <a:pt x="1305013" y="110680"/>
                  </a:lnTo>
                  <a:close/>
                </a:path>
                <a:path w="3912870" h="262254">
                  <a:moveTo>
                    <a:pt x="1826552" y="110680"/>
                  </a:moveTo>
                  <a:lnTo>
                    <a:pt x="1814131" y="71653"/>
                  </a:lnTo>
                  <a:lnTo>
                    <a:pt x="1789290" y="37261"/>
                  </a:lnTo>
                  <a:lnTo>
                    <a:pt x="1754886" y="12420"/>
                  </a:lnTo>
                  <a:lnTo>
                    <a:pt x="1715871" y="0"/>
                  </a:lnTo>
                  <a:lnTo>
                    <a:pt x="1675295" y="0"/>
                  </a:lnTo>
                  <a:lnTo>
                    <a:pt x="1636268" y="12420"/>
                  </a:lnTo>
                  <a:lnTo>
                    <a:pt x="1601876" y="37261"/>
                  </a:lnTo>
                  <a:lnTo>
                    <a:pt x="1577035" y="71653"/>
                  </a:lnTo>
                  <a:lnTo>
                    <a:pt x="1564614" y="110680"/>
                  </a:lnTo>
                  <a:lnTo>
                    <a:pt x="1564614" y="151257"/>
                  </a:lnTo>
                  <a:lnTo>
                    <a:pt x="1577035" y="190271"/>
                  </a:lnTo>
                  <a:lnTo>
                    <a:pt x="1601876" y="224675"/>
                  </a:lnTo>
                  <a:lnTo>
                    <a:pt x="1636268" y="249516"/>
                  </a:lnTo>
                  <a:lnTo>
                    <a:pt x="1675295" y="261937"/>
                  </a:lnTo>
                  <a:lnTo>
                    <a:pt x="1715871" y="261937"/>
                  </a:lnTo>
                  <a:lnTo>
                    <a:pt x="1754886" y="249516"/>
                  </a:lnTo>
                  <a:lnTo>
                    <a:pt x="1789290" y="224675"/>
                  </a:lnTo>
                  <a:lnTo>
                    <a:pt x="1814131" y="190271"/>
                  </a:lnTo>
                  <a:lnTo>
                    <a:pt x="1826552" y="151257"/>
                  </a:lnTo>
                  <a:lnTo>
                    <a:pt x="1826552" y="110680"/>
                  </a:lnTo>
                  <a:close/>
                </a:path>
                <a:path w="3912870" h="262254">
                  <a:moveTo>
                    <a:pt x="2348090" y="110680"/>
                  </a:moveTo>
                  <a:lnTo>
                    <a:pt x="2335669" y="71653"/>
                  </a:lnTo>
                  <a:lnTo>
                    <a:pt x="2310828" y="37261"/>
                  </a:lnTo>
                  <a:lnTo>
                    <a:pt x="2276437" y="12420"/>
                  </a:lnTo>
                  <a:lnTo>
                    <a:pt x="2237409" y="0"/>
                  </a:lnTo>
                  <a:lnTo>
                    <a:pt x="2196833" y="0"/>
                  </a:lnTo>
                  <a:lnTo>
                    <a:pt x="2157806" y="12420"/>
                  </a:lnTo>
                  <a:lnTo>
                    <a:pt x="2123414" y="37261"/>
                  </a:lnTo>
                  <a:lnTo>
                    <a:pt x="2098573" y="71653"/>
                  </a:lnTo>
                  <a:lnTo>
                    <a:pt x="2086152" y="110680"/>
                  </a:lnTo>
                  <a:lnTo>
                    <a:pt x="2086152" y="151257"/>
                  </a:lnTo>
                  <a:lnTo>
                    <a:pt x="2098573" y="190271"/>
                  </a:lnTo>
                  <a:lnTo>
                    <a:pt x="2123414" y="224675"/>
                  </a:lnTo>
                  <a:lnTo>
                    <a:pt x="2157806" y="249516"/>
                  </a:lnTo>
                  <a:lnTo>
                    <a:pt x="2196833" y="261937"/>
                  </a:lnTo>
                  <a:lnTo>
                    <a:pt x="2237409" y="261937"/>
                  </a:lnTo>
                  <a:lnTo>
                    <a:pt x="2276437" y="249516"/>
                  </a:lnTo>
                  <a:lnTo>
                    <a:pt x="2310828" y="224675"/>
                  </a:lnTo>
                  <a:lnTo>
                    <a:pt x="2335669" y="190271"/>
                  </a:lnTo>
                  <a:lnTo>
                    <a:pt x="2348090" y="151257"/>
                  </a:lnTo>
                  <a:lnTo>
                    <a:pt x="2348090" y="110680"/>
                  </a:lnTo>
                  <a:close/>
                </a:path>
                <a:path w="3912870" h="262254">
                  <a:moveTo>
                    <a:pt x="2869628" y="110680"/>
                  </a:moveTo>
                  <a:lnTo>
                    <a:pt x="2857208" y="71653"/>
                  </a:lnTo>
                  <a:lnTo>
                    <a:pt x="2832366" y="37261"/>
                  </a:lnTo>
                  <a:lnTo>
                    <a:pt x="2797975" y="12420"/>
                  </a:lnTo>
                  <a:lnTo>
                    <a:pt x="2758948" y="0"/>
                  </a:lnTo>
                  <a:lnTo>
                    <a:pt x="2718371" y="0"/>
                  </a:lnTo>
                  <a:lnTo>
                    <a:pt x="2679344" y="12420"/>
                  </a:lnTo>
                  <a:lnTo>
                    <a:pt x="2644952" y="37261"/>
                  </a:lnTo>
                  <a:lnTo>
                    <a:pt x="2620111" y="71653"/>
                  </a:lnTo>
                  <a:lnTo>
                    <a:pt x="2607691" y="110680"/>
                  </a:lnTo>
                  <a:lnTo>
                    <a:pt x="2607691" y="151257"/>
                  </a:lnTo>
                  <a:lnTo>
                    <a:pt x="2620111" y="190271"/>
                  </a:lnTo>
                  <a:lnTo>
                    <a:pt x="2644952" y="224675"/>
                  </a:lnTo>
                  <a:lnTo>
                    <a:pt x="2679344" y="249516"/>
                  </a:lnTo>
                  <a:lnTo>
                    <a:pt x="2718371" y="261937"/>
                  </a:lnTo>
                  <a:lnTo>
                    <a:pt x="2758948" y="261937"/>
                  </a:lnTo>
                  <a:lnTo>
                    <a:pt x="2797975" y="249516"/>
                  </a:lnTo>
                  <a:lnTo>
                    <a:pt x="2832366" y="224675"/>
                  </a:lnTo>
                  <a:lnTo>
                    <a:pt x="2857208" y="190271"/>
                  </a:lnTo>
                  <a:lnTo>
                    <a:pt x="2869628" y="151257"/>
                  </a:lnTo>
                  <a:lnTo>
                    <a:pt x="2869628" y="110680"/>
                  </a:lnTo>
                  <a:close/>
                </a:path>
                <a:path w="3912870" h="262254">
                  <a:moveTo>
                    <a:pt x="3391166" y="110680"/>
                  </a:moveTo>
                  <a:lnTo>
                    <a:pt x="3378746" y="71653"/>
                  </a:lnTo>
                  <a:lnTo>
                    <a:pt x="3353905" y="37261"/>
                  </a:lnTo>
                  <a:lnTo>
                    <a:pt x="3319513" y="12420"/>
                  </a:lnTo>
                  <a:lnTo>
                    <a:pt x="3280486" y="0"/>
                  </a:lnTo>
                  <a:lnTo>
                    <a:pt x="3239909" y="0"/>
                  </a:lnTo>
                  <a:lnTo>
                    <a:pt x="3200882" y="12420"/>
                  </a:lnTo>
                  <a:lnTo>
                    <a:pt x="3166491" y="37261"/>
                  </a:lnTo>
                  <a:lnTo>
                    <a:pt x="3141649" y="71653"/>
                  </a:lnTo>
                  <a:lnTo>
                    <a:pt x="3129229" y="110680"/>
                  </a:lnTo>
                  <a:lnTo>
                    <a:pt x="3129229" y="151257"/>
                  </a:lnTo>
                  <a:lnTo>
                    <a:pt x="3141649" y="190271"/>
                  </a:lnTo>
                  <a:lnTo>
                    <a:pt x="3166491" y="224675"/>
                  </a:lnTo>
                  <a:lnTo>
                    <a:pt x="3200882" y="249516"/>
                  </a:lnTo>
                  <a:lnTo>
                    <a:pt x="3239909" y="261937"/>
                  </a:lnTo>
                  <a:lnTo>
                    <a:pt x="3280486" y="261937"/>
                  </a:lnTo>
                  <a:lnTo>
                    <a:pt x="3319513" y="249516"/>
                  </a:lnTo>
                  <a:lnTo>
                    <a:pt x="3353905" y="224675"/>
                  </a:lnTo>
                  <a:lnTo>
                    <a:pt x="3378746" y="190271"/>
                  </a:lnTo>
                  <a:lnTo>
                    <a:pt x="3391166" y="151257"/>
                  </a:lnTo>
                  <a:lnTo>
                    <a:pt x="3391166" y="110680"/>
                  </a:lnTo>
                  <a:close/>
                </a:path>
                <a:path w="3912870" h="262254">
                  <a:moveTo>
                    <a:pt x="3912705" y="110680"/>
                  </a:moveTo>
                  <a:lnTo>
                    <a:pt x="3900284" y="71653"/>
                  </a:lnTo>
                  <a:lnTo>
                    <a:pt x="3875443" y="37261"/>
                  </a:lnTo>
                  <a:lnTo>
                    <a:pt x="3841051" y="12420"/>
                  </a:lnTo>
                  <a:lnTo>
                    <a:pt x="3802024" y="0"/>
                  </a:lnTo>
                  <a:lnTo>
                    <a:pt x="3761448" y="0"/>
                  </a:lnTo>
                  <a:lnTo>
                    <a:pt x="3722420" y="12420"/>
                  </a:lnTo>
                  <a:lnTo>
                    <a:pt x="3688029" y="37261"/>
                  </a:lnTo>
                  <a:lnTo>
                    <a:pt x="3663188" y="71653"/>
                  </a:lnTo>
                  <a:lnTo>
                    <a:pt x="3650767" y="110680"/>
                  </a:lnTo>
                  <a:lnTo>
                    <a:pt x="3650767" y="151257"/>
                  </a:lnTo>
                  <a:lnTo>
                    <a:pt x="3663188" y="190271"/>
                  </a:lnTo>
                  <a:lnTo>
                    <a:pt x="3688029" y="224675"/>
                  </a:lnTo>
                  <a:lnTo>
                    <a:pt x="3722420" y="249516"/>
                  </a:lnTo>
                  <a:lnTo>
                    <a:pt x="3761448" y="261937"/>
                  </a:lnTo>
                  <a:lnTo>
                    <a:pt x="3802024" y="261937"/>
                  </a:lnTo>
                  <a:lnTo>
                    <a:pt x="3841051" y="249516"/>
                  </a:lnTo>
                  <a:lnTo>
                    <a:pt x="3875443" y="224675"/>
                  </a:lnTo>
                  <a:lnTo>
                    <a:pt x="3900284" y="190271"/>
                  </a:lnTo>
                  <a:lnTo>
                    <a:pt x="3912705" y="151257"/>
                  </a:lnTo>
                  <a:lnTo>
                    <a:pt x="3912705" y="11068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C8F101B-DE80-DF83-502D-C242B214D98D}"/>
                </a:ext>
              </a:extLst>
            </p:cNvPr>
            <p:cNvSpPr/>
            <p:nvPr/>
          </p:nvSpPr>
          <p:spPr>
            <a:xfrm>
              <a:off x="6076733" y="5135169"/>
              <a:ext cx="650240" cy="1700530"/>
            </a:xfrm>
            <a:custGeom>
              <a:avLst/>
              <a:gdLst/>
              <a:ahLst/>
              <a:cxnLst/>
              <a:rect l="l" t="t" r="r" b="b"/>
              <a:pathLst>
                <a:path w="650240" h="1700529">
                  <a:moveTo>
                    <a:pt x="649937" y="0"/>
                  </a:moveTo>
                  <a:lnTo>
                    <a:pt x="634984" y="39123"/>
                  </a:lnTo>
                  <a:lnTo>
                    <a:pt x="0" y="1700464"/>
                  </a:lnTo>
                </a:path>
              </a:pathLst>
            </a:custGeom>
            <a:ln w="83767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8E6D700-DA0C-A0B8-D5C7-AB684BA7B94F}"/>
                </a:ext>
              </a:extLst>
            </p:cNvPr>
            <p:cNvSpPr/>
            <p:nvPr/>
          </p:nvSpPr>
          <p:spPr>
            <a:xfrm>
              <a:off x="6559137" y="4869131"/>
              <a:ext cx="305435" cy="363855"/>
            </a:xfrm>
            <a:custGeom>
              <a:avLst/>
              <a:gdLst/>
              <a:ahLst/>
              <a:cxnLst/>
              <a:rect l="l" t="t" r="r" b="b"/>
              <a:pathLst>
                <a:path w="305434" h="363854">
                  <a:moveTo>
                    <a:pt x="269214" y="0"/>
                  </a:moveTo>
                  <a:lnTo>
                    <a:pt x="0" y="246844"/>
                  </a:lnTo>
                  <a:lnTo>
                    <a:pt x="305161" y="363478"/>
                  </a:lnTo>
                  <a:lnTo>
                    <a:pt x="269214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F82FC3B-2033-078B-3C42-7C19118F389E}"/>
                </a:ext>
              </a:extLst>
            </p:cNvPr>
            <p:cNvSpPr/>
            <p:nvPr/>
          </p:nvSpPr>
          <p:spPr>
            <a:xfrm>
              <a:off x="6432770" y="5139145"/>
              <a:ext cx="294005" cy="764540"/>
            </a:xfrm>
            <a:custGeom>
              <a:avLst/>
              <a:gdLst/>
              <a:ahLst/>
              <a:cxnLst/>
              <a:rect l="l" t="t" r="r" b="b"/>
              <a:pathLst>
                <a:path w="294004" h="764539">
                  <a:moveTo>
                    <a:pt x="293763" y="0"/>
                  </a:moveTo>
                  <a:lnTo>
                    <a:pt x="278741" y="39096"/>
                  </a:lnTo>
                  <a:lnTo>
                    <a:pt x="0" y="764542"/>
                  </a:lnTo>
                </a:path>
              </a:pathLst>
            </a:custGeom>
            <a:ln w="83767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805EABE-902A-C3F8-C81A-B5BC33469244}"/>
                </a:ext>
              </a:extLst>
            </p:cNvPr>
            <p:cNvSpPr/>
            <p:nvPr/>
          </p:nvSpPr>
          <p:spPr>
            <a:xfrm>
              <a:off x="6559032" y="4873286"/>
              <a:ext cx="305435" cy="363855"/>
            </a:xfrm>
            <a:custGeom>
              <a:avLst/>
              <a:gdLst/>
              <a:ahLst/>
              <a:cxnLst/>
              <a:rect l="l" t="t" r="r" b="b"/>
              <a:pathLst>
                <a:path w="305434" h="363854">
                  <a:moveTo>
                    <a:pt x="269650" y="0"/>
                  </a:moveTo>
                  <a:lnTo>
                    <a:pt x="0" y="246370"/>
                  </a:lnTo>
                  <a:lnTo>
                    <a:pt x="304956" y="363541"/>
                  </a:lnTo>
                  <a:lnTo>
                    <a:pt x="26965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AE087C8-9C3F-2F24-B301-E1E36ED5CC62}"/>
                </a:ext>
              </a:extLst>
            </p:cNvPr>
            <p:cNvSpPr/>
            <p:nvPr/>
          </p:nvSpPr>
          <p:spPr>
            <a:xfrm>
              <a:off x="2874259" y="4928598"/>
              <a:ext cx="1015365" cy="1914525"/>
            </a:xfrm>
            <a:custGeom>
              <a:avLst/>
              <a:gdLst/>
              <a:ahLst/>
              <a:cxnLst/>
              <a:rect l="l" t="t" r="r" b="b"/>
              <a:pathLst>
                <a:path w="1015364" h="1914525">
                  <a:moveTo>
                    <a:pt x="1015011" y="1914396"/>
                  </a:moveTo>
                  <a:lnTo>
                    <a:pt x="0" y="0"/>
                  </a:lnTo>
                </a:path>
              </a:pathLst>
            </a:custGeom>
            <a:ln w="62825">
              <a:solidFill>
                <a:srgbClr val="BD627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2098543-19BE-1389-F09C-3D4F98650463}"/>
                </a:ext>
              </a:extLst>
            </p:cNvPr>
            <p:cNvSpPr/>
            <p:nvPr/>
          </p:nvSpPr>
          <p:spPr>
            <a:xfrm>
              <a:off x="7694515" y="4942347"/>
              <a:ext cx="1511300" cy="1955800"/>
            </a:xfrm>
            <a:custGeom>
              <a:avLst/>
              <a:gdLst/>
              <a:ahLst/>
              <a:cxnLst/>
              <a:rect l="l" t="t" r="r" b="b"/>
              <a:pathLst>
                <a:path w="1511300" h="1955800">
                  <a:moveTo>
                    <a:pt x="0" y="1955703"/>
                  </a:moveTo>
                  <a:lnTo>
                    <a:pt x="1510739" y="0"/>
                  </a:lnTo>
                </a:path>
              </a:pathLst>
            </a:custGeom>
            <a:ln w="62825">
              <a:solidFill>
                <a:srgbClr val="BD627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47E68670-6066-DB33-0846-B79EB630B74F}"/>
              </a:ext>
            </a:extLst>
          </p:cNvPr>
          <p:cNvSpPr txBox="1"/>
          <p:nvPr/>
        </p:nvSpPr>
        <p:spPr>
          <a:xfrm>
            <a:off x="777780" y="1600768"/>
            <a:ext cx="153915" cy="4446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836" i="1" spc="-26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endParaRPr sz="2836">
              <a:latin typeface="Times New Roman"/>
              <a:cs typeface="Times New Roman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6996438-32AB-2ECB-D074-70ADDF58CCFA}"/>
              </a:ext>
            </a:extLst>
          </p:cNvPr>
          <p:cNvSpPr txBox="1"/>
          <p:nvPr/>
        </p:nvSpPr>
        <p:spPr>
          <a:xfrm>
            <a:off x="1305525" y="1449770"/>
            <a:ext cx="299315" cy="222225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19648">
              <a:spcBef>
                <a:spcPts val="62"/>
              </a:spcBef>
            </a:pPr>
            <a:r>
              <a:rPr sz="2089" i="1" spc="-15" baseline="14403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980" spc="-10" dirty="0">
                <a:solidFill>
                  <a:srgbClr val="0080CC"/>
                </a:solidFill>
                <a:latin typeface="Cambria"/>
                <a:cs typeface="Cambria"/>
              </a:rPr>
              <a:t>min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C8C9C3D-A6CC-3BA0-9AD8-5548CF05DA24}"/>
              </a:ext>
            </a:extLst>
          </p:cNvPr>
          <p:cNvSpPr txBox="1"/>
          <p:nvPr/>
        </p:nvSpPr>
        <p:spPr>
          <a:xfrm>
            <a:off x="768400" y="2910736"/>
            <a:ext cx="194195" cy="44466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2836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2836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E1A23E0-F414-F851-CB87-28ED862DA196}"/>
              </a:ext>
            </a:extLst>
          </p:cNvPr>
          <p:cNvSpPr txBox="1"/>
          <p:nvPr/>
        </p:nvSpPr>
        <p:spPr>
          <a:xfrm>
            <a:off x="4632727" y="1449129"/>
            <a:ext cx="320274" cy="222225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19648">
              <a:spcBef>
                <a:spcPts val="62"/>
              </a:spcBef>
            </a:pPr>
            <a:r>
              <a:rPr sz="2089" i="1" spc="-15" baseline="14403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980" spc="-10" dirty="0">
                <a:solidFill>
                  <a:srgbClr val="0080CC"/>
                </a:solidFill>
                <a:latin typeface="Cambria"/>
                <a:cs typeface="Cambria"/>
              </a:rPr>
              <a:t>max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98297A9-6A02-1265-3BB2-30B944EB91C7}"/>
              </a:ext>
            </a:extLst>
          </p:cNvPr>
          <p:cNvSpPr txBox="1"/>
          <p:nvPr/>
        </p:nvSpPr>
        <p:spPr>
          <a:xfrm>
            <a:off x="2694159" y="3350351"/>
            <a:ext cx="861268" cy="481764"/>
          </a:xfrm>
          <a:prstGeom prst="rect">
            <a:avLst/>
          </a:prstGeom>
        </p:spPr>
        <p:txBody>
          <a:bodyPr vert="horz" wrap="square" lIns="0" tIns="7205" rIns="0" bIns="0" rtlCol="0">
            <a:spAutoFit/>
          </a:bodyPr>
          <a:lstStyle/>
          <a:p>
            <a:pPr marR="5240" algn="ctr">
              <a:lnSpc>
                <a:spcPts val="2212"/>
              </a:lnSpc>
              <a:spcBef>
                <a:spcPts val="57"/>
              </a:spcBef>
            </a:pPr>
            <a:r>
              <a:rPr sz="1908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Z</a:t>
            </a:r>
            <a:endParaRPr sz="1908">
              <a:latin typeface="Times New Roman"/>
              <a:cs typeface="Times New Roman"/>
            </a:endParaRPr>
          </a:p>
          <a:p>
            <a:pPr algn="ctr">
              <a:lnSpc>
                <a:spcPts val="1532"/>
              </a:lnSpc>
            </a:pPr>
            <a:r>
              <a:rPr sz="1341" b="1" dirty="0">
                <a:latin typeface="Arial"/>
                <a:cs typeface="Arial"/>
              </a:rPr>
              <a:t>Zero</a:t>
            </a:r>
            <a:r>
              <a:rPr sz="1341" b="1" spc="70" dirty="0">
                <a:latin typeface="Arial"/>
                <a:cs typeface="Arial"/>
              </a:rPr>
              <a:t> </a:t>
            </a:r>
            <a:r>
              <a:rPr sz="1341" b="1" spc="-10" dirty="0">
                <a:latin typeface="Arial"/>
                <a:cs typeface="Arial"/>
              </a:rPr>
              <a:t>point</a:t>
            </a:r>
            <a:endParaRPr sz="1341"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511D4F5-0ECB-7AA6-CE86-3889C123A03F}"/>
              </a:ext>
            </a:extLst>
          </p:cNvPr>
          <p:cNvSpPr txBox="1"/>
          <p:nvPr/>
        </p:nvSpPr>
        <p:spPr>
          <a:xfrm>
            <a:off x="3468329" y="1447186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spc="-44" dirty="0">
                <a:solidFill>
                  <a:srgbClr val="0080CC"/>
                </a:solidFill>
                <a:latin typeface="Cambria"/>
                <a:cs typeface="Cambria"/>
              </a:rPr>
              <a:t>0</a:t>
            </a:r>
            <a:endParaRPr sz="1392">
              <a:latin typeface="Cambria"/>
              <a:cs typeface="Cambria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5488D7E-A39E-1F58-028A-C4990CFB5AE5}"/>
              </a:ext>
            </a:extLst>
          </p:cNvPr>
          <p:cNvSpPr txBox="1"/>
          <p:nvPr/>
        </p:nvSpPr>
        <p:spPr>
          <a:xfrm>
            <a:off x="4406794" y="2444861"/>
            <a:ext cx="1167788" cy="740385"/>
          </a:xfrm>
          <a:prstGeom prst="rect">
            <a:avLst/>
          </a:prstGeom>
        </p:spPr>
        <p:txBody>
          <a:bodyPr vert="horz" wrap="square" lIns="0" tIns="22596" rIns="0" bIns="0" rtlCol="0">
            <a:spAutoFit/>
          </a:bodyPr>
          <a:lstStyle/>
          <a:p>
            <a:pPr marL="104790">
              <a:spcBef>
                <a:spcPts val="178"/>
              </a:spcBef>
            </a:pPr>
            <a:r>
              <a:rPr sz="1908" spc="157" dirty="0">
                <a:solidFill>
                  <a:srgbClr val="0080CC"/>
                </a:solidFill>
                <a:latin typeface="Cambria"/>
                <a:cs typeface="Cambria"/>
              </a:rPr>
              <a:t>×</a:t>
            </a:r>
            <a:r>
              <a:rPr sz="1908" spc="3" dirty="0">
                <a:solidFill>
                  <a:srgbClr val="0080CC"/>
                </a:solidFill>
                <a:latin typeface="Cambria"/>
                <a:cs typeface="Cambria"/>
              </a:rPr>
              <a:t> </a:t>
            </a:r>
            <a:r>
              <a:rPr sz="1908" i="1" spc="-26" dirty="0">
                <a:solidFill>
                  <a:srgbClr val="0080CC"/>
                </a:solidFill>
                <a:latin typeface="Times New Roman"/>
                <a:cs typeface="Times New Roman"/>
              </a:rPr>
              <a:t>S</a:t>
            </a:r>
            <a:endParaRPr sz="1908">
              <a:latin typeface="Times New Roman"/>
              <a:cs typeface="Times New Roman"/>
            </a:endParaRPr>
          </a:p>
          <a:p>
            <a:pPr marL="356614" marR="2620" indent="-350392">
              <a:lnSpc>
                <a:spcPct val="103099"/>
              </a:lnSpc>
              <a:spcBef>
                <a:spcPts val="59"/>
              </a:spcBef>
            </a:pPr>
            <a:r>
              <a:rPr sz="1341" b="1" dirty="0">
                <a:latin typeface="Arial"/>
                <a:cs typeface="Arial"/>
              </a:rPr>
              <a:t>Floating-</a:t>
            </a:r>
            <a:r>
              <a:rPr sz="1341" b="1" spc="-5" dirty="0">
                <a:latin typeface="Arial"/>
                <a:cs typeface="Arial"/>
              </a:rPr>
              <a:t>point Scale</a:t>
            </a:r>
            <a:endParaRPr sz="1341"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08AAC9F-FCC9-0C26-596F-ABA3FB54A44D}"/>
              </a:ext>
            </a:extLst>
          </p:cNvPr>
          <p:cNvSpPr txBox="1"/>
          <p:nvPr/>
        </p:nvSpPr>
        <p:spPr>
          <a:xfrm>
            <a:off x="1899288" y="3351282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1392">
              <a:latin typeface="Times New Roman"/>
              <a:cs typeface="Times New Roman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F86AC1C-1949-F631-02C8-BD00FDF21FE1}"/>
              </a:ext>
            </a:extLst>
          </p:cNvPr>
          <p:cNvSpPr txBox="1"/>
          <p:nvPr/>
        </p:nvSpPr>
        <p:spPr>
          <a:xfrm>
            <a:off x="1982126" y="3447509"/>
            <a:ext cx="210241" cy="159408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6549">
              <a:spcBef>
                <a:spcPts val="67"/>
              </a:spcBef>
            </a:pPr>
            <a:r>
              <a:rPr sz="980" spc="-21" dirty="0">
                <a:solidFill>
                  <a:srgbClr val="A31F34"/>
                </a:solidFill>
                <a:latin typeface="Cambria"/>
                <a:cs typeface="Cambria"/>
              </a:rPr>
              <a:t>min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82BAE23-A5D9-732F-461F-3BFE2FEF495E}"/>
              </a:ext>
            </a:extLst>
          </p:cNvPr>
          <p:cNvSpPr txBox="1"/>
          <p:nvPr/>
        </p:nvSpPr>
        <p:spPr>
          <a:xfrm>
            <a:off x="3771784" y="3350641"/>
            <a:ext cx="102501" cy="222162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6549">
              <a:spcBef>
                <a:spcPts val="62"/>
              </a:spcBef>
            </a:pPr>
            <a:r>
              <a:rPr sz="1392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1392">
              <a:latin typeface="Times New Roman"/>
              <a:cs typeface="Times New Roman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F4E8E75-1285-60D1-6508-569F550381D1}"/>
              </a:ext>
            </a:extLst>
          </p:cNvPr>
          <p:cNvSpPr txBox="1"/>
          <p:nvPr/>
        </p:nvSpPr>
        <p:spPr>
          <a:xfrm>
            <a:off x="3854623" y="3446868"/>
            <a:ext cx="231199" cy="159408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6549">
              <a:spcBef>
                <a:spcPts val="67"/>
              </a:spcBef>
            </a:pPr>
            <a:r>
              <a:rPr sz="980" spc="-13" dirty="0">
                <a:solidFill>
                  <a:srgbClr val="A31F34"/>
                </a:solidFill>
                <a:latin typeface="Cambria"/>
                <a:cs typeface="Cambria"/>
              </a:rPr>
              <a:t>max</a:t>
            </a:r>
            <a:endParaRPr sz="980">
              <a:latin typeface="Cambria"/>
              <a:cs typeface="Cambria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7DCDF18-232F-C395-D839-2F07BA99F5A4}"/>
              </a:ext>
            </a:extLst>
          </p:cNvPr>
          <p:cNvSpPr txBox="1"/>
          <p:nvPr/>
        </p:nvSpPr>
        <p:spPr>
          <a:xfrm>
            <a:off x="1465444" y="1676035"/>
            <a:ext cx="2029710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26852">
              <a:spcBef>
                <a:spcPts val="70"/>
              </a:spcBef>
            </a:pPr>
            <a:r>
              <a:rPr sz="1341" b="1" dirty="0">
                <a:latin typeface="Arial"/>
                <a:cs typeface="Arial"/>
              </a:rPr>
              <a:t>Floating-</a:t>
            </a:r>
            <a:r>
              <a:rPr sz="1341" b="1" spc="-5" dirty="0">
                <a:latin typeface="Arial"/>
                <a:cs typeface="Arial"/>
              </a:rPr>
              <a:t>point</a:t>
            </a:r>
            <a:endParaRPr sz="1341"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0B8A378-FA87-1264-D296-3E3643CEA47D}"/>
              </a:ext>
            </a:extLst>
          </p:cNvPr>
          <p:cNvSpPr txBox="1"/>
          <p:nvPr/>
        </p:nvSpPr>
        <p:spPr>
          <a:xfrm>
            <a:off x="1465444" y="1845516"/>
            <a:ext cx="2029710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367421">
              <a:spcBef>
                <a:spcPts val="70"/>
              </a:spcBef>
            </a:pPr>
            <a:r>
              <a:rPr sz="1341" b="1" spc="-5" dirty="0">
                <a:latin typeface="Arial"/>
                <a:cs typeface="Arial"/>
              </a:rPr>
              <a:t>range</a:t>
            </a:r>
            <a:endParaRPr sz="1341">
              <a:latin typeface="Arial"/>
              <a:cs typeface="Arial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B0F4FB0-F976-5883-BD55-D41E88B2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55" y="4054405"/>
            <a:ext cx="4260921" cy="115741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C6B7347-038D-6F6C-4589-36937B95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276" y="4345623"/>
            <a:ext cx="1072862" cy="8189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93A81B-8069-ECDC-A434-A90093F94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739" y="1509068"/>
            <a:ext cx="2482742" cy="34557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16E8D69-EB30-6679-4176-3E6CB8334341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15685920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6D08-4226-D8D3-04E6-499E55DB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8A3B9E-725A-6076-9C9F-132B2C6360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Linear/Non-linear</a:t>
            </a:r>
            <a:endParaRPr spc="-57"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C80A39CC-AEA6-3598-1FC7-45EC7026F0F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14</a:t>
            </a:fld>
            <a:endParaRPr spc="23" dirty="0"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ECF311D0-DE2B-735F-AB56-B3197B8CFB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pc="-49" dirty="0"/>
              <a:t>Symmetric </a:t>
            </a:r>
            <a:r>
              <a:rPr lang="en" altLang="ko-KR" spc="-77" dirty="0"/>
              <a:t>Linear</a:t>
            </a:r>
            <a:r>
              <a:rPr lang="en" altLang="ko-KR" spc="-173" dirty="0"/>
              <a:t> </a:t>
            </a:r>
            <a:r>
              <a:rPr lang="en" altLang="ko-KR" spc="-57" dirty="0"/>
              <a:t>Quantization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5EE9D8-0051-7277-FD86-3CD510258BE4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D91BF66-DA3A-00FA-75E7-89FA0327A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86" y="1330965"/>
            <a:ext cx="7772400" cy="205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5416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0" rIns="103663" bIns="0" anchor="t" anchorCtr="0">
            <a:normAutofit/>
          </a:bodyPr>
          <a:lstStyle/>
          <a:p>
            <a:pPr>
              <a:buSzPct val="111111"/>
            </a:pPr>
            <a:r>
              <a:rPr kumimoji="1" lang="en-US" altLang="ko-KR" dirty="0"/>
              <a:t>3. Quantization – Linear/Non-linear</a:t>
            </a:r>
            <a:endParaRPr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723B0A-9E88-B04B-9758-6804DC3E7B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Nonlinear Quantization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EFCD6C-68AA-FEED-330D-377D76642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66" name="Google Shape;76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667" y="1409421"/>
            <a:ext cx="6139054" cy="4009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7" name="Google Shape;767;p36"/>
          <p:cNvCxnSpPr/>
          <p:nvPr/>
        </p:nvCxnSpPr>
        <p:spPr>
          <a:xfrm rot="10800000" flipH="1">
            <a:off x="5184076" y="3708055"/>
            <a:ext cx="1763710" cy="584388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8" name="Google Shape;768;p36"/>
          <p:cNvSpPr txBox="1"/>
          <p:nvPr/>
        </p:nvSpPr>
        <p:spPr>
          <a:xfrm>
            <a:off x="6820238" y="3361923"/>
            <a:ext cx="2493443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b="1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Non-linear quantization</a:t>
            </a:r>
            <a:endParaRPr sz="1588" b="1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36"/>
          <p:cNvCxnSpPr/>
          <p:nvPr/>
        </p:nvCxnSpPr>
        <p:spPr>
          <a:xfrm>
            <a:off x="6027720" y="4454414"/>
            <a:ext cx="1558256" cy="17348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0" name="Google Shape;770;p36"/>
          <p:cNvSpPr txBox="1"/>
          <p:nvPr/>
        </p:nvSpPr>
        <p:spPr>
          <a:xfrm>
            <a:off x="7495522" y="4270816"/>
            <a:ext cx="2166952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b="1" dirty="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Linear Quantization</a:t>
            </a:r>
            <a:endParaRPr sz="1588" b="1" dirty="0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472D7D4D-8528-52F6-25B9-5D6968FF3CA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15</a:t>
            </a:fld>
            <a:endParaRPr spc="2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3DA0B-C974-E713-4F10-F200D3C6EB7B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b8580d5dfc_1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03663" tIns="0" rIns="103663" bIns="0" anchor="t" anchorCtr="0">
            <a:normAutofit/>
          </a:bodyPr>
          <a:lstStyle/>
          <a:p>
            <a:r>
              <a:rPr kumimoji="1" lang="en-US" altLang="ko-KR" dirty="0"/>
              <a:t>3. Quantization – Linear/Non-linear</a:t>
            </a:r>
            <a:endParaRPr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F6473-4AE5-3266-2504-5D4B94114E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Non-Linear Quantization: 4-bit Case Study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A434B62-8987-8703-D9B4-EE08C13F4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80" name="Google Shape;780;g2b8580d5df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483" y="1045649"/>
            <a:ext cx="6109348" cy="439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ct 17">
            <a:extLst>
              <a:ext uri="{FF2B5EF4-FFF2-40B4-BE49-F238E27FC236}">
                <a16:creationId xmlns:a16="http://schemas.microsoft.com/office/drawing/2014/main" id="{4E1F27AF-EAEA-DA41-2B0A-01A2D426768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16</a:t>
            </a:fld>
            <a:endParaRPr spc="2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739A6-E24A-DCBD-965C-87DFFA335BF0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0" rIns="103663" bIns="0" anchor="t" anchorCtr="0">
            <a:normAutofit/>
          </a:bodyPr>
          <a:lstStyle/>
          <a:p>
            <a:pPr>
              <a:buSzPct val="111111"/>
            </a:pPr>
            <a:r>
              <a:rPr kumimoji="1" lang="en-US" altLang="ko-KR" dirty="0"/>
              <a:t>3. Quantization – Linear/Non-linear</a:t>
            </a:r>
            <a:endParaRPr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1F3EDE-672F-9255-A67D-209384F15E9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Non-Linear Quantization: K-means Clustering</a:t>
            </a:r>
            <a:endParaRPr lang="ko-KR" altLang="en-US" dirty="0"/>
          </a:p>
        </p:txBody>
      </p:sp>
      <p:sp>
        <p:nvSpPr>
          <p:cNvPr id="788" name="Google Shape;788;p37"/>
          <p:cNvSpPr txBox="1">
            <a:spLocks noGrp="1"/>
          </p:cNvSpPr>
          <p:nvPr>
            <p:ph type="body" idx="1"/>
          </p:nvPr>
        </p:nvSpPr>
        <p:spPr>
          <a:xfrm>
            <a:off x="187265" y="946501"/>
            <a:ext cx="5412257" cy="459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r>
              <a:rPr lang="en" dirty="0"/>
              <a:t>Represent each group of numbers by a single “centroid”</a:t>
            </a:r>
            <a:endParaRPr dirty="0"/>
          </a:p>
          <a:p>
            <a:r>
              <a:rPr lang="en" dirty="0"/>
              <a:t>Choose how many clusters you want</a:t>
            </a:r>
            <a:endParaRPr dirty="0"/>
          </a:p>
          <a:p>
            <a:r>
              <a:rPr lang="en" dirty="0"/>
              <a:t>For k clusters, need log</a:t>
            </a:r>
            <a:r>
              <a:rPr lang="en" baseline="-25000" dirty="0"/>
              <a:t>2</a:t>
            </a:r>
            <a:r>
              <a:rPr lang="en" dirty="0"/>
              <a:t>(k) bits to represent centroids</a:t>
            </a:r>
            <a:endParaRPr dirty="0"/>
          </a:p>
        </p:txBody>
      </p:sp>
      <p:pic>
        <p:nvPicPr>
          <p:cNvPr id="790" name="Google Shape;7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7616" y="1408911"/>
            <a:ext cx="4015545" cy="401554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7"/>
          <p:cNvSpPr txBox="1"/>
          <p:nvPr/>
        </p:nvSpPr>
        <p:spPr>
          <a:xfrm>
            <a:off x="6128056" y="4968797"/>
            <a:ext cx="3671647" cy="38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134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source:https://mubaris.com/posts/kmeans-clustering/</a:t>
            </a:r>
            <a:endParaRPr sz="1134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2" name="Google Shape;79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026" y="3008230"/>
            <a:ext cx="4276785" cy="2321992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7"/>
          <p:cNvSpPr txBox="1"/>
          <p:nvPr/>
        </p:nvSpPr>
        <p:spPr>
          <a:xfrm>
            <a:off x="863996" y="5108800"/>
            <a:ext cx="4015545" cy="40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248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Source: Han et al. Deep Compression</a:t>
            </a:r>
            <a:endParaRPr sz="1248" i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0B9B8B84-D233-9BF9-2D88-A93D2D2A2F5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17</a:t>
            </a:fld>
            <a:endParaRPr spc="23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6A808-B8BD-1094-3621-95E9F53343C4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E6932F7-CF40-5E0C-0EDF-C933853D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Course Schedule</a:t>
            </a:r>
            <a:endParaRPr lang="ko-KR" altLang="en-US" dirty="0"/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79693455-4F31-00A5-DF1E-C7075B0B2E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88F9F16-0E8E-F3D7-7BE3-A34DBB2D3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1C401-B1C8-E3F0-27A8-0DEB0A44C6DD}"/>
              </a:ext>
            </a:extLst>
          </p:cNvPr>
          <p:cNvSpPr txBox="1"/>
          <p:nvPr/>
        </p:nvSpPr>
        <p:spPr>
          <a:xfrm>
            <a:off x="8081189" y="901992"/>
            <a:ext cx="1872053" cy="336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sz="1587" b="1" dirty="0">
                <a:solidFill>
                  <a:schemeClr val="accent2">
                    <a:lumMod val="75000"/>
                  </a:schemeClr>
                </a:solidFill>
              </a:rPr>
              <a:t>SW  </a:t>
            </a:r>
            <a:r>
              <a:rPr lang="en-US" altLang="ko-KR" sz="1587" b="1" dirty="0">
                <a:solidFill>
                  <a:schemeClr val="accent4">
                    <a:lumMod val="75000"/>
                  </a:schemeClr>
                </a:solidFill>
              </a:rPr>
              <a:t>System  </a:t>
            </a:r>
            <a:r>
              <a:rPr lang="en-US" altLang="ko-KR" sz="1587" b="1" dirty="0">
                <a:solidFill>
                  <a:schemeClr val="accent5">
                    <a:lumMod val="75000"/>
                  </a:schemeClr>
                </a:solidFill>
              </a:rPr>
              <a:t>HW</a:t>
            </a:r>
            <a:endParaRPr lang="ko-KR" altLang="en-US" sz="1736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1D4043F-D2B7-34F7-F508-038E0358E748}"/>
              </a:ext>
            </a:extLst>
          </p:cNvPr>
          <p:cNvGraphicFramePr>
            <a:graphicFrameLocks noGrp="1"/>
          </p:cNvGraphicFramePr>
          <p:nvPr/>
        </p:nvGraphicFramePr>
        <p:xfrm>
          <a:off x="493260" y="1294513"/>
          <a:ext cx="9459983" cy="4002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2166">
                  <a:extLst>
                    <a:ext uri="{9D8B030D-6E8A-4147-A177-3AD203B41FA5}">
                      <a16:colId xmlns:a16="http://schemas.microsoft.com/office/drawing/2014/main" val="2484405795"/>
                    </a:ext>
                  </a:extLst>
                </a:gridCol>
                <a:gridCol w="2745939">
                  <a:extLst>
                    <a:ext uri="{9D8B030D-6E8A-4147-A177-3AD203B41FA5}">
                      <a16:colId xmlns:a16="http://schemas.microsoft.com/office/drawing/2014/main" val="917418016"/>
                    </a:ext>
                  </a:extLst>
                </a:gridCol>
                <a:gridCol w="2745939">
                  <a:extLst>
                    <a:ext uri="{9D8B030D-6E8A-4147-A177-3AD203B41FA5}">
                      <a16:colId xmlns:a16="http://schemas.microsoft.com/office/drawing/2014/main" val="2042936913"/>
                    </a:ext>
                  </a:extLst>
                </a:gridCol>
                <a:gridCol w="2745939">
                  <a:extLst>
                    <a:ext uri="{9D8B030D-6E8A-4147-A177-3AD203B41FA5}">
                      <a16:colId xmlns:a16="http://schemas.microsoft.com/office/drawing/2014/main" val="2745060085"/>
                    </a:ext>
                  </a:extLst>
                </a:gridCol>
              </a:tblGrid>
              <a:tr h="667048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4/7(</a:t>
                      </a:r>
                      <a:r>
                        <a:rPr lang="ko-KR" altLang="en-US" sz="1600" b="1" dirty="0"/>
                        <a:t>월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4/8(</a:t>
                      </a:r>
                      <a:r>
                        <a:rPr lang="ko-KR" altLang="en-US" sz="1600" b="1" dirty="0"/>
                        <a:t>화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4/9(</a:t>
                      </a:r>
                      <a:r>
                        <a:rPr lang="ko-KR" altLang="en-US" sz="1600" b="1" dirty="0"/>
                        <a:t>수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extLst>
                  <a:ext uri="{0D108BD9-81ED-4DB2-BD59-A6C34878D82A}">
                    <a16:rowId xmlns:a16="http://schemas.microsoft.com/office/drawing/2014/main" val="2078372680"/>
                  </a:ext>
                </a:extLst>
              </a:tr>
              <a:tr h="667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9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-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10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1. Introduction</a:t>
                      </a:r>
                      <a:endParaRPr lang="ko-KR" altLang="en-US" sz="1600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 Quantization (2)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7. Dataflow &amp; Mapping</a:t>
                      </a:r>
                      <a:endParaRPr lang="ko-KR" altLang="en-US" sz="16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extLst>
                  <a:ext uri="{0D108BD9-81ED-4DB2-BD59-A6C34878D82A}">
                    <a16:rowId xmlns:a16="http://schemas.microsoft.com/office/drawing/2014/main" val="1389247547"/>
                  </a:ext>
                </a:extLst>
              </a:tr>
              <a:tr h="667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10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-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11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4. Knowledge distillation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035071"/>
                  </a:ext>
                </a:extLst>
              </a:tr>
              <a:tr h="667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11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-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12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5. Neural architecture search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8. AI Accelerator</a:t>
                      </a:r>
                      <a:endParaRPr lang="ko-KR" altLang="en-US" sz="16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extLst>
                  <a:ext uri="{0D108BD9-81ED-4DB2-BD59-A6C34878D82A}">
                    <a16:rowId xmlns:a16="http://schemas.microsoft.com/office/drawing/2014/main" val="1962659992"/>
                  </a:ext>
                </a:extLst>
              </a:tr>
              <a:tr h="667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16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-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17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 Pruning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6. Case study:</a:t>
                      </a:r>
                      <a:b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Efficient LLM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194198"/>
                  </a:ext>
                </a:extLst>
              </a:tr>
              <a:tr h="667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/>
                        <a:t>17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-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18</a:t>
                      </a:r>
                      <a:endParaRPr lang="ko-KR" altLang="en-US" sz="1600" b="1" dirty="0"/>
                    </a:p>
                  </a:txBody>
                  <a:tcPr marL="103680" marR="103680" marT="51840" marB="5184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 Quantization (1)</a:t>
                      </a:r>
                      <a:endParaRPr lang="ko-KR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9. In-memory / </a:t>
                      </a:r>
                      <a:br>
                        <a:rPr lang="en-US" altLang="ko-KR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in-sensor computing</a:t>
                      </a:r>
                      <a:endParaRPr lang="ko-KR" altLang="en-US" sz="16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103680" marR="103680" marT="51840" marB="51840" anchor="ctr"/>
                </a:tc>
                <a:extLst>
                  <a:ext uri="{0D108BD9-81ED-4DB2-BD59-A6C34878D82A}">
                    <a16:rowId xmlns:a16="http://schemas.microsoft.com/office/drawing/2014/main" val="416545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2772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</a:t>
            </a:r>
            <a:endParaRPr spc="-9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19</a:t>
            </a:fld>
            <a:endParaRPr spc="23" dirty="0"/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2633B58E-E523-6B3C-8CCE-F4DBABC8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02335-69A2-5787-E17F-4DD56EC7A2BA}"/>
              </a:ext>
            </a:extLst>
          </p:cNvPr>
          <p:cNvSpPr txBox="1"/>
          <p:nvPr/>
        </p:nvSpPr>
        <p:spPr>
          <a:xfrm>
            <a:off x="477520" y="5003842"/>
            <a:ext cx="5222240" cy="327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youtu.be</a:t>
            </a:r>
            <a:r>
              <a:rPr lang="ko-KR" altLang="en-US" dirty="0"/>
              <a:t>/-</a:t>
            </a:r>
            <a:r>
              <a:rPr lang="ko-KR" altLang="en-US" dirty="0" err="1"/>
              <a:t>GsrYvZoAdA?feature</a:t>
            </a:r>
            <a:r>
              <a:rPr lang="ko-KR" altLang="en-US" dirty="0"/>
              <a:t>=</a:t>
            </a:r>
            <a:r>
              <a:rPr lang="ko-KR" altLang="en-US" dirty="0" err="1"/>
              <a:t>shared</a:t>
            </a:r>
            <a:endParaRPr lang="ko-KR" altLang="en-US" dirty="0"/>
          </a:p>
        </p:txBody>
      </p:sp>
      <p:pic>
        <p:nvPicPr>
          <p:cNvPr id="5" name="온라인 미디어 4" descr="위 수식이 틀린 이유는? (개발자 면접 타임)">
            <a:hlinkClick r:id="" action="ppaction://media"/>
            <a:extLst>
              <a:ext uri="{FF2B5EF4-FFF2-40B4-BE49-F238E27FC236}">
                <a16:creationId xmlns:a16="http://schemas.microsoft.com/office/drawing/2014/main" id="{99577D59-895A-25E3-EE48-1E3C2C8828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77520" y="748073"/>
            <a:ext cx="7384732" cy="417237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66A7-F8B0-1F7D-3259-F61A7F56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9A0C85-1E08-4439-CCA6-53DE2B076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</a:t>
            </a:r>
            <a:r>
              <a:rPr lang="en" altLang="ko-KR" spc="-90" dirty="0"/>
              <a:t>Granularity</a:t>
            </a:r>
            <a:endParaRPr spc="-90"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9F3332D-D5B7-41AA-35D6-9C1A008EC1C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20</a:t>
            </a:fld>
            <a:endParaRPr spc="23" dirty="0"/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45012A58-F351-55D9-91C3-E23977DF8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" altLang="ko-KR" dirty="0"/>
              <a:t>Per-Tensor Quantization</a:t>
            </a:r>
          </a:p>
          <a:p>
            <a:pPr>
              <a:lnSpc>
                <a:spcPct val="200000"/>
              </a:lnSpc>
            </a:pPr>
            <a:r>
              <a:rPr lang="en" altLang="ko-KR" dirty="0"/>
              <a:t>Per-Channel Quantization</a:t>
            </a:r>
          </a:p>
          <a:p>
            <a:pPr>
              <a:lnSpc>
                <a:spcPct val="200000"/>
              </a:lnSpc>
            </a:pPr>
            <a:r>
              <a:rPr lang="en" altLang="ko-KR" dirty="0"/>
              <a:t>Group Quantization</a:t>
            </a:r>
          </a:p>
          <a:p>
            <a:pPr lvl="1">
              <a:lnSpc>
                <a:spcPct val="200000"/>
              </a:lnSpc>
            </a:pPr>
            <a:r>
              <a:rPr lang="en" altLang="ko-KR" dirty="0"/>
              <a:t>Per-Vector Quantization</a:t>
            </a:r>
          </a:p>
          <a:p>
            <a:pPr lvl="1">
              <a:lnSpc>
                <a:spcPct val="200000"/>
              </a:lnSpc>
            </a:pPr>
            <a:r>
              <a:rPr lang="en" altLang="ko-KR" dirty="0"/>
              <a:t>Shared Micro-exponent (MX) data type</a:t>
            </a: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2ACE49E2-EF1A-ED17-1951-AEABB50EFD35}"/>
              </a:ext>
            </a:extLst>
          </p:cNvPr>
          <p:cNvGrpSpPr/>
          <p:nvPr/>
        </p:nvGrpSpPr>
        <p:grpSpPr>
          <a:xfrm>
            <a:off x="5443329" y="2555338"/>
            <a:ext cx="1058410" cy="540012"/>
            <a:chOff x="6994551" y="5130733"/>
            <a:chExt cx="2052320" cy="104711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FF4A5C1-FCE7-9922-FB93-C9D0043D9F93}"/>
                </a:ext>
              </a:extLst>
            </p:cNvPr>
            <p:cNvSpPr/>
            <p:nvPr/>
          </p:nvSpPr>
          <p:spPr>
            <a:xfrm>
              <a:off x="7015492" y="5151684"/>
              <a:ext cx="1005205" cy="125730"/>
            </a:xfrm>
            <a:custGeom>
              <a:avLst/>
              <a:gdLst/>
              <a:ahLst/>
              <a:cxnLst/>
              <a:rect l="l" t="t" r="r" b="b"/>
              <a:pathLst>
                <a:path w="1005204" h="125729">
                  <a:moveTo>
                    <a:pt x="1005205" y="0"/>
                  </a:moveTo>
                  <a:lnTo>
                    <a:pt x="1005205" y="0"/>
                  </a:lnTo>
                  <a:lnTo>
                    <a:pt x="0" y="0"/>
                  </a:lnTo>
                  <a:lnTo>
                    <a:pt x="0" y="125641"/>
                  </a:lnTo>
                  <a:lnTo>
                    <a:pt x="1005205" y="125641"/>
                  </a:lnTo>
                  <a:lnTo>
                    <a:pt x="1005205" y="0"/>
                  </a:lnTo>
                  <a:close/>
                </a:path>
              </a:pathLst>
            </a:custGeom>
            <a:solidFill>
              <a:srgbClr val="87D6D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42B3F05-4B00-5ADA-EE16-C64BE6616DC4}"/>
                </a:ext>
              </a:extLst>
            </p:cNvPr>
            <p:cNvSpPr/>
            <p:nvPr/>
          </p:nvSpPr>
          <p:spPr>
            <a:xfrm>
              <a:off x="7015492" y="5151684"/>
              <a:ext cx="2010410" cy="628650"/>
            </a:xfrm>
            <a:custGeom>
              <a:avLst/>
              <a:gdLst/>
              <a:ahLst/>
              <a:cxnLst/>
              <a:rect l="l" t="t" r="r" b="b"/>
              <a:pathLst>
                <a:path w="2010409" h="628650">
                  <a:moveTo>
                    <a:pt x="2010410" y="0"/>
                  </a:moveTo>
                  <a:lnTo>
                    <a:pt x="2010410" y="0"/>
                  </a:lnTo>
                  <a:lnTo>
                    <a:pt x="1005205" y="0"/>
                  </a:lnTo>
                  <a:lnTo>
                    <a:pt x="1005205" y="125641"/>
                  </a:lnTo>
                  <a:lnTo>
                    <a:pt x="0" y="125641"/>
                  </a:lnTo>
                  <a:lnTo>
                    <a:pt x="0" y="251294"/>
                  </a:lnTo>
                  <a:lnTo>
                    <a:pt x="0" y="376948"/>
                  </a:lnTo>
                  <a:lnTo>
                    <a:pt x="0" y="502602"/>
                  </a:lnTo>
                  <a:lnTo>
                    <a:pt x="0" y="628243"/>
                  </a:lnTo>
                  <a:lnTo>
                    <a:pt x="125641" y="628243"/>
                  </a:lnTo>
                  <a:lnTo>
                    <a:pt x="1884756" y="628243"/>
                  </a:lnTo>
                  <a:lnTo>
                    <a:pt x="1884756" y="502602"/>
                  </a:lnTo>
                  <a:lnTo>
                    <a:pt x="2010410" y="502602"/>
                  </a:lnTo>
                  <a:lnTo>
                    <a:pt x="2010410" y="376948"/>
                  </a:lnTo>
                  <a:lnTo>
                    <a:pt x="2010410" y="251294"/>
                  </a:lnTo>
                  <a:lnTo>
                    <a:pt x="2010410" y="125641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F2D6637-D488-1863-9A3A-43CE5DD5FE8C}"/>
                </a:ext>
              </a:extLst>
            </p:cNvPr>
            <p:cNvSpPr/>
            <p:nvPr/>
          </p:nvSpPr>
          <p:spPr>
            <a:xfrm>
              <a:off x="7015492" y="5654287"/>
              <a:ext cx="2010410" cy="502920"/>
            </a:xfrm>
            <a:custGeom>
              <a:avLst/>
              <a:gdLst/>
              <a:ahLst/>
              <a:cxnLst/>
              <a:rect l="l" t="t" r="r" b="b"/>
              <a:pathLst>
                <a:path w="2010409" h="502920">
                  <a:moveTo>
                    <a:pt x="2010410" y="0"/>
                  </a:moveTo>
                  <a:lnTo>
                    <a:pt x="1884756" y="0"/>
                  </a:lnTo>
                  <a:lnTo>
                    <a:pt x="1759102" y="0"/>
                  </a:lnTo>
                  <a:lnTo>
                    <a:pt x="1759102" y="125641"/>
                  </a:lnTo>
                  <a:lnTo>
                    <a:pt x="0" y="125641"/>
                  </a:lnTo>
                  <a:lnTo>
                    <a:pt x="0" y="251294"/>
                  </a:lnTo>
                  <a:lnTo>
                    <a:pt x="0" y="376948"/>
                  </a:lnTo>
                  <a:lnTo>
                    <a:pt x="0" y="502602"/>
                  </a:lnTo>
                  <a:lnTo>
                    <a:pt x="125641" y="502602"/>
                  </a:lnTo>
                  <a:lnTo>
                    <a:pt x="2010410" y="502602"/>
                  </a:lnTo>
                  <a:lnTo>
                    <a:pt x="2010410" y="376948"/>
                  </a:lnTo>
                  <a:lnTo>
                    <a:pt x="2010410" y="251294"/>
                  </a:lnTo>
                  <a:lnTo>
                    <a:pt x="2010410" y="125641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2192321-EDE4-35DF-04C6-209003A0A9F2}"/>
                </a:ext>
              </a:extLst>
            </p:cNvPr>
            <p:cNvSpPr/>
            <p:nvPr/>
          </p:nvSpPr>
          <p:spPr>
            <a:xfrm>
              <a:off x="7141143" y="5130733"/>
              <a:ext cx="754380" cy="1047115"/>
            </a:xfrm>
            <a:custGeom>
              <a:avLst/>
              <a:gdLst/>
              <a:ahLst/>
              <a:cxnLst/>
              <a:rect l="l" t="t" r="r" b="b"/>
              <a:pathLst>
                <a:path w="754379" h="1047114">
                  <a:moveTo>
                    <a:pt x="0" y="0"/>
                  </a:moveTo>
                  <a:lnTo>
                    <a:pt x="0" y="1047088"/>
                  </a:lnTo>
                </a:path>
                <a:path w="754379" h="1047114">
                  <a:moveTo>
                    <a:pt x="125650" y="0"/>
                  </a:moveTo>
                  <a:lnTo>
                    <a:pt x="125650" y="1047088"/>
                  </a:lnTo>
                </a:path>
                <a:path w="754379" h="1047114">
                  <a:moveTo>
                    <a:pt x="251301" y="0"/>
                  </a:moveTo>
                  <a:lnTo>
                    <a:pt x="251301" y="1047088"/>
                  </a:lnTo>
                </a:path>
                <a:path w="754379" h="1047114">
                  <a:moveTo>
                    <a:pt x="376951" y="0"/>
                  </a:moveTo>
                  <a:lnTo>
                    <a:pt x="376951" y="1047088"/>
                  </a:lnTo>
                </a:path>
                <a:path w="754379" h="1047114">
                  <a:moveTo>
                    <a:pt x="502602" y="0"/>
                  </a:moveTo>
                  <a:lnTo>
                    <a:pt x="502602" y="1047088"/>
                  </a:lnTo>
                </a:path>
                <a:path w="754379" h="1047114">
                  <a:moveTo>
                    <a:pt x="628253" y="0"/>
                  </a:moveTo>
                  <a:lnTo>
                    <a:pt x="628253" y="1047088"/>
                  </a:lnTo>
                </a:path>
                <a:path w="754379" h="1047114">
                  <a:moveTo>
                    <a:pt x="753903" y="0"/>
                  </a:moveTo>
                  <a:lnTo>
                    <a:pt x="753903" y="1047088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0AF2E7B-B481-DC2E-95AD-B6BC908AA520}"/>
                </a:ext>
              </a:extLst>
            </p:cNvPr>
            <p:cNvSpPr/>
            <p:nvPr/>
          </p:nvSpPr>
          <p:spPr>
            <a:xfrm>
              <a:off x="8020698" y="5130733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h="539750">
                  <a:moveTo>
                    <a:pt x="0" y="0"/>
                  </a:moveTo>
                  <a:lnTo>
                    <a:pt x="0" y="146592"/>
                  </a:lnTo>
                </a:path>
                <a:path h="539750">
                  <a:moveTo>
                    <a:pt x="0" y="146592"/>
                  </a:moveTo>
                  <a:lnTo>
                    <a:pt x="0" y="272243"/>
                  </a:lnTo>
                </a:path>
                <a:path h="539750">
                  <a:moveTo>
                    <a:pt x="0" y="272243"/>
                  </a:moveTo>
                  <a:lnTo>
                    <a:pt x="0" y="397893"/>
                  </a:lnTo>
                </a:path>
                <a:path h="539750">
                  <a:moveTo>
                    <a:pt x="0" y="397893"/>
                  </a:moveTo>
                  <a:lnTo>
                    <a:pt x="0" y="539250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69235F5-92AD-B825-F2C2-D7189ECBC37E}"/>
                </a:ext>
              </a:extLst>
            </p:cNvPr>
            <p:cNvSpPr/>
            <p:nvPr/>
          </p:nvSpPr>
          <p:spPr>
            <a:xfrm>
              <a:off x="8020698" y="5130733"/>
              <a:ext cx="880110" cy="1047115"/>
            </a:xfrm>
            <a:custGeom>
              <a:avLst/>
              <a:gdLst/>
              <a:ahLst/>
              <a:cxnLst/>
              <a:rect l="l" t="t" r="r" b="b"/>
              <a:pathLst>
                <a:path w="880109" h="1047114">
                  <a:moveTo>
                    <a:pt x="0" y="539250"/>
                  </a:moveTo>
                  <a:lnTo>
                    <a:pt x="0" y="1047088"/>
                  </a:lnTo>
                </a:path>
                <a:path w="880109" h="1047114">
                  <a:moveTo>
                    <a:pt x="125650" y="0"/>
                  </a:moveTo>
                  <a:lnTo>
                    <a:pt x="125650" y="1047088"/>
                  </a:lnTo>
                </a:path>
                <a:path w="880109" h="1047114">
                  <a:moveTo>
                    <a:pt x="251301" y="0"/>
                  </a:moveTo>
                  <a:lnTo>
                    <a:pt x="251301" y="1047088"/>
                  </a:lnTo>
                </a:path>
                <a:path w="880109" h="1047114">
                  <a:moveTo>
                    <a:pt x="376951" y="0"/>
                  </a:moveTo>
                  <a:lnTo>
                    <a:pt x="376951" y="1047088"/>
                  </a:lnTo>
                </a:path>
                <a:path w="880109" h="1047114">
                  <a:moveTo>
                    <a:pt x="502602" y="0"/>
                  </a:moveTo>
                  <a:lnTo>
                    <a:pt x="502602" y="1047088"/>
                  </a:lnTo>
                </a:path>
                <a:path w="880109" h="1047114">
                  <a:moveTo>
                    <a:pt x="628253" y="0"/>
                  </a:moveTo>
                  <a:lnTo>
                    <a:pt x="628253" y="1047088"/>
                  </a:lnTo>
                </a:path>
                <a:path w="880109" h="1047114">
                  <a:moveTo>
                    <a:pt x="753903" y="0"/>
                  </a:moveTo>
                  <a:lnTo>
                    <a:pt x="753903" y="1047088"/>
                  </a:lnTo>
                </a:path>
                <a:path w="880109" h="1047114">
                  <a:moveTo>
                    <a:pt x="879554" y="0"/>
                  </a:moveTo>
                  <a:lnTo>
                    <a:pt x="879554" y="1047088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B7946C11-B5B5-9C2A-21C9-3D0D2BFA7341}"/>
                </a:ext>
              </a:extLst>
            </p:cNvPr>
            <p:cNvSpPr/>
            <p:nvPr/>
          </p:nvSpPr>
          <p:spPr>
            <a:xfrm>
              <a:off x="6994551" y="5277326"/>
              <a:ext cx="1042035" cy="0"/>
            </a:xfrm>
            <a:custGeom>
              <a:avLst/>
              <a:gdLst/>
              <a:ahLst/>
              <a:cxnLst/>
              <a:rect l="l" t="t" r="r" b="b"/>
              <a:pathLst>
                <a:path w="1042034">
                  <a:moveTo>
                    <a:pt x="0" y="0"/>
                  </a:moveTo>
                  <a:lnTo>
                    <a:pt x="1041853" y="0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FDF8E77D-F1DB-2DF0-7E23-2E47D916BC9A}"/>
                </a:ext>
              </a:extLst>
            </p:cNvPr>
            <p:cNvSpPr/>
            <p:nvPr/>
          </p:nvSpPr>
          <p:spPr>
            <a:xfrm>
              <a:off x="8036404" y="5277326"/>
              <a:ext cx="1010919" cy="0"/>
            </a:xfrm>
            <a:custGeom>
              <a:avLst/>
              <a:gdLst/>
              <a:ahLst/>
              <a:cxnLst/>
              <a:rect l="l" t="t" r="r" b="b"/>
              <a:pathLst>
                <a:path w="1010920">
                  <a:moveTo>
                    <a:pt x="0" y="0"/>
                  </a:moveTo>
                  <a:lnTo>
                    <a:pt x="1010440" y="0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39534A64-7643-E836-B752-FDEB23D9242F}"/>
                </a:ext>
              </a:extLst>
            </p:cNvPr>
            <p:cNvSpPr/>
            <p:nvPr/>
          </p:nvSpPr>
          <p:spPr>
            <a:xfrm>
              <a:off x="6994551" y="5402976"/>
              <a:ext cx="1042035" cy="0"/>
            </a:xfrm>
            <a:custGeom>
              <a:avLst/>
              <a:gdLst/>
              <a:ahLst/>
              <a:cxnLst/>
              <a:rect l="l" t="t" r="r" b="b"/>
              <a:pathLst>
                <a:path w="1042034">
                  <a:moveTo>
                    <a:pt x="0" y="0"/>
                  </a:moveTo>
                  <a:lnTo>
                    <a:pt x="1041853" y="0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57EE127-D2CD-F0B7-1CEC-44E19591B4AC}"/>
                </a:ext>
              </a:extLst>
            </p:cNvPr>
            <p:cNvSpPr/>
            <p:nvPr/>
          </p:nvSpPr>
          <p:spPr>
            <a:xfrm>
              <a:off x="8036404" y="5402976"/>
              <a:ext cx="1010919" cy="0"/>
            </a:xfrm>
            <a:custGeom>
              <a:avLst/>
              <a:gdLst/>
              <a:ahLst/>
              <a:cxnLst/>
              <a:rect l="l" t="t" r="r" b="b"/>
              <a:pathLst>
                <a:path w="1010920">
                  <a:moveTo>
                    <a:pt x="0" y="0"/>
                  </a:moveTo>
                  <a:lnTo>
                    <a:pt x="1010440" y="0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C40423C6-701E-4124-3501-C495C6C18031}"/>
                </a:ext>
              </a:extLst>
            </p:cNvPr>
            <p:cNvSpPr/>
            <p:nvPr/>
          </p:nvSpPr>
          <p:spPr>
            <a:xfrm>
              <a:off x="6994551" y="5528627"/>
              <a:ext cx="1042035" cy="0"/>
            </a:xfrm>
            <a:custGeom>
              <a:avLst/>
              <a:gdLst/>
              <a:ahLst/>
              <a:cxnLst/>
              <a:rect l="l" t="t" r="r" b="b"/>
              <a:pathLst>
                <a:path w="1042034">
                  <a:moveTo>
                    <a:pt x="0" y="0"/>
                  </a:moveTo>
                  <a:lnTo>
                    <a:pt x="1041853" y="0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610E71DD-751F-9828-AD96-535A08C8169F}"/>
                </a:ext>
              </a:extLst>
            </p:cNvPr>
            <p:cNvSpPr/>
            <p:nvPr/>
          </p:nvSpPr>
          <p:spPr>
            <a:xfrm>
              <a:off x="8036404" y="5528627"/>
              <a:ext cx="1010919" cy="0"/>
            </a:xfrm>
            <a:custGeom>
              <a:avLst/>
              <a:gdLst/>
              <a:ahLst/>
              <a:cxnLst/>
              <a:rect l="l" t="t" r="r" b="b"/>
              <a:pathLst>
                <a:path w="1010920">
                  <a:moveTo>
                    <a:pt x="0" y="0"/>
                  </a:moveTo>
                  <a:lnTo>
                    <a:pt x="1010440" y="0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21BCB44-8559-D29D-1DDD-43C792D39ED6}"/>
                </a:ext>
              </a:extLst>
            </p:cNvPr>
            <p:cNvSpPr/>
            <p:nvPr/>
          </p:nvSpPr>
          <p:spPr>
            <a:xfrm>
              <a:off x="6994551" y="5654277"/>
              <a:ext cx="1042035" cy="0"/>
            </a:xfrm>
            <a:custGeom>
              <a:avLst/>
              <a:gdLst/>
              <a:ahLst/>
              <a:cxnLst/>
              <a:rect l="l" t="t" r="r" b="b"/>
              <a:pathLst>
                <a:path w="1042034">
                  <a:moveTo>
                    <a:pt x="0" y="0"/>
                  </a:moveTo>
                  <a:lnTo>
                    <a:pt x="1041853" y="0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1D6110A-4062-C852-9096-74C889FE15F8}"/>
                </a:ext>
              </a:extLst>
            </p:cNvPr>
            <p:cNvSpPr/>
            <p:nvPr/>
          </p:nvSpPr>
          <p:spPr>
            <a:xfrm>
              <a:off x="6994551" y="5654277"/>
              <a:ext cx="2052320" cy="377190"/>
            </a:xfrm>
            <a:custGeom>
              <a:avLst/>
              <a:gdLst/>
              <a:ahLst/>
              <a:cxnLst/>
              <a:rect l="l" t="t" r="r" b="b"/>
              <a:pathLst>
                <a:path w="2052320" h="377189">
                  <a:moveTo>
                    <a:pt x="1041853" y="0"/>
                  </a:moveTo>
                  <a:lnTo>
                    <a:pt x="2052293" y="0"/>
                  </a:lnTo>
                </a:path>
                <a:path w="2052320" h="377189">
                  <a:moveTo>
                    <a:pt x="0" y="125650"/>
                  </a:moveTo>
                  <a:lnTo>
                    <a:pt x="2052293" y="125650"/>
                  </a:lnTo>
                </a:path>
                <a:path w="2052320" h="377189">
                  <a:moveTo>
                    <a:pt x="0" y="251301"/>
                  </a:moveTo>
                  <a:lnTo>
                    <a:pt x="2052293" y="251301"/>
                  </a:lnTo>
                </a:path>
                <a:path w="2052320" h="377189">
                  <a:moveTo>
                    <a:pt x="0" y="376951"/>
                  </a:moveTo>
                  <a:lnTo>
                    <a:pt x="2052293" y="376951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C51B1E25-9CAB-8D3E-DCBF-4E635F643028}"/>
                </a:ext>
              </a:extLst>
            </p:cNvPr>
            <p:cNvSpPr/>
            <p:nvPr/>
          </p:nvSpPr>
          <p:spPr>
            <a:xfrm>
              <a:off x="6994551" y="5130733"/>
              <a:ext cx="2052320" cy="1047115"/>
            </a:xfrm>
            <a:custGeom>
              <a:avLst/>
              <a:gdLst/>
              <a:ahLst/>
              <a:cxnLst/>
              <a:rect l="l" t="t" r="r" b="b"/>
              <a:pathLst>
                <a:path w="2052320" h="1047114">
                  <a:moveTo>
                    <a:pt x="20941" y="0"/>
                  </a:moveTo>
                  <a:lnTo>
                    <a:pt x="20941" y="1047088"/>
                  </a:lnTo>
                </a:path>
                <a:path w="2052320" h="1047114">
                  <a:moveTo>
                    <a:pt x="2031351" y="0"/>
                  </a:moveTo>
                  <a:lnTo>
                    <a:pt x="2031351" y="1047088"/>
                  </a:lnTo>
                </a:path>
                <a:path w="2052320" h="1047114">
                  <a:moveTo>
                    <a:pt x="0" y="20941"/>
                  </a:moveTo>
                  <a:lnTo>
                    <a:pt x="2052293" y="20941"/>
                  </a:lnTo>
                </a:path>
                <a:path w="2052320" h="1047114">
                  <a:moveTo>
                    <a:pt x="0" y="1026146"/>
                  </a:moveTo>
                  <a:lnTo>
                    <a:pt x="2052293" y="1026146"/>
                  </a:lnTo>
                </a:path>
              </a:pathLst>
            </a:custGeom>
            <a:ln w="41883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C5A2C22E-C31C-67DA-2E7E-B14E45A57AEA}"/>
              </a:ext>
            </a:extLst>
          </p:cNvPr>
          <p:cNvGrpSpPr/>
          <p:nvPr/>
        </p:nvGrpSpPr>
        <p:grpSpPr>
          <a:xfrm>
            <a:off x="5443329" y="1712941"/>
            <a:ext cx="1058410" cy="540012"/>
            <a:chOff x="6994551" y="3497275"/>
            <a:chExt cx="2052320" cy="1047115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2418772A-D2E0-B65B-C72D-96E460190789}"/>
                </a:ext>
              </a:extLst>
            </p:cNvPr>
            <p:cNvSpPr/>
            <p:nvPr/>
          </p:nvSpPr>
          <p:spPr>
            <a:xfrm>
              <a:off x="7015492" y="3518223"/>
              <a:ext cx="2010410" cy="125730"/>
            </a:xfrm>
            <a:custGeom>
              <a:avLst/>
              <a:gdLst/>
              <a:ahLst/>
              <a:cxnLst/>
              <a:rect l="l" t="t" r="r" b="b"/>
              <a:pathLst>
                <a:path w="2010409" h="125729">
                  <a:moveTo>
                    <a:pt x="2010410" y="0"/>
                  </a:moveTo>
                  <a:lnTo>
                    <a:pt x="2010410" y="0"/>
                  </a:lnTo>
                  <a:lnTo>
                    <a:pt x="0" y="0"/>
                  </a:lnTo>
                  <a:lnTo>
                    <a:pt x="0" y="125653"/>
                  </a:lnTo>
                  <a:lnTo>
                    <a:pt x="2010410" y="125653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87D6D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5D6EB4C-92FA-6BC1-D224-BEDFD4417DE8}"/>
                </a:ext>
              </a:extLst>
            </p:cNvPr>
            <p:cNvSpPr/>
            <p:nvPr/>
          </p:nvSpPr>
          <p:spPr>
            <a:xfrm>
              <a:off x="7015492" y="3643877"/>
              <a:ext cx="2010410" cy="628650"/>
            </a:xfrm>
            <a:custGeom>
              <a:avLst/>
              <a:gdLst/>
              <a:ahLst/>
              <a:cxnLst/>
              <a:rect l="l" t="t" r="r" b="b"/>
              <a:pathLst>
                <a:path w="2010409" h="628650">
                  <a:moveTo>
                    <a:pt x="2010410" y="0"/>
                  </a:moveTo>
                  <a:lnTo>
                    <a:pt x="2010410" y="0"/>
                  </a:lnTo>
                  <a:lnTo>
                    <a:pt x="0" y="0"/>
                  </a:lnTo>
                  <a:lnTo>
                    <a:pt x="0" y="125641"/>
                  </a:lnTo>
                  <a:lnTo>
                    <a:pt x="0" y="251294"/>
                  </a:lnTo>
                  <a:lnTo>
                    <a:pt x="0" y="376948"/>
                  </a:lnTo>
                  <a:lnTo>
                    <a:pt x="0" y="502602"/>
                  </a:lnTo>
                  <a:lnTo>
                    <a:pt x="0" y="628243"/>
                  </a:lnTo>
                  <a:lnTo>
                    <a:pt x="125641" y="628243"/>
                  </a:lnTo>
                  <a:lnTo>
                    <a:pt x="879551" y="628243"/>
                  </a:lnTo>
                  <a:lnTo>
                    <a:pt x="879551" y="502602"/>
                  </a:lnTo>
                  <a:lnTo>
                    <a:pt x="2010410" y="502602"/>
                  </a:lnTo>
                  <a:lnTo>
                    <a:pt x="2010410" y="376948"/>
                  </a:lnTo>
                  <a:lnTo>
                    <a:pt x="2010410" y="251294"/>
                  </a:lnTo>
                  <a:lnTo>
                    <a:pt x="2010410" y="125641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BE7DD7E-87D7-D3D0-BE3D-3DBD78124530}"/>
                </a:ext>
              </a:extLst>
            </p:cNvPr>
            <p:cNvSpPr/>
            <p:nvPr/>
          </p:nvSpPr>
          <p:spPr>
            <a:xfrm>
              <a:off x="7015492" y="4146479"/>
              <a:ext cx="2010410" cy="377190"/>
            </a:xfrm>
            <a:custGeom>
              <a:avLst/>
              <a:gdLst/>
              <a:ahLst/>
              <a:cxnLst/>
              <a:rect l="l" t="t" r="r" b="b"/>
              <a:pathLst>
                <a:path w="2010409" h="377189">
                  <a:moveTo>
                    <a:pt x="2010410" y="0"/>
                  </a:moveTo>
                  <a:lnTo>
                    <a:pt x="2010410" y="0"/>
                  </a:lnTo>
                  <a:lnTo>
                    <a:pt x="753897" y="0"/>
                  </a:lnTo>
                  <a:lnTo>
                    <a:pt x="753897" y="125641"/>
                  </a:lnTo>
                  <a:lnTo>
                    <a:pt x="0" y="125641"/>
                  </a:lnTo>
                  <a:lnTo>
                    <a:pt x="0" y="251294"/>
                  </a:lnTo>
                  <a:lnTo>
                    <a:pt x="0" y="376948"/>
                  </a:lnTo>
                  <a:lnTo>
                    <a:pt x="125641" y="376948"/>
                  </a:lnTo>
                  <a:lnTo>
                    <a:pt x="251294" y="376948"/>
                  </a:lnTo>
                  <a:lnTo>
                    <a:pt x="2010410" y="376948"/>
                  </a:lnTo>
                  <a:lnTo>
                    <a:pt x="2010410" y="251294"/>
                  </a:lnTo>
                  <a:lnTo>
                    <a:pt x="2010410" y="125641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BE5D1AA-827E-8CE4-EDB1-C4761458D1FC}"/>
                </a:ext>
              </a:extLst>
            </p:cNvPr>
            <p:cNvSpPr/>
            <p:nvPr/>
          </p:nvSpPr>
          <p:spPr>
            <a:xfrm>
              <a:off x="7141143" y="3497275"/>
              <a:ext cx="754380" cy="1047115"/>
            </a:xfrm>
            <a:custGeom>
              <a:avLst/>
              <a:gdLst/>
              <a:ahLst/>
              <a:cxnLst/>
              <a:rect l="l" t="t" r="r" b="b"/>
              <a:pathLst>
                <a:path w="754379" h="1047114">
                  <a:moveTo>
                    <a:pt x="0" y="0"/>
                  </a:moveTo>
                  <a:lnTo>
                    <a:pt x="0" y="1047088"/>
                  </a:lnTo>
                </a:path>
                <a:path w="754379" h="1047114">
                  <a:moveTo>
                    <a:pt x="125650" y="0"/>
                  </a:moveTo>
                  <a:lnTo>
                    <a:pt x="125650" y="1047088"/>
                  </a:lnTo>
                </a:path>
                <a:path w="754379" h="1047114">
                  <a:moveTo>
                    <a:pt x="251301" y="0"/>
                  </a:moveTo>
                  <a:lnTo>
                    <a:pt x="251301" y="1047088"/>
                  </a:lnTo>
                </a:path>
                <a:path w="754379" h="1047114">
                  <a:moveTo>
                    <a:pt x="376951" y="0"/>
                  </a:moveTo>
                  <a:lnTo>
                    <a:pt x="376951" y="1047088"/>
                  </a:lnTo>
                </a:path>
                <a:path w="754379" h="1047114">
                  <a:moveTo>
                    <a:pt x="502602" y="0"/>
                  </a:moveTo>
                  <a:lnTo>
                    <a:pt x="502602" y="1047088"/>
                  </a:lnTo>
                </a:path>
                <a:path w="754379" h="1047114">
                  <a:moveTo>
                    <a:pt x="628253" y="0"/>
                  </a:moveTo>
                  <a:lnTo>
                    <a:pt x="628253" y="1047088"/>
                  </a:lnTo>
                </a:path>
                <a:path w="754379" h="1047114">
                  <a:moveTo>
                    <a:pt x="753903" y="0"/>
                  </a:moveTo>
                  <a:lnTo>
                    <a:pt x="753903" y="1047088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2701F4F-D1F9-0A55-B0BD-9EDA9DFE86F5}"/>
                </a:ext>
              </a:extLst>
            </p:cNvPr>
            <p:cNvSpPr/>
            <p:nvPr/>
          </p:nvSpPr>
          <p:spPr>
            <a:xfrm>
              <a:off x="8020698" y="3497275"/>
              <a:ext cx="0" cy="523875"/>
            </a:xfrm>
            <a:custGeom>
              <a:avLst/>
              <a:gdLst/>
              <a:ahLst/>
              <a:cxnLst/>
              <a:rect l="l" t="t" r="r" b="b"/>
              <a:pathLst>
                <a:path h="523875">
                  <a:moveTo>
                    <a:pt x="0" y="0"/>
                  </a:moveTo>
                  <a:lnTo>
                    <a:pt x="0" y="523544"/>
                  </a:lnTo>
                </a:path>
              </a:pathLst>
            </a:custGeom>
            <a:ln w="10470">
              <a:solidFill>
                <a:srgbClr val="87D6D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921848C-464B-2656-D9D8-82D8D2FB802D}"/>
                </a:ext>
              </a:extLst>
            </p:cNvPr>
            <p:cNvSpPr/>
            <p:nvPr/>
          </p:nvSpPr>
          <p:spPr>
            <a:xfrm>
              <a:off x="8020698" y="3497275"/>
              <a:ext cx="880110" cy="1047115"/>
            </a:xfrm>
            <a:custGeom>
              <a:avLst/>
              <a:gdLst/>
              <a:ahLst/>
              <a:cxnLst/>
              <a:rect l="l" t="t" r="r" b="b"/>
              <a:pathLst>
                <a:path w="880109" h="1047114">
                  <a:moveTo>
                    <a:pt x="0" y="523544"/>
                  </a:moveTo>
                  <a:lnTo>
                    <a:pt x="0" y="1047088"/>
                  </a:lnTo>
                </a:path>
                <a:path w="880109" h="1047114">
                  <a:moveTo>
                    <a:pt x="125650" y="0"/>
                  </a:moveTo>
                  <a:lnTo>
                    <a:pt x="125650" y="1047088"/>
                  </a:lnTo>
                </a:path>
                <a:path w="880109" h="1047114">
                  <a:moveTo>
                    <a:pt x="251301" y="0"/>
                  </a:moveTo>
                  <a:lnTo>
                    <a:pt x="251301" y="1047088"/>
                  </a:lnTo>
                </a:path>
                <a:path w="880109" h="1047114">
                  <a:moveTo>
                    <a:pt x="376951" y="0"/>
                  </a:moveTo>
                  <a:lnTo>
                    <a:pt x="376951" y="1047088"/>
                  </a:lnTo>
                </a:path>
                <a:path w="880109" h="1047114">
                  <a:moveTo>
                    <a:pt x="502602" y="0"/>
                  </a:moveTo>
                  <a:lnTo>
                    <a:pt x="502602" y="1047088"/>
                  </a:lnTo>
                </a:path>
                <a:path w="880109" h="1047114">
                  <a:moveTo>
                    <a:pt x="628253" y="0"/>
                  </a:moveTo>
                  <a:lnTo>
                    <a:pt x="628253" y="1047088"/>
                  </a:lnTo>
                </a:path>
                <a:path w="880109" h="1047114">
                  <a:moveTo>
                    <a:pt x="753903" y="0"/>
                  </a:moveTo>
                  <a:lnTo>
                    <a:pt x="753903" y="1047088"/>
                  </a:lnTo>
                </a:path>
                <a:path w="880109" h="1047114">
                  <a:moveTo>
                    <a:pt x="879554" y="0"/>
                  </a:moveTo>
                  <a:lnTo>
                    <a:pt x="879554" y="1047088"/>
                  </a:lnTo>
                </a:path>
              </a:pathLst>
            </a:custGeom>
            <a:ln w="10470">
              <a:solidFill>
                <a:srgbClr val="71CED5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8AAC7A1F-859C-13C9-BAFD-B775762CC798}"/>
                </a:ext>
              </a:extLst>
            </p:cNvPr>
            <p:cNvSpPr/>
            <p:nvPr/>
          </p:nvSpPr>
          <p:spPr>
            <a:xfrm>
              <a:off x="6994551" y="3643868"/>
              <a:ext cx="2052320" cy="754380"/>
            </a:xfrm>
            <a:custGeom>
              <a:avLst/>
              <a:gdLst/>
              <a:ahLst/>
              <a:cxnLst/>
              <a:rect l="l" t="t" r="r" b="b"/>
              <a:pathLst>
                <a:path w="2052320" h="754379">
                  <a:moveTo>
                    <a:pt x="0" y="0"/>
                  </a:moveTo>
                  <a:lnTo>
                    <a:pt x="1026146" y="0"/>
                  </a:lnTo>
                </a:path>
                <a:path w="2052320" h="754379">
                  <a:moveTo>
                    <a:pt x="1026146" y="0"/>
                  </a:moveTo>
                  <a:lnTo>
                    <a:pt x="2052293" y="0"/>
                  </a:lnTo>
                </a:path>
                <a:path w="2052320" h="754379">
                  <a:moveTo>
                    <a:pt x="0" y="125650"/>
                  </a:moveTo>
                  <a:lnTo>
                    <a:pt x="1026146" y="125650"/>
                  </a:lnTo>
                </a:path>
                <a:path w="2052320" h="754379">
                  <a:moveTo>
                    <a:pt x="1026146" y="125650"/>
                  </a:moveTo>
                  <a:lnTo>
                    <a:pt x="2052293" y="125650"/>
                  </a:lnTo>
                </a:path>
                <a:path w="2052320" h="754379">
                  <a:moveTo>
                    <a:pt x="0" y="251301"/>
                  </a:moveTo>
                  <a:lnTo>
                    <a:pt x="900496" y="251301"/>
                  </a:lnTo>
                </a:path>
                <a:path w="2052320" h="754379">
                  <a:moveTo>
                    <a:pt x="900496" y="251301"/>
                  </a:moveTo>
                  <a:lnTo>
                    <a:pt x="2052293" y="251301"/>
                  </a:lnTo>
                </a:path>
                <a:path w="2052320" h="754379">
                  <a:moveTo>
                    <a:pt x="0" y="376951"/>
                  </a:moveTo>
                  <a:lnTo>
                    <a:pt x="900496" y="376951"/>
                  </a:lnTo>
                </a:path>
                <a:path w="2052320" h="754379">
                  <a:moveTo>
                    <a:pt x="900496" y="376951"/>
                  </a:moveTo>
                  <a:lnTo>
                    <a:pt x="2052293" y="376951"/>
                  </a:lnTo>
                </a:path>
                <a:path w="2052320" h="754379">
                  <a:moveTo>
                    <a:pt x="0" y="502602"/>
                  </a:moveTo>
                  <a:lnTo>
                    <a:pt x="2052293" y="502602"/>
                  </a:lnTo>
                </a:path>
                <a:path w="2052320" h="754379">
                  <a:moveTo>
                    <a:pt x="0" y="628253"/>
                  </a:moveTo>
                  <a:lnTo>
                    <a:pt x="2052293" y="628253"/>
                  </a:lnTo>
                </a:path>
                <a:path w="2052320" h="754379">
                  <a:moveTo>
                    <a:pt x="0" y="753903"/>
                  </a:moveTo>
                  <a:lnTo>
                    <a:pt x="2052293" y="753903"/>
                  </a:lnTo>
                </a:path>
              </a:pathLst>
            </a:custGeom>
            <a:ln w="31412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201AF355-4DFC-B49A-9B8F-11239101C801}"/>
                </a:ext>
              </a:extLst>
            </p:cNvPr>
            <p:cNvSpPr/>
            <p:nvPr/>
          </p:nvSpPr>
          <p:spPr>
            <a:xfrm>
              <a:off x="6994551" y="3497275"/>
              <a:ext cx="2052320" cy="1047115"/>
            </a:xfrm>
            <a:custGeom>
              <a:avLst/>
              <a:gdLst/>
              <a:ahLst/>
              <a:cxnLst/>
              <a:rect l="l" t="t" r="r" b="b"/>
              <a:pathLst>
                <a:path w="2052320" h="1047114">
                  <a:moveTo>
                    <a:pt x="20941" y="0"/>
                  </a:moveTo>
                  <a:lnTo>
                    <a:pt x="20941" y="1047088"/>
                  </a:lnTo>
                </a:path>
                <a:path w="2052320" h="1047114">
                  <a:moveTo>
                    <a:pt x="2031351" y="0"/>
                  </a:moveTo>
                  <a:lnTo>
                    <a:pt x="2031351" y="1047088"/>
                  </a:lnTo>
                </a:path>
                <a:path w="2052320" h="1047114">
                  <a:moveTo>
                    <a:pt x="0" y="20941"/>
                  </a:moveTo>
                  <a:lnTo>
                    <a:pt x="2052293" y="20941"/>
                  </a:lnTo>
                </a:path>
                <a:path w="2052320" h="1047114">
                  <a:moveTo>
                    <a:pt x="0" y="1026146"/>
                  </a:moveTo>
                  <a:lnTo>
                    <a:pt x="2052293" y="1026146"/>
                  </a:lnTo>
                </a:path>
              </a:pathLst>
            </a:custGeom>
            <a:ln w="41883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DF6C06B7-7EDD-00A6-4AA0-7F6C92E1815B}"/>
              </a:ext>
            </a:extLst>
          </p:cNvPr>
          <p:cNvGrpSpPr/>
          <p:nvPr/>
        </p:nvGrpSpPr>
        <p:grpSpPr>
          <a:xfrm>
            <a:off x="5443329" y="870544"/>
            <a:ext cx="1058410" cy="540012"/>
            <a:chOff x="6994551" y="1863817"/>
            <a:chExt cx="2052320" cy="1047115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787CF6B4-B874-4B1C-9529-EA702923611C}"/>
                </a:ext>
              </a:extLst>
            </p:cNvPr>
            <p:cNvSpPr/>
            <p:nvPr/>
          </p:nvSpPr>
          <p:spPr>
            <a:xfrm>
              <a:off x="7015492" y="1884762"/>
              <a:ext cx="2010410" cy="628650"/>
            </a:xfrm>
            <a:custGeom>
              <a:avLst/>
              <a:gdLst/>
              <a:ahLst/>
              <a:cxnLst/>
              <a:rect l="l" t="t" r="r" b="b"/>
              <a:pathLst>
                <a:path w="2010409" h="628650">
                  <a:moveTo>
                    <a:pt x="2010410" y="0"/>
                  </a:moveTo>
                  <a:lnTo>
                    <a:pt x="2010410" y="0"/>
                  </a:lnTo>
                  <a:lnTo>
                    <a:pt x="0" y="0"/>
                  </a:lnTo>
                  <a:lnTo>
                    <a:pt x="0" y="125653"/>
                  </a:lnTo>
                  <a:lnTo>
                    <a:pt x="0" y="251307"/>
                  </a:lnTo>
                  <a:lnTo>
                    <a:pt x="0" y="376948"/>
                  </a:lnTo>
                  <a:lnTo>
                    <a:pt x="0" y="502602"/>
                  </a:lnTo>
                  <a:lnTo>
                    <a:pt x="0" y="628256"/>
                  </a:lnTo>
                  <a:lnTo>
                    <a:pt x="125641" y="628256"/>
                  </a:lnTo>
                  <a:lnTo>
                    <a:pt x="879551" y="628256"/>
                  </a:lnTo>
                  <a:lnTo>
                    <a:pt x="879551" y="502602"/>
                  </a:lnTo>
                  <a:lnTo>
                    <a:pt x="2010410" y="502602"/>
                  </a:lnTo>
                  <a:lnTo>
                    <a:pt x="2010410" y="376948"/>
                  </a:lnTo>
                  <a:lnTo>
                    <a:pt x="2010410" y="251307"/>
                  </a:lnTo>
                  <a:lnTo>
                    <a:pt x="2010410" y="125653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87D6D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B3F5181-64EC-2FE5-6E6F-5B3711F099BE}"/>
                </a:ext>
              </a:extLst>
            </p:cNvPr>
            <p:cNvSpPr/>
            <p:nvPr/>
          </p:nvSpPr>
          <p:spPr>
            <a:xfrm>
              <a:off x="7015492" y="2387364"/>
              <a:ext cx="2010410" cy="502920"/>
            </a:xfrm>
            <a:custGeom>
              <a:avLst/>
              <a:gdLst/>
              <a:ahLst/>
              <a:cxnLst/>
              <a:rect l="l" t="t" r="r" b="b"/>
              <a:pathLst>
                <a:path w="2010409" h="502919">
                  <a:moveTo>
                    <a:pt x="2010410" y="0"/>
                  </a:moveTo>
                  <a:lnTo>
                    <a:pt x="2010410" y="0"/>
                  </a:lnTo>
                  <a:lnTo>
                    <a:pt x="753897" y="0"/>
                  </a:lnTo>
                  <a:lnTo>
                    <a:pt x="753897" y="125653"/>
                  </a:lnTo>
                  <a:lnTo>
                    <a:pt x="0" y="125653"/>
                  </a:lnTo>
                  <a:lnTo>
                    <a:pt x="0" y="251307"/>
                  </a:lnTo>
                  <a:lnTo>
                    <a:pt x="0" y="376948"/>
                  </a:lnTo>
                  <a:lnTo>
                    <a:pt x="0" y="502602"/>
                  </a:lnTo>
                  <a:lnTo>
                    <a:pt x="125641" y="502602"/>
                  </a:lnTo>
                  <a:lnTo>
                    <a:pt x="2010410" y="502602"/>
                  </a:lnTo>
                  <a:lnTo>
                    <a:pt x="2010410" y="376948"/>
                  </a:lnTo>
                  <a:lnTo>
                    <a:pt x="2010410" y="251307"/>
                  </a:lnTo>
                  <a:lnTo>
                    <a:pt x="2010410" y="125653"/>
                  </a:lnTo>
                  <a:lnTo>
                    <a:pt x="2010410" y="0"/>
                  </a:lnTo>
                  <a:close/>
                </a:path>
              </a:pathLst>
            </a:custGeom>
            <a:solidFill>
              <a:srgbClr val="87D6DC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1537F65-C58E-A8D4-DA13-07F1CF872467}"/>
                </a:ext>
              </a:extLst>
            </p:cNvPr>
            <p:cNvSpPr/>
            <p:nvPr/>
          </p:nvSpPr>
          <p:spPr>
            <a:xfrm>
              <a:off x="6994551" y="1863817"/>
              <a:ext cx="2052320" cy="1047115"/>
            </a:xfrm>
            <a:custGeom>
              <a:avLst/>
              <a:gdLst/>
              <a:ahLst/>
              <a:cxnLst/>
              <a:rect l="l" t="t" r="r" b="b"/>
              <a:pathLst>
                <a:path w="2052320" h="1047114">
                  <a:moveTo>
                    <a:pt x="146592" y="0"/>
                  </a:moveTo>
                  <a:lnTo>
                    <a:pt x="146592" y="1047088"/>
                  </a:lnTo>
                </a:path>
                <a:path w="2052320" h="1047114">
                  <a:moveTo>
                    <a:pt x="272243" y="0"/>
                  </a:moveTo>
                  <a:lnTo>
                    <a:pt x="272243" y="1047088"/>
                  </a:lnTo>
                </a:path>
                <a:path w="2052320" h="1047114">
                  <a:moveTo>
                    <a:pt x="397893" y="0"/>
                  </a:moveTo>
                  <a:lnTo>
                    <a:pt x="397893" y="1047088"/>
                  </a:lnTo>
                </a:path>
                <a:path w="2052320" h="1047114">
                  <a:moveTo>
                    <a:pt x="523544" y="0"/>
                  </a:moveTo>
                  <a:lnTo>
                    <a:pt x="523544" y="1047088"/>
                  </a:lnTo>
                </a:path>
                <a:path w="2052320" h="1047114">
                  <a:moveTo>
                    <a:pt x="649194" y="0"/>
                  </a:moveTo>
                  <a:lnTo>
                    <a:pt x="649194" y="1047088"/>
                  </a:lnTo>
                </a:path>
                <a:path w="2052320" h="1047114">
                  <a:moveTo>
                    <a:pt x="774845" y="0"/>
                  </a:moveTo>
                  <a:lnTo>
                    <a:pt x="774845" y="1047088"/>
                  </a:lnTo>
                </a:path>
                <a:path w="2052320" h="1047114">
                  <a:moveTo>
                    <a:pt x="900496" y="0"/>
                  </a:moveTo>
                  <a:lnTo>
                    <a:pt x="900496" y="1047088"/>
                  </a:lnTo>
                </a:path>
                <a:path w="2052320" h="1047114">
                  <a:moveTo>
                    <a:pt x="1026146" y="0"/>
                  </a:moveTo>
                  <a:lnTo>
                    <a:pt x="1026146" y="1047088"/>
                  </a:lnTo>
                </a:path>
                <a:path w="2052320" h="1047114">
                  <a:moveTo>
                    <a:pt x="1151797" y="0"/>
                  </a:moveTo>
                  <a:lnTo>
                    <a:pt x="1151797" y="1047088"/>
                  </a:lnTo>
                </a:path>
                <a:path w="2052320" h="1047114">
                  <a:moveTo>
                    <a:pt x="1277448" y="0"/>
                  </a:moveTo>
                  <a:lnTo>
                    <a:pt x="1277448" y="1047088"/>
                  </a:lnTo>
                </a:path>
                <a:path w="2052320" h="1047114">
                  <a:moveTo>
                    <a:pt x="1403098" y="0"/>
                  </a:moveTo>
                  <a:lnTo>
                    <a:pt x="1403098" y="1047088"/>
                  </a:lnTo>
                </a:path>
                <a:path w="2052320" h="1047114">
                  <a:moveTo>
                    <a:pt x="1528749" y="0"/>
                  </a:moveTo>
                  <a:lnTo>
                    <a:pt x="1528749" y="1047088"/>
                  </a:lnTo>
                </a:path>
                <a:path w="2052320" h="1047114">
                  <a:moveTo>
                    <a:pt x="1654399" y="0"/>
                  </a:moveTo>
                  <a:lnTo>
                    <a:pt x="1654399" y="1047088"/>
                  </a:lnTo>
                </a:path>
                <a:path w="2052320" h="1047114">
                  <a:moveTo>
                    <a:pt x="1780050" y="0"/>
                  </a:moveTo>
                  <a:lnTo>
                    <a:pt x="1780050" y="1047088"/>
                  </a:lnTo>
                </a:path>
                <a:path w="2052320" h="1047114">
                  <a:moveTo>
                    <a:pt x="1905701" y="0"/>
                  </a:moveTo>
                  <a:lnTo>
                    <a:pt x="1905701" y="1047088"/>
                  </a:lnTo>
                </a:path>
                <a:path w="2052320" h="1047114">
                  <a:moveTo>
                    <a:pt x="0" y="146592"/>
                  </a:moveTo>
                  <a:lnTo>
                    <a:pt x="2052293" y="146592"/>
                  </a:lnTo>
                </a:path>
                <a:path w="2052320" h="1047114">
                  <a:moveTo>
                    <a:pt x="0" y="272243"/>
                  </a:moveTo>
                  <a:lnTo>
                    <a:pt x="2052293" y="272243"/>
                  </a:lnTo>
                </a:path>
                <a:path w="2052320" h="1047114">
                  <a:moveTo>
                    <a:pt x="0" y="397893"/>
                  </a:moveTo>
                  <a:lnTo>
                    <a:pt x="2052293" y="397893"/>
                  </a:lnTo>
                </a:path>
                <a:path w="2052320" h="1047114">
                  <a:moveTo>
                    <a:pt x="0" y="523544"/>
                  </a:moveTo>
                  <a:lnTo>
                    <a:pt x="2052293" y="523544"/>
                  </a:lnTo>
                </a:path>
                <a:path w="2052320" h="1047114">
                  <a:moveTo>
                    <a:pt x="0" y="649194"/>
                  </a:moveTo>
                  <a:lnTo>
                    <a:pt x="2052293" y="649194"/>
                  </a:lnTo>
                </a:path>
                <a:path w="2052320" h="1047114">
                  <a:moveTo>
                    <a:pt x="0" y="774845"/>
                  </a:moveTo>
                  <a:lnTo>
                    <a:pt x="2052293" y="774845"/>
                  </a:lnTo>
                </a:path>
                <a:path w="2052320" h="1047114">
                  <a:moveTo>
                    <a:pt x="0" y="900496"/>
                  </a:moveTo>
                  <a:lnTo>
                    <a:pt x="2052293" y="900496"/>
                  </a:lnTo>
                </a:path>
              </a:pathLst>
            </a:custGeom>
            <a:ln w="10470">
              <a:solidFill>
                <a:srgbClr val="87D6DC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DF7FD75-A8AF-0355-21E2-7A3F03BB1F11}"/>
                </a:ext>
              </a:extLst>
            </p:cNvPr>
            <p:cNvSpPr/>
            <p:nvPr/>
          </p:nvSpPr>
          <p:spPr>
            <a:xfrm>
              <a:off x="6994551" y="1863817"/>
              <a:ext cx="2052320" cy="1047115"/>
            </a:xfrm>
            <a:custGeom>
              <a:avLst/>
              <a:gdLst/>
              <a:ahLst/>
              <a:cxnLst/>
              <a:rect l="l" t="t" r="r" b="b"/>
              <a:pathLst>
                <a:path w="2052320" h="1047114">
                  <a:moveTo>
                    <a:pt x="20941" y="0"/>
                  </a:moveTo>
                  <a:lnTo>
                    <a:pt x="20941" y="1047088"/>
                  </a:lnTo>
                </a:path>
                <a:path w="2052320" h="1047114">
                  <a:moveTo>
                    <a:pt x="2031351" y="0"/>
                  </a:moveTo>
                  <a:lnTo>
                    <a:pt x="2031351" y="1047088"/>
                  </a:lnTo>
                </a:path>
                <a:path w="2052320" h="1047114">
                  <a:moveTo>
                    <a:pt x="0" y="20941"/>
                  </a:moveTo>
                  <a:lnTo>
                    <a:pt x="2052293" y="20941"/>
                  </a:lnTo>
                </a:path>
                <a:path w="2052320" h="1047114">
                  <a:moveTo>
                    <a:pt x="0" y="1026146"/>
                  </a:moveTo>
                  <a:lnTo>
                    <a:pt x="2052293" y="1026146"/>
                  </a:lnTo>
                </a:path>
              </a:pathLst>
            </a:custGeom>
            <a:ln w="41883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</p:spTree>
    <p:extLst>
      <p:ext uri="{BB962C8B-B14F-4D97-AF65-F5344CB8AC3E}">
        <p14:creationId xmlns:p14="http://schemas.microsoft.com/office/powerpoint/2010/main" val="138256355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</a:t>
            </a:r>
            <a:r>
              <a:rPr lang="en" altLang="ko-KR" spc="-90" dirty="0"/>
              <a:t>Granularity</a:t>
            </a:r>
            <a:endParaRPr spc="31" dirty="0"/>
          </a:p>
        </p:txBody>
      </p:sp>
      <p:sp>
        <p:nvSpPr>
          <p:cNvPr id="220" name="object 22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21</a:t>
            </a:fld>
            <a:endParaRPr spc="23" dirty="0"/>
          </a:p>
        </p:txBody>
      </p:sp>
      <p:sp>
        <p:nvSpPr>
          <p:cNvPr id="222" name="텍스트 개체 틀 221">
            <a:extLst>
              <a:ext uri="{FF2B5EF4-FFF2-40B4-BE49-F238E27FC236}">
                <a16:creationId xmlns:a16="http://schemas.microsoft.com/office/drawing/2014/main" id="{02E70A75-5075-B647-1D5F-2D2120A15F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64" dirty="0"/>
              <a:t>Per-Tensor: Symmetric</a:t>
            </a:r>
            <a:r>
              <a:rPr lang="en" altLang="ko-KR" spc="-165" dirty="0"/>
              <a:t> </a:t>
            </a:r>
            <a:r>
              <a:rPr lang="en" altLang="ko-KR" spc="-77" dirty="0"/>
              <a:t>Linear</a:t>
            </a:r>
            <a:r>
              <a:rPr lang="en" altLang="ko-KR" spc="-162" dirty="0"/>
              <a:t> </a:t>
            </a:r>
            <a:r>
              <a:rPr lang="en" altLang="ko-KR" spc="-70" dirty="0"/>
              <a:t>Quantization</a:t>
            </a:r>
            <a:r>
              <a:rPr lang="en" altLang="ko-KR" spc="-162" dirty="0"/>
              <a:t> </a:t>
            </a:r>
            <a:r>
              <a:rPr lang="en" altLang="ko-KR" spc="-57" dirty="0"/>
              <a:t>on</a:t>
            </a:r>
            <a:r>
              <a:rPr lang="en" altLang="ko-KR" spc="-162" dirty="0"/>
              <a:t> </a:t>
            </a:r>
            <a:r>
              <a:rPr lang="en" altLang="ko-KR" spc="-245" dirty="0"/>
              <a:t>W</a:t>
            </a:r>
            <a:r>
              <a:rPr lang="en" altLang="ko-KR" spc="-44" dirty="0"/>
              <a:t>e</a:t>
            </a:r>
            <a:r>
              <a:rPr lang="en" altLang="ko-KR" spc="-52" dirty="0"/>
              <a:t>i</a:t>
            </a:r>
            <a:r>
              <a:rPr lang="en" altLang="ko-KR" spc="-44" dirty="0"/>
              <a:t>g</a:t>
            </a:r>
            <a:r>
              <a:rPr lang="en" altLang="ko-KR" spc="-46" dirty="0"/>
              <a:t>h</a:t>
            </a:r>
            <a:r>
              <a:rPr lang="en" altLang="ko-KR" spc="-41" dirty="0"/>
              <a:t>t</a:t>
            </a:r>
            <a:r>
              <a:rPr lang="en" altLang="ko-KR" spc="31" dirty="0"/>
              <a:t>s</a:t>
            </a:r>
            <a:endParaRPr lang="ko-KR" altLang="en-US" dirty="0"/>
          </a:p>
        </p:txBody>
      </p:sp>
      <p:sp>
        <p:nvSpPr>
          <p:cNvPr id="221" name="텍스트 개체 틀 220">
            <a:extLst>
              <a:ext uri="{FF2B5EF4-FFF2-40B4-BE49-F238E27FC236}">
                <a16:creationId xmlns:a16="http://schemas.microsoft.com/office/drawing/2014/main" id="{7CC9F711-E407-3A0F-5BEE-658CF4A62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0026" y="1488744"/>
            <a:ext cx="4955918" cy="4595072"/>
          </a:xfrm>
        </p:spPr>
        <p:txBody>
          <a:bodyPr/>
          <a:lstStyle/>
          <a:p>
            <a:r>
              <a:rPr lang="en" altLang="ko-KR" dirty="0"/>
              <a:t>Using single scale for whole weight tensor</a:t>
            </a:r>
          </a:p>
          <a:p>
            <a:r>
              <a:rPr lang="en" altLang="ko-KR" dirty="0"/>
              <a:t>Common failure results from</a:t>
            </a:r>
          </a:p>
          <a:p>
            <a:pPr lvl="1"/>
            <a:r>
              <a:rPr lang="en" altLang="ko-KR" dirty="0"/>
              <a:t>Large differences (more than 100×) in ranges of weights for different output channels — outlier weight</a:t>
            </a:r>
          </a:p>
          <a:p>
            <a:r>
              <a:rPr lang="en" altLang="ko-KR" dirty="0"/>
              <a:t>Solution: Per-Channel Quantization</a:t>
            </a:r>
          </a:p>
          <a:p>
            <a:endParaRPr lang="en" altLang="ko-KR" dirty="0"/>
          </a:p>
          <a:p>
            <a:endParaRPr lang="en" altLang="ko-KR" dirty="0"/>
          </a:p>
          <a:p>
            <a:pPr lvl="1"/>
            <a:endParaRPr lang="en" altLang="ko-KR" dirty="0"/>
          </a:p>
          <a:p>
            <a:endParaRPr lang="en" altLang="ko-KR" dirty="0"/>
          </a:p>
          <a:p>
            <a:endParaRPr lang="ko-KR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5498616" y="968699"/>
            <a:ext cx="106103" cy="372092"/>
          </a:xfrm>
          <a:prstGeom prst="rect">
            <a:avLst/>
          </a:prstGeom>
        </p:spPr>
        <p:txBody>
          <a:bodyPr vert="horz" wrap="square" lIns="0" tIns="50104" rIns="0" bIns="0" rtlCol="0">
            <a:spAutoFit/>
          </a:bodyPr>
          <a:lstStyle/>
          <a:p>
            <a:pPr marL="6549">
              <a:spcBef>
                <a:spcPts val="395"/>
              </a:spcBef>
            </a:pPr>
            <a:r>
              <a:rPr sz="2089" spc="-400" dirty="0">
                <a:latin typeface="Trebuchet MS"/>
                <a:cs typeface="Trebuchet MS"/>
              </a:rPr>
              <a:t>•</a:t>
            </a:r>
            <a:endParaRPr sz="2089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6189" y="1065599"/>
            <a:ext cx="2484903" cy="322145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19648">
              <a:spcBef>
                <a:spcPts val="67"/>
              </a:spcBef>
              <a:tabLst>
                <a:tab pos="624812" algn="l"/>
              </a:tabLst>
            </a:pPr>
            <a:r>
              <a:rPr lang="en-US" altLang="ko-KR" sz="3056" spc="-15" baseline="19690" dirty="0">
                <a:latin typeface="Cambria"/>
                <a:cs typeface="Cambria"/>
              </a:rPr>
              <a:t>| </a:t>
            </a:r>
            <a:r>
              <a:rPr sz="3056" i="1" baseline="19690" dirty="0">
                <a:latin typeface="Times New Roman"/>
                <a:cs typeface="Times New Roman"/>
              </a:rPr>
              <a:t>r</a:t>
            </a:r>
            <a:r>
              <a:rPr sz="3056" i="1" spc="-421" baseline="19690" dirty="0">
                <a:latin typeface="Times New Roman"/>
                <a:cs typeface="Times New Roman"/>
              </a:rPr>
              <a:t> </a:t>
            </a:r>
            <a:r>
              <a:rPr sz="3056" spc="-15" baseline="19690" dirty="0">
                <a:latin typeface="Cambria"/>
                <a:cs typeface="Cambria"/>
              </a:rPr>
              <a:t>|</a:t>
            </a:r>
            <a:r>
              <a:rPr sz="1444" spc="-10" dirty="0">
                <a:latin typeface="Cambria"/>
                <a:cs typeface="Cambria"/>
              </a:rPr>
              <a:t>max</a:t>
            </a:r>
            <a:r>
              <a:rPr sz="1444" dirty="0">
                <a:latin typeface="Cambria"/>
                <a:cs typeface="Cambria"/>
              </a:rPr>
              <a:t>	</a:t>
            </a:r>
            <a:r>
              <a:rPr sz="3056" spc="406" baseline="19690" dirty="0">
                <a:latin typeface="Cambria"/>
                <a:cs typeface="Cambria"/>
              </a:rPr>
              <a:t>=</a:t>
            </a:r>
            <a:r>
              <a:rPr sz="3056" spc="185" baseline="19690" dirty="0">
                <a:latin typeface="Cambria"/>
                <a:cs typeface="Cambria"/>
              </a:rPr>
              <a:t> </a:t>
            </a:r>
            <a:r>
              <a:rPr sz="3056" baseline="19690" dirty="0">
                <a:latin typeface="Cambria"/>
                <a:cs typeface="Cambria"/>
              </a:rPr>
              <a:t>|</a:t>
            </a:r>
            <a:r>
              <a:rPr sz="3056" spc="-332" baseline="19690" dirty="0">
                <a:latin typeface="Cambria"/>
                <a:cs typeface="Cambria"/>
              </a:rPr>
              <a:t> </a:t>
            </a:r>
            <a:r>
              <a:rPr sz="3056" b="1" baseline="19690" dirty="0">
                <a:latin typeface="Times New Roman"/>
                <a:cs typeface="Times New Roman"/>
              </a:rPr>
              <a:t>W</a:t>
            </a:r>
            <a:r>
              <a:rPr sz="3056" b="1" spc="-418" baseline="19690" dirty="0">
                <a:latin typeface="Times New Roman"/>
                <a:cs typeface="Times New Roman"/>
              </a:rPr>
              <a:t> </a:t>
            </a:r>
            <a:r>
              <a:rPr sz="3056" spc="-15" baseline="19690" dirty="0">
                <a:latin typeface="Cambria"/>
                <a:cs typeface="Cambria"/>
              </a:rPr>
              <a:t>|</a:t>
            </a:r>
            <a:r>
              <a:rPr sz="1444" spc="-10" dirty="0">
                <a:latin typeface="Cambria"/>
                <a:cs typeface="Cambria"/>
              </a:rPr>
              <a:t>max</a:t>
            </a:r>
            <a:endParaRPr sz="1444" dirty="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968" y="3648162"/>
            <a:ext cx="819130" cy="8133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8759" y="3506180"/>
            <a:ext cx="816493" cy="129270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264639" y="3726070"/>
            <a:ext cx="134266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k</a:t>
            </a:r>
            <a:r>
              <a:rPr sz="1044" i="1" spc="-19" baseline="-18518" dirty="0">
                <a:latin typeface="Times New Roman"/>
                <a:cs typeface="Times New Roman"/>
              </a:rPr>
              <a:t>h</a:t>
            </a:r>
            <a:endParaRPr sz="1044" baseline="-1851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26612" y="3865613"/>
            <a:ext cx="114617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c</a:t>
            </a:r>
            <a:r>
              <a:rPr sz="1044" i="1" spc="-19" baseline="-18518" dirty="0">
                <a:latin typeface="Times New Roman"/>
                <a:cs typeface="Times New Roman"/>
              </a:rPr>
              <a:t>i</a:t>
            </a:r>
            <a:endParaRPr sz="1044" baseline="-1851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8064" y="4041956"/>
            <a:ext cx="134266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c</a:t>
            </a:r>
            <a:r>
              <a:rPr sz="1044" i="1" spc="-19" baseline="-18518" dirty="0">
                <a:latin typeface="Times New Roman"/>
                <a:cs typeface="Times New Roman"/>
              </a:rPr>
              <a:t>o</a:t>
            </a:r>
            <a:endParaRPr sz="1044" baseline="-18518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1573" y="3757520"/>
            <a:ext cx="487707" cy="48482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095582" y="4345891"/>
            <a:ext cx="114617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c</a:t>
            </a:r>
            <a:r>
              <a:rPr sz="1044" i="1" spc="-19" baseline="-18518" dirty="0">
                <a:latin typeface="Times New Roman"/>
                <a:cs typeface="Times New Roman"/>
              </a:rPr>
              <a:t>i</a:t>
            </a:r>
            <a:endParaRPr sz="1044" baseline="-185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1297" y="4140614"/>
            <a:ext cx="68443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980" i="1" spc="-26" dirty="0">
                <a:latin typeface="Times New Roman"/>
                <a:cs typeface="Times New Roman"/>
              </a:rPr>
              <a:t>c</a:t>
            </a:r>
            <a:endParaRPr sz="98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32078" y="4207682"/>
            <a:ext cx="57309" cy="11336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696" i="1" spc="-26" dirty="0">
                <a:latin typeface="Times New Roman"/>
                <a:cs typeface="Times New Roman"/>
              </a:rPr>
              <a:t>o</a:t>
            </a:r>
            <a:endParaRPr sz="696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24904" y="3677412"/>
            <a:ext cx="190265" cy="421408"/>
          </a:xfrm>
          <a:prstGeom prst="rect">
            <a:avLst/>
          </a:prstGeom>
        </p:spPr>
        <p:txBody>
          <a:bodyPr vert="horz" wrap="square" lIns="0" tIns="6550" rIns="0" bIns="0" rtlCol="0">
            <a:spAutoFit/>
          </a:bodyPr>
          <a:lstStyle/>
          <a:p>
            <a:pPr marL="19648" marR="15719" indent="28162">
              <a:lnSpc>
                <a:spcPct val="145600"/>
              </a:lnSpc>
              <a:spcBef>
                <a:spcPts val="52"/>
              </a:spcBef>
            </a:pPr>
            <a:r>
              <a:rPr sz="980" i="1" spc="-31" dirty="0">
                <a:latin typeface="Times New Roman"/>
                <a:cs typeface="Times New Roman"/>
              </a:rPr>
              <a:t>w</a:t>
            </a:r>
            <a:r>
              <a:rPr sz="1044" i="1" spc="-46" baseline="-18518" dirty="0">
                <a:latin typeface="Times New Roman"/>
                <a:cs typeface="Times New Roman"/>
              </a:rPr>
              <a:t>o </a:t>
            </a:r>
            <a:r>
              <a:rPr sz="980" i="1" spc="-26" dirty="0">
                <a:latin typeface="Times New Roman"/>
                <a:cs typeface="Times New Roman"/>
              </a:rPr>
              <a:t>h</a:t>
            </a:r>
            <a:endParaRPr sz="98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95739" y="4030162"/>
            <a:ext cx="57309" cy="11336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696" i="1" spc="-26" dirty="0">
                <a:latin typeface="Times New Roman"/>
                <a:cs typeface="Times New Roman"/>
              </a:rPr>
              <a:t>o</a:t>
            </a:r>
            <a:endParaRPr sz="696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41315" y="4072012"/>
            <a:ext cx="121822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h</a:t>
            </a:r>
            <a:r>
              <a:rPr sz="1044" i="1" spc="-19" baseline="-18518" dirty="0">
                <a:latin typeface="Times New Roman"/>
                <a:cs typeface="Times New Roman"/>
              </a:rPr>
              <a:t>i</a:t>
            </a:r>
            <a:endParaRPr sz="1044" baseline="-1851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79909" y="3707734"/>
            <a:ext cx="142453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">
              <a:spcBef>
                <a:spcPts val="49"/>
              </a:spcBef>
            </a:pPr>
            <a:r>
              <a:rPr sz="980" i="1" spc="-13" dirty="0">
                <a:latin typeface="Times New Roman"/>
                <a:cs typeface="Times New Roman"/>
              </a:rPr>
              <a:t>w</a:t>
            </a:r>
            <a:r>
              <a:rPr sz="1044" i="1" spc="-19" baseline="-18518" dirty="0">
                <a:latin typeface="Times New Roman"/>
                <a:cs typeface="Times New Roman"/>
              </a:rPr>
              <a:t>i</a:t>
            </a:r>
            <a:endParaRPr sz="1044" baseline="-1851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22942" y="3571416"/>
            <a:ext cx="68443" cy="15709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980" i="1" spc="-26" dirty="0">
                <a:latin typeface="Times New Roman"/>
                <a:cs typeface="Times New Roman"/>
              </a:rPr>
              <a:t>k</a:t>
            </a:r>
            <a:endParaRPr sz="98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79505" y="3638484"/>
            <a:ext cx="72045" cy="113363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696" i="1" spc="-26" dirty="0">
                <a:latin typeface="Times New Roman"/>
                <a:cs typeface="Times New Roman"/>
              </a:rPr>
              <a:t>w</a:t>
            </a:r>
            <a:endParaRPr sz="696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93581" y="1565104"/>
            <a:ext cx="3336021" cy="1299106"/>
            <a:chOff x="3865672" y="3034746"/>
            <a:chExt cx="6468745" cy="2519045"/>
          </a:xfrm>
        </p:grpSpPr>
        <p:sp>
          <p:nvSpPr>
            <p:cNvPr id="29" name="object 29"/>
            <p:cNvSpPr/>
            <p:nvPr/>
          </p:nvSpPr>
          <p:spPr>
            <a:xfrm>
              <a:off x="3902502" y="3325551"/>
              <a:ext cx="6179185" cy="0"/>
            </a:xfrm>
            <a:custGeom>
              <a:avLst/>
              <a:gdLst/>
              <a:ahLst/>
              <a:cxnLst/>
              <a:rect l="l" t="t" r="r" b="b"/>
              <a:pathLst>
                <a:path w="6179184">
                  <a:moveTo>
                    <a:pt x="0" y="0"/>
                  </a:moveTo>
                  <a:lnTo>
                    <a:pt x="3168596" y="0"/>
                  </a:lnTo>
                </a:path>
                <a:path w="6179184">
                  <a:moveTo>
                    <a:pt x="3262834" y="0"/>
                  </a:moveTo>
                  <a:lnTo>
                    <a:pt x="6179084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044938" y="318105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1" name="object 31"/>
            <p:cNvSpPr/>
            <p:nvPr/>
          </p:nvSpPr>
          <p:spPr>
            <a:xfrm>
              <a:off x="4627550" y="3034747"/>
              <a:ext cx="4981575" cy="581660"/>
            </a:xfrm>
            <a:custGeom>
              <a:avLst/>
              <a:gdLst/>
              <a:ahLst/>
              <a:cxnLst/>
              <a:rect l="l" t="t" r="r" b="b"/>
              <a:pathLst>
                <a:path w="4981575" h="581660">
                  <a:moveTo>
                    <a:pt x="2443543" y="0"/>
                  </a:moveTo>
                  <a:lnTo>
                    <a:pt x="0" y="0"/>
                  </a:lnTo>
                  <a:lnTo>
                    <a:pt x="0" y="581609"/>
                  </a:lnTo>
                  <a:lnTo>
                    <a:pt x="2443543" y="581609"/>
                  </a:lnTo>
                  <a:lnTo>
                    <a:pt x="2443543" y="0"/>
                  </a:lnTo>
                  <a:close/>
                </a:path>
                <a:path w="4981575" h="581660">
                  <a:moveTo>
                    <a:pt x="4981333" y="0"/>
                  </a:moveTo>
                  <a:lnTo>
                    <a:pt x="2537777" y="0"/>
                  </a:lnTo>
                  <a:lnTo>
                    <a:pt x="2537777" y="581609"/>
                  </a:lnTo>
                  <a:lnTo>
                    <a:pt x="4981333" y="581609"/>
                  </a:lnTo>
                  <a:lnTo>
                    <a:pt x="4981333" y="0"/>
                  </a:lnTo>
                  <a:close/>
                </a:path>
              </a:pathLst>
            </a:custGeom>
            <a:solidFill>
              <a:srgbClr val="0080C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2" name="object 32"/>
            <p:cNvSpPr/>
            <p:nvPr/>
          </p:nvSpPr>
          <p:spPr>
            <a:xfrm>
              <a:off x="3902502" y="5408823"/>
              <a:ext cx="6179185" cy="0"/>
            </a:xfrm>
            <a:custGeom>
              <a:avLst/>
              <a:gdLst/>
              <a:ahLst/>
              <a:cxnLst/>
              <a:rect l="l" t="t" r="r" b="b"/>
              <a:pathLst>
                <a:path w="6179184">
                  <a:moveTo>
                    <a:pt x="0" y="0"/>
                  </a:moveTo>
                  <a:lnTo>
                    <a:pt x="6142436" y="0"/>
                  </a:lnTo>
                  <a:lnTo>
                    <a:pt x="6179084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3" name="object 33"/>
            <p:cNvSpPr/>
            <p:nvPr/>
          </p:nvSpPr>
          <p:spPr>
            <a:xfrm>
              <a:off x="10044938" y="5264325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97730" y="1339968"/>
            <a:ext cx="3427060" cy="1811859"/>
          </a:xfrm>
          <a:prstGeom prst="rect">
            <a:avLst/>
          </a:prstGeom>
        </p:spPr>
        <p:txBody>
          <a:bodyPr vert="horz" wrap="square" lIns="0" tIns="2620" rIns="0" bIns="0" rtlCol="0">
            <a:spAutoFit/>
          </a:bodyPr>
          <a:lstStyle/>
          <a:p>
            <a:pPr marL="360871">
              <a:lnSpc>
                <a:spcPts val="1240"/>
              </a:lnSpc>
              <a:spcBef>
                <a:spcPts val="21"/>
              </a:spcBef>
              <a:tabLst>
                <a:tab pos="3079523" algn="l"/>
              </a:tabLst>
            </a:pPr>
            <a:r>
              <a:rPr sz="1109" spc="131" dirty="0">
                <a:solidFill>
                  <a:srgbClr val="0080CC"/>
                </a:solidFill>
                <a:latin typeface="Cambria"/>
                <a:cs typeface="Cambria"/>
              </a:rPr>
              <a:t>−|</a:t>
            </a:r>
            <a:r>
              <a:rPr sz="1109" spc="-124" dirty="0">
                <a:solidFill>
                  <a:srgbClr val="0080CC"/>
                </a:solidFill>
                <a:latin typeface="Cambria"/>
                <a:cs typeface="Cambria"/>
              </a:rPr>
              <a:t> </a:t>
            </a:r>
            <a:r>
              <a:rPr sz="1109" i="1" spc="-5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1109" i="1" spc="-152" dirty="0">
                <a:solidFill>
                  <a:srgbClr val="0080CC"/>
                </a:solidFill>
                <a:latin typeface="Times New Roman"/>
                <a:cs typeface="Times New Roman"/>
              </a:rPr>
              <a:t> </a:t>
            </a:r>
            <a:r>
              <a:rPr sz="1109" spc="-10" dirty="0">
                <a:solidFill>
                  <a:srgbClr val="0080CC"/>
                </a:solidFill>
                <a:latin typeface="Cambria"/>
                <a:cs typeface="Cambria"/>
              </a:rPr>
              <a:t>|</a:t>
            </a:r>
            <a:r>
              <a:rPr sz="1160" spc="-15" baseline="-27777" dirty="0">
                <a:solidFill>
                  <a:srgbClr val="0080CC"/>
                </a:solidFill>
                <a:latin typeface="Cambria"/>
                <a:cs typeface="Cambria"/>
              </a:rPr>
              <a:t>max</a:t>
            </a:r>
            <a:r>
              <a:rPr sz="1160" baseline="-27777" dirty="0">
                <a:solidFill>
                  <a:srgbClr val="0080CC"/>
                </a:solidFill>
                <a:latin typeface="Cambria"/>
                <a:cs typeface="Cambria"/>
              </a:rPr>
              <a:t>	</a:t>
            </a:r>
            <a:r>
              <a:rPr sz="1109" dirty="0">
                <a:solidFill>
                  <a:srgbClr val="0080CC"/>
                </a:solidFill>
                <a:latin typeface="Cambria"/>
                <a:cs typeface="Cambria"/>
              </a:rPr>
              <a:t>|</a:t>
            </a:r>
            <a:r>
              <a:rPr sz="1109" spc="-124" dirty="0">
                <a:solidFill>
                  <a:srgbClr val="0080CC"/>
                </a:solidFill>
                <a:latin typeface="Cambria"/>
                <a:cs typeface="Cambria"/>
              </a:rPr>
              <a:t> </a:t>
            </a:r>
            <a:r>
              <a:rPr sz="1109" i="1" spc="-5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r>
              <a:rPr sz="1109" i="1" spc="-152" dirty="0">
                <a:solidFill>
                  <a:srgbClr val="0080CC"/>
                </a:solidFill>
                <a:latin typeface="Times New Roman"/>
                <a:cs typeface="Times New Roman"/>
              </a:rPr>
              <a:t> </a:t>
            </a:r>
            <a:r>
              <a:rPr sz="1109" spc="-18" dirty="0">
                <a:solidFill>
                  <a:srgbClr val="0080CC"/>
                </a:solidFill>
                <a:latin typeface="Cambria"/>
                <a:cs typeface="Cambria"/>
              </a:rPr>
              <a:t>|</a:t>
            </a:r>
            <a:r>
              <a:rPr sz="1160" spc="-27" baseline="-27777" dirty="0">
                <a:solidFill>
                  <a:srgbClr val="0080CC"/>
                </a:solidFill>
                <a:latin typeface="Cambria"/>
                <a:cs typeface="Cambria"/>
              </a:rPr>
              <a:t>max</a:t>
            </a:r>
            <a:endParaRPr sz="1160" baseline="-27777">
              <a:latin typeface="Cambria"/>
              <a:cs typeface="Cambria"/>
            </a:endParaRPr>
          </a:p>
          <a:p>
            <a:pPr marL="7204">
              <a:lnSpc>
                <a:spcPts val="2664"/>
              </a:lnSpc>
            </a:pPr>
            <a:r>
              <a:rPr sz="2295" i="1" spc="-26" dirty="0">
                <a:solidFill>
                  <a:srgbClr val="0080CC"/>
                </a:solidFill>
                <a:latin typeface="Times New Roman"/>
                <a:cs typeface="Times New Roman"/>
              </a:rPr>
              <a:t>r</a:t>
            </a:r>
            <a:endParaRPr sz="229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95">
              <a:latin typeface="Times New Roman"/>
              <a:cs typeface="Times New Roman"/>
            </a:endParaRPr>
          </a:p>
          <a:p>
            <a:pPr>
              <a:spcBef>
                <a:spcPts val="191"/>
              </a:spcBef>
            </a:pPr>
            <a:endParaRPr sz="2295">
              <a:latin typeface="Times New Roman"/>
              <a:cs typeface="Times New Roman"/>
            </a:endParaRPr>
          </a:p>
          <a:p>
            <a:pPr>
              <a:lnSpc>
                <a:spcPts val="2700"/>
              </a:lnSpc>
            </a:pPr>
            <a:r>
              <a:rPr sz="2295" i="1" spc="-26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endParaRPr sz="2295">
              <a:latin typeface="Times New Roman"/>
              <a:cs typeface="Times New Roman"/>
            </a:endParaRPr>
          </a:p>
          <a:p>
            <a:pPr marL="105772" algn="ctr">
              <a:lnSpc>
                <a:spcPts val="1771"/>
              </a:lnSpc>
              <a:tabLst>
                <a:tab pos="857642" algn="l"/>
                <a:tab pos="1598379" algn="l"/>
              </a:tabLst>
            </a:pPr>
            <a:r>
              <a:rPr sz="1663" i="1" spc="-15" baseline="14211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r>
              <a:rPr sz="774" spc="-10" dirty="0">
                <a:solidFill>
                  <a:srgbClr val="A31F34"/>
                </a:solidFill>
                <a:latin typeface="Cambria"/>
                <a:cs typeface="Cambria"/>
              </a:rPr>
              <a:t>min</a:t>
            </a:r>
            <a:r>
              <a:rPr sz="774" dirty="0">
                <a:solidFill>
                  <a:srgbClr val="A31F34"/>
                </a:solidFill>
                <a:latin typeface="Cambria"/>
                <a:cs typeface="Cambria"/>
              </a:rPr>
              <a:t>	</a:t>
            </a:r>
            <a:r>
              <a:rPr sz="2282" i="1" baseline="-4708" dirty="0">
                <a:solidFill>
                  <a:srgbClr val="A31F34"/>
                </a:solidFill>
                <a:latin typeface="Times New Roman"/>
                <a:cs typeface="Times New Roman"/>
              </a:rPr>
              <a:t>Z</a:t>
            </a:r>
            <a:r>
              <a:rPr sz="2282" i="1" spc="65" baseline="-4708" dirty="0">
                <a:solidFill>
                  <a:srgbClr val="A31F34"/>
                </a:solidFill>
                <a:latin typeface="Times New Roman"/>
                <a:cs typeface="Times New Roman"/>
              </a:rPr>
              <a:t> </a:t>
            </a:r>
            <a:r>
              <a:rPr sz="2282" spc="302" baseline="-4708" dirty="0">
                <a:solidFill>
                  <a:srgbClr val="A31F34"/>
                </a:solidFill>
                <a:latin typeface="Cambria"/>
                <a:cs typeface="Cambria"/>
              </a:rPr>
              <a:t>=</a:t>
            </a:r>
            <a:r>
              <a:rPr sz="2282" spc="131" baseline="-4708" dirty="0">
                <a:solidFill>
                  <a:srgbClr val="A31F34"/>
                </a:solidFill>
                <a:latin typeface="Cambria"/>
                <a:cs typeface="Cambria"/>
              </a:rPr>
              <a:t> </a:t>
            </a:r>
            <a:r>
              <a:rPr sz="2282" spc="-39" baseline="-4708" dirty="0">
                <a:solidFill>
                  <a:srgbClr val="A31F34"/>
                </a:solidFill>
                <a:latin typeface="Cambria"/>
                <a:cs typeface="Cambria"/>
              </a:rPr>
              <a:t>0</a:t>
            </a:r>
            <a:r>
              <a:rPr sz="2282" baseline="-4708" dirty="0">
                <a:solidFill>
                  <a:srgbClr val="A31F34"/>
                </a:solidFill>
                <a:latin typeface="Cambria"/>
                <a:cs typeface="Cambria"/>
              </a:rPr>
              <a:t>	</a:t>
            </a:r>
            <a:r>
              <a:rPr sz="1663" i="1" spc="-15" baseline="14211" dirty="0">
                <a:solidFill>
                  <a:srgbClr val="A31F34"/>
                </a:solidFill>
                <a:latin typeface="Times New Roman"/>
                <a:cs typeface="Times New Roman"/>
              </a:rPr>
              <a:t>q</a:t>
            </a:r>
            <a:r>
              <a:rPr sz="774" spc="-10" dirty="0">
                <a:solidFill>
                  <a:srgbClr val="A31F34"/>
                </a:solidFill>
                <a:latin typeface="Cambria"/>
                <a:cs typeface="Cambria"/>
              </a:rPr>
              <a:t>max</a:t>
            </a:r>
            <a:endParaRPr sz="774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4318" y="1130169"/>
            <a:ext cx="5018277" cy="2339832"/>
            <a:chOff x="590091" y="2191382"/>
            <a:chExt cx="9730740" cy="4537075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289" y="3002631"/>
              <a:ext cx="2213184" cy="27157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90091" y="2191382"/>
              <a:ext cx="9730740" cy="4537075"/>
            </a:xfrm>
            <a:custGeom>
              <a:avLst/>
              <a:gdLst/>
              <a:ahLst/>
              <a:cxnLst/>
              <a:rect l="l" t="t" r="r" b="b"/>
              <a:pathLst>
                <a:path w="9730740" h="4537075">
                  <a:moveTo>
                    <a:pt x="9730164" y="0"/>
                  </a:moveTo>
                  <a:lnTo>
                    <a:pt x="0" y="0"/>
                  </a:lnTo>
                  <a:lnTo>
                    <a:pt x="0" y="4536770"/>
                  </a:lnTo>
                  <a:lnTo>
                    <a:pt x="9730164" y="4536770"/>
                  </a:lnTo>
                  <a:lnTo>
                    <a:pt x="973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8" name="object 38"/>
            <p:cNvSpPr/>
            <p:nvPr/>
          </p:nvSpPr>
          <p:spPr>
            <a:xfrm>
              <a:off x="171955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39" name="object 39"/>
            <p:cNvSpPr/>
            <p:nvPr/>
          </p:nvSpPr>
          <p:spPr>
            <a:xfrm>
              <a:off x="171955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7233" y="6112801"/>
              <a:ext cx="88314" cy="14834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985679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42" name="object 42"/>
            <p:cNvSpPr/>
            <p:nvPr/>
          </p:nvSpPr>
          <p:spPr>
            <a:xfrm>
              <a:off x="1985679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5831" y="6110156"/>
              <a:ext cx="94214" cy="15098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25180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45" name="object 45"/>
            <p:cNvSpPr/>
            <p:nvPr/>
          </p:nvSpPr>
          <p:spPr>
            <a:xfrm>
              <a:off x="225180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2567" y="6110156"/>
              <a:ext cx="97674" cy="15363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517931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48" name="object 48"/>
            <p:cNvSpPr/>
            <p:nvPr/>
          </p:nvSpPr>
          <p:spPr>
            <a:xfrm>
              <a:off x="2517931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63199" y="6112801"/>
              <a:ext cx="108052" cy="14834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784057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1" name="object 51"/>
            <p:cNvSpPr/>
            <p:nvPr/>
          </p:nvSpPr>
          <p:spPr>
            <a:xfrm>
              <a:off x="2784057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35022" y="6112801"/>
              <a:ext cx="96047" cy="15098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05018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4" name="object 54"/>
            <p:cNvSpPr/>
            <p:nvPr/>
          </p:nvSpPr>
          <p:spPr>
            <a:xfrm>
              <a:off x="305018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9724" y="6110156"/>
              <a:ext cx="102354" cy="15363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31630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57" name="object 57"/>
            <p:cNvSpPr/>
            <p:nvPr/>
          </p:nvSpPr>
          <p:spPr>
            <a:xfrm>
              <a:off x="331630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68292" y="6112801"/>
              <a:ext cx="95436" cy="14834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58243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0" name="object 60"/>
            <p:cNvSpPr/>
            <p:nvPr/>
          </p:nvSpPr>
          <p:spPr>
            <a:xfrm>
              <a:off x="358243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31568" y="6110156"/>
              <a:ext cx="101744" cy="15363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48561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3" name="object 63"/>
            <p:cNvSpPr/>
            <p:nvPr/>
          </p:nvSpPr>
          <p:spPr>
            <a:xfrm>
              <a:off x="3848561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96678" y="6110156"/>
              <a:ext cx="102354" cy="15363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11468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6" name="object 66"/>
            <p:cNvSpPr/>
            <p:nvPr/>
          </p:nvSpPr>
          <p:spPr>
            <a:xfrm>
              <a:off x="411468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7" name="object 67"/>
            <p:cNvSpPr/>
            <p:nvPr/>
          </p:nvSpPr>
          <p:spPr>
            <a:xfrm>
              <a:off x="438081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8" name="object 68"/>
            <p:cNvSpPr/>
            <p:nvPr/>
          </p:nvSpPr>
          <p:spPr>
            <a:xfrm>
              <a:off x="438081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69" name="object 69"/>
            <p:cNvSpPr/>
            <p:nvPr/>
          </p:nvSpPr>
          <p:spPr>
            <a:xfrm>
              <a:off x="464694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0" name="object 70"/>
            <p:cNvSpPr/>
            <p:nvPr/>
          </p:nvSpPr>
          <p:spPr>
            <a:xfrm>
              <a:off x="464694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1" name="object 71"/>
            <p:cNvSpPr/>
            <p:nvPr/>
          </p:nvSpPr>
          <p:spPr>
            <a:xfrm>
              <a:off x="491306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2" name="object 72"/>
            <p:cNvSpPr/>
            <p:nvPr/>
          </p:nvSpPr>
          <p:spPr>
            <a:xfrm>
              <a:off x="4913065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3" name="object 73"/>
            <p:cNvSpPr/>
            <p:nvPr/>
          </p:nvSpPr>
          <p:spPr>
            <a:xfrm>
              <a:off x="517919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4" name="object 74"/>
            <p:cNvSpPr/>
            <p:nvPr/>
          </p:nvSpPr>
          <p:spPr>
            <a:xfrm>
              <a:off x="517919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5" name="object 75"/>
            <p:cNvSpPr/>
            <p:nvPr/>
          </p:nvSpPr>
          <p:spPr>
            <a:xfrm>
              <a:off x="544531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6" name="object 76"/>
            <p:cNvSpPr/>
            <p:nvPr/>
          </p:nvSpPr>
          <p:spPr>
            <a:xfrm>
              <a:off x="544531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7" name="object 77"/>
            <p:cNvSpPr/>
            <p:nvPr/>
          </p:nvSpPr>
          <p:spPr>
            <a:xfrm>
              <a:off x="571144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8" name="object 78"/>
            <p:cNvSpPr/>
            <p:nvPr/>
          </p:nvSpPr>
          <p:spPr>
            <a:xfrm>
              <a:off x="571144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77569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0" name="object 80"/>
            <p:cNvSpPr/>
            <p:nvPr/>
          </p:nvSpPr>
          <p:spPr>
            <a:xfrm>
              <a:off x="5977569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1" name="object 81"/>
            <p:cNvSpPr/>
            <p:nvPr/>
          </p:nvSpPr>
          <p:spPr>
            <a:xfrm>
              <a:off x="6243694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2" name="object 82"/>
            <p:cNvSpPr/>
            <p:nvPr/>
          </p:nvSpPr>
          <p:spPr>
            <a:xfrm>
              <a:off x="6243694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3" name="object 83"/>
            <p:cNvSpPr/>
            <p:nvPr/>
          </p:nvSpPr>
          <p:spPr>
            <a:xfrm>
              <a:off x="650982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4" name="object 84"/>
            <p:cNvSpPr/>
            <p:nvPr/>
          </p:nvSpPr>
          <p:spPr>
            <a:xfrm>
              <a:off x="650982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5" name="object 85"/>
            <p:cNvSpPr/>
            <p:nvPr/>
          </p:nvSpPr>
          <p:spPr>
            <a:xfrm>
              <a:off x="6775947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6" name="object 86"/>
            <p:cNvSpPr/>
            <p:nvPr/>
          </p:nvSpPr>
          <p:spPr>
            <a:xfrm>
              <a:off x="6775947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7" name="object 87"/>
            <p:cNvSpPr/>
            <p:nvPr/>
          </p:nvSpPr>
          <p:spPr>
            <a:xfrm>
              <a:off x="704207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88" name="object 88"/>
            <p:cNvSpPr/>
            <p:nvPr/>
          </p:nvSpPr>
          <p:spPr>
            <a:xfrm>
              <a:off x="7042073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07664" y="6110156"/>
              <a:ext cx="6070877" cy="15363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730819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1" name="object 91"/>
            <p:cNvSpPr/>
            <p:nvPr/>
          </p:nvSpPr>
          <p:spPr>
            <a:xfrm>
              <a:off x="730819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2" name="object 92"/>
            <p:cNvSpPr/>
            <p:nvPr/>
          </p:nvSpPr>
          <p:spPr>
            <a:xfrm>
              <a:off x="7574324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3" name="object 93"/>
            <p:cNvSpPr/>
            <p:nvPr/>
          </p:nvSpPr>
          <p:spPr>
            <a:xfrm>
              <a:off x="7574324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4" name="object 94"/>
            <p:cNvSpPr/>
            <p:nvPr/>
          </p:nvSpPr>
          <p:spPr>
            <a:xfrm>
              <a:off x="784045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5" name="object 95"/>
            <p:cNvSpPr/>
            <p:nvPr/>
          </p:nvSpPr>
          <p:spPr>
            <a:xfrm>
              <a:off x="784045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6" name="object 96"/>
            <p:cNvSpPr/>
            <p:nvPr/>
          </p:nvSpPr>
          <p:spPr>
            <a:xfrm>
              <a:off x="810657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7" name="object 97"/>
            <p:cNvSpPr/>
            <p:nvPr/>
          </p:nvSpPr>
          <p:spPr>
            <a:xfrm>
              <a:off x="810657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8" name="object 98"/>
            <p:cNvSpPr/>
            <p:nvPr/>
          </p:nvSpPr>
          <p:spPr>
            <a:xfrm>
              <a:off x="837270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99" name="object 99"/>
            <p:cNvSpPr/>
            <p:nvPr/>
          </p:nvSpPr>
          <p:spPr>
            <a:xfrm>
              <a:off x="837270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63882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638828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90495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90495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17108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17108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43720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437206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70333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703332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96946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969460" y="5964177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221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12" name="object 11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54355" y="6388364"/>
              <a:ext cx="137356" cy="15363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20403" y="6428045"/>
              <a:ext cx="93198" cy="11395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37613" y="6396503"/>
              <a:ext cx="69390" cy="14285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30405" y="6425399"/>
              <a:ext cx="99505" cy="15607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58398" y="6428045"/>
              <a:ext cx="93198" cy="11395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5609" y="6396503"/>
              <a:ext cx="69390" cy="14285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25784" y="6425399"/>
              <a:ext cx="88110" cy="11659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45029" y="6384702"/>
              <a:ext cx="93198" cy="154651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67733" y="6425399"/>
              <a:ext cx="94011" cy="11659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98780" y="6425399"/>
              <a:ext cx="93198" cy="11395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027792" y="6425399"/>
              <a:ext cx="93198" cy="113954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49479" y="6425399"/>
              <a:ext cx="103168" cy="11659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282550" y="6384702"/>
              <a:ext cx="139700" cy="154940"/>
            </a:xfrm>
            <a:custGeom>
              <a:avLst/>
              <a:gdLst/>
              <a:ahLst/>
              <a:cxnLst/>
              <a:rect l="l" t="t" r="r" b="b"/>
              <a:pathLst>
                <a:path w="139700" h="154940">
                  <a:moveTo>
                    <a:pt x="18313" y="0"/>
                  </a:moveTo>
                  <a:lnTo>
                    <a:pt x="0" y="0"/>
                  </a:lnTo>
                  <a:lnTo>
                    <a:pt x="0" y="154660"/>
                  </a:lnTo>
                  <a:lnTo>
                    <a:pt x="18313" y="154660"/>
                  </a:lnTo>
                  <a:lnTo>
                    <a:pt x="18313" y="0"/>
                  </a:lnTo>
                  <a:close/>
                </a:path>
                <a:path w="139700" h="154940">
                  <a:moveTo>
                    <a:pt x="139598" y="43345"/>
                  </a:moveTo>
                  <a:lnTo>
                    <a:pt x="121285" y="43345"/>
                  </a:lnTo>
                  <a:lnTo>
                    <a:pt x="121285" y="154660"/>
                  </a:lnTo>
                  <a:lnTo>
                    <a:pt x="139598" y="154660"/>
                  </a:lnTo>
                  <a:lnTo>
                    <a:pt x="139598" y="43345"/>
                  </a:lnTo>
                  <a:close/>
                </a:path>
                <a:path w="139700" h="154940">
                  <a:moveTo>
                    <a:pt x="139598" y="0"/>
                  </a:moveTo>
                  <a:lnTo>
                    <a:pt x="121285" y="0"/>
                  </a:lnTo>
                  <a:lnTo>
                    <a:pt x="121285" y="23202"/>
                  </a:lnTo>
                  <a:lnTo>
                    <a:pt x="139598" y="23202"/>
                  </a:lnTo>
                  <a:lnTo>
                    <a:pt x="1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25" name="object 12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59801" y="6425399"/>
              <a:ext cx="93198" cy="11395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81487" y="6384702"/>
              <a:ext cx="99505" cy="15729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10703" y="6425399"/>
              <a:ext cx="227704" cy="116599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515268" y="562084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515268" y="562084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30" name="object 1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28163" y="5547121"/>
              <a:ext cx="102558" cy="15363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0982" y="5549766"/>
              <a:ext cx="96047" cy="150989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1036382" y="5625871"/>
              <a:ext cx="127635" cy="17145"/>
            </a:xfrm>
            <a:custGeom>
              <a:avLst/>
              <a:gdLst/>
              <a:ahLst/>
              <a:cxnLst/>
              <a:rect l="l" t="t" r="r" b="b"/>
              <a:pathLst>
                <a:path w="127634" h="17145">
                  <a:moveTo>
                    <a:pt x="127384" y="0"/>
                  </a:moveTo>
                  <a:lnTo>
                    <a:pt x="0" y="0"/>
                  </a:lnTo>
                  <a:lnTo>
                    <a:pt x="0" y="16889"/>
                  </a:lnTo>
                  <a:lnTo>
                    <a:pt x="127384" y="16889"/>
                  </a:lnTo>
                  <a:lnTo>
                    <a:pt x="127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515268" y="5134915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515268" y="5134915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35" name="object 1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168" y="5061189"/>
              <a:ext cx="94215" cy="150989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30402" y="5063834"/>
              <a:ext cx="96046" cy="150989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1036382" y="5139939"/>
              <a:ext cx="127635" cy="17145"/>
            </a:xfrm>
            <a:custGeom>
              <a:avLst/>
              <a:gdLst/>
              <a:ahLst/>
              <a:cxnLst/>
              <a:rect l="l" t="t" r="r" b="b"/>
              <a:pathLst>
                <a:path w="127634" h="17145">
                  <a:moveTo>
                    <a:pt x="127384" y="0"/>
                  </a:moveTo>
                  <a:lnTo>
                    <a:pt x="0" y="0"/>
                  </a:lnTo>
                  <a:lnTo>
                    <a:pt x="0" y="16889"/>
                  </a:lnTo>
                  <a:lnTo>
                    <a:pt x="127384" y="16889"/>
                  </a:lnTo>
                  <a:lnTo>
                    <a:pt x="127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515268" y="4648983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515268" y="4648983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40" name="object 1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28071" y="4575257"/>
              <a:ext cx="102558" cy="153634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1515268" y="4163051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515268" y="4163051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43" name="object 1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089" y="4089325"/>
              <a:ext cx="94215" cy="150989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30322" y="4091970"/>
              <a:ext cx="96046" cy="150989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1515268" y="3677120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515268" y="3677120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47" name="object 1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00902" y="3606038"/>
              <a:ext cx="96047" cy="150989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28084" y="3603394"/>
              <a:ext cx="102558" cy="15363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515268" y="319118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515268" y="319118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51" name="object 1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1920" y="3120107"/>
              <a:ext cx="95436" cy="148344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30322" y="3120107"/>
              <a:ext cx="96046" cy="150989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1515268" y="270525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515268" y="2705257"/>
              <a:ext cx="71755" cy="0"/>
            </a:xfrm>
            <a:custGeom>
              <a:avLst/>
              <a:gdLst/>
              <a:ahLst/>
              <a:cxnLst/>
              <a:rect l="l" t="t" r="r" b="b"/>
              <a:pathLst>
                <a:path w="71755">
                  <a:moveTo>
                    <a:pt x="71221" y="0"/>
                  </a:moveTo>
                  <a:lnTo>
                    <a:pt x="0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55" name="object 1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212" y="2634175"/>
              <a:ext cx="88313" cy="148343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98677" y="2631529"/>
              <a:ext cx="102558" cy="15363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28096" y="2631529"/>
              <a:ext cx="102559" cy="15363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42784" y="4382066"/>
              <a:ext cx="150989" cy="227705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77174" y="4251833"/>
              <a:ext cx="113954" cy="9319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77174" y="3990960"/>
              <a:ext cx="116599" cy="103168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77174" y="4123838"/>
              <a:ext cx="156076" cy="99505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1653021" y="3357247"/>
              <a:ext cx="2794635" cy="1778000"/>
            </a:xfrm>
            <a:custGeom>
              <a:avLst/>
              <a:gdLst/>
              <a:ahLst/>
              <a:cxnLst/>
              <a:rect l="l" t="t" r="r" b="b"/>
              <a:pathLst>
                <a:path w="2794635" h="1778000">
                  <a:moveTo>
                    <a:pt x="0" y="1290438"/>
                  </a:moveTo>
                  <a:lnTo>
                    <a:pt x="133062" y="1290438"/>
                  </a:lnTo>
                  <a:lnTo>
                    <a:pt x="133062" y="1288000"/>
                  </a:lnTo>
                  <a:lnTo>
                    <a:pt x="0" y="1288000"/>
                  </a:lnTo>
                  <a:lnTo>
                    <a:pt x="0" y="1290438"/>
                  </a:lnTo>
                </a:path>
                <a:path w="2794635" h="1778000">
                  <a:moveTo>
                    <a:pt x="66531" y="1290438"/>
                  </a:moveTo>
                  <a:lnTo>
                    <a:pt x="66531" y="1378875"/>
                  </a:lnTo>
                </a:path>
                <a:path w="2794635" h="1778000">
                  <a:moveTo>
                    <a:pt x="66531" y="1288000"/>
                  </a:moveTo>
                  <a:lnTo>
                    <a:pt x="66531" y="1267108"/>
                  </a:lnTo>
                </a:path>
                <a:path w="2794635" h="1778000">
                  <a:moveTo>
                    <a:pt x="33265" y="1378875"/>
                  </a:moveTo>
                  <a:lnTo>
                    <a:pt x="99797" y="1378875"/>
                  </a:lnTo>
                </a:path>
                <a:path w="2794635" h="1778000">
                  <a:moveTo>
                    <a:pt x="33265" y="1267108"/>
                  </a:moveTo>
                  <a:lnTo>
                    <a:pt x="99797" y="1267108"/>
                  </a:lnTo>
                </a:path>
                <a:path w="2794635" h="1778000">
                  <a:moveTo>
                    <a:pt x="266125" y="1371646"/>
                  </a:moveTo>
                  <a:lnTo>
                    <a:pt x="399188" y="1371646"/>
                  </a:lnTo>
                  <a:lnTo>
                    <a:pt x="399188" y="1361858"/>
                  </a:lnTo>
                  <a:lnTo>
                    <a:pt x="266125" y="1361858"/>
                  </a:lnTo>
                  <a:lnTo>
                    <a:pt x="266125" y="1371646"/>
                  </a:lnTo>
                </a:path>
                <a:path w="2794635" h="1778000">
                  <a:moveTo>
                    <a:pt x="332657" y="1371646"/>
                  </a:moveTo>
                  <a:lnTo>
                    <a:pt x="332657" y="1389436"/>
                  </a:lnTo>
                </a:path>
                <a:path w="2794635" h="1778000">
                  <a:moveTo>
                    <a:pt x="332657" y="1361858"/>
                  </a:moveTo>
                  <a:lnTo>
                    <a:pt x="332657" y="1355742"/>
                  </a:lnTo>
                </a:path>
                <a:path w="2794635" h="1778000">
                  <a:moveTo>
                    <a:pt x="299391" y="1389436"/>
                  </a:moveTo>
                  <a:lnTo>
                    <a:pt x="365923" y="1389436"/>
                  </a:lnTo>
                </a:path>
                <a:path w="2794635" h="1778000">
                  <a:moveTo>
                    <a:pt x="299391" y="1355742"/>
                  </a:moveTo>
                  <a:lnTo>
                    <a:pt x="365923" y="1355742"/>
                  </a:lnTo>
                </a:path>
                <a:path w="2794635" h="1778000">
                  <a:moveTo>
                    <a:pt x="532251" y="1294249"/>
                  </a:moveTo>
                  <a:lnTo>
                    <a:pt x="665314" y="1294249"/>
                  </a:lnTo>
                  <a:lnTo>
                    <a:pt x="665314" y="1288985"/>
                  </a:lnTo>
                  <a:lnTo>
                    <a:pt x="532251" y="1288985"/>
                  </a:lnTo>
                  <a:lnTo>
                    <a:pt x="532251" y="1294249"/>
                  </a:lnTo>
                </a:path>
                <a:path w="2794635" h="1778000">
                  <a:moveTo>
                    <a:pt x="598783" y="1294249"/>
                  </a:moveTo>
                  <a:lnTo>
                    <a:pt x="598783" y="1351888"/>
                  </a:lnTo>
                </a:path>
                <a:path w="2794635" h="1778000">
                  <a:moveTo>
                    <a:pt x="598783" y="1288985"/>
                  </a:moveTo>
                  <a:lnTo>
                    <a:pt x="598783" y="1223056"/>
                  </a:lnTo>
                </a:path>
                <a:path w="2794635" h="1778000">
                  <a:moveTo>
                    <a:pt x="565517" y="1351888"/>
                  </a:moveTo>
                  <a:lnTo>
                    <a:pt x="632049" y="1351888"/>
                  </a:lnTo>
                </a:path>
                <a:path w="2794635" h="1778000">
                  <a:moveTo>
                    <a:pt x="565517" y="1223056"/>
                  </a:moveTo>
                  <a:lnTo>
                    <a:pt x="632049" y="1223056"/>
                  </a:lnTo>
                </a:path>
                <a:path w="2794635" h="1778000">
                  <a:moveTo>
                    <a:pt x="798377" y="1302889"/>
                  </a:moveTo>
                  <a:lnTo>
                    <a:pt x="931440" y="1302889"/>
                  </a:lnTo>
                  <a:lnTo>
                    <a:pt x="931440" y="1097876"/>
                  </a:lnTo>
                  <a:lnTo>
                    <a:pt x="798377" y="1097876"/>
                  </a:lnTo>
                  <a:lnTo>
                    <a:pt x="798377" y="1302889"/>
                  </a:lnTo>
                </a:path>
                <a:path w="2794635" h="1778000">
                  <a:moveTo>
                    <a:pt x="864909" y="1302889"/>
                  </a:moveTo>
                  <a:lnTo>
                    <a:pt x="864909" y="1417490"/>
                  </a:lnTo>
                </a:path>
                <a:path w="2794635" h="1778000">
                  <a:moveTo>
                    <a:pt x="864909" y="1097876"/>
                  </a:moveTo>
                  <a:lnTo>
                    <a:pt x="864909" y="979233"/>
                  </a:lnTo>
                </a:path>
                <a:path w="2794635" h="1778000">
                  <a:moveTo>
                    <a:pt x="831643" y="1417490"/>
                  </a:moveTo>
                  <a:lnTo>
                    <a:pt x="898175" y="1417490"/>
                  </a:lnTo>
                </a:path>
                <a:path w="2794635" h="1778000">
                  <a:moveTo>
                    <a:pt x="831643" y="979233"/>
                  </a:moveTo>
                  <a:lnTo>
                    <a:pt x="898175" y="979233"/>
                  </a:lnTo>
                </a:path>
                <a:path w="2794635" h="1778000">
                  <a:moveTo>
                    <a:pt x="1064504" y="1445791"/>
                  </a:moveTo>
                  <a:lnTo>
                    <a:pt x="1197566" y="1445791"/>
                  </a:lnTo>
                  <a:lnTo>
                    <a:pt x="1197566" y="1233471"/>
                  </a:lnTo>
                  <a:lnTo>
                    <a:pt x="1064504" y="1233471"/>
                  </a:lnTo>
                  <a:lnTo>
                    <a:pt x="1064504" y="1445791"/>
                  </a:lnTo>
                </a:path>
                <a:path w="2794635" h="1778000">
                  <a:moveTo>
                    <a:pt x="1131035" y="1445791"/>
                  </a:moveTo>
                  <a:lnTo>
                    <a:pt x="1131035" y="1777508"/>
                  </a:lnTo>
                </a:path>
                <a:path w="2794635" h="1778000">
                  <a:moveTo>
                    <a:pt x="1131035" y="1233471"/>
                  </a:moveTo>
                  <a:lnTo>
                    <a:pt x="1131035" y="0"/>
                  </a:lnTo>
                </a:path>
                <a:path w="2794635" h="1778000">
                  <a:moveTo>
                    <a:pt x="1097769" y="1777508"/>
                  </a:moveTo>
                  <a:lnTo>
                    <a:pt x="1164302" y="1777508"/>
                  </a:lnTo>
                </a:path>
                <a:path w="2794635" h="1778000">
                  <a:moveTo>
                    <a:pt x="1097769" y="0"/>
                  </a:moveTo>
                  <a:lnTo>
                    <a:pt x="1164302" y="0"/>
                  </a:lnTo>
                </a:path>
                <a:path w="2794635" h="1778000">
                  <a:moveTo>
                    <a:pt x="1330630" y="1310477"/>
                  </a:moveTo>
                  <a:lnTo>
                    <a:pt x="1463692" y="1310477"/>
                  </a:lnTo>
                  <a:lnTo>
                    <a:pt x="1463692" y="1266754"/>
                  </a:lnTo>
                  <a:lnTo>
                    <a:pt x="1330630" y="1266754"/>
                  </a:lnTo>
                  <a:lnTo>
                    <a:pt x="1330630" y="1310477"/>
                  </a:lnTo>
                </a:path>
                <a:path w="2794635" h="1778000">
                  <a:moveTo>
                    <a:pt x="1397161" y="1310477"/>
                  </a:moveTo>
                  <a:lnTo>
                    <a:pt x="1397161" y="1315866"/>
                  </a:lnTo>
                </a:path>
                <a:path w="2794635" h="1778000">
                  <a:moveTo>
                    <a:pt x="1397161" y="1266754"/>
                  </a:moveTo>
                  <a:lnTo>
                    <a:pt x="1397161" y="1258923"/>
                  </a:lnTo>
                </a:path>
                <a:path w="2794635" h="1778000">
                  <a:moveTo>
                    <a:pt x="1363894" y="1315866"/>
                  </a:moveTo>
                  <a:lnTo>
                    <a:pt x="1430427" y="1315866"/>
                  </a:lnTo>
                </a:path>
                <a:path w="2794635" h="1778000">
                  <a:moveTo>
                    <a:pt x="1363894" y="1258923"/>
                  </a:moveTo>
                  <a:lnTo>
                    <a:pt x="1430427" y="1258923"/>
                  </a:lnTo>
                </a:path>
                <a:path w="2794635" h="1778000">
                  <a:moveTo>
                    <a:pt x="1596755" y="1297637"/>
                  </a:moveTo>
                  <a:lnTo>
                    <a:pt x="1729819" y="1297637"/>
                  </a:lnTo>
                  <a:lnTo>
                    <a:pt x="1729819" y="1289205"/>
                  </a:lnTo>
                  <a:lnTo>
                    <a:pt x="1596755" y="1289205"/>
                  </a:lnTo>
                  <a:lnTo>
                    <a:pt x="1596755" y="1297637"/>
                  </a:lnTo>
                </a:path>
                <a:path w="2794635" h="1778000">
                  <a:moveTo>
                    <a:pt x="1663286" y="1297637"/>
                  </a:moveTo>
                  <a:lnTo>
                    <a:pt x="1663286" y="1407800"/>
                  </a:lnTo>
                </a:path>
                <a:path w="2794635" h="1778000">
                  <a:moveTo>
                    <a:pt x="1663286" y="1289205"/>
                  </a:moveTo>
                  <a:lnTo>
                    <a:pt x="1663286" y="1192747"/>
                  </a:lnTo>
                </a:path>
                <a:path w="2794635" h="1778000">
                  <a:moveTo>
                    <a:pt x="1630022" y="1407800"/>
                  </a:moveTo>
                  <a:lnTo>
                    <a:pt x="1696553" y="1407800"/>
                  </a:lnTo>
                </a:path>
                <a:path w="2794635" h="1778000">
                  <a:moveTo>
                    <a:pt x="1630022" y="1192747"/>
                  </a:moveTo>
                  <a:lnTo>
                    <a:pt x="1696553" y="1192747"/>
                  </a:lnTo>
                </a:path>
                <a:path w="2794635" h="1778000">
                  <a:moveTo>
                    <a:pt x="1862881" y="1310363"/>
                  </a:moveTo>
                  <a:lnTo>
                    <a:pt x="1995945" y="1310363"/>
                  </a:lnTo>
                  <a:lnTo>
                    <a:pt x="1995945" y="1292998"/>
                  </a:lnTo>
                  <a:lnTo>
                    <a:pt x="1862881" y="1292998"/>
                  </a:lnTo>
                  <a:lnTo>
                    <a:pt x="1862881" y="1310363"/>
                  </a:lnTo>
                </a:path>
                <a:path w="2794635" h="1778000">
                  <a:moveTo>
                    <a:pt x="1929414" y="1310363"/>
                  </a:moveTo>
                  <a:lnTo>
                    <a:pt x="1929414" y="1342336"/>
                  </a:lnTo>
                </a:path>
                <a:path w="2794635" h="1778000">
                  <a:moveTo>
                    <a:pt x="1929414" y="1292998"/>
                  </a:moveTo>
                  <a:lnTo>
                    <a:pt x="1929414" y="1053664"/>
                  </a:lnTo>
                </a:path>
                <a:path w="2794635" h="1778000">
                  <a:moveTo>
                    <a:pt x="1896147" y="1342336"/>
                  </a:moveTo>
                  <a:lnTo>
                    <a:pt x="1962678" y="1342336"/>
                  </a:lnTo>
                </a:path>
                <a:path w="2794635" h="1778000">
                  <a:moveTo>
                    <a:pt x="1896147" y="1053664"/>
                  </a:moveTo>
                  <a:lnTo>
                    <a:pt x="1962678" y="1053664"/>
                  </a:lnTo>
                </a:path>
                <a:path w="2794635" h="1778000">
                  <a:moveTo>
                    <a:pt x="2129008" y="1302885"/>
                  </a:moveTo>
                  <a:lnTo>
                    <a:pt x="2262070" y="1302885"/>
                  </a:lnTo>
                  <a:lnTo>
                    <a:pt x="2262070" y="1275316"/>
                  </a:lnTo>
                  <a:lnTo>
                    <a:pt x="2129008" y="1275316"/>
                  </a:lnTo>
                  <a:lnTo>
                    <a:pt x="2129008" y="1302885"/>
                  </a:lnTo>
                </a:path>
                <a:path w="2794635" h="1778000">
                  <a:moveTo>
                    <a:pt x="2195539" y="1302885"/>
                  </a:moveTo>
                  <a:lnTo>
                    <a:pt x="2195539" y="1369020"/>
                  </a:lnTo>
                </a:path>
                <a:path w="2794635" h="1778000">
                  <a:moveTo>
                    <a:pt x="2195539" y="1275316"/>
                  </a:moveTo>
                  <a:lnTo>
                    <a:pt x="2195539" y="1228353"/>
                  </a:lnTo>
                </a:path>
                <a:path w="2794635" h="1778000">
                  <a:moveTo>
                    <a:pt x="2162273" y="1369020"/>
                  </a:moveTo>
                  <a:lnTo>
                    <a:pt x="2228806" y="1369020"/>
                  </a:lnTo>
                </a:path>
                <a:path w="2794635" h="1778000">
                  <a:moveTo>
                    <a:pt x="2162273" y="1228353"/>
                  </a:moveTo>
                  <a:lnTo>
                    <a:pt x="2228806" y="1228353"/>
                  </a:lnTo>
                </a:path>
                <a:path w="2794635" h="1778000">
                  <a:moveTo>
                    <a:pt x="2395134" y="1312960"/>
                  </a:moveTo>
                  <a:lnTo>
                    <a:pt x="2528195" y="1312960"/>
                  </a:lnTo>
                  <a:lnTo>
                    <a:pt x="2528195" y="1266322"/>
                  </a:lnTo>
                  <a:lnTo>
                    <a:pt x="2395134" y="1266322"/>
                  </a:lnTo>
                  <a:lnTo>
                    <a:pt x="2395134" y="1312960"/>
                  </a:lnTo>
                </a:path>
                <a:path w="2794635" h="1778000">
                  <a:moveTo>
                    <a:pt x="2461665" y="1312960"/>
                  </a:moveTo>
                  <a:lnTo>
                    <a:pt x="2461665" y="1394469"/>
                  </a:lnTo>
                </a:path>
                <a:path w="2794635" h="1778000">
                  <a:moveTo>
                    <a:pt x="2461665" y="1266322"/>
                  </a:moveTo>
                  <a:lnTo>
                    <a:pt x="2461665" y="1224709"/>
                  </a:lnTo>
                </a:path>
                <a:path w="2794635" h="1778000">
                  <a:moveTo>
                    <a:pt x="2428398" y="1394469"/>
                  </a:moveTo>
                  <a:lnTo>
                    <a:pt x="2494931" y="1394469"/>
                  </a:lnTo>
                </a:path>
                <a:path w="2794635" h="1778000">
                  <a:moveTo>
                    <a:pt x="2428398" y="1224709"/>
                  </a:moveTo>
                  <a:lnTo>
                    <a:pt x="2494931" y="1224709"/>
                  </a:lnTo>
                </a:path>
                <a:path w="2794635" h="1778000">
                  <a:moveTo>
                    <a:pt x="2661259" y="1291738"/>
                  </a:moveTo>
                  <a:lnTo>
                    <a:pt x="2794323" y="1291738"/>
                  </a:lnTo>
                  <a:lnTo>
                    <a:pt x="2661259" y="1291736"/>
                  </a:lnTo>
                </a:path>
                <a:path w="2794635" h="1778000">
                  <a:moveTo>
                    <a:pt x="2727790" y="1291738"/>
                  </a:moveTo>
                  <a:lnTo>
                    <a:pt x="2727790" y="1291742"/>
                  </a:lnTo>
                </a:path>
              </a:pathLst>
            </a:custGeom>
            <a:ln w="20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347540" y="4638820"/>
              <a:ext cx="66675" cy="20955"/>
            </a:xfrm>
            <a:custGeom>
              <a:avLst/>
              <a:gdLst/>
              <a:ahLst/>
              <a:cxnLst/>
              <a:rect l="l" t="t" r="r" b="b"/>
              <a:pathLst>
                <a:path w="66675" h="20954">
                  <a:moveTo>
                    <a:pt x="66535" y="0"/>
                  </a:moveTo>
                  <a:lnTo>
                    <a:pt x="33261" y="0"/>
                  </a:lnTo>
                  <a:lnTo>
                    <a:pt x="0" y="0"/>
                  </a:lnTo>
                  <a:lnTo>
                    <a:pt x="0" y="20345"/>
                  </a:lnTo>
                  <a:lnTo>
                    <a:pt x="33261" y="20345"/>
                  </a:lnTo>
                  <a:lnTo>
                    <a:pt x="66535" y="20345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580406" y="3434131"/>
              <a:ext cx="3060700" cy="2379345"/>
            </a:xfrm>
            <a:custGeom>
              <a:avLst/>
              <a:gdLst/>
              <a:ahLst/>
              <a:cxnLst/>
              <a:rect l="l" t="t" r="r" b="b"/>
              <a:pathLst>
                <a:path w="3060700" h="2379345">
                  <a:moveTo>
                    <a:pt x="0" y="1242754"/>
                  </a:moveTo>
                  <a:lnTo>
                    <a:pt x="133063" y="1242754"/>
                  </a:lnTo>
                  <a:lnTo>
                    <a:pt x="133063" y="1179733"/>
                  </a:lnTo>
                  <a:lnTo>
                    <a:pt x="0" y="1179733"/>
                  </a:lnTo>
                  <a:lnTo>
                    <a:pt x="0" y="1242754"/>
                  </a:lnTo>
                </a:path>
                <a:path w="3060700" h="2379345">
                  <a:moveTo>
                    <a:pt x="66532" y="1242754"/>
                  </a:moveTo>
                  <a:lnTo>
                    <a:pt x="66532" y="1359238"/>
                  </a:lnTo>
                </a:path>
                <a:path w="3060700" h="2379345">
                  <a:moveTo>
                    <a:pt x="66532" y="1179733"/>
                  </a:moveTo>
                  <a:lnTo>
                    <a:pt x="66532" y="1102985"/>
                  </a:lnTo>
                </a:path>
                <a:path w="3060700" h="2379345">
                  <a:moveTo>
                    <a:pt x="33266" y="1359238"/>
                  </a:moveTo>
                  <a:lnTo>
                    <a:pt x="99797" y="1359238"/>
                  </a:lnTo>
                </a:path>
                <a:path w="3060700" h="2379345">
                  <a:moveTo>
                    <a:pt x="33266" y="1102985"/>
                  </a:moveTo>
                  <a:lnTo>
                    <a:pt x="99797" y="1102985"/>
                  </a:lnTo>
                </a:path>
                <a:path w="3060700" h="2379345">
                  <a:moveTo>
                    <a:pt x="266127" y="1228465"/>
                  </a:moveTo>
                  <a:lnTo>
                    <a:pt x="399189" y="1228465"/>
                  </a:lnTo>
                  <a:lnTo>
                    <a:pt x="399189" y="1193554"/>
                  </a:lnTo>
                  <a:lnTo>
                    <a:pt x="266127" y="1193554"/>
                  </a:lnTo>
                  <a:lnTo>
                    <a:pt x="266127" y="1228465"/>
                  </a:lnTo>
                </a:path>
                <a:path w="3060700" h="2379345">
                  <a:moveTo>
                    <a:pt x="332658" y="1228465"/>
                  </a:moveTo>
                  <a:lnTo>
                    <a:pt x="332658" y="1348605"/>
                  </a:lnTo>
                </a:path>
                <a:path w="3060700" h="2379345">
                  <a:moveTo>
                    <a:pt x="332658" y="1193554"/>
                  </a:moveTo>
                  <a:lnTo>
                    <a:pt x="332658" y="1084781"/>
                  </a:lnTo>
                </a:path>
                <a:path w="3060700" h="2379345">
                  <a:moveTo>
                    <a:pt x="299391" y="1348605"/>
                  </a:moveTo>
                  <a:lnTo>
                    <a:pt x="365924" y="1348605"/>
                  </a:lnTo>
                </a:path>
                <a:path w="3060700" h="2379345">
                  <a:moveTo>
                    <a:pt x="299391" y="1084781"/>
                  </a:moveTo>
                  <a:lnTo>
                    <a:pt x="365924" y="1084781"/>
                  </a:lnTo>
                </a:path>
                <a:path w="3060700" h="2379345">
                  <a:moveTo>
                    <a:pt x="532253" y="1234991"/>
                  </a:moveTo>
                  <a:lnTo>
                    <a:pt x="665314" y="1234991"/>
                  </a:lnTo>
                  <a:lnTo>
                    <a:pt x="665314" y="1190431"/>
                  </a:lnTo>
                  <a:lnTo>
                    <a:pt x="532253" y="1190431"/>
                  </a:lnTo>
                  <a:lnTo>
                    <a:pt x="532253" y="1234991"/>
                  </a:lnTo>
                </a:path>
                <a:path w="3060700" h="2379345">
                  <a:moveTo>
                    <a:pt x="598783" y="1234991"/>
                  </a:moveTo>
                  <a:lnTo>
                    <a:pt x="598783" y="1245434"/>
                  </a:lnTo>
                </a:path>
                <a:path w="3060700" h="2379345">
                  <a:moveTo>
                    <a:pt x="598783" y="1190431"/>
                  </a:moveTo>
                  <a:lnTo>
                    <a:pt x="598783" y="1177538"/>
                  </a:lnTo>
                </a:path>
                <a:path w="3060700" h="2379345">
                  <a:moveTo>
                    <a:pt x="565517" y="1245434"/>
                  </a:moveTo>
                  <a:lnTo>
                    <a:pt x="632050" y="1245434"/>
                  </a:lnTo>
                </a:path>
                <a:path w="3060700" h="2379345">
                  <a:moveTo>
                    <a:pt x="565517" y="1177538"/>
                  </a:moveTo>
                  <a:lnTo>
                    <a:pt x="632050" y="1177538"/>
                  </a:lnTo>
                </a:path>
                <a:path w="3060700" h="2379345">
                  <a:moveTo>
                    <a:pt x="798378" y="1936881"/>
                  </a:moveTo>
                  <a:lnTo>
                    <a:pt x="931442" y="1936881"/>
                  </a:lnTo>
                  <a:lnTo>
                    <a:pt x="931442" y="711486"/>
                  </a:lnTo>
                  <a:lnTo>
                    <a:pt x="798378" y="711486"/>
                  </a:lnTo>
                  <a:lnTo>
                    <a:pt x="798378" y="1936881"/>
                  </a:lnTo>
                </a:path>
                <a:path w="3060700" h="2379345">
                  <a:moveTo>
                    <a:pt x="864909" y="1936881"/>
                  </a:moveTo>
                  <a:lnTo>
                    <a:pt x="864909" y="2108272"/>
                  </a:lnTo>
                </a:path>
                <a:path w="3060700" h="2379345">
                  <a:moveTo>
                    <a:pt x="864909" y="711486"/>
                  </a:moveTo>
                  <a:lnTo>
                    <a:pt x="864909" y="68299"/>
                  </a:lnTo>
                </a:path>
                <a:path w="3060700" h="2379345">
                  <a:moveTo>
                    <a:pt x="831644" y="2108272"/>
                  </a:moveTo>
                  <a:lnTo>
                    <a:pt x="898175" y="2108272"/>
                  </a:lnTo>
                </a:path>
                <a:path w="3060700" h="2379345">
                  <a:moveTo>
                    <a:pt x="831644" y="68299"/>
                  </a:moveTo>
                  <a:lnTo>
                    <a:pt x="898175" y="68299"/>
                  </a:lnTo>
                </a:path>
                <a:path w="3060700" h="2379345">
                  <a:moveTo>
                    <a:pt x="1064503" y="1404349"/>
                  </a:moveTo>
                  <a:lnTo>
                    <a:pt x="1197567" y="1404349"/>
                  </a:lnTo>
                  <a:lnTo>
                    <a:pt x="1197567" y="1102112"/>
                  </a:lnTo>
                  <a:lnTo>
                    <a:pt x="1064503" y="1102112"/>
                  </a:lnTo>
                  <a:lnTo>
                    <a:pt x="1064503" y="1404349"/>
                  </a:lnTo>
                </a:path>
                <a:path w="3060700" h="2379345">
                  <a:moveTo>
                    <a:pt x="1131036" y="1404349"/>
                  </a:moveTo>
                  <a:lnTo>
                    <a:pt x="1131036" y="2379204"/>
                  </a:lnTo>
                </a:path>
                <a:path w="3060700" h="2379345">
                  <a:moveTo>
                    <a:pt x="1131036" y="1102112"/>
                  </a:moveTo>
                  <a:lnTo>
                    <a:pt x="1131036" y="0"/>
                  </a:lnTo>
                </a:path>
                <a:path w="3060700" h="2379345">
                  <a:moveTo>
                    <a:pt x="1097770" y="2379204"/>
                  </a:moveTo>
                  <a:lnTo>
                    <a:pt x="1164301" y="2379204"/>
                  </a:lnTo>
                </a:path>
                <a:path w="3060700" h="2379345">
                  <a:moveTo>
                    <a:pt x="1097770" y="0"/>
                  </a:moveTo>
                  <a:lnTo>
                    <a:pt x="1164301" y="0"/>
                  </a:lnTo>
                </a:path>
                <a:path w="3060700" h="2379345">
                  <a:moveTo>
                    <a:pt x="1330631" y="1217131"/>
                  </a:moveTo>
                  <a:lnTo>
                    <a:pt x="1463693" y="1217131"/>
                  </a:lnTo>
                  <a:lnTo>
                    <a:pt x="1463693" y="1207243"/>
                  </a:lnTo>
                  <a:lnTo>
                    <a:pt x="1330631" y="1207243"/>
                  </a:lnTo>
                  <a:lnTo>
                    <a:pt x="1330631" y="1217131"/>
                  </a:lnTo>
                </a:path>
                <a:path w="3060700" h="2379345">
                  <a:moveTo>
                    <a:pt x="1397162" y="1217131"/>
                  </a:moveTo>
                  <a:lnTo>
                    <a:pt x="1397162" y="1311240"/>
                  </a:lnTo>
                </a:path>
                <a:path w="3060700" h="2379345">
                  <a:moveTo>
                    <a:pt x="1397162" y="1207243"/>
                  </a:moveTo>
                  <a:lnTo>
                    <a:pt x="1397162" y="1143659"/>
                  </a:lnTo>
                </a:path>
                <a:path w="3060700" h="2379345">
                  <a:moveTo>
                    <a:pt x="1363895" y="1311240"/>
                  </a:moveTo>
                  <a:lnTo>
                    <a:pt x="1430428" y="1311240"/>
                  </a:lnTo>
                </a:path>
                <a:path w="3060700" h="2379345">
                  <a:moveTo>
                    <a:pt x="1363895" y="1143659"/>
                  </a:moveTo>
                  <a:lnTo>
                    <a:pt x="1430428" y="1143659"/>
                  </a:lnTo>
                </a:path>
                <a:path w="3060700" h="2379345">
                  <a:moveTo>
                    <a:pt x="1596756" y="1273887"/>
                  </a:moveTo>
                  <a:lnTo>
                    <a:pt x="1729818" y="1273887"/>
                  </a:lnTo>
                  <a:lnTo>
                    <a:pt x="1729818" y="1248531"/>
                  </a:lnTo>
                  <a:lnTo>
                    <a:pt x="1596756" y="1248531"/>
                  </a:lnTo>
                  <a:lnTo>
                    <a:pt x="1596756" y="1273887"/>
                  </a:lnTo>
                </a:path>
                <a:path w="3060700" h="2379345">
                  <a:moveTo>
                    <a:pt x="1663287" y="1273887"/>
                  </a:moveTo>
                  <a:lnTo>
                    <a:pt x="1663287" y="1314757"/>
                  </a:lnTo>
                </a:path>
                <a:path w="3060700" h="2379345">
                  <a:moveTo>
                    <a:pt x="1663287" y="1248531"/>
                  </a:moveTo>
                  <a:lnTo>
                    <a:pt x="1663287" y="1041300"/>
                  </a:lnTo>
                </a:path>
                <a:path w="3060700" h="2379345">
                  <a:moveTo>
                    <a:pt x="1630021" y="1314757"/>
                  </a:moveTo>
                  <a:lnTo>
                    <a:pt x="1696554" y="1314757"/>
                  </a:lnTo>
                </a:path>
                <a:path w="3060700" h="2379345">
                  <a:moveTo>
                    <a:pt x="1630021" y="1041300"/>
                  </a:moveTo>
                  <a:lnTo>
                    <a:pt x="1696554" y="1041300"/>
                  </a:lnTo>
                </a:path>
                <a:path w="3060700" h="2379345">
                  <a:moveTo>
                    <a:pt x="1862882" y="1219921"/>
                  </a:moveTo>
                  <a:lnTo>
                    <a:pt x="1995946" y="1219921"/>
                  </a:lnTo>
                  <a:lnTo>
                    <a:pt x="1995946" y="1210102"/>
                  </a:lnTo>
                  <a:lnTo>
                    <a:pt x="1862882" y="1210102"/>
                  </a:lnTo>
                  <a:lnTo>
                    <a:pt x="1862882" y="1219921"/>
                  </a:lnTo>
                </a:path>
                <a:path w="3060700" h="2379345">
                  <a:moveTo>
                    <a:pt x="1929413" y="1219921"/>
                  </a:moveTo>
                  <a:lnTo>
                    <a:pt x="1929413" y="1227236"/>
                  </a:lnTo>
                </a:path>
                <a:path w="3060700" h="2379345">
                  <a:moveTo>
                    <a:pt x="1929413" y="1210102"/>
                  </a:moveTo>
                  <a:lnTo>
                    <a:pt x="1929413" y="1184784"/>
                  </a:lnTo>
                </a:path>
                <a:path w="3060700" h="2379345">
                  <a:moveTo>
                    <a:pt x="1896148" y="1227236"/>
                  </a:moveTo>
                  <a:lnTo>
                    <a:pt x="1962679" y="1227236"/>
                  </a:lnTo>
                </a:path>
                <a:path w="3060700" h="2379345">
                  <a:moveTo>
                    <a:pt x="1896148" y="1184784"/>
                  </a:moveTo>
                  <a:lnTo>
                    <a:pt x="1962679" y="1184784"/>
                  </a:lnTo>
                </a:path>
                <a:path w="3060700" h="2379345">
                  <a:moveTo>
                    <a:pt x="2129007" y="1223520"/>
                  </a:moveTo>
                  <a:lnTo>
                    <a:pt x="2262071" y="1223520"/>
                  </a:lnTo>
                  <a:lnTo>
                    <a:pt x="2262071" y="1209827"/>
                  </a:lnTo>
                  <a:lnTo>
                    <a:pt x="2129007" y="1209827"/>
                  </a:lnTo>
                  <a:lnTo>
                    <a:pt x="2129007" y="1223520"/>
                  </a:lnTo>
                </a:path>
                <a:path w="3060700" h="2379345">
                  <a:moveTo>
                    <a:pt x="2195540" y="1223520"/>
                  </a:moveTo>
                  <a:lnTo>
                    <a:pt x="2195540" y="1260115"/>
                  </a:lnTo>
                </a:path>
                <a:path w="3060700" h="2379345">
                  <a:moveTo>
                    <a:pt x="2195540" y="1209827"/>
                  </a:moveTo>
                  <a:lnTo>
                    <a:pt x="2195540" y="1105977"/>
                  </a:lnTo>
                </a:path>
                <a:path w="3060700" h="2379345">
                  <a:moveTo>
                    <a:pt x="2162274" y="1260115"/>
                  </a:moveTo>
                  <a:lnTo>
                    <a:pt x="2228805" y="1260115"/>
                  </a:lnTo>
                </a:path>
                <a:path w="3060700" h="2379345">
                  <a:moveTo>
                    <a:pt x="2162274" y="1105977"/>
                  </a:moveTo>
                  <a:lnTo>
                    <a:pt x="2228805" y="1105977"/>
                  </a:lnTo>
                </a:path>
                <a:path w="3060700" h="2379345">
                  <a:moveTo>
                    <a:pt x="2395135" y="1244936"/>
                  </a:moveTo>
                  <a:lnTo>
                    <a:pt x="2528197" y="1244936"/>
                  </a:lnTo>
                  <a:lnTo>
                    <a:pt x="2528197" y="1194344"/>
                  </a:lnTo>
                  <a:lnTo>
                    <a:pt x="2395135" y="1194344"/>
                  </a:lnTo>
                  <a:lnTo>
                    <a:pt x="2395135" y="1244936"/>
                  </a:lnTo>
                </a:path>
                <a:path w="3060700" h="2379345">
                  <a:moveTo>
                    <a:pt x="2461666" y="1244936"/>
                  </a:moveTo>
                  <a:lnTo>
                    <a:pt x="2461666" y="1265546"/>
                  </a:lnTo>
                </a:path>
                <a:path w="3060700" h="2379345">
                  <a:moveTo>
                    <a:pt x="2461666" y="1194344"/>
                  </a:moveTo>
                  <a:lnTo>
                    <a:pt x="2461666" y="1093216"/>
                  </a:lnTo>
                </a:path>
                <a:path w="3060700" h="2379345">
                  <a:moveTo>
                    <a:pt x="2428399" y="1265546"/>
                  </a:moveTo>
                  <a:lnTo>
                    <a:pt x="2494932" y="1265546"/>
                  </a:lnTo>
                </a:path>
                <a:path w="3060700" h="2379345">
                  <a:moveTo>
                    <a:pt x="2428399" y="1093216"/>
                  </a:moveTo>
                  <a:lnTo>
                    <a:pt x="2494932" y="1093216"/>
                  </a:lnTo>
                </a:path>
                <a:path w="3060700" h="2379345">
                  <a:moveTo>
                    <a:pt x="2661260" y="1223939"/>
                  </a:moveTo>
                  <a:lnTo>
                    <a:pt x="2794322" y="1223939"/>
                  </a:lnTo>
                  <a:lnTo>
                    <a:pt x="2794322" y="1198318"/>
                  </a:lnTo>
                  <a:lnTo>
                    <a:pt x="2661260" y="1198318"/>
                  </a:lnTo>
                  <a:lnTo>
                    <a:pt x="2661260" y="1223939"/>
                  </a:lnTo>
                </a:path>
                <a:path w="3060700" h="2379345">
                  <a:moveTo>
                    <a:pt x="2727791" y="1223939"/>
                  </a:moveTo>
                  <a:lnTo>
                    <a:pt x="2727791" y="1239386"/>
                  </a:lnTo>
                </a:path>
                <a:path w="3060700" h="2379345">
                  <a:moveTo>
                    <a:pt x="2727791" y="1198318"/>
                  </a:moveTo>
                  <a:lnTo>
                    <a:pt x="2727791" y="1194869"/>
                  </a:lnTo>
                </a:path>
                <a:path w="3060700" h="2379345">
                  <a:moveTo>
                    <a:pt x="2694525" y="1239386"/>
                  </a:moveTo>
                  <a:lnTo>
                    <a:pt x="2761058" y="1239386"/>
                  </a:lnTo>
                </a:path>
                <a:path w="3060700" h="2379345">
                  <a:moveTo>
                    <a:pt x="2694525" y="1194869"/>
                  </a:moveTo>
                  <a:lnTo>
                    <a:pt x="2761058" y="1194869"/>
                  </a:lnTo>
                </a:path>
                <a:path w="3060700" h="2379345">
                  <a:moveTo>
                    <a:pt x="2927386" y="1214852"/>
                  </a:moveTo>
                  <a:lnTo>
                    <a:pt x="3060450" y="1214852"/>
                  </a:lnTo>
                  <a:lnTo>
                    <a:pt x="2927386" y="1214852"/>
                  </a:lnTo>
                </a:path>
              </a:pathLst>
            </a:custGeom>
            <a:ln w="20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564149" y="463880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10174"/>
                  </a:moveTo>
                  <a:lnTo>
                    <a:pt x="2980" y="2979"/>
                  </a:lnTo>
                  <a:lnTo>
                    <a:pt x="10174" y="0"/>
                  </a:lnTo>
                  <a:lnTo>
                    <a:pt x="17369" y="2979"/>
                  </a:lnTo>
                  <a:lnTo>
                    <a:pt x="20349" y="10174"/>
                  </a:lnTo>
                  <a:lnTo>
                    <a:pt x="17369" y="17368"/>
                  </a:lnTo>
                  <a:lnTo>
                    <a:pt x="10174" y="20348"/>
                  </a:lnTo>
                  <a:lnTo>
                    <a:pt x="2980" y="17368"/>
                  </a:lnTo>
                  <a:lnTo>
                    <a:pt x="0" y="10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574324" y="46489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2"/>
                  </a:moveTo>
                  <a:lnTo>
                    <a:pt x="0" y="0"/>
                  </a:lnTo>
                </a:path>
              </a:pathLst>
            </a:custGeom>
            <a:ln w="20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541057" y="4638807"/>
              <a:ext cx="66675" cy="20955"/>
            </a:xfrm>
            <a:custGeom>
              <a:avLst/>
              <a:gdLst/>
              <a:ahLst/>
              <a:cxnLst/>
              <a:rect l="l" t="t" r="r" b="b"/>
              <a:pathLst>
                <a:path w="66675" h="20954">
                  <a:moveTo>
                    <a:pt x="66522" y="0"/>
                  </a:moveTo>
                  <a:lnTo>
                    <a:pt x="0" y="0"/>
                  </a:lnTo>
                  <a:lnTo>
                    <a:pt x="0" y="20358"/>
                  </a:lnTo>
                  <a:lnTo>
                    <a:pt x="66522" y="20358"/>
                  </a:lnTo>
                  <a:lnTo>
                    <a:pt x="66522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773918" y="2796513"/>
              <a:ext cx="2262505" cy="2962275"/>
            </a:xfrm>
            <a:custGeom>
              <a:avLst/>
              <a:gdLst/>
              <a:ahLst/>
              <a:cxnLst/>
              <a:rect l="l" t="t" r="r" b="b"/>
              <a:pathLst>
                <a:path w="2262504" h="2962275">
                  <a:moveTo>
                    <a:pt x="0" y="1865942"/>
                  </a:moveTo>
                  <a:lnTo>
                    <a:pt x="133063" y="1865942"/>
                  </a:lnTo>
                  <a:lnTo>
                    <a:pt x="133063" y="1844751"/>
                  </a:lnTo>
                  <a:lnTo>
                    <a:pt x="0" y="1844751"/>
                  </a:lnTo>
                  <a:lnTo>
                    <a:pt x="0" y="1865942"/>
                  </a:lnTo>
                </a:path>
                <a:path w="2262504" h="2962275">
                  <a:moveTo>
                    <a:pt x="66532" y="1865942"/>
                  </a:moveTo>
                  <a:lnTo>
                    <a:pt x="66532" y="1868563"/>
                  </a:lnTo>
                </a:path>
                <a:path w="2262504" h="2962275">
                  <a:moveTo>
                    <a:pt x="66532" y="1844751"/>
                  </a:moveTo>
                  <a:lnTo>
                    <a:pt x="66532" y="1833179"/>
                  </a:lnTo>
                </a:path>
                <a:path w="2262504" h="2962275">
                  <a:moveTo>
                    <a:pt x="33266" y="1868563"/>
                  </a:moveTo>
                  <a:lnTo>
                    <a:pt x="99797" y="1868563"/>
                  </a:lnTo>
                </a:path>
                <a:path w="2262504" h="2962275">
                  <a:moveTo>
                    <a:pt x="33266" y="1833179"/>
                  </a:moveTo>
                  <a:lnTo>
                    <a:pt x="99797" y="1833179"/>
                  </a:lnTo>
                </a:path>
                <a:path w="2262504" h="2962275">
                  <a:moveTo>
                    <a:pt x="266127" y="1869418"/>
                  </a:moveTo>
                  <a:lnTo>
                    <a:pt x="399189" y="1869418"/>
                  </a:lnTo>
                  <a:lnTo>
                    <a:pt x="399189" y="1842814"/>
                  </a:lnTo>
                  <a:lnTo>
                    <a:pt x="266127" y="1842814"/>
                  </a:lnTo>
                  <a:lnTo>
                    <a:pt x="266127" y="1869418"/>
                  </a:lnTo>
                </a:path>
                <a:path w="2262504" h="2962275">
                  <a:moveTo>
                    <a:pt x="332658" y="1869418"/>
                  </a:moveTo>
                  <a:lnTo>
                    <a:pt x="332658" y="1879204"/>
                  </a:lnTo>
                </a:path>
                <a:path w="2262504" h="2962275">
                  <a:moveTo>
                    <a:pt x="332658" y="1842814"/>
                  </a:moveTo>
                  <a:lnTo>
                    <a:pt x="332658" y="1758675"/>
                  </a:lnTo>
                </a:path>
                <a:path w="2262504" h="2962275">
                  <a:moveTo>
                    <a:pt x="299391" y="1879204"/>
                  </a:moveTo>
                  <a:lnTo>
                    <a:pt x="365924" y="1879204"/>
                  </a:lnTo>
                </a:path>
                <a:path w="2262504" h="2962275">
                  <a:moveTo>
                    <a:pt x="299391" y="1758675"/>
                  </a:moveTo>
                  <a:lnTo>
                    <a:pt x="365924" y="1758675"/>
                  </a:lnTo>
                </a:path>
                <a:path w="2262504" h="2962275">
                  <a:moveTo>
                    <a:pt x="532253" y="1851495"/>
                  </a:moveTo>
                  <a:lnTo>
                    <a:pt x="665314" y="1851495"/>
                  </a:lnTo>
                  <a:lnTo>
                    <a:pt x="665314" y="1845864"/>
                  </a:lnTo>
                  <a:lnTo>
                    <a:pt x="532253" y="1845864"/>
                  </a:lnTo>
                  <a:lnTo>
                    <a:pt x="532253" y="1851495"/>
                  </a:lnTo>
                </a:path>
                <a:path w="2262504" h="2962275">
                  <a:moveTo>
                    <a:pt x="598783" y="1851495"/>
                  </a:moveTo>
                  <a:lnTo>
                    <a:pt x="598783" y="1927926"/>
                  </a:lnTo>
                </a:path>
                <a:path w="2262504" h="2962275">
                  <a:moveTo>
                    <a:pt x="598783" y="1845864"/>
                  </a:moveTo>
                  <a:lnTo>
                    <a:pt x="598783" y="1829896"/>
                  </a:lnTo>
                </a:path>
                <a:path w="2262504" h="2962275">
                  <a:moveTo>
                    <a:pt x="565517" y="1927926"/>
                  </a:moveTo>
                  <a:lnTo>
                    <a:pt x="632050" y="1927926"/>
                  </a:lnTo>
                </a:path>
                <a:path w="2262504" h="2962275">
                  <a:moveTo>
                    <a:pt x="565517" y="1829896"/>
                  </a:moveTo>
                  <a:lnTo>
                    <a:pt x="632050" y="1829896"/>
                  </a:lnTo>
                </a:path>
                <a:path w="2262504" h="2962275">
                  <a:moveTo>
                    <a:pt x="798378" y="1866294"/>
                  </a:moveTo>
                  <a:lnTo>
                    <a:pt x="931442" y="1866294"/>
                  </a:lnTo>
                  <a:lnTo>
                    <a:pt x="931442" y="1820878"/>
                  </a:lnTo>
                  <a:lnTo>
                    <a:pt x="798378" y="1820878"/>
                  </a:lnTo>
                  <a:lnTo>
                    <a:pt x="798378" y="1866294"/>
                  </a:lnTo>
                </a:path>
                <a:path w="2262504" h="2962275">
                  <a:moveTo>
                    <a:pt x="864909" y="1866294"/>
                  </a:moveTo>
                  <a:lnTo>
                    <a:pt x="864909" y="1975284"/>
                  </a:lnTo>
                </a:path>
                <a:path w="2262504" h="2962275">
                  <a:moveTo>
                    <a:pt x="864909" y="1820878"/>
                  </a:moveTo>
                  <a:lnTo>
                    <a:pt x="864909" y="1771725"/>
                  </a:lnTo>
                </a:path>
                <a:path w="2262504" h="2962275">
                  <a:moveTo>
                    <a:pt x="831644" y="1975284"/>
                  </a:moveTo>
                  <a:lnTo>
                    <a:pt x="898175" y="1975284"/>
                  </a:lnTo>
                </a:path>
                <a:path w="2262504" h="2962275">
                  <a:moveTo>
                    <a:pt x="831644" y="1771725"/>
                  </a:moveTo>
                  <a:lnTo>
                    <a:pt x="898175" y="1771725"/>
                  </a:lnTo>
                </a:path>
                <a:path w="2262504" h="2962275">
                  <a:moveTo>
                    <a:pt x="1064503" y="2052031"/>
                  </a:moveTo>
                  <a:lnTo>
                    <a:pt x="1197567" y="2052031"/>
                  </a:lnTo>
                  <a:lnTo>
                    <a:pt x="1197567" y="1865751"/>
                  </a:lnTo>
                  <a:lnTo>
                    <a:pt x="1064503" y="1865751"/>
                  </a:lnTo>
                  <a:lnTo>
                    <a:pt x="1064503" y="2052031"/>
                  </a:lnTo>
                </a:path>
                <a:path w="2262504" h="2962275">
                  <a:moveTo>
                    <a:pt x="1131036" y="2052031"/>
                  </a:moveTo>
                  <a:lnTo>
                    <a:pt x="1131036" y="2414007"/>
                  </a:lnTo>
                </a:path>
                <a:path w="2262504" h="2962275">
                  <a:moveTo>
                    <a:pt x="1131036" y="1865751"/>
                  </a:moveTo>
                  <a:lnTo>
                    <a:pt x="1131036" y="0"/>
                  </a:lnTo>
                </a:path>
                <a:path w="2262504" h="2962275">
                  <a:moveTo>
                    <a:pt x="1097770" y="2414007"/>
                  </a:moveTo>
                  <a:lnTo>
                    <a:pt x="1164301" y="2414007"/>
                  </a:lnTo>
                </a:path>
                <a:path w="2262504" h="2962275">
                  <a:moveTo>
                    <a:pt x="1097770" y="0"/>
                  </a:moveTo>
                  <a:lnTo>
                    <a:pt x="1164301" y="0"/>
                  </a:lnTo>
                </a:path>
                <a:path w="2262504" h="2962275">
                  <a:moveTo>
                    <a:pt x="1330631" y="2324915"/>
                  </a:moveTo>
                  <a:lnTo>
                    <a:pt x="1463693" y="2324915"/>
                  </a:lnTo>
                  <a:lnTo>
                    <a:pt x="1463693" y="1248421"/>
                  </a:lnTo>
                  <a:lnTo>
                    <a:pt x="1330631" y="1248421"/>
                  </a:lnTo>
                  <a:lnTo>
                    <a:pt x="1330631" y="2324915"/>
                  </a:lnTo>
                </a:path>
                <a:path w="2262504" h="2962275">
                  <a:moveTo>
                    <a:pt x="1397162" y="2324915"/>
                  </a:moveTo>
                  <a:lnTo>
                    <a:pt x="1397162" y="2718678"/>
                  </a:lnTo>
                </a:path>
                <a:path w="2262504" h="2962275">
                  <a:moveTo>
                    <a:pt x="1397162" y="1248421"/>
                  </a:moveTo>
                  <a:lnTo>
                    <a:pt x="1397162" y="795641"/>
                  </a:lnTo>
                </a:path>
                <a:path w="2262504" h="2962275">
                  <a:moveTo>
                    <a:pt x="1363895" y="2718678"/>
                  </a:moveTo>
                  <a:lnTo>
                    <a:pt x="1430428" y="2718678"/>
                  </a:lnTo>
                </a:path>
                <a:path w="2262504" h="2962275">
                  <a:moveTo>
                    <a:pt x="1363895" y="795641"/>
                  </a:moveTo>
                  <a:lnTo>
                    <a:pt x="1430428" y="795641"/>
                  </a:lnTo>
                </a:path>
                <a:path w="2262504" h="2962275">
                  <a:moveTo>
                    <a:pt x="1596756" y="2358585"/>
                  </a:moveTo>
                  <a:lnTo>
                    <a:pt x="1729818" y="2358585"/>
                  </a:lnTo>
                  <a:lnTo>
                    <a:pt x="1729818" y="1734899"/>
                  </a:lnTo>
                  <a:lnTo>
                    <a:pt x="1596756" y="1734899"/>
                  </a:lnTo>
                  <a:lnTo>
                    <a:pt x="1596756" y="2358585"/>
                  </a:lnTo>
                </a:path>
                <a:path w="2262504" h="2962275">
                  <a:moveTo>
                    <a:pt x="1663287" y="2358585"/>
                  </a:moveTo>
                  <a:lnTo>
                    <a:pt x="1663287" y="2961674"/>
                  </a:lnTo>
                </a:path>
                <a:path w="2262504" h="2962275">
                  <a:moveTo>
                    <a:pt x="1663287" y="1734899"/>
                  </a:moveTo>
                  <a:lnTo>
                    <a:pt x="1663287" y="21464"/>
                  </a:lnTo>
                </a:path>
                <a:path w="2262504" h="2962275">
                  <a:moveTo>
                    <a:pt x="1630021" y="2961674"/>
                  </a:moveTo>
                  <a:lnTo>
                    <a:pt x="1696554" y="2961674"/>
                  </a:lnTo>
                </a:path>
                <a:path w="2262504" h="2962275">
                  <a:moveTo>
                    <a:pt x="1630021" y="21464"/>
                  </a:moveTo>
                  <a:lnTo>
                    <a:pt x="1696554" y="21464"/>
                  </a:lnTo>
                </a:path>
                <a:path w="2262504" h="2962275">
                  <a:moveTo>
                    <a:pt x="1862882" y="1862819"/>
                  </a:moveTo>
                  <a:lnTo>
                    <a:pt x="1995946" y="1862819"/>
                  </a:lnTo>
                  <a:lnTo>
                    <a:pt x="1995946" y="1848737"/>
                  </a:lnTo>
                  <a:lnTo>
                    <a:pt x="1862882" y="1848737"/>
                  </a:lnTo>
                  <a:lnTo>
                    <a:pt x="1862882" y="1862819"/>
                  </a:lnTo>
                </a:path>
                <a:path w="2262504" h="2962275">
                  <a:moveTo>
                    <a:pt x="1929413" y="1862819"/>
                  </a:moveTo>
                  <a:lnTo>
                    <a:pt x="1929413" y="1877206"/>
                  </a:lnTo>
                </a:path>
                <a:path w="2262504" h="2962275">
                  <a:moveTo>
                    <a:pt x="1929413" y="1848737"/>
                  </a:moveTo>
                  <a:lnTo>
                    <a:pt x="1929413" y="1810998"/>
                  </a:lnTo>
                </a:path>
                <a:path w="2262504" h="2962275">
                  <a:moveTo>
                    <a:pt x="1896148" y="1877206"/>
                  </a:moveTo>
                  <a:lnTo>
                    <a:pt x="1962679" y="1877206"/>
                  </a:lnTo>
                </a:path>
                <a:path w="2262504" h="2962275">
                  <a:moveTo>
                    <a:pt x="1896148" y="1810998"/>
                  </a:moveTo>
                  <a:lnTo>
                    <a:pt x="1962679" y="1810998"/>
                  </a:lnTo>
                </a:path>
                <a:path w="2262504" h="2962275">
                  <a:moveTo>
                    <a:pt x="2129007" y="1852956"/>
                  </a:moveTo>
                  <a:lnTo>
                    <a:pt x="2262071" y="1852956"/>
                  </a:lnTo>
                  <a:lnTo>
                    <a:pt x="2262071" y="1851871"/>
                  </a:lnTo>
                  <a:lnTo>
                    <a:pt x="2129007" y="1851871"/>
                  </a:lnTo>
                  <a:lnTo>
                    <a:pt x="2129007" y="1852956"/>
                  </a:lnTo>
                </a:path>
                <a:path w="2262504" h="2962275">
                  <a:moveTo>
                    <a:pt x="2195540" y="1852956"/>
                  </a:moveTo>
                  <a:lnTo>
                    <a:pt x="2195540" y="1902376"/>
                  </a:lnTo>
                </a:path>
                <a:path w="2262504" h="2962275">
                  <a:moveTo>
                    <a:pt x="2195540" y="1851871"/>
                  </a:moveTo>
                  <a:lnTo>
                    <a:pt x="2195540" y="1839277"/>
                  </a:lnTo>
                </a:path>
                <a:path w="2262504" h="2962275">
                  <a:moveTo>
                    <a:pt x="2162274" y="1902376"/>
                  </a:moveTo>
                  <a:lnTo>
                    <a:pt x="2228805" y="1902376"/>
                  </a:lnTo>
                </a:path>
                <a:path w="2262504" h="2962275">
                  <a:moveTo>
                    <a:pt x="2162274" y="1839277"/>
                  </a:moveTo>
                  <a:lnTo>
                    <a:pt x="2228805" y="1839277"/>
                  </a:lnTo>
                </a:path>
              </a:pathLst>
            </a:custGeom>
            <a:ln w="20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653021" y="46470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2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919147" y="4711158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2" y="20348"/>
                  </a:lnTo>
                  <a:lnTo>
                    <a:pt x="133062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185273" y="4595576"/>
              <a:ext cx="931544" cy="55244"/>
            </a:xfrm>
            <a:custGeom>
              <a:avLst/>
              <a:gdLst/>
              <a:ahLst/>
              <a:cxnLst/>
              <a:rect l="l" t="t" r="r" b="b"/>
              <a:pathLst>
                <a:path w="931544" h="55245">
                  <a:moveTo>
                    <a:pt x="0" y="53837"/>
                  </a:moveTo>
                  <a:lnTo>
                    <a:pt x="133062" y="53837"/>
                  </a:lnTo>
                </a:path>
                <a:path w="931544" h="55245">
                  <a:moveTo>
                    <a:pt x="266125" y="0"/>
                  </a:moveTo>
                  <a:lnTo>
                    <a:pt x="399188" y="0"/>
                  </a:lnTo>
                </a:path>
                <a:path w="931544" h="55245">
                  <a:moveTo>
                    <a:pt x="532252" y="6483"/>
                  </a:moveTo>
                  <a:lnTo>
                    <a:pt x="665314" y="6483"/>
                  </a:lnTo>
                </a:path>
                <a:path w="931544" h="55245">
                  <a:moveTo>
                    <a:pt x="798378" y="54673"/>
                  </a:moveTo>
                  <a:lnTo>
                    <a:pt x="931440" y="54673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49777" y="4640543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3" y="20348"/>
                  </a:lnTo>
                  <a:lnTo>
                    <a:pt x="133063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515903" y="4651861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3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782030" y="4631192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1" y="20348"/>
                  </a:lnTo>
                  <a:lnTo>
                    <a:pt x="133061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48156" y="4647594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1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314281" y="4638811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3" y="20348"/>
                  </a:lnTo>
                  <a:lnTo>
                    <a:pt x="133063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580406" y="4631003"/>
              <a:ext cx="1464310" cy="149225"/>
            </a:xfrm>
            <a:custGeom>
              <a:avLst/>
              <a:gdLst/>
              <a:ahLst/>
              <a:cxnLst/>
              <a:rect l="l" t="t" r="r" b="b"/>
              <a:pathLst>
                <a:path w="1464310" h="149225">
                  <a:moveTo>
                    <a:pt x="0" y="3919"/>
                  </a:moveTo>
                  <a:lnTo>
                    <a:pt x="133063" y="3919"/>
                  </a:lnTo>
                </a:path>
                <a:path w="1464310" h="149225">
                  <a:moveTo>
                    <a:pt x="266127" y="10115"/>
                  </a:moveTo>
                  <a:lnTo>
                    <a:pt x="399189" y="10115"/>
                  </a:lnTo>
                </a:path>
                <a:path w="1464310" h="149225">
                  <a:moveTo>
                    <a:pt x="532253" y="14459"/>
                  </a:moveTo>
                  <a:lnTo>
                    <a:pt x="665314" y="14459"/>
                  </a:lnTo>
                </a:path>
                <a:path w="1464310" h="149225">
                  <a:moveTo>
                    <a:pt x="798378" y="149035"/>
                  </a:moveTo>
                  <a:lnTo>
                    <a:pt x="931442" y="149035"/>
                  </a:lnTo>
                </a:path>
                <a:path w="1464310" h="149225">
                  <a:moveTo>
                    <a:pt x="1064503" y="0"/>
                  </a:moveTo>
                  <a:lnTo>
                    <a:pt x="1197567" y="0"/>
                  </a:lnTo>
                </a:path>
                <a:path w="1464310" h="149225">
                  <a:moveTo>
                    <a:pt x="1330631" y="13886"/>
                  </a:moveTo>
                  <a:lnTo>
                    <a:pt x="1463693" y="13886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177163" y="4687739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1" y="20348"/>
                  </a:lnTo>
                  <a:lnTo>
                    <a:pt x="133061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443289" y="4650347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3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709414" y="4641574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3" y="20348"/>
                  </a:lnTo>
                  <a:lnTo>
                    <a:pt x="133063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6975542" y="465620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1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241667" y="4633702"/>
              <a:ext cx="399415" cy="26034"/>
            </a:xfrm>
            <a:custGeom>
              <a:avLst/>
              <a:gdLst/>
              <a:ahLst/>
              <a:cxnLst/>
              <a:rect l="l" t="t" r="r" b="b"/>
              <a:pathLst>
                <a:path w="399415" h="26035">
                  <a:moveTo>
                    <a:pt x="133057" y="0"/>
                  </a:moveTo>
                  <a:lnTo>
                    <a:pt x="0" y="0"/>
                  </a:lnTo>
                  <a:lnTo>
                    <a:pt x="0" y="20358"/>
                  </a:lnTo>
                  <a:lnTo>
                    <a:pt x="133057" y="20358"/>
                  </a:lnTo>
                  <a:lnTo>
                    <a:pt x="133057" y="0"/>
                  </a:lnTo>
                  <a:close/>
                </a:path>
                <a:path w="399415" h="26035">
                  <a:moveTo>
                    <a:pt x="399186" y="5118"/>
                  </a:moveTo>
                  <a:lnTo>
                    <a:pt x="266115" y="5118"/>
                  </a:lnTo>
                  <a:lnTo>
                    <a:pt x="266115" y="25463"/>
                  </a:lnTo>
                  <a:lnTo>
                    <a:pt x="399186" y="25463"/>
                  </a:lnTo>
                  <a:lnTo>
                    <a:pt x="399186" y="511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773918" y="4654972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3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8040046" y="4646041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1" y="20348"/>
                  </a:lnTo>
                  <a:lnTo>
                    <a:pt x="133061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8306171" y="4645599"/>
              <a:ext cx="1197610" cy="255904"/>
            </a:xfrm>
            <a:custGeom>
              <a:avLst/>
              <a:gdLst/>
              <a:ahLst/>
              <a:cxnLst/>
              <a:rect l="l" t="t" r="r" b="b"/>
              <a:pathLst>
                <a:path w="1197609" h="255904">
                  <a:moveTo>
                    <a:pt x="0" y="142"/>
                  </a:moveTo>
                  <a:lnTo>
                    <a:pt x="133061" y="142"/>
                  </a:lnTo>
                </a:path>
                <a:path w="1197609" h="255904">
                  <a:moveTo>
                    <a:pt x="266125" y="0"/>
                  </a:moveTo>
                  <a:lnTo>
                    <a:pt x="399189" y="0"/>
                  </a:lnTo>
                </a:path>
                <a:path w="1197609" h="255904">
                  <a:moveTo>
                    <a:pt x="532250" y="136919"/>
                  </a:moveTo>
                  <a:lnTo>
                    <a:pt x="665314" y="136919"/>
                  </a:lnTo>
                </a:path>
                <a:path w="1197609" h="255904">
                  <a:moveTo>
                    <a:pt x="798378" y="48819"/>
                  </a:moveTo>
                  <a:lnTo>
                    <a:pt x="931440" y="48819"/>
                  </a:lnTo>
                </a:path>
                <a:path w="1197609" h="255904">
                  <a:moveTo>
                    <a:pt x="1064503" y="255305"/>
                  </a:moveTo>
                  <a:lnTo>
                    <a:pt x="1197565" y="255305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9636801" y="4637033"/>
              <a:ext cx="133350" cy="20955"/>
            </a:xfrm>
            <a:custGeom>
              <a:avLst/>
              <a:gdLst/>
              <a:ahLst/>
              <a:cxnLst/>
              <a:rect l="l" t="t" r="r" b="b"/>
              <a:pathLst>
                <a:path w="133350" h="20954">
                  <a:moveTo>
                    <a:pt x="0" y="20348"/>
                  </a:moveTo>
                  <a:lnTo>
                    <a:pt x="133063" y="20348"/>
                  </a:lnTo>
                  <a:lnTo>
                    <a:pt x="133063" y="0"/>
                  </a:lnTo>
                  <a:lnTo>
                    <a:pt x="0" y="0"/>
                  </a:lnTo>
                  <a:lnTo>
                    <a:pt x="0" y="20348"/>
                  </a:lnTo>
                  <a:close/>
                </a:path>
              </a:pathLst>
            </a:custGeom>
            <a:solidFill>
              <a:srgbClr val="FF7F0E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9902926" y="4649067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63" y="0"/>
                  </a:lnTo>
                </a:path>
              </a:pathLst>
            </a:custGeom>
            <a:ln w="20348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586490" y="2645671"/>
              <a:ext cx="8516620" cy="3318510"/>
            </a:xfrm>
            <a:custGeom>
              <a:avLst/>
              <a:gdLst/>
              <a:ahLst/>
              <a:cxnLst/>
              <a:rect l="l" t="t" r="r" b="b"/>
              <a:pathLst>
                <a:path w="8516620" h="3318510">
                  <a:moveTo>
                    <a:pt x="0" y="3318506"/>
                  </a:moveTo>
                  <a:lnTo>
                    <a:pt x="0" y="0"/>
                  </a:lnTo>
                </a:path>
                <a:path w="8516620" h="3318510">
                  <a:moveTo>
                    <a:pt x="8516031" y="3318506"/>
                  </a:moveTo>
                  <a:lnTo>
                    <a:pt x="8516031" y="0"/>
                  </a:lnTo>
                </a:path>
                <a:path w="8516620" h="3318510">
                  <a:moveTo>
                    <a:pt x="0" y="3318506"/>
                  </a:moveTo>
                  <a:lnTo>
                    <a:pt x="8516031" y="3318506"/>
                  </a:lnTo>
                </a:path>
                <a:path w="8516620" h="3318510">
                  <a:moveTo>
                    <a:pt x="0" y="0"/>
                  </a:moveTo>
                  <a:lnTo>
                    <a:pt x="8516031" y="0"/>
                  </a:lnTo>
                </a:path>
              </a:pathLst>
            </a:custGeom>
            <a:ln w="1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89" name="object 18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20372" y="2345566"/>
              <a:ext cx="225384" cy="178012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67245" y="2386834"/>
              <a:ext cx="123803" cy="139919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4226941" y="2337999"/>
              <a:ext cx="22225" cy="186055"/>
            </a:xfrm>
            <a:custGeom>
              <a:avLst/>
              <a:gdLst/>
              <a:ahLst/>
              <a:cxnLst/>
              <a:rect l="l" t="t" r="r" b="b"/>
              <a:pathLst>
                <a:path w="22225" h="186055">
                  <a:moveTo>
                    <a:pt x="21971" y="52019"/>
                  </a:moveTo>
                  <a:lnTo>
                    <a:pt x="0" y="52019"/>
                  </a:lnTo>
                  <a:lnTo>
                    <a:pt x="0" y="185585"/>
                  </a:lnTo>
                  <a:lnTo>
                    <a:pt x="21971" y="185585"/>
                  </a:lnTo>
                  <a:lnTo>
                    <a:pt x="21971" y="52019"/>
                  </a:lnTo>
                  <a:close/>
                </a:path>
                <a:path w="22225" h="186055">
                  <a:moveTo>
                    <a:pt x="21971" y="0"/>
                  </a:moveTo>
                  <a:lnTo>
                    <a:pt x="0" y="0"/>
                  </a:lnTo>
                  <a:lnTo>
                    <a:pt x="0" y="27838"/>
                  </a:lnTo>
                  <a:lnTo>
                    <a:pt x="21971" y="27838"/>
                  </a:lnTo>
                  <a:lnTo>
                    <a:pt x="21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  <p:pic>
          <p:nvPicPr>
            <p:cNvPr id="192" name="object 19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85305" y="2386834"/>
              <a:ext cx="119407" cy="187291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449154" y="2337996"/>
              <a:ext cx="111838" cy="185581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588342" y="2352159"/>
              <a:ext cx="83267" cy="171418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777342" y="2386834"/>
              <a:ext cx="205606" cy="139919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027390" y="2386834"/>
              <a:ext cx="111838" cy="136744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173414" y="2386834"/>
              <a:ext cx="119407" cy="187291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28473" y="2386834"/>
              <a:ext cx="123803" cy="139919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565091" y="2386834"/>
              <a:ext cx="119406" cy="187291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11359" y="2386834"/>
              <a:ext cx="123803" cy="139919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870325" y="2386834"/>
              <a:ext cx="78140" cy="13674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039546" y="2386834"/>
              <a:ext cx="122581" cy="139919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196314" y="2390007"/>
              <a:ext cx="111837" cy="136745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336967" y="2352159"/>
              <a:ext cx="83267" cy="171418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48316" y="2386834"/>
              <a:ext cx="119406" cy="187291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601909" y="2390007"/>
              <a:ext cx="111838" cy="13674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742562" y="2352159"/>
              <a:ext cx="83267" cy="171418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22772" y="2386834"/>
              <a:ext cx="105732" cy="139919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065866" y="2337996"/>
              <a:ext cx="111837" cy="185581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213111" y="2386834"/>
              <a:ext cx="112814" cy="139919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70366" y="2386834"/>
              <a:ext cx="111838" cy="136744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525182" y="2386834"/>
              <a:ext cx="111837" cy="136744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71205" y="2386834"/>
              <a:ext cx="123803" cy="139919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7830904" y="2337996"/>
              <a:ext cx="22225" cy="186055"/>
            </a:xfrm>
            <a:custGeom>
              <a:avLst/>
              <a:gdLst/>
              <a:ahLst/>
              <a:cxnLst/>
              <a:rect l="l" t="t" r="r" b="b"/>
              <a:pathLst>
                <a:path w="22225" h="186055">
                  <a:moveTo>
                    <a:pt x="21976" y="0"/>
                  </a:moveTo>
                  <a:lnTo>
                    <a:pt x="0" y="0"/>
                  </a:lnTo>
                  <a:lnTo>
                    <a:pt x="0" y="185581"/>
                  </a:lnTo>
                  <a:lnTo>
                    <a:pt x="21976" y="185581"/>
                  </a:lnTo>
                  <a:lnTo>
                    <a:pt x="21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790"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1905480" y="1408116"/>
            <a:ext cx="2319201" cy="137216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851" spc="-41" dirty="0">
                <a:solidFill>
                  <a:srgbClr val="5E5E5E"/>
                </a:solidFill>
                <a:latin typeface="Trebuchet MS"/>
                <a:cs typeface="Trebuchet MS"/>
              </a:rPr>
              <a:t>(first</a:t>
            </a:r>
            <a:r>
              <a:rPr sz="851" spc="-1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851" dirty="0">
                <a:solidFill>
                  <a:srgbClr val="5E5E5E"/>
                </a:solidFill>
                <a:latin typeface="Trebuchet MS"/>
                <a:cs typeface="Trebuchet MS"/>
              </a:rPr>
              <a:t>depthwise-separable</a:t>
            </a:r>
            <a:r>
              <a:rPr sz="851" spc="-13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851" spc="-18" dirty="0">
                <a:solidFill>
                  <a:srgbClr val="5E5E5E"/>
                </a:solidFill>
                <a:latin typeface="Trebuchet MS"/>
                <a:cs typeface="Trebuchet MS"/>
              </a:rPr>
              <a:t>layer</a:t>
            </a:r>
            <a:r>
              <a:rPr sz="851" spc="-13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851" spc="-10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851" spc="-13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851" spc="-5" dirty="0">
                <a:solidFill>
                  <a:srgbClr val="5E5E5E"/>
                </a:solidFill>
                <a:latin typeface="Trebuchet MS"/>
                <a:cs typeface="Trebuchet MS"/>
              </a:rPr>
              <a:t>MobileNetV2)</a:t>
            </a:r>
            <a:endParaRPr sz="851">
              <a:latin typeface="Trebuchet MS"/>
              <a:cs typeface="Trebuchet MS"/>
            </a:endParaRPr>
          </a:p>
        </p:txBody>
      </p:sp>
      <p:sp>
        <p:nvSpPr>
          <p:cNvPr id="216" name="object 216"/>
          <p:cNvSpPr/>
          <p:nvPr/>
        </p:nvSpPr>
        <p:spPr>
          <a:xfrm>
            <a:off x="2751709" y="3434650"/>
            <a:ext cx="1024352" cy="1593182"/>
          </a:xfrm>
          <a:custGeom>
            <a:avLst/>
            <a:gdLst/>
            <a:ahLst/>
            <a:cxnLst/>
            <a:rect l="l" t="t" r="r" b="b"/>
            <a:pathLst>
              <a:path w="1986279" h="3089275">
                <a:moveTo>
                  <a:pt x="363791" y="0"/>
                </a:moveTo>
                <a:lnTo>
                  <a:pt x="1621906" y="0"/>
                </a:lnTo>
                <a:lnTo>
                  <a:pt x="1694299" y="278"/>
                </a:lnTo>
                <a:lnTo>
                  <a:pt x="1752681" y="2228"/>
                </a:lnTo>
                <a:lnTo>
                  <a:pt x="1799052" y="7520"/>
                </a:lnTo>
                <a:lnTo>
                  <a:pt x="1878931" y="39319"/>
                </a:lnTo>
                <a:lnTo>
                  <a:pt x="1916326" y="69372"/>
                </a:lnTo>
                <a:lnTo>
                  <a:pt x="1946379" y="106767"/>
                </a:lnTo>
                <a:lnTo>
                  <a:pt x="1967870" y="150282"/>
                </a:lnTo>
                <a:lnTo>
                  <a:pt x="1983470" y="233017"/>
                </a:lnTo>
                <a:lnTo>
                  <a:pt x="1985420" y="291398"/>
                </a:lnTo>
                <a:lnTo>
                  <a:pt x="1985698" y="363791"/>
                </a:lnTo>
                <a:lnTo>
                  <a:pt x="1985698" y="2725100"/>
                </a:lnTo>
                <a:lnTo>
                  <a:pt x="1985420" y="2797493"/>
                </a:lnTo>
                <a:lnTo>
                  <a:pt x="1983470" y="2855874"/>
                </a:lnTo>
                <a:lnTo>
                  <a:pt x="1978177" y="2902246"/>
                </a:lnTo>
                <a:lnTo>
                  <a:pt x="1946379" y="2982124"/>
                </a:lnTo>
                <a:lnTo>
                  <a:pt x="1916326" y="3019519"/>
                </a:lnTo>
                <a:lnTo>
                  <a:pt x="1878931" y="3049573"/>
                </a:lnTo>
                <a:lnTo>
                  <a:pt x="1835416" y="3071064"/>
                </a:lnTo>
                <a:lnTo>
                  <a:pt x="1752681" y="3086663"/>
                </a:lnTo>
                <a:lnTo>
                  <a:pt x="1694299" y="3088613"/>
                </a:lnTo>
                <a:lnTo>
                  <a:pt x="1621906" y="3088892"/>
                </a:lnTo>
                <a:lnTo>
                  <a:pt x="363791" y="3088892"/>
                </a:lnTo>
                <a:lnTo>
                  <a:pt x="291398" y="3088613"/>
                </a:lnTo>
                <a:lnTo>
                  <a:pt x="233017" y="3086663"/>
                </a:lnTo>
                <a:lnTo>
                  <a:pt x="186646" y="3081371"/>
                </a:lnTo>
                <a:lnTo>
                  <a:pt x="106767" y="3049573"/>
                </a:lnTo>
                <a:lnTo>
                  <a:pt x="69372" y="3019519"/>
                </a:lnTo>
                <a:lnTo>
                  <a:pt x="39319" y="2982124"/>
                </a:lnTo>
                <a:lnTo>
                  <a:pt x="17827" y="2938608"/>
                </a:lnTo>
                <a:lnTo>
                  <a:pt x="2228" y="2855874"/>
                </a:lnTo>
                <a:lnTo>
                  <a:pt x="278" y="2797493"/>
                </a:lnTo>
                <a:lnTo>
                  <a:pt x="0" y="2725100"/>
                </a:lnTo>
                <a:lnTo>
                  <a:pt x="0" y="363791"/>
                </a:lnTo>
                <a:lnTo>
                  <a:pt x="278" y="291398"/>
                </a:lnTo>
                <a:lnTo>
                  <a:pt x="2228" y="233017"/>
                </a:lnTo>
                <a:lnTo>
                  <a:pt x="7520" y="186646"/>
                </a:lnTo>
                <a:lnTo>
                  <a:pt x="39319" y="106767"/>
                </a:lnTo>
                <a:lnTo>
                  <a:pt x="69372" y="69372"/>
                </a:lnTo>
                <a:lnTo>
                  <a:pt x="106767" y="39319"/>
                </a:lnTo>
                <a:lnTo>
                  <a:pt x="150282" y="17827"/>
                </a:lnTo>
                <a:lnTo>
                  <a:pt x="233017" y="2228"/>
                </a:lnTo>
                <a:lnTo>
                  <a:pt x="291398" y="278"/>
                </a:lnTo>
                <a:lnTo>
                  <a:pt x="363791" y="0"/>
                </a:lnTo>
                <a:close/>
              </a:path>
            </a:pathLst>
          </a:custGeom>
          <a:ln w="73296">
            <a:solidFill>
              <a:srgbClr val="A31F34"/>
            </a:solidFill>
          </a:ln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17" name="object 217"/>
          <p:cNvSpPr txBox="1"/>
          <p:nvPr/>
        </p:nvSpPr>
        <p:spPr>
          <a:xfrm>
            <a:off x="2210199" y="5113735"/>
            <a:ext cx="8056358" cy="267974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432914" algn="r">
              <a:spcBef>
                <a:spcPts val="70"/>
              </a:spcBef>
              <a:tabLst>
                <a:tab pos="1271892" algn="l"/>
                <a:tab pos="2230722" algn="l"/>
              </a:tabLst>
            </a:pP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Times New Roman"/>
                <a:cs typeface="Times New Roman"/>
              </a:rPr>
              <a:t>	</a:t>
            </a:r>
            <a:r>
              <a:rPr lang="en"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</a:t>
            </a:r>
            <a:r>
              <a:rPr sz="800" dirty="0" err="1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ata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-Free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Quantization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Through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Weight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Equalization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2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49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Bias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Correction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[Markus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sz="800" i="1" spc="3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i="1" spc="-23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al.</a:t>
            </a:r>
            <a:r>
              <a:rPr sz="800" spc="-2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,</a:t>
            </a:r>
            <a:r>
              <a:rPr sz="800" spc="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72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ICCV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20</a:t>
            </a:r>
            <a:r>
              <a:rPr lang="en-US"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19]</a:t>
            </a:r>
          </a:p>
          <a:p>
            <a:pPr marL="432914" algn="r">
              <a:spcBef>
                <a:spcPts val="70"/>
              </a:spcBef>
              <a:tabLst>
                <a:tab pos="1271892" algn="l"/>
                <a:tab pos="2230722" algn="l"/>
              </a:tabLst>
            </a:pP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Quantization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2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and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Training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Neural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Networks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for Efficient</a:t>
            </a:r>
            <a:r>
              <a:rPr sz="800" spc="-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Integer-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Arithmetic-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Only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Inference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[Jacob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sz="800" i="1" spc="26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i="1" spc="-23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al.</a:t>
            </a:r>
            <a:r>
              <a:rPr sz="800" spc="-2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,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9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CVPR</a:t>
            </a:r>
            <a:r>
              <a:rPr sz="800" spc="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2018]</a:t>
            </a:r>
            <a:endParaRPr sz="8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784F9-89A5-BB85-06CC-F66BA3445F99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3. Quantization – </a:t>
            </a:r>
            <a:r>
              <a:rPr lang="en" altLang="ko-KR" spc="-90" dirty="0"/>
              <a:t>Granularity</a:t>
            </a:r>
            <a:endParaRPr spc="-54" dirty="0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EE9DA460-404E-301B-C32D-E829F00A1E0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787" y="535478"/>
            <a:ext cx="10006053" cy="395010"/>
          </a:xfrm>
        </p:spPr>
        <p:txBody>
          <a:bodyPr/>
          <a:lstStyle/>
          <a:p>
            <a:r>
              <a:rPr lang="en" altLang="ko-KR" spc="-64" dirty="0"/>
              <a:t>Per-Channel Weight Quantization</a:t>
            </a:r>
            <a:endParaRPr lang="ko-KR" altLang="en-US" spc="-64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116215"/>
              </p:ext>
            </p:extLst>
          </p:nvPr>
        </p:nvGraphicFramePr>
        <p:xfrm>
          <a:off x="549661" y="1506638"/>
          <a:ext cx="1957009" cy="17267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760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6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0.05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18"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0.91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22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11">
                <a:tc grid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CD2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1.49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  <a:lnB w="57150">
                      <a:solidFill>
                        <a:srgbClr val="A31F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A31F34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A31F3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157387" y="1241573"/>
            <a:ext cx="0" cy="4054181"/>
          </a:xfrm>
          <a:custGeom>
            <a:avLst/>
            <a:gdLst/>
            <a:ahLst/>
            <a:cxnLst/>
            <a:rect l="l" t="t" r="r" b="b"/>
            <a:pathLst>
              <a:path h="7861300">
                <a:moveTo>
                  <a:pt x="0" y="7861297"/>
                </a:moveTo>
                <a:lnTo>
                  <a:pt x="0" y="0"/>
                </a:lnTo>
              </a:path>
            </a:pathLst>
          </a:custGeom>
          <a:ln w="2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6" name="object 6"/>
          <p:cNvSpPr txBox="1"/>
          <p:nvPr/>
        </p:nvSpPr>
        <p:spPr>
          <a:xfrm>
            <a:off x="2728345" y="1072070"/>
            <a:ext cx="6842986" cy="320428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  <a:tabLst>
                <a:tab pos="3850386" algn="l"/>
              </a:tabLst>
            </a:pPr>
            <a:r>
              <a:rPr sz="2037" b="1" dirty="0">
                <a:latin typeface="Arial"/>
                <a:cs typeface="Arial"/>
              </a:rPr>
              <a:t>Per-Channel</a:t>
            </a:r>
            <a:r>
              <a:rPr sz="2037" b="1" spc="-21" dirty="0">
                <a:latin typeface="Arial"/>
                <a:cs typeface="Arial"/>
              </a:rPr>
              <a:t> </a:t>
            </a:r>
            <a:r>
              <a:rPr sz="2037" b="1" spc="-5" dirty="0">
                <a:latin typeface="Arial"/>
                <a:cs typeface="Arial"/>
              </a:rPr>
              <a:t>Quantization</a:t>
            </a:r>
            <a:r>
              <a:rPr sz="2037" b="1" dirty="0">
                <a:latin typeface="Arial"/>
                <a:cs typeface="Arial"/>
              </a:rPr>
              <a:t>	Per-</a:t>
            </a:r>
            <a:r>
              <a:rPr sz="2037" b="1" spc="-28" dirty="0">
                <a:latin typeface="Arial"/>
                <a:cs typeface="Arial"/>
              </a:rPr>
              <a:t>Tensor</a:t>
            </a:r>
            <a:r>
              <a:rPr sz="2037" b="1" spc="-52" dirty="0">
                <a:latin typeface="Arial"/>
                <a:cs typeface="Arial"/>
              </a:rPr>
              <a:t> </a:t>
            </a:r>
            <a:r>
              <a:rPr sz="2037" b="1" spc="-5" dirty="0">
                <a:latin typeface="Arial"/>
                <a:cs typeface="Arial"/>
              </a:rPr>
              <a:t>Quantization</a:t>
            </a:r>
            <a:endParaRPr sz="203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5683" y="1108093"/>
            <a:ext cx="200417" cy="320428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2037" i="1" spc="-13" dirty="0">
                <a:latin typeface="Times New Roman"/>
                <a:cs typeface="Times New Roman"/>
              </a:rPr>
              <a:t>ic</a:t>
            </a:r>
            <a:endParaRPr sz="203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905" y="2167646"/>
            <a:ext cx="258053" cy="320428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2037" i="1" spc="-13" dirty="0">
                <a:latin typeface="Times New Roman"/>
                <a:cs typeface="Times New Roman"/>
              </a:rPr>
              <a:t>oc</a:t>
            </a:r>
            <a:endParaRPr sz="203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30928" y="1577859"/>
            <a:ext cx="1455968" cy="320428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19648">
              <a:spcBef>
                <a:spcPts val="54"/>
              </a:spcBef>
              <a:tabLst>
                <a:tab pos="732549" algn="l"/>
              </a:tabLst>
            </a:pP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i="1" dirty="0">
                <a:latin typeface="Times New Roman"/>
                <a:cs typeface="Times New Roman"/>
              </a:rPr>
              <a:t>r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spc="-10" dirty="0">
                <a:latin typeface="Cambria"/>
                <a:cs typeface="Cambria"/>
              </a:rPr>
              <a:t>|</a:t>
            </a:r>
            <a:r>
              <a:rPr sz="2166" spc="-15" baseline="-26785" dirty="0">
                <a:latin typeface="Cambria"/>
                <a:cs typeface="Cambria"/>
              </a:rPr>
              <a:t>max</a:t>
            </a:r>
            <a:r>
              <a:rPr sz="2166" baseline="-26785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2.12</a:t>
            </a:r>
            <a:endParaRPr sz="2037">
              <a:latin typeface="Cambria"/>
              <a:cs typeface="Cambria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601295"/>
              </p:ext>
            </p:extLst>
          </p:nvPr>
        </p:nvGraphicFramePr>
        <p:xfrm>
          <a:off x="6252041" y="3288631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3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37930"/>
              </p:ext>
            </p:extLst>
          </p:nvPr>
        </p:nvGraphicFramePr>
        <p:xfrm>
          <a:off x="8131233" y="3288631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2808286" y="1325997"/>
            <a:ext cx="1455968" cy="1873992"/>
          </a:xfrm>
          <a:prstGeom prst="rect">
            <a:avLst/>
          </a:prstGeom>
        </p:spPr>
        <p:txBody>
          <a:bodyPr vert="horz" wrap="square" lIns="0" tIns="156862" rIns="0" bIns="0" rtlCol="0">
            <a:spAutoFit/>
          </a:bodyPr>
          <a:lstStyle/>
          <a:p>
            <a:pPr marL="19648">
              <a:spcBef>
                <a:spcPts val="1235"/>
              </a:spcBef>
              <a:tabLst>
                <a:tab pos="732549" algn="l"/>
              </a:tabLst>
            </a:pP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i="1" dirty="0">
                <a:latin typeface="Times New Roman"/>
                <a:cs typeface="Times New Roman"/>
              </a:rPr>
              <a:t>r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spc="-10" dirty="0">
                <a:latin typeface="Cambria"/>
                <a:cs typeface="Cambria"/>
              </a:rPr>
              <a:t>|</a:t>
            </a:r>
            <a:r>
              <a:rPr sz="2166" spc="-15" baseline="-26785" dirty="0">
                <a:latin typeface="Cambria"/>
                <a:cs typeface="Cambria"/>
              </a:rPr>
              <a:t>max</a:t>
            </a:r>
            <a:r>
              <a:rPr sz="2166" baseline="-26785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2.09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186"/>
              </a:spcBef>
              <a:tabLst>
                <a:tab pos="732549" algn="l"/>
              </a:tabLst>
            </a:pP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i="1" dirty="0">
                <a:latin typeface="Times New Roman"/>
                <a:cs typeface="Times New Roman"/>
              </a:rPr>
              <a:t>r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spc="-10" dirty="0">
                <a:latin typeface="Cambria"/>
                <a:cs typeface="Cambria"/>
              </a:rPr>
              <a:t>|</a:t>
            </a:r>
            <a:r>
              <a:rPr sz="2166" spc="-15" baseline="-26785" dirty="0">
                <a:latin typeface="Cambria"/>
                <a:cs typeface="Cambria"/>
              </a:rPr>
              <a:t>max</a:t>
            </a:r>
            <a:r>
              <a:rPr sz="2166" baseline="-26785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2.12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184"/>
              </a:spcBef>
              <a:tabLst>
                <a:tab pos="732549" algn="l"/>
              </a:tabLst>
            </a:pP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i="1" dirty="0">
                <a:latin typeface="Times New Roman"/>
                <a:cs typeface="Times New Roman"/>
              </a:rPr>
              <a:t>r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spc="-10" dirty="0">
                <a:latin typeface="Cambria"/>
                <a:cs typeface="Cambria"/>
              </a:rPr>
              <a:t>|</a:t>
            </a:r>
            <a:r>
              <a:rPr sz="2166" spc="-15" baseline="-26785" dirty="0">
                <a:latin typeface="Cambria"/>
                <a:cs typeface="Cambria"/>
              </a:rPr>
              <a:t>max</a:t>
            </a:r>
            <a:r>
              <a:rPr sz="2166" baseline="-26785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1.92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186"/>
              </a:spcBef>
              <a:tabLst>
                <a:tab pos="732549" algn="l"/>
              </a:tabLst>
            </a:pP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i="1" dirty="0">
                <a:latin typeface="Times New Roman"/>
                <a:cs typeface="Times New Roman"/>
              </a:rPr>
              <a:t>r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spc="-10" dirty="0">
                <a:latin typeface="Cambria"/>
                <a:cs typeface="Cambria"/>
              </a:rPr>
              <a:t>|</a:t>
            </a:r>
            <a:r>
              <a:rPr sz="2166" spc="-15" baseline="-26785" dirty="0">
                <a:latin typeface="Cambria"/>
                <a:cs typeface="Cambria"/>
              </a:rPr>
              <a:t>max</a:t>
            </a:r>
            <a:r>
              <a:rPr sz="2166" baseline="-26785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1.87</a:t>
            </a:r>
            <a:endParaRPr sz="2037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0790" y="1309894"/>
            <a:ext cx="1026972" cy="1896405"/>
          </a:xfrm>
          <a:prstGeom prst="rect">
            <a:avLst/>
          </a:prstGeom>
        </p:spPr>
        <p:txBody>
          <a:bodyPr vert="horz" wrap="square" lIns="0" tIns="166359" rIns="0" bIns="0" rtlCol="0">
            <a:spAutoFit/>
          </a:bodyPr>
          <a:lstStyle/>
          <a:p>
            <a:pPr marL="19648">
              <a:spcBef>
                <a:spcPts val="1310"/>
              </a:spcBef>
              <a:tabLst>
                <a:tab pos="303892" algn="l"/>
              </a:tabLst>
            </a:pPr>
            <a:r>
              <a:rPr sz="2037" i="1" spc="-13" dirty="0">
                <a:latin typeface="Times New Roman"/>
                <a:cs typeface="Times New Roman"/>
              </a:rPr>
              <a:t>S</a:t>
            </a:r>
            <a:r>
              <a:rPr sz="2166" spc="-19" baseline="-19841" dirty="0">
                <a:latin typeface="Cambria"/>
                <a:cs typeface="Cambria"/>
              </a:rPr>
              <a:t>0</a:t>
            </a:r>
            <a:r>
              <a:rPr sz="2166" baseline="-19841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2.09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261"/>
              </a:spcBef>
              <a:tabLst>
                <a:tab pos="303892" algn="l"/>
              </a:tabLst>
            </a:pPr>
            <a:r>
              <a:rPr sz="2037" i="1" spc="-13" dirty="0">
                <a:latin typeface="Times New Roman"/>
                <a:cs typeface="Times New Roman"/>
              </a:rPr>
              <a:t>S</a:t>
            </a:r>
            <a:r>
              <a:rPr sz="2166" spc="-19" baseline="-19841" dirty="0">
                <a:latin typeface="Cambria"/>
                <a:cs typeface="Cambria"/>
              </a:rPr>
              <a:t>1</a:t>
            </a:r>
            <a:r>
              <a:rPr sz="2166" baseline="-19841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2.12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153"/>
              </a:spcBef>
              <a:tabLst>
                <a:tab pos="303892" algn="l"/>
              </a:tabLst>
            </a:pPr>
            <a:r>
              <a:rPr sz="2037" i="1" spc="-13" dirty="0">
                <a:latin typeface="Times New Roman"/>
                <a:cs typeface="Times New Roman"/>
              </a:rPr>
              <a:t>S</a:t>
            </a:r>
            <a:r>
              <a:rPr sz="2166" spc="-19" baseline="-19841" dirty="0">
                <a:latin typeface="Cambria"/>
                <a:cs typeface="Cambria"/>
              </a:rPr>
              <a:t>2</a:t>
            </a:r>
            <a:r>
              <a:rPr sz="2166" baseline="-19841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1.92</a:t>
            </a:r>
            <a:endParaRPr sz="2037">
              <a:latin typeface="Cambria"/>
              <a:cs typeface="Cambria"/>
            </a:endParaRPr>
          </a:p>
          <a:p>
            <a:pPr marL="19648">
              <a:spcBef>
                <a:spcPts val="1230"/>
              </a:spcBef>
              <a:tabLst>
                <a:tab pos="303892" algn="l"/>
              </a:tabLst>
            </a:pPr>
            <a:r>
              <a:rPr sz="2037" i="1" spc="-13" dirty="0">
                <a:latin typeface="Times New Roman"/>
                <a:cs typeface="Times New Roman"/>
              </a:rPr>
              <a:t>S</a:t>
            </a:r>
            <a:r>
              <a:rPr sz="2166" spc="-19" baseline="-19841" dirty="0">
                <a:latin typeface="Cambria"/>
                <a:cs typeface="Cambria"/>
              </a:rPr>
              <a:t>3</a:t>
            </a:r>
            <a:r>
              <a:rPr sz="2166" baseline="-19841" dirty="0">
                <a:latin typeface="Cambria"/>
                <a:cs typeface="Cambria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26" dirty="0">
                <a:latin typeface="Cambria"/>
                <a:cs typeface="Cambria"/>
              </a:rPr>
              <a:t>1.87</a:t>
            </a:r>
            <a:endParaRPr sz="2037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97248" y="1814744"/>
            <a:ext cx="110360" cy="110360"/>
          </a:xfrm>
          <a:custGeom>
            <a:avLst/>
            <a:gdLst/>
            <a:ahLst/>
            <a:cxnLst/>
            <a:rect l="l" t="t" r="r" b="b"/>
            <a:pathLst>
              <a:path w="213995" h="213995">
                <a:moveTo>
                  <a:pt x="0" y="0"/>
                </a:moveTo>
                <a:lnTo>
                  <a:pt x="0" y="213606"/>
                </a:lnTo>
                <a:lnTo>
                  <a:pt x="213606" y="106803"/>
                </a:lnTo>
                <a:lnTo>
                  <a:pt x="0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2" name="object 22"/>
          <p:cNvSpPr/>
          <p:nvPr/>
        </p:nvSpPr>
        <p:spPr>
          <a:xfrm>
            <a:off x="2497248" y="2234210"/>
            <a:ext cx="110360" cy="110360"/>
          </a:xfrm>
          <a:custGeom>
            <a:avLst/>
            <a:gdLst/>
            <a:ahLst/>
            <a:cxnLst/>
            <a:rect l="l" t="t" r="r" b="b"/>
            <a:pathLst>
              <a:path w="213995" h="213995">
                <a:moveTo>
                  <a:pt x="0" y="0"/>
                </a:moveTo>
                <a:lnTo>
                  <a:pt x="0" y="213606"/>
                </a:lnTo>
                <a:lnTo>
                  <a:pt x="213606" y="106803"/>
                </a:lnTo>
                <a:lnTo>
                  <a:pt x="0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3" name="object 23"/>
          <p:cNvSpPr/>
          <p:nvPr/>
        </p:nvSpPr>
        <p:spPr>
          <a:xfrm>
            <a:off x="2497248" y="2653676"/>
            <a:ext cx="110360" cy="110360"/>
          </a:xfrm>
          <a:custGeom>
            <a:avLst/>
            <a:gdLst/>
            <a:ahLst/>
            <a:cxnLst/>
            <a:rect l="l" t="t" r="r" b="b"/>
            <a:pathLst>
              <a:path w="213995" h="213995">
                <a:moveTo>
                  <a:pt x="0" y="0"/>
                </a:moveTo>
                <a:lnTo>
                  <a:pt x="0" y="213606"/>
                </a:lnTo>
                <a:lnTo>
                  <a:pt x="213606" y="106803"/>
                </a:lnTo>
                <a:lnTo>
                  <a:pt x="0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4" name="object 24"/>
          <p:cNvSpPr/>
          <p:nvPr/>
        </p:nvSpPr>
        <p:spPr>
          <a:xfrm>
            <a:off x="2497248" y="3075141"/>
            <a:ext cx="110360" cy="110360"/>
          </a:xfrm>
          <a:custGeom>
            <a:avLst/>
            <a:gdLst/>
            <a:ahLst/>
            <a:cxnLst/>
            <a:rect l="l" t="t" r="r" b="b"/>
            <a:pathLst>
              <a:path w="213995" h="213995">
                <a:moveTo>
                  <a:pt x="0" y="0"/>
                </a:moveTo>
                <a:lnTo>
                  <a:pt x="0" y="213606"/>
                </a:lnTo>
                <a:lnTo>
                  <a:pt x="213606" y="106803"/>
                </a:lnTo>
                <a:lnTo>
                  <a:pt x="0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 sz="790"/>
          </a:p>
        </p:txBody>
      </p:sp>
      <p:sp>
        <p:nvSpPr>
          <p:cNvPr id="25" name="object 25"/>
          <p:cNvSpPr txBox="1"/>
          <p:nvPr/>
        </p:nvSpPr>
        <p:spPr>
          <a:xfrm>
            <a:off x="8385357" y="5029194"/>
            <a:ext cx="1232628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spc="-5" dirty="0">
                <a:latin typeface="Arial"/>
                <a:cs typeface="Arial"/>
              </a:rPr>
              <a:t>Reconstructed</a:t>
            </a:r>
            <a:endParaRPr sz="1341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71475" y="5237604"/>
            <a:ext cx="2441678" cy="326380"/>
          </a:xfrm>
          <a:prstGeom prst="rect">
            <a:avLst/>
          </a:prstGeom>
        </p:spPr>
        <p:txBody>
          <a:bodyPr vert="horz" wrap="square" lIns="0" tIns="12772" rIns="0" bIns="0" rtlCol="0">
            <a:spAutoFit/>
          </a:bodyPr>
          <a:lstStyle/>
          <a:p>
            <a:pPr marL="6549">
              <a:spcBef>
                <a:spcPts val="101"/>
              </a:spcBef>
              <a:tabLst>
                <a:tab pos="1471648" algn="l"/>
              </a:tabLst>
            </a:pPr>
            <a:r>
              <a:rPr sz="2037" spc="57" dirty="0">
                <a:latin typeface="Cambria"/>
                <a:cs typeface="Cambria"/>
              </a:rPr>
              <a:t>∥</a:t>
            </a:r>
            <a:r>
              <a:rPr sz="2037" b="1" spc="57" dirty="0">
                <a:latin typeface="Times New Roman"/>
                <a:cs typeface="Times New Roman"/>
              </a:rPr>
              <a:t>W</a:t>
            </a:r>
            <a:r>
              <a:rPr sz="2037" b="1" spc="-57" dirty="0">
                <a:latin typeface="Times New Roman"/>
                <a:cs typeface="Times New Roman"/>
              </a:rPr>
              <a:t> </a:t>
            </a:r>
            <a:r>
              <a:rPr sz="2037" spc="258" dirty="0">
                <a:latin typeface="Cambria"/>
                <a:cs typeface="Cambria"/>
              </a:rPr>
              <a:t>−</a:t>
            </a:r>
            <a:r>
              <a:rPr sz="2037" spc="3" dirty="0">
                <a:latin typeface="Cambria"/>
                <a:cs typeface="Cambria"/>
              </a:rPr>
              <a:t> </a:t>
            </a:r>
            <a:r>
              <a:rPr sz="2037" i="1" spc="-10" dirty="0">
                <a:latin typeface="Times New Roman"/>
                <a:cs typeface="Times New Roman"/>
              </a:rPr>
              <a:t>S</a:t>
            </a:r>
            <a:r>
              <a:rPr sz="2037" b="1" spc="-10" dirty="0">
                <a:latin typeface="Times New Roman"/>
                <a:cs typeface="Times New Roman"/>
              </a:rPr>
              <a:t>q</a:t>
            </a:r>
            <a:r>
              <a:rPr sz="2166" b="1" spc="-15" baseline="-19841" dirty="0">
                <a:latin typeface="Times New Roman"/>
                <a:cs typeface="Times New Roman"/>
              </a:rPr>
              <a:t>W</a:t>
            </a:r>
            <a:r>
              <a:rPr sz="2037" spc="-10" dirty="0">
                <a:latin typeface="Cambria"/>
                <a:cs typeface="Cambria"/>
              </a:rPr>
              <a:t>∥</a:t>
            </a:r>
            <a:r>
              <a:rPr sz="2166" i="1" spc="-15" baseline="-19841" dirty="0">
                <a:latin typeface="Times New Roman"/>
                <a:cs typeface="Times New Roman"/>
              </a:rPr>
              <a:t>F</a:t>
            </a:r>
            <a:r>
              <a:rPr sz="2166" i="1" baseline="-19841" dirty="0">
                <a:latin typeface="Times New Roman"/>
                <a:cs typeface="Times New Roman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10" dirty="0">
                <a:latin typeface="Cambria"/>
                <a:cs typeface="Cambria"/>
              </a:rPr>
              <a:t>2.28</a:t>
            </a:r>
            <a:endParaRPr sz="2037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-138355" y="5299464"/>
            <a:ext cx="5834026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31347">
              <a:lnSpc>
                <a:spcPts val="2063"/>
              </a:lnSpc>
              <a:tabLst>
                <a:tab pos="5123915" algn="l"/>
              </a:tabLst>
            </a:pPr>
            <a:r>
              <a:rPr sz="2037" spc="57" dirty="0">
                <a:latin typeface="Cambria"/>
                <a:cs typeface="Cambria"/>
              </a:rPr>
              <a:t>∥</a:t>
            </a:r>
            <a:r>
              <a:rPr sz="2037" b="1" spc="57" dirty="0">
                <a:latin typeface="Times New Roman"/>
                <a:cs typeface="Times New Roman"/>
              </a:rPr>
              <a:t>W</a:t>
            </a:r>
            <a:r>
              <a:rPr sz="2037" b="1" spc="-57" dirty="0">
                <a:latin typeface="Times New Roman"/>
                <a:cs typeface="Times New Roman"/>
              </a:rPr>
              <a:t> </a:t>
            </a:r>
            <a:r>
              <a:rPr sz="2037" spc="258" dirty="0">
                <a:latin typeface="Cambria"/>
                <a:cs typeface="Cambria"/>
              </a:rPr>
              <a:t>−</a:t>
            </a:r>
            <a:r>
              <a:rPr sz="2037" spc="3" dirty="0">
                <a:latin typeface="Cambria"/>
                <a:cs typeface="Cambria"/>
              </a:rPr>
              <a:t> </a:t>
            </a:r>
            <a:r>
              <a:rPr sz="2037" b="1" dirty="0">
                <a:latin typeface="Times New Roman"/>
                <a:cs typeface="Times New Roman"/>
              </a:rPr>
              <a:t>S</a:t>
            </a:r>
            <a:r>
              <a:rPr sz="2037" b="1" spc="-54" dirty="0">
                <a:latin typeface="Times New Roman"/>
                <a:cs typeface="Times New Roman"/>
              </a:rPr>
              <a:t> </a:t>
            </a:r>
            <a:r>
              <a:rPr sz="2037" spc="-487" dirty="0">
                <a:latin typeface="Cambria"/>
                <a:cs typeface="Cambria"/>
              </a:rPr>
              <a:t>⊙</a:t>
            </a:r>
            <a:r>
              <a:rPr sz="2037" spc="3" dirty="0">
                <a:latin typeface="Cambria"/>
                <a:cs typeface="Cambria"/>
              </a:rPr>
              <a:t> </a:t>
            </a:r>
            <a:r>
              <a:rPr sz="2037" b="1" spc="18" dirty="0">
                <a:latin typeface="Times New Roman"/>
                <a:cs typeface="Times New Roman"/>
              </a:rPr>
              <a:t>q</a:t>
            </a:r>
            <a:r>
              <a:rPr sz="2166" b="1" spc="27" baseline="-19841" dirty="0">
                <a:latin typeface="Times New Roman"/>
                <a:cs typeface="Times New Roman"/>
              </a:rPr>
              <a:t>W</a:t>
            </a:r>
            <a:r>
              <a:rPr sz="2037" spc="18" dirty="0">
                <a:latin typeface="Cambria"/>
                <a:cs typeface="Cambria"/>
              </a:rPr>
              <a:t>∥</a:t>
            </a:r>
            <a:r>
              <a:rPr sz="2166" i="1" spc="27" baseline="-19841" dirty="0">
                <a:latin typeface="Times New Roman"/>
                <a:cs typeface="Times New Roman"/>
              </a:rPr>
              <a:t>F</a:t>
            </a:r>
            <a:r>
              <a:rPr sz="2166" i="1" baseline="-19841" dirty="0">
                <a:latin typeface="Times New Roman"/>
                <a:cs typeface="Times New Roman"/>
              </a:rPr>
              <a:t>	</a:t>
            </a:r>
            <a:r>
              <a:rPr sz="2037" spc="258" dirty="0">
                <a:latin typeface="Cambria"/>
                <a:cs typeface="Cambria"/>
              </a:rPr>
              <a:t>=</a:t>
            </a:r>
            <a:r>
              <a:rPr sz="2037" spc="116" dirty="0">
                <a:latin typeface="Cambria"/>
                <a:cs typeface="Cambria"/>
              </a:rPr>
              <a:t> </a:t>
            </a:r>
            <a:r>
              <a:rPr sz="2037" spc="-52" dirty="0">
                <a:latin typeface="Cambria"/>
                <a:cs typeface="Cambria"/>
              </a:rPr>
              <a:t>2.08</a:t>
            </a:r>
            <a:endParaRPr sz="2037" dirty="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07714" y="5633061"/>
            <a:ext cx="157517" cy="156770"/>
          </a:xfrm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6549">
              <a:spcBef>
                <a:spcPts val="15"/>
              </a:spcBef>
            </a:pPr>
            <a:r>
              <a:rPr sz="1006" spc="23" dirty="0">
                <a:solidFill>
                  <a:srgbClr val="FFFFFF"/>
                </a:solidFill>
                <a:latin typeface="Trebuchet MS"/>
                <a:cs typeface="Trebuchet MS"/>
              </a:rPr>
              <a:t>19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95963" y="5029194"/>
            <a:ext cx="851771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spc="-5" dirty="0">
                <a:latin typeface="Arial"/>
                <a:cs typeface="Arial"/>
              </a:rPr>
              <a:t>Quantized</a:t>
            </a:r>
            <a:endParaRPr sz="1341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00660"/>
              </p:ext>
            </p:extLst>
          </p:nvPr>
        </p:nvGraphicFramePr>
        <p:xfrm>
          <a:off x="2461254" y="3277831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3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3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41156"/>
              </p:ext>
            </p:extLst>
          </p:nvPr>
        </p:nvGraphicFramePr>
        <p:xfrm>
          <a:off x="4340447" y="3277831"/>
          <a:ext cx="1727775" cy="172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2.12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i="1" spc="-20" dirty="0">
                          <a:latin typeface="Arial"/>
                          <a:cs typeface="Arial"/>
                        </a:rPr>
                        <a:t>1.92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1.87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198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581333" y="4424397"/>
            <a:ext cx="1797200" cy="948450"/>
          </a:xfrm>
          <a:prstGeom prst="rect">
            <a:avLst/>
          </a:prstGeom>
        </p:spPr>
        <p:txBody>
          <a:bodyPr vert="horz" wrap="square" lIns="0" tIns="7859" rIns="0" bIns="0" rtlCol="0">
            <a:spAutoFit/>
          </a:bodyPr>
          <a:lstStyle/>
          <a:p>
            <a:pPr marL="19648">
              <a:spcBef>
                <a:spcPts val="62"/>
              </a:spcBef>
              <a:tabLst>
                <a:tab pos="1310533" algn="l"/>
              </a:tabLst>
            </a:pPr>
            <a:r>
              <a:rPr sz="1341" b="1" spc="-5" dirty="0">
                <a:latin typeface="Arial"/>
                <a:cs typeface="Arial"/>
              </a:rPr>
              <a:t>Reconstructed</a:t>
            </a:r>
            <a:r>
              <a:rPr sz="1341" b="1" dirty="0">
                <a:latin typeface="Arial"/>
                <a:cs typeface="Arial"/>
              </a:rPr>
              <a:t>	</a:t>
            </a:r>
            <a:r>
              <a:rPr sz="9167" b="1" spc="65" baseline="-24378" dirty="0">
                <a:solidFill>
                  <a:srgbClr val="A31F34"/>
                </a:solidFill>
                <a:latin typeface="Arial"/>
                <a:cs typeface="Arial"/>
              </a:rPr>
              <a:t>&lt;</a:t>
            </a:r>
            <a:endParaRPr sz="9167" baseline="-24378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05039" y="5029194"/>
            <a:ext cx="851771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b="1" spc="-5" dirty="0">
                <a:latin typeface="Arial"/>
                <a:cs typeface="Arial"/>
              </a:rPr>
              <a:t>Quantized</a:t>
            </a:r>
            <a:endParaRPr sz="1341">
              <a:latin typeface="Arial"/>
              <a:cs typeface="Arial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E4B8405-0756-B0AA-82FD-ECDBD6F82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013" y="2286153"/>
            <a:ext cx="2965738" cy="707835"/>
          </a:xfrm>
          <a:prstGeom prst="rect">
            <a:avLst/>
          </a:prstGeom>
        </p:spPr>
      </p:pic>
      <p:sp>
        <p:nvSpPr>
          <p:cNvPr id="3" name="object 17">
            <a:extLst>
              <a:ext uri="{FF2B5EF4-FFF2-40B4-BE49-F238E27FC236}">
                <a16:creationId xmlns:a16="http://schemas.microsoft.com/office/drawing/2014/main" id="{65E16C79-26F8-73E6-E23E-35A64190F2B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22</a:t>
            </a:fld>
            <a:endParaRPr spc="23" dirty="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4A1C4-BDCA-B6A7-C57F-99FD769A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Quantization – </a:t>
            </a:r>
            <a:r>
              <a:rPr lang="en" altLang="ko-KR" spc="-90" dirty="0"/>
              <a:t>When to </a:t>
            </a:r>
            <a:r>
              <a:rPr lang="en-US" altLang="ko-KR" spc="-90" dirty="0"/>
              <a:t>Consider </a:t>
            </a:r>
            <a:r>
              <a:rPr lang="en" altLang="ko-KR" spc="-90" dirty="0"/>
              <a:t>Quantization?</a:t>
            </a:r>
            <a:endParaRPr lang="ko-KR" altLang="en-US" dirty="0"/>
          </a:p>
        </p:txBody>
      </p:sp>
      <p:sp>
        <p:nvSpPr>
          <p:cNvPr id="674" name="Google Shape;674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r>
              <a:rPr lang="en" dirty="0"/>
              <a:t>So far, we have been talking about post-training quantization (PTQ)</a:t>
            </a:r>
          </a:p>
          <a:p>
            <a:r>
              <a:rPr lang="en" altLang="ko-KR" dirty="0"/>
              <a:t>Weights are </a:t>
            </a:r>
            <a:r>
              <a:rPr lang="en" altLang="ko-KR" i="1" dirty="0"/>
              <a:t>frozen</a:t>
            </a:r>
            <a:r>
              <a:rPr lang="en" altLang="ko-KR" dirty="0"/>
              <a:t> and do not change, can precompute scale and zero point</a:t>
            </a:r>
          </a:p>
          <a:p>
            <a:r>
              <a:rPr lang="en" altLang="ko-KR" dirty="0"/>
              <a:t>Activations scale and zero-points can be calibrated using a minibatch of data </a:t>
            </a:r>
          </a:p>
          <a:p>
            <a:pPr lvl="1"/>
            <a:endParaRPr dirty="0"/>
          </a:p>
        </p:txBody>
      </p:sp>
      <p:sp>
        <p:nvSpPr>
          <p:cNvPr id="676" name="Google Shape;676;p30"/>
          <p:cNvSpPr/>
          <p:nvPr/>
        </p:nvSpPr>
        <p:spPr>
          <a:xfrm>
            <a:off x="2032632" y="2666095"/>
            <a:ext cx="2480079" cy="811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 Training</a:t>
            </a:r>
            <a:endParaRPr sz="15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0"/>
          <p:cNvSpPr/>
          <p:nvPr/>
        </p:nvSpPr>
        <p:spPr>
          <a:xfrm>
            <a:off x="4656779" y="2966000"/>
            <a:ext cx="1137823" cy="257838"/>
          </a:xfrm>
          <a:prstGeom prst="rightArrow">
            <a:avLst>
              <a:gd name="adj1" fmla="val 41183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5946271" y="2666095"/>
            <a:ext cx="1433418" cy="811613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Quantization (PTQ)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텍스트 개체 틀 34">
            <a:extLst>
              <a:ext uri="{FF2B5EF4-FFF2-40B4-BE49-F238E27FC236}">
                <a16:creationId xmlns:a16="http://schemas.microsoft.com/office/drawing/2014/main" id="{DC037742-DB8A-CD8B-B9E7-093C2FF9A56E}"/>
              </a:ext>
            </a:extLst>
          </p:cNvPr>
          <p:cNvSpPr txBox="1">
            <a:spLocks/>
          </p:cNvSpPr>
          <p:nvPr/>
        </p:nvSpPr>
        <p:spPr>
          <a:xfrm>
            <a:off x="180955" y="535478"/>
            <a:ext cx="10006053" cy="395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18000" rIns="91424" bIns="0">
            <a:noAutofit/>
          </a:bodyPr>
          <a:lstStyle>
            <a:lvl1pPr marL="0" marR="0" indent="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3" b="1" i="1" u="none" strike="noStrike" cap="none" spc="0" baseline="0">
                <a:solidFill>
                  <a:srgbClr val="11437A"/>
                </a:solidFill>
                <a:uFillTx/>
                <a:latin typeface="Raleway" pitchFamily="2" charset="0"/>
                <a:ea typeface="NanumGothic" panose="020D0604000000000000" pitchFamily="34" charset="-127"/>
                <a:cs typeface="Raleway Regular"/>
                <a:sym typeface="Raleway Regular"/>
              </a:defRPr>
            </a:lvl1pPr>
            <a:lvl2pPr marL="357534" marR="0" indent="328932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2pPr>
            <a:lvl3pPr marL="357534" marR="0" indent="85808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3pPr>
            <a:lvl4pPr marL="357534" marR="0" indent="1372929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4pPr>
            <a:lvl5pPr marL="357534" marR="0" indent="1887778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5pPr>
            <a:lvl6pPr marL="357534" marR="0" indent="2402626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6pPr>
            <a:lvl7pPr marL="357534" marR="0" indent="291747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7pPr>
            <a:lvl8pPr marL="357534" marR="0" indent="343232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8pPr>
            <a:lvl9pPr marL="357534" marR="0" indent="394717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9pPr>
          </a:lstStyle>
          <a:p>
            <a:r>
              <a:rPr lang="en" altLang="ko-KR" dirty="0"/>
              <a:t>Post-Training Quantization (PTQ)</a:t>
            </a:r>
          </a:p>
          <a:p>
            <a:endParaRPr lang="ko-KR" altLang="en-US" kern="0" spc="-64" dirty="0"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52BF515D-691B-DD24-4633-869F141D614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23</a:t>
            </a:fld>
            <a:endParaRPr spc="2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11E95-3E83-4F0D-2E9A-95CD3021765A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8BDD78E8-D08C-2B58-083A-B2604C70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6D209-DD1B-E44A-EF17-EBC2F116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Quantization – </a:t>
            </a:r>
            <a:r>
              <a:rPr lang="en" altLang="ko-KR" spc="-90" dirty="0"/>
              <a:t>When to </a:t>
            </a:r>
            <a:r>
              <a:rPr lang="en-US" altLang="ko-KR" spc="-90" dirty="0"/>
              <a:t>Consider </a:t>
            </a:r>
            <a:r>
              <a:rPr lang="en" altLang="ko-KR" spc="-90" dirty="0"/>
              <a:t>Quantization?</a:t>
            </a:r>
            <a:endParaRPr lang="ko-KR" altLang="en-US" dirty="0"/>
          </a:p>
        </p:txBody>
      </p:sp>
      <p:sp>
        <p:nvSpPr>
          <p:cNvPr id="674" name="Google Shape;674;p30">
            <a:extLst>
              <a:ext uri="{FF2B5EF4-FFF2-40B4-BE49-F238E27FC236}">
                <a16:creationId xmlns:a16="http://schemas.microsoft.com/office/drawing/2014/main" id="{FFAADCDA-40D2-593B-6862-2EDB98A842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r>
              <a:rPr lang="en" dirty="0"/>
              <a:t>A full precision copy of the weights W is maintained throughout the training</a:t>
            </a:r>
          </a:p>
          <a:p>
            <a:r>
              <a:rPr lang="en" dirty="0"/>
              <a:t>The small gradients are accumulated without loss of precision</a:t>
            </a:r>
          </a:p>
          <a:p>
            <a:r>
              <a:rPr lang="en" dirty="0"/>
              <a:t>Once the model is trained, only the quantized weights are used for inference</a:t>
            </a:r>
          </a:p>
        </p:txBody>
      </p:sp>
      <p:sp>
        <p:nvSpPr>
          <p:cNvPr id="3" name="텍스트 개체 틀 34">
            <a:extLst>
              <a:ext uri="{FF2B5EF4-FFF2-40B4-BE49-F238E27FC236}">
                <a16:creationId xmlns:a16="http://schemas.microsoft.com/office/drawing/2014/main" id="{3E2A151B-B067-EEAA-8C36-38F5CFD62119}"/>
              </a:ext>
            </a:extLst>
          </p:cNvPr>
          <p:cNvSpPr txBox="1">
            <a:spLocks/>
          </p:cNvSpPr>
          <p:nvPr/>
        </p:nvSpPr>
        <p:spPr>
          <a:xfrm>
            <a:off x="180955" y="535478"/>
            <a:ext cx="10006053" cy="395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18000" rIns="91424" bIns="0">
            <a:noAutofit/>
          </a:bodyPr>
          <a:lstStyle>
            <a:lvl1pPr marL="0" marR="0" indent="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3" b="1" i="1" u="none" strike="noStrike" cap="none" spc="0" baseline="0">
                <a:solidFill>
                  <a:srgbClr val="11437A"/>
                </a:solidFill>
                <a:uFillTx/>
                <a:latin typeface="Raleway" pitchFamily="2" charset="0"/>
                <a:ea typeface="NanumGothic" panose="020D0604000000000000" pitchFamily="34" charset="-127"/>
                <a:cs typeface="Raleway Regular"/>
                <a:sym typeface="Raleway Regular"/>
              </a:defRPr>
            </a:lvl1pPr>
            <a:lvl2pPr marL="357534" marR="0" indent="328932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2pPr>
            <a:lvl3pPr marL="357534" marR="0" indent="85808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3pPr>
            <a:lvl4pPr marL="357534" marR="0" indent="1372929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4pPr>
            <a:lvl5pPr marL="357534" marR="0" indent="1887778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5pPr>
            <a:lvl6pPr marL="357534" marR="0" indent="2402626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6pPr>
            <a:lvl7pPr marL="357534" marR="0" indent="291747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7pPr>
            <a:lvl8pPr marL="357534" marR="0" indent="343232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8pPr>
            <a:lvl9pPr marL="357534" marR="0" indent="394717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9pPr>
          </a:lstStyle>
          <a:p>
            <a:r>
              <a:rPr lang="en" altLang="ko-KR" dirty="0"/>
              <a:t>Quantization-Aware Training (QAT)</a:t>
            </a:r>
            <a:endParaRPr lang="ko-KR" altLang="en-US" dirty="0"/>
          </a:p>
          <a:p>
            <a:endParaRPr lang="ko-KR" altLang="en-US" kern="0" spc="-64" dirty="0"/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DCD5D060-02DE-8BA4-9FF2-D9E7738B1AF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24</a:t>
            </a:fld>
            <a:endParaRPr spc="23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40352D-8625-182D-1CF4-17DD3B2A6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78" y="2310064"/>
            <a:ext cx="8746788" cy="29869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210413-61CE-B957-6000-1B887CC3CCDB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237245603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>
          <a:extLst>
            <a:ext uri="{FF2B5EF4-FFF2-40B4-BE49-F238E27FC236}">
              <a16:creationId xmlns:a16="http://schemas.microsoft.com/office/drawing/2014/main" id="{1ABAA6FF-38CA-BEF4-8ED4-3FDDAF8D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4">
            <a:extLst>
              <a:ext uri="{FF2B5EF4-FFF2-40B4-BE49-F238E27FC236}">
                <a16:creationId xmlns:a16="http://schemas.microsoft.com/office/drawing/2014/main" id="{884700A5-3290-31EB-EB7E-DAA23FBF16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0" rIns="103663" bIns="0" anchor="t" anchorCtr="0">
            <a:normAutofit/>
          </a:bodyPr>
          <a:lstStyle/>
          <a:p>
            <a:pPr>
              <a:buSzPct val="111111"/>
            </a:pPr>
            <a:r>
              <a:rPr kumimoji="1" lang="en-US" altLang="ko-KR" dirty="0"/>
              <a:t>3. Quantization – </a:t>
            </a:r>
            <a:r>
              <a:rPr lang="en" altLang="ko-KR" spc="-90" dirty="0"/>
              <a:t>When to </a:t>
            </a:r>
            <a:r>
              <a:rPr lang="en-US" altLang="ko-KR" spc="-90" dirty="0"/>
              <a:t>Consider </a:t>
            </a:r>
            <a:r>
              <a:rPr lang="en" altLang="ko-KR" spc="-90" dirty="0"/>
              <a:t>Quantization?</a:t>
            </a:r>
            <a:endParaRPr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12D246-73A4-0155-5DC1-6829408ED6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Quantization-Aware Training (QAT)</a:t>
            </a:r>
            <a:endParaRPr lang="ko-KR" altLang="en-US" dirty="0"/>
          </a:p>
        </p:txBody>
      </p:sp>
      <p:sp>
        <p:nvSpPr>
          <p:cNvPr id="741" name="Google Shape;741;p34">
            <a:extLst>
              <a:ext uri="{FF2B5EF4-FFF2-40B4-BE49-F238E27FC236}">
                <a16:creationId xmlns:a16="http://schemas.microsoft.com/office/drawing/2014/main" id="{FC29918F-DB08-7B24-4240-8C54DDC30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r>
              <a:rPr lang="en" altLang="ko-KR" dirty="0"/>
              <a:t>INT8 Linear Quantization-Aware Training</a:t>
            </a:r>
          </a:p>
          <a:p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263C44-0236-F00E-BC37-E906DA988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49" y="1690255"/>
            <a:ext cx="8445407" cy="3447750"/>
          </a:xfrm>
          <a:prstGeom prst="rect">
            <a:avLst/>
          </a:prstGeom>
        </p:spPr>
      </p:pic>
      <p:sp>
        <p:nvSpPr>
          <p:cNvPr id="4" name="object 17">
            <a:extLst>
              <a:ext uri="{FF2B5EF4-FFF2-40B4-BE49-F238E27FC236}">
                <a16:creationId xmlns:a16="http://schemas.microsoft.com/office/drawing/2014/main" id="{6EE2BD0B-F68D-6028-B1D6-F23C88EA726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 vert="horz" wrap="square" lIns="0" tIns="1965" rIns="0" bIns="0" rtlCol="0" anchor="ctr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25</a:t>
            </a:fld>
            <a:endParaRPr spc="2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42299-2D62-6247-F2E3-D1E21BB92953}"/>
              </a:ext>
            </a:extLst>
          </p:cNvPr>
          <p:cNvSpPr txBox="1"/>
          <p:nvPr/>
        </p:nvSpPr>
        <p:spPr>
          <a:xfrm>
            <a:off x="5197447" y="535485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382301412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/>
          <p:cNvSpPr txBox="1"/>
          <p:nvPr/>
        </p:nvSpPr>
        <p:spPr>
          <a:xfrm>
            <a:off x="437711" y="15872"/>
            <a:ext cx="3372453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1487" rIns="51487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29697" latinLnBrk="0" hangingPunct="0"/>
            <a:r>
              <a:rPr sz="1125" kern="0"/>
              <a:t>Lecture 6: Polling and Interrupt</a:t>
            </a:r>
          </a:p>
        </p:txBody>
      </p:sp>
      <p:sp>
        <p:nvSpPr>
          <p:cNvPr id="99" name="Google Shape;15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 b="1" dirty="0"/>
              <a:t>Thank you!</a:t>
            </a:r>
          </a:p>
        </p:txBody>
      </p:sp>
      <p:sp>
        <p:nvSpPr>
          <p:cNvPr id="10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26</a:t>
            </a:fld>
            <a:endParaRPr kern="0"/>
          </a:p>
        </p:txBody>
      </p:sp>
      <p:sp>
        <p:nvSpPr>
          <p:cNvPr id="101" name="Questions or comments?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r>
              <a:rPr dirty="0"/>
              <a:t>Questions or comments? </a:t>
            </a:r>
          </a:p>
        </p:txBody>
      </p:sp>
      <p:sp>
        <p:nvSpPr>
          <p:cNvPr id="102" name="Google Shape;36;p7"/>
          <p:cNvSpPr txBox="1"/>
          <p:nvPr/>
        </p:nvSpPr>
        <p:spPr>
          <a:xfrm>
            <a:off x="389920" y="3467052"/>
            <a:ext cx="5814555" cy="145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2958" tIns="102958" rIns="102958" bIns="102958">
            <a:spAutoFit/>
          </a:bodyPr>
          <a:lstStyle/>
          <a:p>
            <a:pPr defTabSz="1029697" latinLnBrk="0" hangingPunct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altLang="ko-KR" sz="1577" kern="0" dirty="0">
                <a:solidFill>
                  <a:srgbClr val="666666"/>
                </a:solidFill>
                <a:latin typeface="Raleway Bold"/>
                <a:cs typeface="Raleway Bold"/>
                <a:sym typeface="Raleway Bold"/>
              </a:rPr>
              <a:t>Jong Hwan Ko</a:t>
            </a:r>
          </a:p>
          <a:p>
            <a:pPr defTabSz="1029697" latinLnBrk="0" hangingPunct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US" altLang="ko-KR" sz="1125" kern="0" dirty="0">
              <a:solidFill>
                <a:srgbClr val="666666"/>
              </a:solidFill>
              <a:latin typeface="Raleway Bold"/>
              <a:cs typeface="Raleway Bold"/>
              <a:sym typeface="Raleway Bold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SungKyunKwan</a:t>
            </a: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 University, Korea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Department of Information and Communication Engineering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jhko@skku.edu</a:t>
            </a: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KKU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9958</TotalTime>
  <Words>2919</Words>
  <Application>Microsoft Macintosh PowerPoint</Application>
  <PresentationFormat>사용자 지정</PresentationFormat>
  <Paragraphs>600</Paragraphs>
  <Slides>26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1" baseType="lpstr">
      <vt:lpstr>Arial MT</vt:lpstr>
      <vt:lpstr>맑은 고딕</vt:lpstr>
      <vt:lpstr>NanumGothic</vt:lpstr>
      <vt:lpstr>Noto Sans CJK KR Black</vt:lpstr>
      <vt:lpstr>Noto Sans CJK KR Regular</vt:lpstr>
      <vt:lpstr>Raleway Bold</vt:lpstr>
      <vt:lpstr>Raleway Regular</vt:lpstr>
      <vt:lpstr>Arial</vt:lpstr>
      <vt:lpstr>Cambria</vt:lpstr>
      <vt:lpstr>Raleway</vt:lpstr>
      <vt:lpstr>Source Sans Pro</vt:lpstr>
      <vt:lpstr>Times New Roman</vt:lpstr>
      <vt:lpstr>Trebuchet MS</vt:lpstr>
      <vt:lpstr>Wingdings</vt:lpstr>
      <vt:lpstr>SKKU</vt:lpstr>
      <vt:lpstr> 미래차 부트캠프 On-device AI</vt:lpstr>
      <vt:lpstr>3. Quantization - Contents</vt:lpstr>
      <vt:lpstr>3. Quantization – Introduction</vt:lpstr>
      <vt:lpstr>3. Quantization – Introduction</vt:lpstr>
      <vt:lpstr>3. Quantization - Purpose</vt:lpstr>
      <vt:lpstr>3. Quantization - Purpose</vt:lpstr>
      <vt:lpstr>3. Quantization – Number Representation</vt:lpstr>
      <vt:lpstr>3. Quantization – Number Representation</vt:lpstr>
      <vt:lpstr>3. Quantization – Number Representation</vt:lpstr>
      <vt:lpstr>3. Quantization – Linear/Non-linear</vt:lpstr>
      <vt:lpstr>3. Quantization – Linear/Non-linear</vt:lpstr>
      <vt:lpstr>3. Quantization – Linear/Non-linear</vt:lpstr>
      <vt:lpstr>3. Quantization – Linear/Non-linear</vt:lpstr>
      <vt:lpstr>3. Quantization – Linear/Non-linear</vt:lpstr>
      <vt:lpstr>3. Quantization – Linear/Non-linear</vt:lpstr>
      <vt:lpstr>3. Quantization – Linear/Non-linear</vt:lpstr>
      <vt:lpstr>3. Quantization – Linear/Non-linear</vt:lpstr>
      <vt:lpstr>Course Schedule</vt:lpstr>
      <vt:lpstr>3. Quantization</vt:lpstr>
      <vt:lpstr>3. Quantization – Granularity</vt:lpstr>
      <vt:lpstr>3. Quantization – Granularity</vt:lpstr>
      <vt:lpstr>3. Quantization – Granularity</vt:lpstr>
      <vt:lpstr>3. Quantization – When to Consider Quantization?</vt:lpstr>
      <vt:lpstr>3. Quantization – When to Consider Quantization?</vt:lpstr>
      <vt:lpstr>3. Quantization – When to Consider Quantization?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고종환</dc:creator>
  <cp:lastModifiedBy>고종환</cp:lastModifiedBy>
  <cp:revision>92</cp:revision>
  <dcterms:created xsi:type="dcterms:W3CDTF">2024-08-09T12:51:12Z</dcterms:created>
  <dcterms:modified xsi:type="dcterms:W3CDTF">2025-08-05T13:46:20Z</dcterms:modified>
</cp:coreProperties>
</file>